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3"/>
  </p:notesMasterIdLst>
  <p:sldIdLst>
    <p:sldId id="595" r:id="rId2"/>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64" autoAdjust="0"/>
    <p:restoredTop sz="94660"/>
  </p:normalViewPr>
  <p:slideViewPr>
    <p:cSldViewPr snapToGrid="0">
      <p:cViewPr>
        <p:scale>
          <a:sx n="100" d="100"/>
          <a:sy n="100" d="100"/>
        </p:scale>
        <p:origin x="2964" y="-10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5A8F6C-B07C-452E-B339-02239878CD78}" type="datetimeFigureOut">
              <a:rPr lang="en-US" smtClean="0"/>
              <a:t>10/28/2026</a:t>
            </a:fld>
            <a:endParaRPr lang="en-US"/>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4A641D6A-0069-447C-9CC0-570BB150D784}" type="slidenum">
              <a:rPr lang="en-US" smtClean="0"/>
              <a:t>‹#›</a:t>
            </a:fld>
            <a:endParaRPr lang="en-US"/>
          </a:p>
        </p:txBody>
      </p:sp>
    </p:spTree>
    <p:extLst>
      <p:ext uri="{BB962C8B-B14F-4D97-AF65-F5344CB8AC3E}">
        <p14:creationId xmlns:p14="http://schemas.microsoft.com/office/powerpoint/2010/main" val="2186060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7949EE-9881-4002-A5D2-5C603941A9EE}"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048267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D393A-51C8-4873-AB5B-33A9CA72457B}"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131353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ED32DC-3138-49D5-A762-35EF2E7B5708}"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390072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34DCFC-A56F-426C-B9EF-CD0CDC7D69F1}"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554083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4E70D6-12C6-4DE5-9A5D-29B6EE417C39}" type="datetime1">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94654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0E3A64-FA3B-4E33-B42D-2315F535535C}" type="datetime1">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4254403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8DA539-685E-4880-A468-8EF8C4AD42F8}" type="datetime1">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4175121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88FD366-2480-4FDC-A6F7-D357B93DAA4F}"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967437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C470449-18DB-4FF7-8D7E-CF4A040C7D57}" type="datetime1">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801370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6D735C-9495-42D3-9A57-B69F6B441082}"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795313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9F4679-FE80-435C-9BF4-7126CA01D8FE}" type="datetime1">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683127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43F121EA-D16B-4B7B-A7AE-6CA1296CE191}" type="datetime1">
              <a:rPr lang="en-US" smtClean="0"/>
              <a:t>10/28/2026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F934066D-384D-4BE1-BDC2-82BCC33558DD}" type="slidenum">
              <a:rPr lang="en-US" smtClean="0"/>
              <a:t>‹#›</a:t>
            </a:fld>
            <a:endParaRPr lang="en-US"/>
          </a:p>
        </p:txBody>
      </p:sp>
    </p:spTree>
    <p:extLst>
      <p:ext uri="{BB962C8B-B14F-4D97-AF65-F5344CB8AC3E}">
        <p14:creationId xmlns:p14="http://schemas.microsoft.com/office/powerpoint/2010/main" val="1862752307"/>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olmi@dtu.dk" TargetMode="External"/><Relationship Id="rId13" Type="http://schemas.openxmlformats.org/officeDocument/2006/relationships/hyperlink" Target="mailto:cevfu@dtu.dk" TargetMode="External"/><Relationship Id="rId3" Type="http://schemas.openxmlformats.org/officeDocument/2006/relationships/hyperlink" Target="mailto:grwi@dtu.dk" TargetMode="External"/><Relationship Id="rId7" Type="http://schemas.openxmlformats.org/officeDocument/2006/relationships/hyperlink" Target="mailto:meme@dtu.dk" TargetMode="External"/><Relationship Id="rId12" Type="http://schemas.openxmlformats.org/officeDocument/2006/relationships/hyperlink" Target="mailto:kkgup@dtu.d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mailto:msje@dtu.dk" TargetMode="External"/><Relationship Id="rId11" Type="http://schemas.openxmlformats.org/officeDocument/2006/relationships/hyperlink" Target="mailto:majs@dtu.dk" TargetMode="External"/><Relationship Id="rId5" Type="http://schemas.openxmlformats.org/officeDocument/2006/relationships/hyperlink" Target="mailto:jhald@dtu.dk" TargetMode="External"/><Relationship Id="rId10" Type="http://schemas.openxmlformats.org/officeDocument/2006/relationships/hyperlink" Target="mailto:pawo@dtu.dk" TargetMode="External"/><Relationship Id="rId4" Type="http://schemas.openxmlformats.org/officeDocument/2006/relationships/hyperlink" Target="mailto:ram@dtu.dk" TargetMode="External"/><Relationship Id="rId9" Type="http://schemas.openxmlformats.org/officeDocument/2006/relationships/hyperlink" Target="mailto:kapa@dtu.dk" TargetMode="External"/><Relationship Id="rId14" Type="http://schemas.openxmlformats.org/officeDocument/2006/relationships/hyperlink" Target="mailto:mahas@dtu.d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47A82-7D93-6854-821A-7545EE5CAAFF}"/>
            </a:ext>
          </a:extLst>
        </p:cNvPr>
        <p:cNvGrpSpPr/>
        <p:nvPr/>
      </p:nvGrpSpPr>
      <p:grpSpPr>
        <a:xfrm>
          <a:off x="0" y="0"/>
          <a:ext cx="0" cy="0"/>
          <a:chOff x="0" y="0"/>
          <a:chExt cx="0" cy="0"/>
        </a:xfrm>
      </p:grpSpPr>
      <p:sp>
        <p:nvSpPr>
          <p:cNvPr id="6" name="Shape 1">
            <a:extLst>
              <a:ext uri="{FF2B5EF4-FFF2-40B4-BE49-F238E27FC236}">
                <a16:creationId xmlns:a16="http://schemas.microsoft.com/office/drawing/2014/main" id="{3C5B6E3F-9A63-1E52-74AC-2BC99DDA53C8}"/>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227F87E1-8578-2F36-5EE9-B996B281B5B7}"/>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8DF162A3-4FA0-70A3-5C8E-B3772FC47862}"/>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06B4385C-0A3F-042E-BE08-F918F69AA288}"/>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EF734989-E1E1-C9AC-D60C-7E66C2801F0F}"/>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72" name="Shape 38">
            <a:extLst>
              <a:ext uri="{FF2B5EF4-FFF2-40B4-BE49-F238E27FC236}">
                <a16:creationId xmlns:a16="http://schemas.microsoft.com/office/drawing/2014/main" id="{9A77F918-7B5E-D0A3-B047-3D248AD0D52B}"/>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A61D001C-DB34-699F-4DAC-3955A81D6395}"/>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sp>
        <p:nvSpPr>
          <p:cNvPr id="5" name="Themes heading">
            <a:extLst>
              <a:ext uri="{FF2B5EF4-FFF2-40B4-BE49-F238E27FC236}">
                <a16:creationId xmlns:a16="http://schemas.microsoft.com/office/drawing/2014/main" id="{08C4EF4F-F83F-AB74-7B69-66E36E7CAF0D}"/>
              </a:ext>
            </a:extLst>
          </p:cNvPr>
          <p:cNvSpPr/>
          <p:nvPr/>
        </p:nvSpPr>
        <p:spPr>
          <a:xfrm>
            <a:off x="288290" y="1124337"/>
            <a:ext cx="6426200" cy="132344"/>
          </a:xfrm>
          <a:prstGeom prst="rect">
            <a:avLst/>
          </a:prstGeom>
          <a:noFill/>
          <a:ln/>
        </p:spPr>
        <p:txBody>
          <a:bodyPr wrap="square" lIns="0" tIns="0" rIns="0" bIns="0" rtlCol="0" anchor="t">
            <a:spAutoFit/>
          </a:bodyPr>
          <a:lstStyle/>
          <a:p>
            <a:pPr marL="0" indent="0">
              <a:lnSpc>
                <a:spcPct val="100000"/>
              </a:lnSpc>
              <a:buNone/>
            </a:pPr>
            <a:r>
              <a:rPr lang="en-US" sz="860" b="1" kern="0" cap="all" spc="120">
                <a:solidFill>
                  <a:srgbClr val="A30018"/>
                </a:solidFill>
                <a:latin typeface="Aptos Display" pitchFamily="34" charset="0"/>
                <a:ea typeface="Aptos Display" pitchFamily="34" charset="-122"/>
                <a:cs typeface="Aptos Display" pitchFamily="34" charset="-120"/>
              </a:rPr>
              <a:t>The main overall themes are:</a:t>
            </a:r>
            <a:endParaRPr lang="en-US" sz="860" cap="all" dirty="0"/>
          </a:p>
        </p:txBody>
      </p:sp>
      <p:sp>
        <p:nvSpPr>
          <p:cNvPr id="9" name="Theme: Surface engineering and materials design">
            <a:extLst>
              <a:ext uri="{FF2B5EF4-FFF2-40B4-BE49-F238E27FC236}">
                <a16:creationId xmlns:a16="http://schemas.microsoft.com/office/drawing/2014/main" id="{64AE40C5-F9CB-E739-4B91-10E4DD5F2948}"/>
              </a:ext>
            </a:extLst>
          </p:cNvPr>
          <p:cNvSpPr/>
          <p:nvPr/>
        </p:nvSpPr>
        <p:spPr>
          <a:xfrm>
            <a:off x="288290" y="1383681"/>
            <a:ext cx="6426200" cy="176972"/>
          </a:xfrm>
          <a:prstGeom prst="rect">
            <a:avLst/>
          </a:prstGeom>
          <a:noFill/>
          <a:ln/>
        </p:spPr>
        <p:txBody>
          <a:bodyPr wrap="square" lIns="0" tIns="0" rIns="0" bIns="0" rtlCol="0" anchor="t">
            <a:spAutoFit/>
          </a:bodyPr>
          <a:lstStyle/>
          <a:p>
            <a:pPr marL="0" indent="0">
              <a:lnSpc>
                <a:spcPct val="100000"/>
              </a:lnSpc>
              <a:buNone/>
            </a:pPr>
            <a:r>
              <a:rPr lang="en-US" sz="1150" b="1">
                <a:solidFill>
                  <a:srgbClr val="5D666B"/>
                </a:solidFill>
                <a:latin typeface="Aptos Display" pitchFamily="34" charset="0"/>
                <a:ea typeface="Aptos Display" pitchFamily="34" charset="-122"/>
                <a:cs typeface="Aptos Display" pitchFamily="34" charset="-120"/>
              </a:rPr>
              <a:t>Surface engineering and materials design</a:t>
            </a:r>
            <a:endParaRPr lang="en-US" sz="1150" dirty="0"/>
          </a:p>
        </p:txBody>
      </p:sp>
      <p:sp>
        <p:nvSpPr>
          <p:cNvPr id="11" name="Theme text: Surface engineering and materials design">
            <a:extLst>
              <a:ext uri="{FF2B5EF4-FFF2-40B4-BE49-F238E27FC236}">
                <a16:creationId xmlns:a16="http://schemas.microsoft.com/office/drawing/2014/main" id="{993491BB-B263-152C-11DD-3B9FDE4ABB29}"/>
              </a:ext>
            </a:extLst>
          </p:cNvPr>
          <p:cNvSpPr/>
          <p:nvPr/>
        </p:nvSpPr>
        <p:spPr>
          <a:xfrm>
            <a:off x="288290" y="1586053"/>
            <a:ext cx="6426200" cy="499496"/>
          </a:xfrm>
          <a:prstGeom prst="rect">
            <a:avLst/>
          </a:prstGeom>
          <a:noFill/>
          <a:ln/>
        </p:spPr>
        <p:txBody>
          <a:bodyPr wrap="square" lIns="0" tIns="0" rIns="0" bIns="0" rtlCol="0" anchor="t">
            <a:spAutoFit/>
          </a:bodyPr>
          <a:lstStyle/>
          <a:p>
            <a:pPr algn="just">
              <a:lnSpc>
                <a:spcPct val="104000"/>
              </a:lnSpc>
            </a:pPr>
            <a:r>
              <a:rPr lang="en-US" sz="1050"/>
              <a:t>Surface engineering by electrochemical, thermochemical and PVD techniques are applied and further developed. The research activities in surface engineering cover the entire chain from basic research of generic importance to applied research, engineering and innovation.</a:t>
            </a:r>
            <a:endParaRPr lang="en-US" sz="1050" dirty="0"/>
          </a:p>
        </p:txBody>
      </p:sp>
      <p:sp>
        <p:nvSpPr>
          <p:cNvPr id="13" name="Theme: Microstructure evolution and phase transformations">
            <a:extLst>
              <a:ext uri="{FF2B5EF4-FFF2-40B4-BE49-F238E27FC236}">
                <a16:creationId xmlns:a16="http://schemas.microsoft.com/office/drawing/2014/main" id="{11CBFA99-4585-BDAB-8EE0-8B6BFF58F4A8}"/>
              </a:ext>
            </a:extLst>
          </p:cNvPr>
          <p:cNvSpPr/>
          <p:nvPr/>
        </p:nvSpPr>
        <p:spPr>
          <a:xfrm>
            <a:off x="288290" y="2288749"/>
            <a:ext cx="6426200" cy="176972"/>
          </a:xfrm>
          <a:prstGeom prst="rect">
            <a:avLst/>
          </a:prstGeom>
          <a:noFill/>
          <a:ln/>
        </p:spPr>
        <p:txBody>
          <a:bodyPr wrap="square" lIns="0" tIns="0" rIns="0" bIns="0" rtlCol="0" anchor="t">
            <a:spAutoFit/>
          </a:bodyPr>
          <a:lstStyle/>
          <a:p>
            <a:pPr marL="0" indent="0">
              <a:lnSpc>
                <a:spcPct val="100000"/>
              </a:lnSpc>
              <a:buNone/>
            </a:pPr>
            <a:r>
              <a:rPr lang="en-US" sz="1150" b="1">
                <a:solidFill>
                  <a:srgbClr val="5D666B"/>
                </a:solidFill>
                <a:latin typeface="Aptos Display" pitchFamily="34" charset="0"/>
                <a:ea typeface="Aptos Display" pitchFamily="34" charset="-122"/>
                <a:cs typeface="Aptos Display" pitchFamily="34" charset="-120"/>
              </a:rPr>
              <a:t>Microstructure evolution and phase transformations</a:t>
            </a:r>
            <a:endParaRPr lang="en-US" sz="1150" dirty="0"/>
          </a:p>
        </p:txBody>
      </p:sp>
      <p:sp>
        <p:nvSpPr>
          <p:cNvPr id="15" name="Theme text: Microstructure evolution and phase transformations">
            <a:extLst>
              <a:ext uri="{FF2B5EF4-FFF2-40B4-BE49-F238E27FC236}">
                <a16:creationId xmlns:a16="http://schemas.microsoft.com/office/drawing/2014/main" id="{DB3AD314-F280-8109-55B5-75A28EB80022}"/>
              </a:ext>
            </a:extLst>
          </p:cNvPr>
          <p:cNvSpPr/>
          <p:nvPr/>
        </p:nvSpPr>
        <p:spPr>
          <a:xfrm>
            <a:off x="288290" y="2491121"/>
            <a:ext cx="6426200" cy="667555"/>
          </a:xfrm>
          <a:prstGeom prst="rect">
            <a:avLst/>
          </a:prstGeom>
          <a:noFill/>
          <a:ln/>
        </p:spPr>
        <p:txBody>
          <a:bodyPr wrap="square" lIns="0" tIns="0" rIns="0" bIns="0" rtlCol="0" anchor="t">
            <a:spAutoFit/>
          </a:bodyPr>
          <a:lstStyle/>
          <a:p>
            <a:pPr algn="just">
              <a:lnSpc>
                <a:spcPct val="104000"/>
              </a:lnSpc>
            </a:pPr>
            <a:r>
              <a:rPr lang="en-US" sz="1050" dirty="0"/>
              <a:t>Materials microstructure evolution during processing by e.g. thermal treatments or plastic deformation as well as during application lies at the very essence of understanding the relations between process parameters, properties and performance. Understanding the microstructure evolution and phase transformations in materials forms the basis for materials modelling activities.</a:t>
            </a:r>
          </a:p>
        </p:txBody>
      </p:sp>
      <p:sp>
        <p:nvSpPr>
          <p:cNvPr id="17" name="Theme: Materials performance and degradation">
            <a:extLst>
              <a:ext uri="{FF2B5EF4-FFF2-40B4-BE49-F238E27FC236}">
                <a16:creationId xmlns:a16="http://schemas.microsoft.com/office/drawing/2014/main" id="{D4ED4441-DF04-9AB4-3EB3-C0AE065D0A6E}"/>
              </a:ext>
            </a:extLst>
          </p:cNvPr>
          <p:cNvSpPr/>
          <p:nvPr/>
        </p:nvSpPr>
        <p:spPr>
          <a:xfrm>
            <a:off x="288290" y="3361876"/>
            <a:ext cx="6426200" cy="176972"/>
          </a:xfrm>
          <a:prstGeom prst="rect">
            <a:avLst/>
          </a:prstGeom>
          <a:noFill/>
          <a:ln/>
        </p:spPr>
        <p:txBody>
          <a:bodyPr wrap="square" lIns="0" tIns="0" rIns="0" bIns="0" rtlCol="0" anchor="t">
            <a:spAutoFit/>
          </a:bodyPr>
          <a:lstStyle/>
          <a:p>
            <a:pPr marL="0" indent="0">
              <a:lnSpc>
                <a:spcPct val="100000"/>
              </a:lnSpc>
              <a:buNone/>
            </a:pPr>
            <a:r>
              <a:rPr lang="en-US" sz="1150" b="1" dirty="0">
                <a:solidFill>
                  <a:srgbClr val="5D666B"/>
                </a:solidFill>
                <a:latin typeface="Aptos Display" pitchFamily="34" charset="0"/>
                <a:ea typeface="Aptos Display" pitchFamily="34" charset="-122"/>
                <a:cs typeface="Aptos Display" pitchFamily="34" charset="-120"/>
              </a:rPr>
              <a:t>Materials performance and degradation</a:t>
            </a:r>
            <a:endParaRPr lang="en-US" sz="1150" dirty="0"/>
          </a:p>
        </p:txBody>
      </p:sp>
      <p:sp>
        <p:nvSpPr>
          <p:cNvPr id="19" name="Theme text: Materials performance and degradation">
            <a:extLst>
              <a:ext uri="{FF2B5EF4-FFF2-40B4-BE49-F238E27FC236}">
                <a16:creationId xmlns:a16="http://schemas.microsoft.com/office/drawing/2014/main" id="{BCC13EEA-BA37-8623-DF80-7CB6124D0E50}"/>
              </a:ext>
            </a:extLst>
          </p:cNvPr>
          <p:cNvSpPr/>
          <p:nvPr/>
        </p:nvSpPr>
        <p:spPr>
          <a:xfrm>
            <a:off x="288290" y="3564248"/>
            <a:ext cx="6426200" cy="499496"/>
          </a:xfrm>
          <a:prstGeom prst="rect">
            <a:avLst/>
          </a:prstGeom>
          <a:noFill/>
          <a:ln/>
        </p:spPr>
        <p:txBody>
          <a:bodyPr wrap="square" lIns="0" tIns="0" rIns="0" bIns="0" rtlCol="0" anchor="t">
            <a:spAutoFit/>
          </a:bodyPr>
          <a:lstStyle/>
          <a:p>
            <a:pPr algn="just">
              <a:lnSpc>
                <a:spcPct val="104000"/>
              </a:lnSpc>
            </a:pPr>
            <a:r>
              <a:rPr lang="en-US" sz="1050" dirty="0"/>
              <a:t>Research in materials performance and materials degradation is focused on corrosion, tribology and high temperature applications, i.e. the chemical, mechanical and thermal interaction of materials with the environment. </a:t>
            </a:r>
          </a:p>
        </p:txBody>
      </p:sp>
      <p:sp>
        <p:nvSpPr>
          <p:cNvPr id="20" name="Current focus">
            <a:extLst>
              <a:ext uri="{FF2B5EF4-FFF2-40B4-BE49-F238E27FC236}">
                <a16:creationId xmlns:a16="http://schemas.microsoft.com/office/drawing/2014/main" id="{6B07311A-D54C-D497-FA2D-F8613BB9C522}"/>
              </a:ext>
            </a:extLst>
          </p:cNvPr>
          <p:cNvSpPr/>
          <p:nvPr/>
        </p:nvSpPr>
        <p:spPr>
          <a:xfrm>
            <a:off x="288290" y="4155931"/>
            <a:ext cx="6426200" cy="3393237"/>
          </a:xfrm>
          <a:prstGeom prst="rect">
            <a:avLst/>
          </a:prstGeom>
          <a:noFill/>
          <a:ln/>
        </p:spPr>
        <p:txBody>
          <a:bodyPr wrap="square" lIns="0" tIns="0" rIns="0" bIns="0" rtlCol="0" anchor="t">
            <a:spAutoFit/>
          </a:bodyPr>
          <a:lstStyle/>
          <a:p>
            <a:pPr algn="just"/>
            <a:r>
              <a:rPr lang="en-US" sz="1050" dirty="0"/>
              <a:t>Currently, we focus on </a:t>
            </a:r>
            <a:r>
              <a:rPr lang="en-US" sz="1050" b="1" dirty="0"/>
              <a:t>materials for sustainable energy, construction, electronics and medical applications</a:t>
            </a:r>
            <a:r>
              <a:rPr lang="en-US" sz="1050" dirty="0"/>
              <a:t>, supported by materials modelling and sustainable processing. Our research covers:</a:t>
            </a:r>
          </a:p>
          <a:p>
            <a:pPr algn="just"/>
            <a:endParaRPr lang="en-US" sz="1050" dirty="0"/>
          </a:p>
          <a:p>
            <a:pPr marL="171450" lvl="0" indent="-171450" algn="just">
              <a:buFont typeface="Arial" panose="020B0604020202020204" pitchFamily="34" charset="0"/>
              <a:buChar char="•"/>
            </a:pPr>
            <a:r>
              <a:rPr lang="en-US" sz="1050" b="1" dirty="0"/>
              <a:t>Energy generation:</a:t>
            </a:r>
            <a:r>
              <a:rPr lang="en-US" sz="1050" dirty="0"/>
              <a:t> Materials with high-temperature stability and radiation resistance for future fourth-generation fission and fusion reactors, alongside corrosion-resistant materials for Power-to-X technologies and green fuel combustion in aqueous, gaseous and high-temperature environments.</a:t>
            </a:r>
          </a:p>
          <a:p>
            <a:pPr marL="171450" lvl="0" indent="-171450" algn="just">
              <a:buFont typeface="Arial" panose="020B0604020202020204" pitchFamily="34" charset="0"/>
              <a:buChar char="•"/>
            </a:pPr>
            <a:r>
              <a:rPr lang="en-US" sz="1050" b="1" dirty="0"/>
              <a:t>Energy storage:</a:t>
            </a:r>
            <a:r>
              <a:rPr lang="en-US" sz="1050" dirty="0"/>
              <a:t> Durable materials for thermal energy storage in molten salts and materials supporting high charge-storage capacity and fire safety in electrical energy storage.</a:t>
            </a:r>
          </a:p>
          <a:p>
            <a:pPr marL="171450" lvl="0" indent="-171450" algn="just">
              <a:buFont typeface="Arial" panose="020B0604020202020204" pitchFamily="34" charset="0"/>
              <a:buChar char="•"/>
            </a:pPr>
            <a:r>
              <a:rPr lang="en-US" sz="1050" b="1" dirty="0"/>
              <a:t>Sustainable construction:</a:t>
            </a:r>
            <a:r>
              <a:rPr lang="en-US" sz="1050" dirty="0"/>
              <a:t> Cement-free building materials derived from living materials, industrial waste and by-products to reduce CO₂ emissions, energy consumption and costs, with integrated thermal and energy storage functions.</a:t>
            </a:r>
          </a:p>
          <a:p>
            <a:pPr marL="171450" lvl="0" indent="-171450" algn="just">
              <a:buFont typeface="Arial" panose="020B0604020202020204" pitchFamily="34" charset="0"/>
              <a:buChar char="•"/>
            </a:pPr>
            <a:r>
              <a:rPr lang="en-US" sz="1050" b="1" dirty="0"/>
              <a:t>Electronics reliability:</a:t>
            </a:r>
            <a:r>
              <a:rPr lang="en-US" sz="1050" dirty="0"/>
              <a:t> Design and testing of electronics, including high-voltage power electronics, to ensure corrosion robustness and reliability under humidity and other harsh conditions associated with electrification.</a:t>
            </a:r>
          </a:p>
          <a:p>
            <a:pPr marL="171450" lvl="0" indent="-171450" algn="just">
              <a:buFont typeface="Arial" panose="020B0604020202020204" pitchFamily="34" charset="0"/>
              <a:buChar char="•"/>
            </a:pPr>
            <a:r>
              <a:rPr lang="en-US" sz="1050" b="1" dirty="0"/>
              <a:t>Materials modelling and simulation:</a:t>
            </a:r>
            <a:r>
              <a:rPr lang="en-US" sz="1050" dirty="0"/>
              <a:t> Thermodynamic and kinetic modelling, simulations of microstructural evolution, electrochemical processes and micromechanics, and AI-assisted feature identification and risk prediction.</a:t>
            </a:r>
          </a:p>
          <a:p>
            <a:pPr marL="171450" lvl="0" indent="-171450" algn="just">
              <a:buFont typeface="Arial" panose="020B0604020202020204" pitchFamily="34" charset="0"/>
              <a:buChar char="•"/>
            </a:pPr>
            <a:r>
              <a:rPr lang="en-US" sz="1050" b="1" dirty="0"/>
              <a:t>Sustainable synthesis, use and recycling:</a:t>
            </a:r>
            <a:r>
              <a:rPr lang="en-US" sz="1050" dirty="0"/>
              <a:t> PFAS-free corrosion protection, chromium-free wear-resistant coatings, durable materials for CO₂ transport and storage, and assessment of recycled material properties. We also investigate CO₂-neutral metal production, including green steel, and stronger metals less prone to mechanical failure to conserve raw materials and energy.</a:t>
            </a:r>
          </a:p>
        </p:txBody>
      </p:sp>
      <p:sp>
        <p:nvSpPr>
          <p:cNvPr id="21" name="Divider">
            <a:extLst>
              <a:ext uri="{FF2B5EF4-FFF2-40B4-BE49-F238E27FC236}">
                <a16:creationId xmlns:a16="http://schemas.microsoft.com/office/drawing/2014/main" id="{C6C16293-3386-BC70-992C-BC41CC0F6FDA}"/>
              </a:ext>
            </a:extLst>
          </p:cNvPr>
          <p:cNvSpPr/>
          <p:nvPr/>
        </p:nvSpPr>
        <p:spPr>
          <a:xfrm>
            <a:off x="288290" y="7607002"/>
            <a:ext cx="6426200" cy="0"/>
          </a:xfrm>
          <a:prstGeom prst="line">
            <a:avLst/>
          </a:prstGeom>
          <a:noFill/>
          <a:ln w="10795">
            <a:solidFill>
              <a:srgbClr val="DFE2E3"/>
            </a:solidFill>
            <a:prstDash val="solid"/>
          </a:ln>
        </p:spPr>
        <p:txBody>
          <a:bodyPr/>
          <a:lstStyle/>
          <a:p>
            <a:endParaRPr lang="LID4096"/>
          </a:p>
        </p:txBody>
      </p:sp>
      <p:sp>
        <p:nvSpPr>
          <p:cNvPr id="22" name="Staff heading">
            <a:extLst>
              <a:ext uri="{FF2B5EF4-FFF2-40B4-BE49-F238E27FC236}">
                <a16:creationId xmlns:a16="http://schemas.microsoft.com/office/drawing/2014/main" id="{DB3BC0B1-5AA3-8EBF-EBD5-D28596EDAE36}"/>
              </a:ext>
            </a:extLst>
          </p:cNvPr>
          <p:cNvSpPr/>
          <p:nvPr/>
        </p:nvSpPr>
        <p:spPr>
          <a:xfrm>
            <a:off x="288290" y="7689790"/>
            <a:ext cx="6426200" cy="132344"/>
          </a:xfrm>
          <a:prstGeom prst="rect">
            <a:avLst/>
          </a:prstGeom>
          <a:noFill/>
          <a:ln/>
        </p:spPr>
        <p:txBody>
          <a:bodyPr wrap="square" lIns="0" tIns="0" rIns="0" bIns="0" rtlCol="0" anchor="t">
            <a:spAutoFit/>
          </a:bodyPr>
          <a:lstStyle/>
          <a:p>
            <a:pPr marL="0" indent="0">
              <a:lnSpc>
                <a:spcPct val="100000"/>
              </a:lnSpc>
              <a:buNone/>
            </a:pPr>
            <a:r>
              <a:rPr lang="en-US" sz="860" b="1" kern="0" cap="all" spc="120" dirty="0">
                <a:solidFill>
                  <a:srgbClr val="A30018"/>
                </a:solidFill>
                <a:latin typeface="Aptos Display" pitchFamily="34" charset="0"/>
                <a:ea typeface="Aptos Display" pitchFamily="34" charset="-122"/>
                <a:cs typeface="Aptos Display" pitchFamily="34" charset="-120"/>
              </a:rPr>
              <a:t>Permanent scientific staff:</a:t>
            </a:r>
            <a:endParaRPr lang="en-US" sz="860" cap="all" dirty="0"/>
          </a:p>
        </p:txBody>
      </p:sp>
      <p:sp>
        <p:nvSpPr>
          <p:cNvPr id="23" name="Staff: Grethe Winther">
            <a:extLst>
              <a:ext uri="{FF2B5EF4-FFF2-40B4-BE49-F238E27FC236}">
                <a16:creationId xmlns:a16="http://schemas.microsoft.com/office/drawing/2014/main" id="{7829B11C-9342-6011-0B2B-91BF8383F568}"/>
              </a:ext>
            </a:extLst>
          </p:cNvPr>
          <p:cNvSpPr/>
          <p:nvPr/>
        </p:nvSpPr>
        <p:spPr>
          <a:xfrm>
            <a:off x="288290" y="7918654"/>
            <a:ext cx="2040467" cy="161583"/>
          </a:xfrm>
          <a:prstGeom prst="rect">
            <a:avLst/>
          </a:prstGeom>
          <a:noFill/>
          <a:ln/>
        </p:spPr>
        <p:txBody>
          <a:bodyPr wrap="square" lIns="0" tIns="0" rIns="0" bIns="0" rtlCol="0" anchor="t">
            <a:spAutoFit/>
          </a:bodyPr>
          <a:lstStyle/>
          <a:p>
            <a:pPr marL="0" indent="0">
              <a:lnSpc>
                <a:spcPct val="100000"/>
              </a:lnSpc>
              <a:buNone/>
            </a:pPr>
            <a:r>
              <a:rPr lang="en-US" sz="1050" b="1">
                <a:solidFill>
                  <a:srgbClr val="5D666B"/>
                </a:solidFill>
                <a:latin typeface="Aptos Display" pitchFamily="34" charset="0"/>
                <a:ea typeface="Aptos Display" pitchFamily="34" charset="-122"/>
                <a:cs typeface="Aptos Display" pitchFamily="34" charset="-120"/>
              </a:rPr>
              <a:t>Grethe Winther</a:t>
            </a:r>
            <a:endParaRPr lang="en-US" sz="1050" dirty="0"/>
          </a:p>
        </p:txBody>
      </p:sp>
      <p:sp>
        <p:nvSpPr>
          <p:cNvPr id="24" name="Staff role: Grethe Winther">
            <a:extLst>
              <a:ext uri="{FF2B5EF4-FFF2-40B4-BE49-F238E27FC236}">
                <a16:creationId xmlns:a16="http://schemas.microsoft.com/office/drawing/2014/main" id="{F56BC970-6953-007F-F3D7-FC2A088CD3D6}"/>
              </a:ext>
            </a:extLst>
          </p:cNvPr>
          <p:cNvSpPr/>
          <p:nvPr/>
        </p:nvSpPr>
        <p:spPr>
          <a:xfrm>
            <a:off x="288290" y="8054837"/>
            <a:ext cx="2040467" cy="138499"/>
          </a:xfrm>
          <a:prstGeom prst="rect">
            <a:avLst/>
          </a:prstGeom>
          <a:noFill/>
          <a:ln/>
        </p:spPr>
        <p:txBody>
          <a:bodyPr wrap="square" lIns="0" tIns="0" rIns="0" bIns="0" rtlCol="0" anchor="t">
            <a:spAutoFit/>
          </a:bodyPr>
          <a:lstStyle/>
          <a:p>
            <a:pPr marL="0" indent="0">
              <a:lnSpc>
                <a:spcPct val="100000"/>
              </a:lnSpc>
              <a:buNone/>
            </a:pPr>
            <a:r>
              <a:rPr lang="en-US" sz="900" i="1">
                <a:solidFill>
                  <a:srgbClr val="5D666B"/>
                </a:solidFill>
                <a:latin typeface="Aptos Display" pitchFamily="34" charset="0"/>
              </a:rPr>
              <a:t>head of the section</a:t>
            </a:r>
            <a:endParaRPr lang="en-US" sz="900" i="1" dirty="0"/>
          </a:p>
        </p:txBody>
      </p:sp>
      <p:sp>
        <p:nvSpPr>
          <p:cNvPr id="25" name="Staff email: Grethe Winther">
            <a:extLst>
              <a:ext uri="{FF2B5EF4-FFF2-40B4-BE49-F238E27FC236}">
                <a16:creationId xmlns:a16="http://schemas.microsoft.com/office/drawing/2014/main" id="{F5890DD6-EA05-C803-B43F-ED0D88B1E8B1}"/>
              </a:ext>
            </a:extLst>
          </p:cNvPr>
          <p:cNvSpPr/>
          <p:nvPr/>
        </p:nvSpPr>
        <p:spPr>
          <a:xfrm>
            <a:off x="288290" y="8167937"/>
            <a:ext cx="2040467" cy="146194"/>
          </a:xfrm>
          <a:prstGeom prst="rect">
            <a:avLst/>
          </a:prstGeom>
          <a:noFill/>
          <a:ln/>
        </p:spPr>
        <p:txBody>
          <a:bodyPr wrap="square" lIns="0" tIns="0" rIns="0" bIns="0" rtlCol="0" anchor="t">
            <a:spAutoFit/>
          </a:bodyPr>
          <a:lstStyle/>
          <a:p>
            <a:pPr marL="0" indent="0">
              <a:lnSpc>
                <a:spcPct val="100000"/>
              </a:lnSpc>
              <a:buNone/>
            </a:pPr>
            <a:r>
              <a:rPr lang="en-US" sz="950">
                <a:solidFill>
                  <a:srgbClr val="A30018"/>
                </a:solidFill>
                <a:latin typeface="Aptos" pitchFamily="34" charset="0"/>
                <a:ea typeface="Aptos" pitchFamily="34" charset="-122"/>
                <a:cs typeface="Aptos" pitchFamily="34" charset="-120"/>
                <a:hlinkClick r:id="rId3">
                  <a:extLst>
                    <a:ext uri="{A12FA001-AC4F-418D-AE19-62706E023703}">
                      <ahyp:hlinkClr xmlns:ahyp="http://schemas.microsoft.com/office/drawing/2018/hyperlinkcolor" val="tx"/>
                    </a:ext>
                  </a:extLst>
                </a:hlinkClick>
              </a:rPr>
              <a:t>grwi@dtu.dk</a:t>
            </a:r>
            <a:endParaRPr lang="en-US" sz="950" dirty="0">
              <a:solidFill>
                <a:srgbClr val="A30018"/>
              </a:solidFill>
            </a:endParaRPr>
          </a:p>
        </p:txBody>
      </p:sp>
      <p:sp>
        <p:nvSpPr>
          <p:cNvPr id="27" name="Staff: Rajan Ambat">
            <a:extLst>
              <a:ext uri="{FF2B5EF4-FFF2-40B4-BE49-F238E27FC236}">
                <a16:creationId xmlns:a16="http://schemas.microsoft.com/office/drawing/2014/main" id="{FF7CBF5F-12E8-F57C-BE6B-B2323F21BDC0}"/>
              </a:ext>
            </a:extLst>
          </p:cNvPr>
          <p:cNvSpPr/>
          <p:nvPr/>
        </p:nvSpPr>
        <p:spPr>
          <a:xfrm>
            <a:off x="2430357" y="7918654"/>
            <a:ext cx="2040467" cy="161583"/>
          </a:xfrm>
          <a:prstGeom prst="rect">
            <a:avLst/>
          </a:prstGeom>
          <a:noFill/>
          <a:ln/>
        </p:spPr>
        <p:txBody>
          <a:bodyPr wrap="square" lIns="0" tIns="0" rIns="0" bIns="0" rtlCol="0" anchor="t">
            <a:spAutoFit/>
          </a:bodyPr>
          <a:lstStyle/>
          <a:p>
            <a:pPr marL="0" indent="0">
              <a:lnSpc>
                <a:spcPct val="100000"/>
              </a:lnSpc>
              <a:buNone/>
            </a:pPr>
            <a:r>
              <a:rPr lang="en-US" sz="1050" b="1">
                <a:solidFill>
                  <a:srgbClr val="5D666B"/>
                </a:solidFill>
                <a:latin typeface="Aptos Display" pitchFamily="34" charset="0"/>
                <a:ea typeface="Aptos Display" pitchFamily="34" charset="-122"/>
                <a:cs typeface="Aptos Display" pitchFamily="34" charset="-120"/>
              </a:rPr>
              <a:t>Rajan Ambat</a:t>
            </a:r>
            <a:endParaRPr lang="en-US" sz="1050" dirty="0"/>
          </a:p>
        </p:txBody>
      </p:sp>
      <p:sp>
        <p:nvSpPr>
          <p:cNvPr id="29" name="Staff email: Rajan Ambat">
            <a:extLst>
              <a:ext uri="{FF2B5EF4-FFF2-40B4-BE49-F238E27FC236}">
                <a16:creationId xmlns:a16="http://schemas.microsoft.com/office/drawing/2014/main" id="{1A8A99F7-5834-72EA-347E-068498BD0916}"/>
              </a:ext>
            </a:extLst>
          </p:cNvPr>
          <p:cNvSpPr/>
          <p:nvPr/>
        </p:nvSpPr>
        <p:spPr>
          <a:xfrm>
            <a:off x="2430357" y="8054837"/>
            <a:ext cx="2040467" cy="146194"/>
          </a:xfrm>
          <a:prstGeom prst="rect">
            <a:avLst/>
          </a:prstGeom>
          <a:noFill/>
          <a:ln/>
        </p:spPr>
        <p:txBody>
          <a:bodyPr wrap="square" lIns="0" tIns="0" rIns="0" bIns="0" rtlCol="0" anchor="t">
            <a:spAutoFit/>
          </a:bodyPr>
          <a:lstStyle/>
          <a:p>
            <a:pPr marL="0" indent="0">
              <a:lnSpc>
                <a:spcPct val="100000"/>
              </a:lnSpc>
              <a:buNone/>
            </a:pPr>
            <a:r>
              <a:rPr lang="en-US" sz="950">
                <a:solidFill>
                  <a:srgbClr val="A30018"/>
                </a:solidFill>
                <a:latin typeface="Aptos" pitchFamily="34" charset="0"/>
                <a:ea typeface="Aptos" pitchFamily="34" charset="-122"/>
                <a:cs typeface="Aptos" pitchFamily="34" charset="-120"/>
                <a:hlinkClick r:id="rId4">
                  <a:extLst>
                    <a:ext uri="{A12FA001-AC4F-418D-AE19-62706E023703}">
                      <ahyp:hlinkClr xmlns:ahyp="http://schemas.microsoft.com/office/drawing/2018/hyperlinkcolor" val="tx"/>
                    </a:ext>
                  </a:extLst>
                </a:hlinkClick>
              </a:rPr>
              <a:t>ram@dtu.dk</a:t>
            </a:r>
            <a:endParaRPr lang="en-US" sz="950" dirty="0">
              <a:solidFill>
                <a:srgbClr val="A30018"/>
              </a:solidFill>
            </a:endParaRPr>
          </a:p>
        </p:txBody>
      </p:sp>
      <p:sp>
        <p:nvSpPr>
          <p:cNvPr id="31" name="Staff: John Hald">
            <a:extLst>
              <a:ext uri="{FF2B5EF4-FFF2-40B4-BE49-F238E27FC236}">
                <a16:creationId xmlns:a16="http://schemas.microsoft.com/office/drawing/2014/main" id="{0463BFBF-3F20-8504-4F68-FCF97A244C34}"/>
              </a:ext>
            </a:extLst>
          </p:cNvPr>
          <p:cNvSpPr/>
          <p:nvPr/>
        </p:nvSpPr>
        <p:spPr>
          <a:xfrm>
            <a:off x="4572423" y="7918654"/>
            <a:ext cx="2040467" cy="161583"/>
          </a:xfrm>
          <a:prstGeom prst="rect">
            <a:avLst/>
          </a:prstGeom>
          <a:noFill/>
          <a:ln/>
        </p:spPr>
        <p:txBody>
          <a:bodyPr wrap="square" lIns="0" tIns="0" rIns="0" bIns="0" rtlCol="0" anchor="t">
            <a:spAutoFit/>
          </a:bodyPr>
          <a:lstStyle/>
          <a:p>
            <a:pPr marL="0" indent="0">
              <a:lnSpc>
                <a:spcPct val="100000"/>
              </a:lnSpc>
              <a:buNone/>
            </a:pPr>
            <a:r>
              <a:rPr lang="en-US" sz="1050" b="1">
                <a:solidFill>
                  <a:srgbClr val="5D666B"/>
                </a:solidFill>
                <a:latin typeface="Aptos Display" pitchFamily="34" charset="0"/>
                <a:ea typeface="Aptos Display" pitchFamily="34" charset="-122"/>
                <a:cs typeface="Aptos Display" pitchFamily="34" charset="-120"/>
              </a:rPr>
              <a:t>John Hald</a:t>
            </a:r>
            <a:endParaRPr lang="en-US" sz="1050" dirty="0"/>
          </a:p>
        </p:txBody>
      </p:sp>
      <p:sp>
        <p:nvSpPr>
          <p:cNvPr id="33" name="Staff email: John Hald">
            <a:extLst>
              <a:ext uri="{FF2B5EF4-FFF2-40B4-BE49-F238E27FC236}">
                <a16:creationId xmlns:a16="http://schemas.microsoft.com/office/drawing/2014/main" id="{550F90D7-015F-BC81-C6AA-BC4EF7CB67C5}"/>
              </a:ext>
            </a:extLst>
          </p:cNvPr>
          <p:cNvSpPr/>
          <p:nvPr/>
        </p:nvSpPr>
        <p:spPr>
          <a:xfrm>
            <a:off x="4572423" y="8054837"/>
            <a:ext cx="2040467" cy="146194"/>
          </a:xfrm>
          <a:prstGeom prst="rect">
            <a:avLst/>
          </a:prstGeom>
          <a:noFill/>
          <a:ln/>
        </p:spPr>
        <p:txBody>
          <a:bodyPr wrap="square" lIns="0" tIns="0" rIns="0" bIns="0" rtlCol="0" anchor="t">
            <a:spAutoFit/>
          </a:bodyPr>
          <a:lstStyle/>
          <a:p>
            <a:pPr marL="0" indent="0">
              <a:lnSpc>
                <a:spcPct val="100000"/>
              </a:lnSpc>
              <a:buNone/>
            </a:pPr>
            <a:r>
              <a:rPr lang="en-US" sz="950">
                <a:solidFill>
                  <a:srgbClr val="A30018"/>
                </a:solidFill>
                <a:latin typeface="Aptos" pitchFamily="34" charset="0"/>
                <a:ea typeface="Aptos" pitchFamily="34" charset="-122"/>
                <a:cs typeface="Aptos" pitchFamily="34" charset="-120"/>
                <a:hlinkClick r:id="rId5">
                  <a:extLst>
                    <a:ext uri="{A12FA001-AC4F-418D-AE19-62706E023703}">
                      <ahyp:hlinkClr xmlns:ahyp="http://schemas.microsoft.com/office/drawing/2018/hyperlinkcolor" val="tx"/>
                    </a:ext>
                  </a:extLst>
                </a:hlinkClick>
              </a:rPr>
              <a:t>jhald@dtu.dk</a:t>
            </a:r>
            <a:endParaRPr lang="en-US" sz="950" dirty="0">
              <a:solidFill>
                <a:srgbClr val="A30018"/>
              </a:solidFill>
            </a:endParaRPr>
          </a:p>
        </p:txBody>
      </p:sp>
      <p:sp>
        <p:nvSpPr>
          <p:cNvPr id="35" name="Staff: Morten Stendahl Jellesen">
            <a:extLst>
              <a:ext uri="{FF2B5EF4-FFF2-40B4-BE49-F238E27FC236}">
                <a16:creationId xmlns:a16="http://schemas.microsoft.com/office/drawing/2014/main" id="{CF0D678D-4A56-5C2E-B819-2006EF0663E6}"/>
              </a:ext>
            </a:extLst>
          </p:cNvPr>
          <p:cNvSpPr/>
          <p:nvPr/>
        </p:nvSpPr>
        <p:spPr>
          <a:xfrm>
            <a:off x="288290" y="8395412"/>
            <a:ext cx="2040467" cy="161583"/>
          </a:xfrm>
          <a:prstGeom prst="rect">
            <a:avLst/>
          </a:prstGeom>
          <a:noFill/>
          <a:ln/>
        </p:spPr>
        <p:txBody>
          <a:bodyPr wrap="square" lIns="0" tIns="0" rIns="0" bIns="0" rtlCol="0" anchor="t">
            <a:spAutoFit/>
          </a:bodyPr>
          <a:lstStyle/>
          <a:p>
            <a:pPr marL="0" indent="0">
              <a:lnSpc>
                <a:spcPct val="100000"/>
              </a:lnSpc>
              <a:buNone/>
            </a:pPr>
            <a:r>
              <a:rPr lang="en-US" sz="1050" b="1">
                <a:solidFill>
                  <a:srgbClr val="5D666B"/>
                </a:solidFill>
                <a:latin typeface="Aptos Display" pitchFamily="34" charset="0"/>
                <a:ea typeface="Aptos Display" pitchFamily="34" charset="-122"/>
                <a:cs typeface="Aptos Display" pitchFamily="34" charset="-120"/>
              </a:rPr>
              <a:t>Morten Stendahl Jellesen</a:t>
            </a:r>
            <a:endParaRPr lang="en-US" sz="1050" dirty="0"/>
          </a:p>
        </p:txBody>
      </p:sp>
      <p:sp>
        <p:nvSpPr>
          <p:cNvPr id="37" name="Staff email: Morten Stendahl Jellesen">
            <a:extLst>
              <a:ext uri="{FF2B5EF4-FFF2-40B4-BE49-F238E27FC236}">
                <a16:creationId xmlns:a16="http://schemas.microsoft.com/office/drawing/2014/main" id="{D0381A9A-4C4F-8B05-ED03-3ECF05953D70}"/>
              </a:ext>
            </a:extLst>
          </p:cNvPr>
          <p:cNvSpPr/>
          <p:nvPr/>
        </p:nvSpPr>
        <p:spPr>
          <a:xfrm>
            <a:off x="288290" y="8531595"/>
            <a:ext cx="2040467" cy="146194"/>
          </a:xfrm>
          <a:prstGeom prst="rect">
            <a:avLst/>
          </a:prstGeom>
          <a:noFill/>
          <a:ln/>
        </p:spPr>
        <p:txBody>
          <a:bodyPr wrap="square" lIns="0" tIns="0" rIns="0" bIns="0" rtlCol="0" anchor="t">
            <a:spAutoFit/>
          </a:bodyPr>
          <a:lstStyle/>
          <a:p>
            <a:pPr marL="0" indent="0">
              <a:lnSpc>
                <a:spcPct val="100000"/>
              </a:lnSpc>
              <a:buNone/>
            </a:pPr>
            <a:r>
              <a:rPr lang="en-US" sz="950">
                <a:solidFill>
                  <a:srgbClr val="A30018"/>
                </a:solidFill>
                <a:latin typeface="Aptos" pitchFamily="34" charset="0"/>
                <a:ea typeface="Aptos" pitchFamily="34" charset="-122"/>
                <a:cs typeface="Aptos" pitchFamily="34" charset="-120"/>
                <a:hlinkClick r:id="rId6">
                  <a:extLst>
                    <a:ext uri="{A12FA001-AC4F-418D-AE19-62706E023703}">
                      <ahyp:hlinkClr xmlns:ahyp="http://schemas.microsoft.com/office/drawing/2018/hyperlinkcolor" val="tx"/>
                    </a:ext>
                  </a:extLst>
                </a:hlinkClick>
              </a:rPr>
              <a:t>msje@dtu.dk</a:t>
            </a:r>
            <a:endParaRPr lang="en-US" sz="950" dirty="0">
              <a:solidFill>
                <a:srgbClr val="A30018"/>
              </a:solidFill>
            </a:endParaRPr>
          </a:p>
        </p:txBody>
      </p:sp>
      <p:sp>
        <p:nvSpPr>
          <p:cNvPr id="38" name="Staff: Mehdi Mehrali">
            <a:extLst>
              <a:ext uri="{FF2B5EF4-FFF2-40B4-BE49-F238E27FC236}">
                <a16:creationId xmlns:a16="http://schemas.microsoft.com/office/drawing/2014/main" id="{5BA9A64B-C6ED-DFD0-B0F3-0B8226BF392F}"/>
              </a:ext>
            </a:extLst>
          </p:cNvPr>
          <p:cNvSpPr/>
          <p:nvPr/>
        </p:nvSpPr>
        <p:spPr>
          <a:xfrm>
            <a:off x="2430357" y="8395412"/>
            <a:ext cx="2040467" cy="161583"/>
          </a:xfrm>
          <a:prstGeom prst="rect">
            <a:avLst/>
          </a:prstGeom>
          <a:noFill/>
          <a:ln/>
        </p:spPr>
        <p:txBody>
          <a:bodyPr wrap="square" lIns="0" tIns="0" rIns="0" bIns="0" rtlCol="0" anchor="t">
            <a:spAutoFit/>
          </a:bodyPr>
          <a:lstStyle/>
          <a:p>
            <a:pPr marL="0" indent="0">
              <a:lnSpc>
                <a:spcPct val="100000"/>
              </a:lnSpc>
              <a:buNone/>
            </a:pPr>
            <a:r>
              <a:rPr lang="en-US" sz="1050" b="1">
                <a:solidFill>
                  <a:srgbClr val="5D666B"/>
                </a:solidFill>
                <a:latin typeface="Aptos Display" pitchFamily="34" charset="0"/>
                <a:ea typeface="Aptos Display" pitchFamily="34" charset="-122"/>
                <a:cs typeface="Aptos Display" pitchFamily="34" charset="-120"/>
              </a:rPr>
              <a:t>Mehdi Mehrali</a:t>
            </a:r>
            <a:endParaRPr lang="en-US" sz="1050" dirty="0"/>
          </a:p>
        </p:txBody>
      </p:sp>
      <p:sp>
        <p:nvSpPr>
          <p:cNvPr id="39" name="Staff email: Mehdi Mehrali">
            <a:extLst>
              <a:ext uri="{FF2B5EF4-FFF2-40B4-BE49-F238E27FC236}">
                <a16:creationId xmlns:a16="http://schemas.microsoft.com/office/drawing/2014/main" id="{1F6944CF-DDF8-99B2-7BFB-60BB8EC1C3E8}"/>
              </a:ext>
            </a:extLst>
          </p:cNvPr>
          <p:cNvSpPr/>
          <p:nvPr/>
        </p:nvSpPr>
        <p:spPr>
          <a:xfrm>
            <a:off x="2430357" y="8531595"/>
            <a:ext cx="2040467" cy="146194"/>
          </a:xfrm>
          <a:prstGeom prst="rect">
            <a:avLst/>
          </a:prstGeom>
          <a:noFill/>
          <a:ln/>
        </p:spPr>
        <p:txBody>
          <a:bodyPr wrap="square" lIns="0" tIns="0" rIns="0" bIns="0" rtlCol="0" anchor="t">
            <a:spAutoFit/>
          </a:bodyPr>
          <a:lstStyle/>
          <a:p>
            <a:pPr marL="0" indent="0">
              <a:lnSpc>
                <a:spcPct val="100000"/>
              </a:lnSpc>
              <a:buNone/>
            </a:pPr>
            <a:r>
              <a:rPr lang="en-US" sz="950">
                <a:solidFill>
                  <a:srgbClr val="A30018"/>
                </a:solidFill>
                <a:latin typeface="Aptos" pitchFamily="34" charset="0"/>
                <a:ea typeface="Aptos" pitchFamily="34" charset="-122"/>
                <a:cs typeface="Aptos" pitchFamily="34" charset="-120"/>
                <a:hlinkClick r:id="rId7">
                  <a:extLst>
                    <a:ext uri="{A12FA001-AC4F-418D-AE19-62706E023703}">
                      <ahyp:hlinkClr xmlns:ahyp="http://schemas.microsoft.com/office/drawing/2018/hyperlinkcolor" val="tx"/>
                    </a:ext>
                  </a:extLst>
                </a:hlinkClick>
              </a:rPr>
              <a:t>meme@dtu.dk</a:t>
            </a:r>
            <a:endParaRPr lang="en-US" sz="950" dirty="0">
              <a:solidFill>
                <a:srgbClr val="A30018"/>
              </a:solidFill>
            </a:endParaRPr>
          </a:p>
        </p:txBody>
      </p:sp>
      <p:sp>
        <p:nvSpPr>
          <p:cNvPr id="40" name="Staff: Oleg Mishin">
            <a:extLst>
              <a:ext uri="{FF2B5EF4-FFF2-40B4-BE49-F238E27FC236}">
                <a16:creationId xmlns:a16="http://schemas.microsoft.com/office/drawing/2014/main" id="{E4E12A77-F749-ED0E-6635-981F35BD26D5}"/>
              </a:ext>
            </a:extLst>
          </p:cNvPr>
          <p:cNvSpPr/>
          <p:nvPr/>
        </p:nvSpPr>
        <p:spPr>
          <a:xfrm>
            <a:off x="4572423" y="8395412"/>
            <a:ext cx="2040467" cy="161583"/>
          </a:xfrm>
          <a:prstGeom prst="rect">
            <a:avLst/>
          </a:prstGeom>
          <a:noFill/>
          <a:ln/>
        </p:spPr>
        <p:txBody>
          <a:bodyPr wrap="square" lIns="0" tIns="0" rIns="0" bIns="0" rtlCol="0" anchor="t">
            <a:spAutoFit/>
          </a:bodyPr>
          <a:lstStyle/>
          <a:p>
            <a:pPr marL="0" indent="0">
              <a:lnSpc>
                <a:spcPct val="100000"/>
              </a:lnSpc>
              <a:buNone/>
            </a:pPr>
            <a:r>
              <a:rPr lang="en-US" sz="1050" b="1">
                <a:solidFill>
                  <a:srgbClr val="5D666B"/>
                </a:solidFill>
                <a:latin typeface="Aptos Display" pitchFamily="34" charset="0"/>
                <a:ea typeface="Aptos Display" pitchFamily="34" charset="-122"/>
                <a:cs typeface="Aptos Display" pitchFamily="34" charset="-120"/>
              </a:rPr>
              <a:t>Oleg Mishin</a:t>
            </a:r>
            <a:endParaRPr lang="en-US" sz="1050" dirty="0"/>
          </a:p>
        </p:txBody>
      </p:sp>
      <p:sp>
        <p:nvSpPr>
          <p:cNvPr id="41" name="Staff email: Oleg Mishin">
            <a:extLst>
              <a:ext uri="{FF2B5EF4-FFF2-40B4-BE49-F238E27FC236}">
                <a16:creationId xmlns:a16="http://schemas.microsoft.com/office/drawing/2014/main" id="{4EF05DFC-16B7-E0DB-FD4E-2AF594E86DA7}"/>
              </a:ext>
            </a:extLst>
          </p:cNvPr>
          <p:cNvSpPr/>
          <p:nvPr/>
        </p:nvSpPr>
        <p:spPr>
          <a:xfrm>
            <a:off x="4572423" y="8531595"/>
            <a:ext cx="2040467" cy="146194"/>
          </a:xfrm>
          <a:prstGeom prst="rect">
            <a:avLst/>
          </a:prstGeom>
          <a:noFill/>
          <a:ln/>
        </p:spPr>
        <p:txBody>
          <a:bodyPr wrap="square" lIns="0" tIns="0" rIns="0" bIns="0" rtlCol="0" anchor="t">
            <a:spAutoFit/>
          </a:bodyPr>
          <a:lstStyle/>
          <a:p>
            <a:pPr marL="0" indent="0">
              <a:lnSpc>
                <a:spcPct val="100000"/>
              </a:lnSpc>
              <a:buNone/>
            </a:pPr>
            <a:r>
              <a:rPr lang="en-US" sz="950">
                <a:solidFill>
                  <a:srgbClr val="A30018"/>
                </a:solidFill>
                <a:latin typeface="Aptos" pitchFamily="34" charset="0"/>
                <a:ea typeface="Aptos" pitchFamily="34" charset="-122"/>
                <a:cs typeface="Aptos" pitchFamily="34" charset="-120"/>
                <a:hlinkClick r:id="rId8">
                  <a:extLst>
                    <a:ext uri="{A12FA001-AC4F-418D-AE19-62706E023703}">
                      <ahyp:hlinkClr xmlns:ahyp="http://schemas.microsoft.com/office/drawing/2018/hyperlinkcolor" val="tx"/>
                    </a:ext>
                  </a:extLst>
                </a:hlinkClick>
              </a:rPr>
              <a:t>olmi@dtu.dk</a:t>
            </a:r>
            <a:endParaRPr lang="en-US" sz="950" dirty="0">
              <a:solidFill>
                <a:srgbClr val="A30018"/>
              </a:solidFill>
            </a:endParaRPr>
          </a:p>
        </p:txBody>
      </p:sp>
      <p:sp>
        <p:nvSpPr>
          <p:cNvPr id="43" name="Staff: Karen Pantleon">
            <a:extLst>
              <a:ext uri="{FF2B5EF4-FFF2-40B4-BE49-F238E27FC236}">
                <a16:creationId xmlns:a16="http://schemas.microsoft.com/office/drawing/2014/main" id="{79BAD1F6-9C31-F476-8400-2CA5F35514EF}"/>
              </a:ext>
            </a:extLst>
          </p:cNvPr>
          <p:cNvSpPr/>
          <p:nvPr/>
        </p:nvSpPr>
        <p:spPr>
          <a:xfrm>
            <a:off x="288290" y="8714231"/>
            <a:ext cx="2040467" cy="161583"/>
          </a:xfrm>
          <a:prstGeom prst="rect">
            <a:avLst/>
          </a:prstGeom>
          <a:noFill/>
          <a:ln/>
        </p:spPr>
        <p:txBody>
          <a:bodyPr wrap="square" lIns="0" tIns="0" rIns="0" bIns="0" rtlCol="0" anchor="t">
            <a:spAutoFit/>
          </a:bodyPr>
          <a:lstStyle/>
          <a:p>
            <a:pPr marL="0" indent="0">
              <a:lnSpc>
                <a:spcPct val="100000"/>
              </a:lnSpc>
              <a:buNone/>
            </a:pPr>
            <a:r>
              <a:rPr lang="en-US" sz="1050" b="1">
                <a:solidFill>
                  <a:srgbClr val="5D666B"/>
                </a:solidFill>
                <a:latin typeface="Aptos Display" pitchFamily="34" charset="0"/>
                <a:ea typeface="Aptos Display" pitchFamily="34" charset="-122"/>
                <a:cs typeface="Aptos Display" pitchFamily="34" charset="-120"/>
              </a:rPr>
              <a:t>Karen Pantleon</a:t>
            </a:r>
            <a:endParaRPr lang="en-US" sz="1050" dirty="0"/>
          </a:p>
        </p:txBody>
      </p:sp>
      <p:sp>
        <p:nvSpPr>
          <p:cNvPr id="45" name="Staff email: Karen Pantleon">
            <a:extLst>
              <a:ext uri="{FF2B5EF4-FFF2-40B4-BE49-F238E27FC236}">
                <a16:creationId xmlns:a16="http://schemas.microsoft.com/office/drawing/2014/main" id="{244EE47F-74BF-09DE-6551-D54F9B8980F4}"/>
              </a:ext>
            </a:extLst>
          </p:cNvPr>
          <p:cNvSpPr/>
          <p:nvPr/>
        </p:nvSpPr>
        <p:spPr>
          <a:xfrm>
            <a:off x="288290" y="8850414"/>
            <a:ext cx="2040467" cy="146194"/>
          </a:xfrm>
          <a:prstGeom prst="rect">
            <a:avLst/>
          </a:prstGeom>
          <a:noFill/>
          <a:ln/>
        </p:spPr>
        <p:txBody>
          <a:bodyPr wrap="square" lIns="0" tIns="0" rIns="0" bIns="0" rtlCol="0" anchor="t">
            <a:spAutoFit/>
          </a:bodyPr>
          <a:lstStyle/>
          <a:p>
            <a:pPr marL="0" indent="0">
              <a:lnSpc>
                <a:spcPct val="100000"/>
              </a:lnSpc>
              <a:buNone/>
            </a:pPr>
            <a:r>
              <a:rPr lang="en-US" sz="950">
                <a:solidFill>
                  <a:srgbClr val="A30018"/>
                </a:solidFill>
                <a:latin typeface="Aptos" pitchFamily="34" charset="0"/>
                <a:ea typeface="Aptos" pitchFamily="34" charset="-122"/>
                <a:cs typeface="Aptos" pitchFamily="34" charset="-120"/>
                <a:hlinkClick r:id="rId9">
                  <a:extLst>
                    <a:ext uri="{A12FA001-AC4F-418D-AE19-62706E023703}">
                      <ahyp:hlinkClr xmlns:ahyp="http://schemas.microsoft.com/office/drawing/2018/hyperlinkcolor" val="tx"/>
                    </a:ext>
                  </a:extLst>
                </a:hlinkClick>
              </a:rPr>
              <a:t>kapa@dtu.dk</a:t>
            </a:r>
            <a:endParaRPr lang="en-US" sz="950" dirty="0">
              <a:solidFill>
                <a:srgbClr val="A30018"/>
              </a:solidFill>
            </a:endParaRPr>
          </a:p>
        </p:txBody>
      </p:sp>
      <p:sp>
        <p:nvSpPr>
          <p:cNvPr id="47" name="Staff: Wolfgang Pantleon">
            <a:extLst>
              <a:ext uri="{FF2B5EF4-FFF2-40B4-BE49-F238E27FC236}">
                <a16:creationId xmlns:a16="http://schemas.microsoft.com/office/drawing/2014/main" id="{F62D9733-96C4-C7EB-21FF-47345EE81299}"/>
              </a:ext>
            </a:extLst>
          </p:cNvPr>
          <p:cNvSpPr/>
          <p:nvPr/>
        </p:nvSpPr>
        <p:spPr>
          <a:xfrm>
            <a:off x="2430357" y="8714231"/>
            <a:ext cx="2040467" cy="161583"/>
          </a:xfrm>
          <a:prstGeom prst="rect">
            <a:avLst/>
          </a:prstGeom>
          <a:noFill/>
          <a:ln/>
        </p:spPr>
        <p:txBody>
          <a:bodyPr wrap="square" lIns="0" tIns="0" rIns="0" bIns="0" rtlCol="0" anchor="t">
            <a:spAutoFit/>
          </a:bodyPr>
          <a:lstStyle/>
          <a:p>
            <a:pPr marL="0" indent="0">
              <a:lnSpc>
                <a:spcPct val="100000"/>
              </a:lnSpc>
              <a:buNone/>
            </a:pPr>
            <a:r>
              <a:rPr lang="en-US" sz="1050" b="1">
                <a:solidFill>
                  <a:srgbClr val="5D666B"/>
                </a:solidFill>
                <a:latin typeface="Aptos Display" pitchFamily="34" charset="0"/>
                <a:ea typeface="Aptos Display" pitchFamily="34" charset="-122"/>
                <a:cs typeface="Aptos Display" pitchFamily="34" charset="-120"/>
              </a:rPr>
              <a:t>Wolfgang Pantleon</a:t>
            </a:r>
            <a:endParaRPr lang="en-US" sz="1050" dirty="0"/>
          </a:p>
        </p:txBody>
      </p:sp>
      <p:sp>
        <p:nvSpPr>
          <p:cNvPr id="49" name="Staff email: Wolfgang Pantleon">
            <a:extLst>
              <a:ext uri="{FF2B5EF4-FFF2-40B4-BE49-F238E27FC236}">
                <a16:creationId xmlns:a16="http://schemas.microsoft.com/office/drawing/2014/main" id="{639866ED-7ABA-8D9E-D06C-5770A7FC73BC}"/>
              </a:ext>
            </a:extLst>
          </p:cNvPr>
          <p:cNvSpPr/>
          <p:nvPr/>
        </p:nvSpPr>
        <p:spPr>
          <a:xfrm>
            <a:off x="2430357" y="8850414"/>
            <a:ext cx="2040467" cy="146194"/>
          </a:xfrm>
          <a:prstGeom prst="rect">
            <a:avLst/>
          </a:prstGeom>
          <a:noFill/>
          <a:ln/>
        </p:spPr>
        <p:txBody>
          <a:bodyPr wrap="square" lIns="0" tIns="0" rIns="0" bIns="0" rtlCol="0" anchor="t">
            <a:spAutoFit/>
          </a:bodyPr>
          <a:lstStyle/>
          <a:p>
            <a:pPr marL="0" indent="0">
              <a:lnSpc>
                <a:spcPct val="100000"/>
              </a:lnSpc>
              <a:buNone/>
            </a:pPr>
            <a:r>
              <a:rPr lang="en-US" sz="950">
                <a:solidFill>
                  <a:srgbClr val="A30018"/>
                </a:solidFill>
                <a:latin typeface="Aptos" pitchFamily="34" charset="0"/>
                <a:ea typeface="Aptos" pitchFamily="34" charset="-122"/>
                <a:cs typeface="Aptos" pitchFamily="34" charset="-120"/>
                <a:hlinkClick r:id="rId10">
                  <a:extLst>
                    <a:ext uri="{A12FA001-AC4F-418D-AE19-62706E023703}">
                      <ahyp:hlinkClr xmlns:ahyp="http://schemas.microsoft.com/office/drawing/2018/hyperlinkcolor" val="tx"/>
                    </a:ext>
                  </a:extLst>
                </a:hlinkClick>
              </a:rPr>
              <a:t>pawo@dtu.dk</a:t>
            </a:r>
            <a:endParaRPr lang="en-US" sz="950" dirty="0">
              <a:solidFill>
                <a:srgbClr val="A30018"/>
              </a:solidFill>
            </a:endParaRPr>
          </a:p>
        </p:txBody>
      </p:sp>
      <p:sp>
        <p:nvSpPr>
          <p:cNvPr id="51" name="Staff: Marcel A.J. Somers">
            <a:extLst>
              <a:ext uri="{FF2B5EF4-FFF2-40B4-BE49-F238E27FC236}">
                <a16:creationId xmlns:a16="http://schemas.microsoft.com/office/drawing/2014/main" id="{94CE4FF3-5845-1735-B677-D49F6D2FB0A8}"/>
              </a:ext>
            </a:extLst>
          </p:cNvPr>
          <p:cNvSpPr/>
          <p:nvPr/>
        </p:nvSpPr>
        <p:spPr>
          <a:xfrm>
            <a:off x="4572423" y="8714231"/>
            <a:ext cx="2040467" cy="161583"/>
          </a:xfrm>
          <a:prstGeom prst="rect">
            <a:avLst/>
          </a:prstGeom>
          <a:noFill/>
          <a:ln/>
        </p:spPr>
        <p:txBody>
          <a:bodyPr wrap="square" lIns="0" tIns="0" rIns="0" bIns="0" rtlCol="0" anchor="t">
            <a:spAutoFit/>
          </a:bodyPr>
          <a:lstStyle/>
          <a:p>
            <a:pPr marL="0" indent="0">
              <a:lnSpc>
                <a:spcPct val="100000"/>
              </a:lnSpc>
              <a:buNone/>
            </a:pPr>
            <a:r>
              <a:rPr lang="en-US" sz="1050" b="1" dirty="0">
                <a:solidFill>
                  <a:srgbClr val="5D666B"/>
                </a:solidFill>
                <a:latin typeface="Aptos Display" pitchFamily="34" charset="0"/>
                <a:ea typeface="Aptos Display" pitchFamily="34" charset="-122"/>
                <a:cs typeface="Aptos Display" pitchFamily="34" charset="-120"/>
              </a:rPr>
              <a:t>Marcel A.J. Somers</a:t>
            </a:r>
            <a:endParaRPr lang="en-US" sz="1050" dirty="0"/>
          </a:p>
        </p:txBody>
      </p:sp>
      <p:sp>
        <p:nvSpPr>
          <p:cNvPr id="53" name="Staff email: Marcel A.J. Somers">
            <a:extLst>
              <a:ext uri="{FF2B5EF4-FFF2-40B4-BE49-F238E27FC236}">
                <a16:creationId xmlns:a16="http://schemas.microsoft.com/office/drawing/2014/main" id="{EDE7DF1F-BBB7-7224-2E62-EFCF91127F85}"/>
              </a:ext>
            </a:extLst>
          </p:cNvPr>
          <p:cNvSpPr/>
          <p:nvPr/>
        </p:nvSpPr>
        <p:spPr>
          <a:xfrm>
            <a:off x="4572423" y="8850414"/>
            <a:ext cx="2040467" cy="146194"/>
          </a:xfrm>
          <a:prstGeom prst="rect">
            <a:avLst/>
          </a:prstGeom>
          <a:noFill/>
          <a:ln/>
        </p:spPr>
        <p:txBody>
          <a:bodyPr wrap="square" lIns="0" tIns="0" rIns="0" bIns="0" rtlCol="0" anchor="t">
            <a:spAutoFit/>
          </a:bodyPr>
          <a:lstStyle/>
          <a:p>
            <a:pPr marL="0" indent="0">
              <a:lnSpc>
                <a:spcPct val="100000"/>
              </a:lnSpc>
              <a:buNone/>
            </a:pPr>
            <a:r>
              <a:rPr lang="en-US" sz="950">
                <a:solidFill>
                  <a:srgbClr val="A30018"/>
                </a:solidFill>
                <a:latin typeface="Aptos" pitchFamily="34" charset="0"/>
                <a:ea typeface="Aptos" pitchFamily="34" charset="-122"/>
                <a:cs typeface="Aptos" pitchFamily="34" charset="-120"/>
                <a:hlinkClick r:id="rId11">
                  <a:extLst>
                    <a:ext uri="{A12FA001-AC4F-418D-AE19-62706E023703}">
                      <ahyp:hlinkClr xmlns:ahyp="http://schemas.microsoft.com/office/drawing/2018/hyperlinkcolor" val="tx"/>
                    </a:ext>
                  </a:extLst>
                </a:hlinkClick>
              </a:rPr>
              <a:t>majs@dtu.dk</a:t>
            </a:r>
            <a:endParaRPr lang="en-US" sz="950" dirty="0">
              <a:solidFill>
                <a:srgbClr val="A30018"/>
              </a:solidFill>
            </a:endParaRPr>
          </a:p>
        </p:txBody>
      </p:sp>
      <p:sp>
        <p:nvSpPr>
          <p:cNvPr id="55" name="Staff: Kapil Kumar Gupta">
            <a:extLst>
              <a:ext uri="{FF2B5EF4-FFF2-40B4-BE49-F238E27FC236}">
                <a16:creationId xmlns:a16="http://schemas.microsoft.com/office/drawing/2014/main" id="{063AC545-63B1-3554-41FE-F7CAA602E3AC}"/>
              </a:ext>
            </a:extLst>
          </p:cNvPr>
          <p:cNvSpPr/>
          <p:nvPr/>
        </p:nvSpPr>
        <p:spPr>
          <a:xfrm>
            <a:off x="288290" y="9061766"/>
            <a:ext cx="2040467" cy="161583"/>
          </a:xfrm>
          <a:prstGeom prst="rect">
            <a:avLst/>
          </a:prstGeom>
          <a:noFill/>
          <a:ln/>
        </p:spPr>
        <p:txBody>
          <a:bodyPr wrap="square" lIns="0" tIns="0" rIns="0" bIns="0" rtlCol="0" anchor="t">
            <a:spAutoFit/>
          </a:bodyPr>
          <a:lstStyle/>
          <a:p>
            <a:pPr marL="0" indent="0">
              <a:lnSpc>
                <a:spcPct val="100000"/>
              </a:lnSpc>
              <a:buNone/>
            </a:pPr>
            <a:r>
              <a:rPr lang="en-US" sz="1050" b="1">
                <a:solidFill>
                  <a:srgbClr val="5D666B"/>
                </a:solidFill>
                <a:latin typeface="Aptos Display" pitchFamily="34" charset="0"/>
                <a:ea typeface="Aptos Display" pitchFamily="34" charset="-122"/>
                <a:cs typeface="Aptos Display" pitchFamily="34" charset="-120"/>
              </a:rPr>
              <a:t>Kapil Kumar Gupta</a:t>
            </a:r>
            <a:endParaRPr lang="en-US" sz="1050" dirty="0"/>
          </a:p>
        </p:txBody>
      </p:sp>
      <p:sp>
        <p:nvSpPr>
          <p:cNvPr id="57" name="Staff email: Kapil Kumar Gupta">
            <a:extLst>
              <a:ext uri="{FF2B5EF4-FFF2-40B4-BE49-F238E27FC236}">
                <a16:creationId xmlns:a16="http://schemas.microsoft.com/office/drawing/2014/main" id="{4ED4D755-616F-C849-35CB-21C10D0CBBAA}"/>
              </a:ext>
            </a:extLst>
          </p:cNvPr>
          <p:cNvSpPr/>
          <p:nvPr/>
        </p:nvSpPr>
        <p:spPr>
          <a:xfrm>
            <a:off x="288290" y="9197949"/>
            <a:ext cx="2040467" cy="146194"/>
          </a:xfrm>
          <a:prstGeom prst="rect">
            <a:avLst/>
          </a:prstGeom>
          <a:noFill/>
          <a:ln/>
        </p:spPr>
        <p:txBody>
          <a:bodyPr wrap="square" lIns="0" tIns="0" rIns="0" bIns="0" rtlCol="0" anchor="t">
            <a:spAutoFit/>
          </a:bodyPr>
          <a:lstStyle/>
          <a:p>
            <a:pPr marL="0" indent="0">
              <a:lnSpc>
                <a:spcPct val="100000"/>
              </a:lnSpc>
              <a:buNone/>
            </a:pPr>
            <a:r>
              <a:rPr lang="en-US" sz="950">
                <a:solidFill>
                  <a:srgbClr val="A30018"/>
                </a:solidFill>
                <a:latin typeface="Aptos" pitchFamily="34" charset="0"/>
                <a:ea typeface="Aptos" pitchFamily="34" charset="-122"/>
                <a:cs typeface="Aptos" pitchFamily="34" charset="-120"/>
                <a:hlinkClick r:id="rId12">
                  <a:extLst>
                    <a:ext uri="{A12FA001-AC4F-418D-AE19-62706E023703}">
                      <ahyp:hlinkClr xmlns:ahyp="http://schemas.microsoft.com/office/drawing/2018/hyperlinkcolor" val="tx"/>
                    </a:ext>
                  </a:extLst>
                </a:hlinkClick>
              </a:rPr>
              <a:t>kkgup@dtu.dk</a:t>
            </a:r>
            <a:endParaRPr lang="en-US" sz="950" dirty="0">
              <a:solidFill>
                <a:srgbClr val="A30018"/>
              </a:solidFill>
            </a:endParaRPr>
          </a:p>
        </p:txBody>
      </p:sp>
      <p:sp>
        <p:nvSpPr>
          <p:cNvPr id="59" name="Staff: Cecilie Vase Funch">
            <a:extLst>
              <a:ext uri="{FF2B5EF4-FFF2-40B4-BE49-F238E27FC236}">
                <a16:creationId xmlns:a16="http://schemas.microsoft.com/office/drawing/2014/main" id="{814A70D5-4300-A9A9-1669-36043516C317}"/>
              </a:ext>
            </a:extLst>
          </p:cNvPr>
          <p:cNvSpPr/>
          <p:nvPr/>
        </p:nvSpPr>
        <p:spPr>
          <a:xfrm>
            <a:off x="2430357" y="9061766"/>
            <a:ext cx="2040467" cy="161583"/>
          </a:xfrm>
          <a:prstGeom prst="rect">
            <a:avLst/>
          </a:prstGeom>
          <a:noFill/>
          <a:ln/>
        </p:spPr>
        <p:txBody>
          <a:bodyPr wrap="square" lIns="0" tIns="0" rIns="0" bIns="0" rtlCol="0" anchor="t">
            <a:spAutoFit/>
          </a:bodyPr>
          <a:lstStyle/>
          <a:p>
            <a:pPr marL="0" indent="0">
              <a:lnSpc>
                <a:spcPct val="100000"/>
              </a:lnSpc>
              <a:buNone/>
            </a:pPr>
            <a:r>
              <a:rPr lang="en-US" sz="1050" b="1">
                <a:solidFill>
                  <a:srgbClr val="5D666B"/>
                </a:solidFill>
                <a:latin typeface="Aptos Display" pitchFamily="34" charset="0"/>
                <a:ea typeface="Aptos Display" pitchFamily="34" charset="-122"/>
                <a:cs typeface="Aptos Display" pitchFamily="34" charset="-120"/>
              </a:rPr>
              <a:t>Cecilie Vase Funch</a:t>
            </a:r>
            <a:endParaRPr lang="en-US" sz="1050" dirty="0"/>
          </a:p>
        </p:txBody>
      </p:sp>
      <p:sp>
        <p:nvSpPr>
          <p:cNvPr id="61" name="Staff email: Cecilie Vase Funch">
            <a:extLst>
              <a:ext uri="{FF2B5EF4-FFF2-40B4-BE49-F238E27FC236}">
                <a16:creationId xmlns:a16="http://schemas.microsoft.com/office/drawing/2014/main" id="{E699FB28-AE2C-ECA7-420F-08E9E8EF07F5}"/>
              </a:ext>
            </a:extLst>
          </p:cNvPr>
          <p:cNvSpPr/>
          <p:nvPr/>
        </p:nvSpPr>
        <p:spPr>
          <a:xfrm>
            <a:off x="2430357" y="9197949"/>
            <a:ext cx="2040467" cy="146194"/>
          </a:xfrm>
          <a:prstGeom prst="rect">
            <a:avLst/>
          </a:prstGeom>
          <a:noFill/>
          <a:ln/>
        </p:spPr>
        <p:txBody>
          <a:bodyPr wrap="square" lIns="0" tIns="0" rIns="0" bIns="0" rtlCol="0" anchor="t">
            <a:spAutoFit/>
          </a:bodyPr>
          <a:lstStyle/>
          <a:p>
            <a:pPr marL="0" indent="0">
              <a:lnSpc>
                <a:spcPct val="100000"/>
              </a:lnSpc>
              <a:buNone/>
            </a:pPr>
            <a:r>
              <a:rPr lang="en-US" sz="950">
                <a:solidFill>
                  <a:srgbClr val="A30018"/>
                </a:solidFill>
                <a:latin typeface="Aptos" pitchFamily="34" charset="0"/>
                <a:ea typeface="Aptos" pitchFamily="34" charset="-122"/>
                <a:cs typeface="Aptos" pitchFamily="34" charset="-120"/>
                <a:hlinkClick r:id="rId13">
                  <a:extLst>
                    <a:ext uri="{A12FA001-AC4F-418D-AE19-62706E023703}">
                      <ahyp:hlinkClr xmlns:ahyp="http://schemas.microsoft.com/office/drawing/2018/hyperlinkcolor" val="tx"/>
                    </a:ext>
                  </a:extLst>
                </a:hlinkClick>
              </a:rPr>
              <a:t>cevfu@dtu.dk</a:t>
            </a:r>
            <a:endParaRPr lang="en-US" sz="950" dirty="0">
              <a:solidFill>
                <a:srgbClr val="A30018"/>
              </a:solidFill>
            </a:endParaRPr>
          </a:p>
        </p:txBody>
      </p:sp>
      <p:sp>
        <p:nvSpPr>
          <p:cNvPr id="63" name="Staff: Masoud Hasany">
            <a:extLst>
              <a:ext uri="{FF2B5EF4-FFF2-40B4-BE49-F238E27FC236}">
                <a16:creationId xmlns:a16="http://schemas.microsoft.com/office/drawing/2014/main" id="{51082C1C-73C7-1D49-13B1-7271DA6E39E6}"/>
              </a:ext>
            </a:extLst>
          </p:cNvPr>
          <p:cNvSpPr/>
          <p:nvPr/>
        </p:nvSpPr>
        <p:spPr>
          <a:xfrm>
            <a:off x="4572423" y="9061766"/>
            <a:ext cx="2040467" cy="161583"/>
          </a:xfrm>
          <a:prstGeom prst="rect">
            <a:avLst/>
          </a:prstGeom>
          <a:noFill/>
          <a:ln/>
        </p:spPr>
        <p:txBody>
          <a:bodyPr wrap="square" lIns="0" tIns="0" rIns="0" bIns="0" rtlCol="0" anchor="t">
            <a:spAutoFit/>
          </a:bodyPr>
          <a:lstStyle/>
          <a:p>
            <a:pPr marL="0" indent="0">
              <a:lnSpc>
                <a:spcPct val="100000"/>
              </a:lnSpc>
              <a:buNone/>
            </a:pPr>
            <a:r>
              <a:rPr lang="en-US" sz="1050" b="1">
                <a:solidFill>
                  <a:srgbClr val="5D666B"/>
                </a:solidFill>
                <a:latin typeface="Aptos Display" pitchFamily="34" charset="0"/>
                <a:ea typeface="Aptos Display" pitchFamily="34" charset="-122"/>
                <a:cs typeface="Aptos Display" pitchFamily="34" charset="-120"/>
              </a:rPr>
              <a:t>Masoud Hasany</a:t>
            </a:r>
            <a:endParaRPr lang="en-US" sz="1050" dirty="0"/>
          </a:p>
        </p:txBody>
      </p:sp>
      <p:sp>
        <p:nvSpPr>
          <p:cNvPr id="64" name="Staff email: Masoud Hasany">
            <a:extLst>
              <a:ext uri="{FF2B5EF4-FFF2-40B4-BE49-F238E27FC236}">
                <a16:creationId xmlns:a16="http://schemas.microsoft.com/office/drawing/2014/main" id="{C32A70BE-33AE-ABF9-C1DF-79C5936AF810}"/>
              </a:ext>
            </a:extLst>
          </p:cNvPr>
          <p:cNvSpPr/>
          <p:nvPr/>
        </p:nvSpPr>
        <p:spPr>
          <a:xfrm>
            <a:off x="4572423" y="9197949"/>
            <a:ext cx="2040467" cy="146194"/>
          </a:xfrm>
          <a:prstGeom prst="rect">
            <a:avLst/>
          </a:prstGeom>
          <a:noFill/>
          <a:ln/>
        </p:spPr>
        <p:txBody>
          <a:bodyPr wrap="square" lIns="0" tIns="0" rIns="0" bIns="0" rtlCol="0" anchor="t">
            <a:spAutoFit/>
          </a:bodyPr>
          <a:lstStyle/>
          <a:p>
            <a:pPr marL="0" indent="0">
              <a:lnSpc>
                <a:spcPct val="100000"/>
              </a:lnSpc>
              <a:buNone/>
            </a:pPr>
            <a:r>
              <a:rPr lang="en-US" sz="950">
                <a:solidFill>
                  <a:srgbClr val="A30018"/>
                </a:solidFill>
                <a:latin typeface="Aptos" pitchFamily="34" charset="0"/>
                <a:ea typeface="Aptos" pitchFamily="34" charset="-122"/>
                <a:cs typeface="Aptos" pitchFamily="34" charset="-120"/>
                <a:hlinkClick r:id="rId14">
                  <a:extLst>
                    <a:ext uri="{A12FA001-AC4F-418D-AE19-62706E023703}">
                      <ahyp:hlinkClr xmlns:ahyp="http://schemas.microsoft.com/office/drawing/2018/hyperlinkcolor" val="tx"/>
                    </a:ext>
                  </a:extLst>
                </a:hlinkClick>
              </a:rPr>
              <a:t>mahas@dtu.dk</a:t>
            </a:r>
            <a:endParaRPr lang="en-US" sz="950" dirty="0">
              <a:solidFill>
                <a:srgbClr val="A30018"/>
              </a:solidFill>
            </a:endParaRPr>
          </a:p>
        </p:txBody>
      </p:sp>
      <p:sp>
        <p:nvSpPr>
          <p:cNvPr id="4" name="Divider">
            <a:extLst>
              <a:ext uri="{FF2B5EF4-FFF2-40B4-BE49-F238E27FC236}">
                <a16:creationId xmlns:a16="http://schemas.microsoft.com/office/drawing/2014/main" id="{1DB18C59-E742-67AF-103A-606E0814A8E8}"/>
              </a:ext>
            </a:extLst>
          </p:cNvPr>
          <p:cNvSpPr/>
          <p:nvPr/>
        </p:nvSpPr>
        <p:spPr>
          <a:xfrm>
            <a:off x="288290" y="4101844"/>
            <a:ext cx="6426200" cy="0"/>
          </a:xfrm>
          <a:prstGeom prst="line">
            <a:avLst/>
          </a:prstGeom>
          <a:noFill/>
          <a:ln w="10795">
            <a:solidFill>
              <a:srgbClr val="DFE2E3"/>
            </a:solidFill>
            <a:prstDash val="solid"/>
          </a:ln>
        </p:spPr>
        <p:txBody>
          <a:bodyPr/>
          <a:lstStyle/>
          <a:p>
            <a:endParaRPr lang="LID4096"/>
          </a:p>
        </p:txBody>
      </p:sp>
    </p:spTree>
    <p:extLst>
      <p:ext uri="{BB962C8B-B14F-4D97-AF65-F5344CB8AC3E}">
        <p14:creationId xmlns:p14="http://schemas.microsoft.com/office/powerpoint/2010/main" val="1429018327"/>
      </p:ext>
    </p:extLst>
  </p:cSld>
  <p:clrMapOvr>
    <a:masterClrMapping/>
  </p:clrMapOvr>
</p:sld>
</file>

<file path=ppt/theme/theme1.xml><?xml version="1.0" encoding="utf-8"?>
<a:theme xmlns:a="http://schemas.openxmlformats.org/drawingml/2006/main" name="02-introduction">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1352</TotalTime>
  <Words>507</Words>
  <Application>Microsoft Office PowerPoint</Application>
  <PresentationFormat>A4 Paper (210x297 mm)</PresentationFormat>
  <Paragraphs>44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02-introduction</vt:lpstr>
      <vt:lpstr>PowerPoint Presentation</vt:lpstr>
    </vt:vector>
  </TitlesOfParts>
  <Company>TECHNICAL UNIVERSITY OF DENMARK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Masoud Hasany</dc:creator>
  <cp:lastModifiedBy>Masoud Hasany</cp:lastModifiedBy>
  <cp:revision>31</cp:revision>
  <cp:lastPrinted>2026-10-26T14:44:04Z</cp:lastPrinted>
  <dcterms:created xsi:type="dcterms:W3CDTF">2026-10-09T11:09:38Z</dcterms:created>
  <dcterms:modified xsi:type="dcterms:W3CDTF">2026-10-28T10:37:19Z</dcterms:modified>
</cp:coreProperties>
</file>