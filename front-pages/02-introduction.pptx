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8" r:id="rId2"/>
  </p:sldIdLst>
  <p:sldSz cx="6858000" cy="9906000" type="A4"/>
  <p:notesSz cx="6797675" cy="9926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464" autoAdjust="0"/>
    <p:restoredTop sz="94660"/>
  </p:normalViewPr>
  <p:slideViewPr>
    <p:cSldViewPr snapToGrid="0">
      <p:cViewPr varScale="1">
        <p:scale>
          <a:sx n="84" d="100"/>
          <a:sy n="84" d="100"/>
        </p:scale>
        <p:origin x="262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CC5A8F6C-B07C-452E-B339-02239878CD78}" type="datetimeFigureOut">
              <a:rPr lang="en-US" smtClean="0"/>
              <a:t>10/27/2026</a:t>
            </a:fld>
            <a:endParaRPr lang="en-US"/>
          </a:p>
        </p:txBody>
      </p:sp>
      <p:sp>
        <p:nvSpPr>
          <p:cNvPr id="4" name="Slide Image Placeholder 3"/>
          <p:cNvSpPr>
            <a:spLocks noGrp="1" noRot="1" noChangeAspect="1"/>
          </p:cNvSpPr>
          <p:nvPr>
            <p:ph type="sldImg" idx="2"/>
          </p:nvPr>
        </p:nvSpPr>
        <p:spPr>
          <a:xfrm>
            <a:off x="2239963" y="1241425"/>
            <a:ext cx="2317750" cy="3349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4A641D6A-0069-447C-9CC0-570BB150D784}" type="slidenum">
              <a:rPr lang="en-US" smtClean="0"/>
              <a:t>‹#›</a:t>
            </a:fld>
            <a:endParaRPr lang="en-US"/>
          </a:p>
        </p:txBody>
      </p:sp>
    </p:spTree>
    <p:extLst>
      <p:ext uri="{BB962C8B-B14F-4D97-AF65-F5344CB8AC3E}">
        <p14:creationId xmlns:p14="http://schemas.microsoft.com/office/powerpoint/2010/main" val="21860604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D7949EE-9881-4002-A5D2-5C603941A9EE}" type="datetime1">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34066D-384D-4BE1-BDC2-82BCC33558DD}" type="slidenum">
              <a:rPr lang="en-US" smtClean="0"/>
              <a:t>‹#›</a:t>
            </a:fld>
            <a:endParaRPr lang="en-US"/>
          </a:p>
        </p:txBody>
      </p:sp>
    </p:spTree>
    <p:extLst>
      <p:ext uri="{BB962C8B-B14F-4D97-AF65-F5344CB8AC3E}">
        <p14:creationId xmlns:p14="http://schemas.microsoft.com/office/powerpoint/2010/main" val="36285405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4AD393A-51C8-4873-AB5B-33A9CA72457B}" type="datetime1">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34066D-384D-4BE1-BDC2-82BCC33558DD}" type="slidenum">
              <a:rPr lang="en-US" smtClean="0"/>
              <a:t>‹#›</a:t>
            </a:fld>
            <a:endParaRPr lang="en-US"/>
          </a:p>
        </p:txBody>
      </p:sp>
    </p:spTree>
    <p:extLst>
      <p:ext uri="{BB962C8B-B14F-4D97-AF65-F5344CB8AC3E}">
        <p14:creationId xmlns:p14="http://schemas.microsoft.com/office/powerpoint/2010/main" val="10079375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5ED32DC-3138-49D5-A762-35EF2E7B5708}" type="datetime1">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34066D-384D-4BE1-BDC2-82BCC33558DD}" type="slidenum">
              <a:rPr lang="en-US" smtClean="0"/>
              <a:t>‹#›</a:t>
            </a:fld>
            <a:endParaRPr lang="en-US"/>
          </a:p>
        </p:txBody>
      </p:sp>
    </p:spTree>
    <p:extLst>
      <p:ext uri="{BB962C8B-B14F-4D97-AF65-F5344CB8AC3E}">
        <p14:creationId xmlns:p14="http://schemas.microsoft.com/office/powerpoint/2010/main" val="20314746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434DCFC-A56F-426C-B9EF-CD0CDC7D69F1}" type="datetime1">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934066D-384D-4BE1-BDC2-82BCC33558DD}" type="slidenum">
              <a:rPr lang="en-US" smtClean="0"/>
              <a:t>‹#›</a:t>
            </a:fld>
            <a:endParaRPr lang="en-US"/>
          </a:p>
        </p:txBody>
      </p:sp>
    </p:spTree>
    <p:extLst>
      <p:ext uri="{BB962C8B-B14F-4D97-AF65-F5344CB8AC3E}">
        <p14:creationId xmlns:p14="http://schemas.microsoft.com/office/powerpoint/2010/main" val="2485527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54E70D6-12C6-4DE5-9A5D-29B6EE417C39}" type="datetime1">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934066D-384D-4BE1-BDC2-82BCC33558DD}" type="slidenum">
              <a:rPr lang="en-US" smtClean="0"/>
              <a:t>‹#›</a:t>
            </a:fld>
            <a:endParaRPr lang="en-US"/>
          </a:p>
        </p:txBody>
      </p:sp>
    </p:spTree>
    <p:extLst>
      <p:ext uri="{BB962C8B-B14F-4D97-AF65-F5344CB8AC3E}">
        <p14:creationId xmlns:p14="http://schemas.microsoft.com/office/powerpoint/2010/main" val="33604942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40E3A64-FA3B-4E33-B42D-2315F535535C}" type="datetime1">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934066D-384D-4BE1-BDC2-82BCC33558DD}" type="slidenum">
              <a:rPr lang="en-US" smtClean="0"/>
              <a:t>‹#›</a:t>
            </a:fld>
            <a:endParaRPr lang="en-US"/>
          </a:p>
        </p:txBody>
      </p:sp>
    </p:spTree>
    <p:extLst>
      <p:ext uri="{BB962C8B-B14F-4D97-AF65-F5344CB8AC3E}">
        <p14:creationId xmlns:p14="http://schemas.microsoft.com/office/powerpoint/2010/main" val="25511484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58DA539-685E-4880-A468-8EF8C4AD42F8}" type="datetime1">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934066D-384D-4BE1-BDC2-82BCC33558DD}" type="slidenum">
              <a:rPr lang="en-US" smtClean="0"/>
              <a:t>‹#›</a:t>
            </a:fld>
            <a:endParaRPr lang="en-US"/>
          </a:p>
        </p:txBody>
      </p:sp>
    </p:spTree>
    <p:extLst>
      <p:ext uri="{BB962C8B-B14F-4D97-AF65-F5344CB8AC3E}">
        <p14:creationId xmlns:p14="http://schemas.microsoft.com/office/powerpoint/2010/main" val="14886372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F88FD366-2480-4FDC-A6F7-D357B93DAA4F}" type="datetime1">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934066D-384D-4BE1-BDC2-82BCC33558DD}" type="slidenum">
              <a:rPr lang="en-US" smtClean="0"/>
              <a:t>‹#›</a:t>
            </a:fld>
            <a:endParaRPr lang="en-US"/>
          </a:p>
        </p:txBody>
      </p:sp>
    </p:spTree>
    <p:extLst>
      <p:ext uri="{BB962C8B-B14F-4D97-AF65-F5344CB8AC3E}">
        <p14:creationId xmlns:p14="http://schemas.microsoft.com/office/powerpoint/2010/main" val="13953637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C470449-18DB-4FF7-8D7E-CF4A040C7D57}" type="datetime1">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934066D-384D-4BE1-BDC2-82BCC33558DD}" type="slidenum">
              <a:rPr lang="en-US" smtClean="0"/>
              <a:t>‹#›</a:t>
            </a:fld>
            <a:endParaRPr lang="en-US"/>
          </a:p>
        </p:txBody>
      </p:sp>
    </p:spTree>
    <p:extLst>
      <p:ext uri="{BB962C8B-B14F-4D97-AF65-F5344CB8AC3E}">
        <p14:creationId xmlns:p14="http://schemas.microsoft.com/office/powerpoint/2010/main" val="15357327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A6D735C-9495-42D3-9A57-B69F6B441082}" type="datetime1">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34066D-384D-4BE1-BDC2-82BCC33558DD}" type="slidenum">
              <a:rPr lang="en-US" smtClean="0"/>
              <a:t>‹#›</a:t>
            </a:fld>
            <a:endParaRPr lang="en-US"/>
          </a:p>
        </p:txBody>
      </p:sp>
    </p:spTree>
    <p:extLst>
      <p:ext uri="{BB962C8B-B14F-4D97-AF65-F5344CB8AC3E}">
        <p14:creationId xmlns:p14="http://schemas.microsoft.com/office/powerpoint/2010/main" val="20393286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59F4679-FE80-435C-9BF4-7126CA01D8FE}" type="datetime1">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34066D-384D-4BE1-BDC2-82BCC33558DD}" type="slidenum">
              <a:rPr lang="en-US" smtClean="0"/>
              <a:t>‹#›</a:t>
            </a:fld>
            <a:endParaRPr lang="en-US"/>
          </a:p>
        </p:txBody>
      </p:sp>
    </p:spTree>
    <p:extLst>
      <p:ext uri="{BB962C8B-B14F-4D97-AF65-F5344CB8AC3E}">
        <p14:creationId xmlns:p14="http://schemas.microsoft.com/office/powerpoint/2010/main" val="39941055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43F121EA-D16B-4B7B-A7AE-6CA1296CE191}" type="datetime1">
              <a:rPr lang="en-US" smtClean="0"/>
              <a:t>10/27/2026</a:t>
            </a:fld>
            <a:endParaRPr lang="en-US"/>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F934066D-384D-4BE1-BDC2-82BCC33558DD}" type="slidenum">
              <a:rPr lang="en-US" smtClean="0"/>
              <a:t>‹#›</a:t>
            </a:fld>
            <a:endParaRPr lang="en-US"/>
          </a:p>
        </p:txBody>
      </p:sp>
    </p:spTree>
    <p:extLst>
      <p:ext uri="{BB962C8B-B14F-4D97-AF65-F5344CB8AC3E}">
        <p14:creationId xmlns:p14="http://schemas.microsoft.com/office/powerpoint/2010/main" val="359510726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mailto:olmi@dtu.dk" TargetMode="External"/><Relationship Id="rId13" Type="http://schemas.openxmlformats.org/officeDocument/2006/relationships/hyperlink" Target="mailto:cevfu@dtu.dk" TargetMode="External"/><Relationship Id="rId3" Type="http://schemas.openxmlformats.org/officeDocument/2006/relationships/hyperlink" Target="mailto:grwi@dtu.dk" TargetMode="External"/><Relationship Id="rId7" Type="http://schemas.openxmlformats.org/officeDocument/2006/relationships/hyperlink" Target="mailto:meme@dtu.dk" TargetMode="External"/><Relationship Id="rId12" Type="http://schemas.openxmlformats.org/officeDocument/2006/relationships/hyperlink" Target="mailto:kkgup@dtu.dk" TargetMode="Externa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hyperlink" Target="mailto:msje@dtu.dk" TargetMode="External"/><Relationship Id="rId11" Type="http://schemas.openxmlformats.org/officeDocument/2006/relationships/hyperlink" Target="mailto:majs@dtu.dk" TargetMode="External"/><Relationship Id="rId5" Type="http://schemas.openxmlformats.org/officeDocument/2006/relationships/hyperlink" Target="mailto:jhald@dtu.dk" TargetMode="External"/><Relationship Id="rId10" Type="http://schemas.openxmlformats.org/officeDocument/2006/relationships/hyperlink" Target="mailto:pawo@dtu.dk" TargetMode="External"/><Relationship Id="rId4" Type="http://schemas.openxmlformats.org/officeDocument/2006/relationships/hyperlink" Target="mailto:ram@dtu.dk" TargetMode="External"/><Relationship Id="rId9" Type="http://schemas.openxmlformats.org/officeDocument/2006/relationships/hyperlink" Target="mailto:kapa@dtu.dk" TargetMode="External"/><Relationship Id="rId14" Type="http://schemas.openxmlformats.org/officeDocument/2006/relationships/hyperlink" Target="mailto:mahas@dtu.d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47A82-7D93-6854-821A-7545EE5CAAFF}"/>
            </a:ext>
          </a:extLst>
        </p:cNvPr>
        <p:cNvGrpSpPr/>
        <p:nvPr/>
      </p:nvGrpSpPr>
      <p:grpSpPr>
        <a:xfrm>
          <a:off x="0" y="0"/>
          <a:ext cx="0" cy="0"/>
          <a:chOff x="0" y="0"/>
          <a:chExt cx="0" cy="0"/>
        </a:xfrm>
      </p:grpSpPr>
      <p:sp>
        <p:nvSpPr>
          <p:cNvPr id="6" name="Shape 1">
            <a:extLst>
              <a:ext uri="{FF2B5EF4-FFF2-40B4-BE49-F238E27FC236}">
                <a16:creationId xmlns:a16="http://schemas.microsoft.com/office/drawing/2014/main" id="{3C5B6E3F-9A63-1E52-74AC-2BC99DDA53C8}"/>
              </a:ext>
            </a:extLst>
          </p:cNvPr>
          <p:cNvSpPr/>
          <p:nvPr/>
        </p:nvSpPr>
        <p:spPr>
          <a:xfrm>
            <a:off x="288607" y="292298"/>
            <a:ext cx="32004" cy="393192"/>
          </a:xfrm>
          <a:prstGeom prst="rect">
            <a:avLst/>
          </a:prstGeom>
          <a:solidFill>
            <a:srgbClr val="A30018"/>
          </a:solidFill>
          <a:ln w="12700">
            <a:solidFill>
              <a:srgbClr val="A30018">
                <a:alpha val="0"/>
              </a:srgbClr>
            </a:solidFill>
            <a:prstDash val="solid"/>
          </a:ln>
        </p:spPr>
        <p:txBody>
          <a:bodyPr/>
          <a:lstStyle/>
          <a:p>
            <a:endParaRPr lang="LID4096"/>
          </a:p>
        </p:txBody>
      </p:sp>
      <p:sp>
        <p:nvSpPr>
          <p:cNvPr id="8" name="Text 2">
            <a:extLst>
              <a:ext uri="{FF2B5EF4-FFF2-40B4-BE49-F238E27FC236}">
                <a16:creationId xmlns:a16="http://schemas.microsoft.com/office/drawing/2014/main" id="{227F87E1-8578-2F36-5EE9-B996B281B5B7}"/>
              </a:ext>
            </a:extLst>
          </p:cNvPr>
          <p:cNvSpPr/>
          <p:nvPr/>
        </p:nvSpPr>
        <p:spPr>
          <a:xfrm>
            <a:off x="444055" y="278582"/>
            <a:ext cx="5166360" cy="210312"/>
          </a:xfrm>
          <a:prstGeom prst="rect">
            <a:avLst/>
          </a:prstGeom>
          <a:noFill/>
          <a:ln/>
        </p:spPr>
        <p:txBody>
          <a:bodyPr wrap="square" lIns="0" tIns="0" rIns="0" bIns="0" rtlCol="0" anchor="t"/>
          <a:lstStyle/>
          <a:p>
            <a:pPr marL="0" indent="0">
              <a:lnSpc>
                <a:spcPct val="100000"/>
              </a:lnSpc>
              <a:buNone/>
            </a:pPr>
            <a:r>
              <a:rPr lang="en-US" sz="1100" b="1" kern="0" spc="20" dirty="0">
                <a:solidFill>
                  <a:srgbClr val="22282D"/>
                </a:solidFill>
                <a:latin typeface="Aptos Display" pitchFamily="34" charset="0"/>
                <a:ea typeface="Aptos Display" pitchFamily="34" charset="-122"/>
                <a:cs typeface="Aptos Display" pitchFamily="34" charset="-120"/>
              </a:rPr>
              <a:t>MATERIALS AND SURFACE ENGINEERING</a:t>
            </a:r>
            <a:endParaRPr lang="en-US" sz="1100" dirty="0"/>
          </a:p>
        </p:txBody>
      </p:sp>
      <p:sp>
        <p:nvSpPr>
          <p:cNvPr id="10" name="Text 3">
            <a:extLst>
              <a:ext uri="{FF2B5EF4-FFF2-40B4-BE49-F238E27FC236}">
                <a16:creationId xmlns:a16="http://schemas.microsoft.com/office/drawing/2014/main" id="{8DF162A3-4FA0-70A3-5C8E-B3772FC47862}"/>
              </a:ext>
            </a:extLst>
          </p:cNvPr>
          <p:cNvSpPr/>
          <p:nvPr/>
        </p:nvSpPr>
        <p:spPr>
          <a:xfrm>
            <a:off x="444055" y="516326"/>
            <a:ext cx="5212080" cy="173736"/>
          </a:xfrm>
          <a:prstGeom prst="rect">
            <a:avLst/>
          </a:prstGeom>
          <a:noFill/>
          <a:ln/>
        </p:spPr>
        <p:txBody>
          <a:bodyPr wrap="square" lIns="0" tIns="0" rIns="0" bIns="0" rtlCol="0" anchor="t"/>
          <a:lstStyle/>
          <a:p>
            <a:pPr marL="0" indent="0">
              <a:lnSpc>
                <a:spcPct val="100000"/>
              </a:lnSpc>
              <a:buNone/>
            </a:pPr>
            <a:r>
              <a:rPr lang="en-US" sz="1400" kern="0" spc="55" dirty="0">
                <a:solidFill>
                  <a:srgbClr val="5D666B"/>
                </a:solidFill>
                <a:latin typeface="Aptos" pitchFamily="34" charset="0"/>
                <a:ea typeface="Aptos" pitchFamily="34" charset="-122"/>
                <a:cs typeface="Aptos" pitchFamily="34" charset="-120"/>
              </a:rPr>
              <a:t>DEPARTMENT OF CIVIL AND MECHANICAL ENGINEERING</a:t>
            </a:r>
            <a:endParaRPr lang="en-US" sz="1400" dirty="0"/>
          </a:p>
        </p:txBody>
      </p:sp>
      <p:pic>
        <p:nvPicPr>
          <p:cNvPr id="12" name="Image 0" descr="/mnt/data/dtu_logo.png">
            <a:extLst>
              <a:ext uri="{FF2B5EF4-FFF2-40B4-BE49-F238E27FC236}">
                <a16:creationId xmlns:a16="http://schemas.microsoft.com/office/drawing/2014/main" id="{06B4385C-0A3F-042E-BE08-F918F69AA288}"/>
              </a:ext>
            </a:extLst>
          </p:cNvPr>
          <p:cNvPicPr>
            <a:picLocks noChangeAspect="1"/>
          </p:cNvPicPr>
          <p:nvPr/>
        </p:nvPicPr>
        <p:blipFill>
          <a:blip r:embed="rId2"/>
          <a:stretch>
            <a:fillRect/>
          </a:stretch>
        </p:blipFill>
        <p:spPr>
          <a:xfrm>
            <a:off x="6223063" y="197200"/>
            <a:ext cx="429768" cy="601675"/>
          </a:xfrm>
          <a:prstGeom prst="rect">
            <a:avLst/>
          </a:prstGeom>
        </p:spPr>
      </p:pic>
      <p:sp>
        <p:nvSpPr>
          <p:cNvPr id="14" name="Shape 4">
            <a:extLst>
              <a:ext uri="{FF2B5EF4-FFF2-40B4-BE49-F238E27FC236}">
                <a16:creationId xmlns:a16="http://schemas.microsoft.com/office/drawing/2014/main" id="{EF734989-E1E1-C9AC-D60C-7E66C2801F0F}"/>
              </a:ext>
            </a:extLst>
          </p:cNvPr>
          <p:cNvSpPr/>
          <p:nvPr/>
        </p:nvSpPr>
        <p:spPr>
          <a:xfrm>
            <a:off x="288607" y="936950"/>
            <a:ext cx="6426403" cy="0"/>
          </a:xfrm>
          <a:prstGeom prst="line">
            <a:avLst/>
          </a:prstGeom>
          <a:noFill/>
          <a:ln w="19050">
            <a:solidFill>
              <a:srgbClr val="A30018"/>
            </a:solidFill>
            <a:prstDash val="solid"/>
          </a:ln>
        </p:spPr>
        <p:txBody>
          <a:bodyPr/>
          <a:lstStyle/>
          <a:p>
            <a:endParaRPr lang="LID4096"/>
          </a:p>
        </p:txBody>
      </p:sp>
      <p:sp>
        <p:nvSpPr>
          <p:cNvPr id="72" name="Shape 38">
            <a:extLst>
              <a:ext uri="{FF2B5EF4-FFF2-40B4-BE49-F238E27FC236}">
                <a16:creationId xmlns:a16="http://schemas.microsoft.com/office/drawing/2014/main" id="{9A77F918-7B5E-D0A3-B047-3D248AD0D52B}"/>
              </a:ext>
            </a:extLst>
          </p:cNvPr>
          <p:cNvSpPr/>
          <p:nvPr/>
        </p:nvSpPr>
        <p:spPr>
          <a:xfrm>
            <a:off x="288607" y="9482018"/>
            <a:ext cx="6426403" cy="0"/>
          </a:xfrm>
          <a:prstGeom prst="line">
            <a:avLst/>
          </a:prstGeom>
          <a:noFill/>
          <a:ln w="10160">
            <a:solidFill>
              <a:srgbClr val="DFE2E3"/>
            </a:solidFill>
            <a:prstDash val="solid"/>
          </a:ln>
        </p:spPr>
        <p:txBody>
          <a:bodyPr/>
          <a:lstStyle/>
          <a:p>
            <a:endParaRPr lang="LID4096"/>
          </a:p>
        </p:txBody>
      </p:sp>
      <p:sp>
        <p:nvSpPr>
          <p:cNvPr id="74" name="Text 39">
            <a:extLst>
              <a:ext uri="{FF2B5EF4-FFF2-40B4-BE49-F238E27FC236}">
                <a16:creationId xmlns:a16="http://schemas.microsoft.com/office/drawing/2014/main" id="{A61D001C-DB34-699F-4DAC-3955A81D6395}"/>
              </a:ext>
            </a:extLst>
          </p:cNvPr>
          <p:cNvSpPr/>
          <p:nvPr/>
        </p:nvSpPr>
        <p:spPr>
          <a:xfrm>
            <a:off x="288607" y="9555170"/>
            <a:ext cx="4480560" cy="137160"/>
          </a:xfrm>
          <a:prstGeom prst="rect">
            <a:avLst/>
          </a:prstGeom>
          <a:noFill/>
          <a:ln/>
        </p:spPr>
        <p:txBody>
          <a:bodyPr wrap="square" lIns="0" tIns="0" rIns="0" bIns="0" rtlCol="0" anchor="t"/>
          <a:lstStyle/>
          <a:p>
            <a:pPr marL="0" indent="0">
              <a:lnSpc>
                <a:spcPct val="100000"/>
              </a:lnSpc>
              <a:buNone/>
            </a:pPr>
            <a:r>
              <a:rPr lang="en-US" sz="715" kern="0" spc="60" dirty="0">
                <a:solidFill>
                  <a:srgbClr val="5D666B"/>
                </a:solidFill>
                <a:latin typeface="Aptos Display" pitchFamily="34" charset="0"/>
                <a:ea typeface="Aptos Display" pitchFamily="34" charset="-122"/>
                <a:cs typeface="Aptos Display" pitchFamily="34" charset="-120"/>
              </a:rPr>
              <a:t>DTU CONSTRUCT  /  MATERIALS AND SURFACE ENGINEERING</a:t>
            </a:r>
            <a:endParaRPr lang="en-US" sz="715" dirty="0"/>
          </a:p>
        </p:txBody>
      </p:sp>
      <p:sp>
        <p:nvSpPr>
          <p:cNvPr id="2" name="Introduction">
            <a:extLst>
              <a:ext uri="{FF2B5EF4-FFF2-40B4-BE49-F238E27FC236}">
                <a16:creationId xmlns:a16="http://schemas.microsoft.com/office/drawing/2014/main" id="{6C1E2F2D-9AD9-E0AD-01C1-7460903CAB7A}"/>
              </a:ext>
            </a:extLst>
          </p:cNvPr>
          <p:cNvSpPr/>
          <p:nvPr/>
        </p:nvSpPr>
        <p:spPr>
          <a:xfrm>
            <a:off x="288290" y="1244600"/>
            <a:ext cx="6426200" cy="1099019"/>
          </a:xfrm>
          <a:prstGeom prst="rect">
            <a:avLst/>
          </a:prstGeom>
          <a:noFill/>
          <a:ln/>
        </p:spPr>
        <p:txBody>
          <a:bodyPr wrap="square" lIns="0" tIns="0" rIns="0" bIns="0" rtlCol="0" anchor="t">
            <a:spAutoFit/>
          </a:bodyPr>
          <a:lstStyle/>
          <a:p>
            <a:pPr>
              <a:lnSpc>
                <a:spcPct val="104000"/>
              </a:lnSpc>
            </a:pPr>
            <a:r>
              <a:rPr lang="en-US" sz="1150"/>
              <a:t>The section for Materials and Surface Engineering has expertise in many aspects of materials science and engineering and covers disciplines as materials synthesis, materials solutions, materials characterization, and materials performance. The section teaches and researches in topics spanning from fundamental materials science to innovative materials engineering solutions. The activities include advanced experimental synthesis and characterization techniques as well as modelling and simulation to predict material behavior and design new solutions.</a:t>
            </a:r>
            <a:endParaRPr lang="en-US" sz="1150" dirty="0"/>
          </a:p>
        </p:txBody>
      </p:sp>
      <p:sp>
        <p:nvSpPr>
          <p:cNvPr id="5" name="Themes heading">
            <a:extLst>
              <a:ext uri="{FF2B5EF4-FFF2-40B4-BE49-F238E27FC236}">
                <a16:creationId xmlns:a16="http://schemas.microsoft.com/office/drawing/2014/main" id="{08C4EF4F-F83F-AB74-7B69-66E36E7CAF0D}"/>
              </a:ext>
            </a:extLst>
          </p:cNvPr>
          <p:cNvSpPr/>
          <p:nvPr/>
        </p:nvSpPr>
        <p:spPr>
          <a:xfrm>
            <a:off x="288290" y="2648419"/>
            <a:ext cx="6426200" cy="132344"/>
          </a:xfrm>
          <a:prstGeom prst="rect">
            <a:avLst/>
          </a:prstGeom>
          <a:noFill/>
          <a:ln/>
        </p:spPr>
        <p:txBody>
          <a:bodyPr wrap="square" lIns="0" tIns="0" rIns="0" bIns="0" rtlCol="0" anchor="t">
            <a:spAutoFit/>
          </a:bodyPr>
          <a:lstStyle/>
          <a:p>
            <a:pPr marL="0" indent="0">
              <a:lnSpc>
                <a:spcPct val="100000"/>
              </a:lnSpc>
              <a:buNone/>
            </a:pPr>
            <a:r>
              <a:rPr lang="en-US" sz="860" b="1" kern="0" cap="all" spc="120">
                <a:solidFill>
                  <a:srgbClr val="A30018"/>
                </a:solidFill>
                <a:latin typeface="Aptos Display" pitchFamily="34" charset="0"/>
                <a:ea typeface="Aptos Display" pitchFamily="34" charset="-122"/>
                <a:cs typeface="Aptos Display" pitchFamily="34" charset="-120"/>
              </a:rPr>
              <a:t>The main overall themes are:</a:t>
            </a:r>
            <a:endParaRPr lang="en-US" sz="860" cap="all" dirty="0"/>
          </a:p>
        </p:txBody>
      </p:sp>
      <p:sp>
        <p:nvSpPr>
          <p:cNvPr id="9" name="Theme: Surface engineering and materials design">
            <a:extLst>
              <a:ext uri="{FF2B5EF4-FFF2-40B4-BE49-F238E27FC236}">
                <a16:creationId xmlns:a16="http://schemas.microsoft.com/office/drawing/2014/main" id="{64AE40C5-F9CB-E739-4B91-10E4DD5F2948}"/>
              </a:ext>
            </a:extLst>
          </p:cNvPr>
          <p:cNvSpPr/>
          <p:nvPr/>
        </p:nvSpPr>
        <p:spPr>
          <a:xfrm>
            <a:off x="288290" y="2907763"/>
            <a:ext cx="6426200" cy="176972"/>
          </a:xfrm>
          <a:prstGeom prst="rect">
            <a:avLst/>
          </a:prstGeom>
          <a:noFill/>
          <a:ln/>
        </p:spPr>
        <p:txBody>
          <a:bodyPr wrap="square" lIns="0" tIns="0" rIns="0" bIns="0" rtlCol="0" anchor="t">
            <a:spAutoFit/>
          </a:bodyPr>
          <a:lstStyle/>
          <a:p>
            <a:pPr marL="0" indent="0">
              <a:lnSpc>
                <a:spcPct val="100000"/>
              </a:lnSpc>
              <a:buNone/>
            </a:pPr>
            <a:r>
              <a:rPr lang="en-US" sz="1150" b="1">
                <a:solidFill>
                  <a:srgbClr val="5D666B"/>
                </a:solidFill>
                <a:latin typeface="Aptos Display" pitchFamily="34" charset="0"/>
                <a:ea typeface="Aptos Display" pitchFamily="34" charset="-122"/>
                <a:cs typeface="Aptos Display" pitchFamily="34" charset="-120"/>
              </a:rPr>
              <a:t>Surface engineering and materials design</a:t>
            </a:r>
            <a:endParaRPr lang="en-US" sz="1150" dirty="0"/>
          </a:p>
        </p:txBody>
      </p:sp>
      <p:sp>
        <p:nvSpPr>
          <p:cNvPr id="11" name="Theme text: Surface engineering and materials design">
            <a:extLst>
              <a:ext uri="{FF2B5EF4-FFF2-40B4-BE49-F238E27FC236}">
                <a16:creationId xmlns:a16="http://schemas.microsoft.com/office/drawing/2014/main" id="{993491BB-B263-152C-11DD-3B9FDE4ABB29}"/>
              </a:ext>
            </a:extLst>
          </p:cNvPr>
          <p:cNvSpPr/>
          <p:nvPr/>
        </p:nvSpPr>
        <p:spPr>
          <a:xfrm>
            <a:off x="288290" y="3110135"/>
            <a:ext cx="6426200" cy="499496"/>
          </a:xfrm>
          <a:prstGeom prst="rect">
            <a:avLst/>
          </a:prstGeom>
          <a:noFill/>
          <a:ln/>
        </p:spPr>
        <p:txBody>
          <a:bodyPr wrap="square" lIns="0" tIns="0" rIns="0" bIns="0" rtlCol="0" anchor="t">
            <a:spAutoFit/>
          </a:bodyPr>
          <a:lstStyle/>
          <a:p>
            <a:pPr>
              <a:lnSpc>
                <a:spcPct val="104000"/>
              </a:lnSpc>
            </a:pPr>
            <a:r>
              <a:rPr lang="en-US" sz="1050"/>
              <a:t>Surface engineering by electrochemical, thermochemical and PVD techniques are applied and further developed. The research activities in surface engineering cover the entire chain from basic research of generic importance to applied research, engineering and innovation.</a:t>
            </a:r>
            <a:endParaRPr lang="en-US" sz="1050" dirty="0"/>
          </a:p>
        </p:txBody>
      </p:sp>
      <p:sp>
        <p:nvSpPr>
          <p:cNvPr id="13" name="Theme: Microstructure evolution and phase transformations">
            <a:extLst>
              <a:ext uri="{FF2B5EF4-FFF2-40B4-BE49-F238E27FC236}">
                <a16:creationId xmlns:a16="http://schemas.microsoft.com/office/drawing/2014/main" id="{11CBFA99-4585-BDAB-8EE0-8B6BFF58F4A8}"/>
              </a:ext>
            </a:extLst>
          </p:cNvPr>
          <p:cNvSpPr/>
          <p:nvPr/>
        </p:nvSpPr>
        <p:spPr>
          <a:xfrm>
            <a:off x="288290" y="3812831"/>
            <a:ext cx="6426200" cy="176972"/>
          </a:xfrm>
          <a:prstGeom prst="rect">
            <a:avLst/>
          </a:prstGeom>
          <a:noFill/>
          <a:ln/>
        </p:spPr>
        <p:txBody>
          <a:bodyPr wrap="square" lIns="0" tIns="0" rIns="0" bIns="0" rtlCol="0" anchor="t">
            <a:spAutoFit/>
          </a:bodyPr>
          <a:lstStyle/>
          <a:p>
            <a:pPr marL="0" indent="0">
              <a:lnSpc>
                <a:spcPct val="100000"/>
              </a:lnSpc>
              <a:buNone/>
            </a:pPr>
            <a:r>
              <a:rPr lang="en-US" sz="1150" b="1">
                <a:solidFill>
                  <a:srgbClr val="5D666B"/>
                </a:solidFill>
                <a:latin typeface="Aptos Display" pitchFamily="34" charset="0"/>
                <a:ea typeface="Aptos Display" pitchFamily="34" charset="-122"/>
                <a:cs typeface="Aptos Display" pitchFamily="34" charset="-120"/>
              </a:rPr>
              <a:t>Microstructure evolution and phase transformations</a:t>
            </a:r>
            <a:endParaRPr lang="en-US" sz="1150" dirty="0"/>
          </a:p>
        </p:txBody>
      </p:sp>
      <p:sp>
        <p:nvSpPr>
          <p:cNvPr id="15" name="Theme text: Microstructure evolution and phase transformations">
            <a:extLst>
              <a:ext uri="{FF2B5EF4-FFF2-40B4-BE49-F238E27FC236}">
                <a16:creationId xmlns:a16="http://schemas.microsoft.com/office/drawing/2014/main" id="{DB3AD314-F280-8109-55B5-75A28EB80022}"/>
              </a:ext>
            </a:extLst>
          </p:cNvPr>
          <p:cNvSpPr/>
          <p:nvPr/>
        </p:nvSpPr>
        <p:spPr>
          <a:xfrm>
            <a:off x="288290" y="4015203"/>
            <a:ext cx="6426200" cy="667555"/>
          </a:xfrm>
          <a:prstGeom prst="rect">
            <a:avLst/>
          </a:prstGeom>
          <a:noFill/>
          <a:ln/>
        </p:spPr>
        <p:txBody>
          <a:bodyPr wrap="square" lIns="0" tIns="0" rIns="0" bIns="0" rtlCol="0" anchor="t">
            <a:spAutoFit/>
          </a:bodyPr>
          <a:lstStyle/>
          <a:p>
            <a:pPr>
              <a:lnSpc>
                <a:spcPct val="104000"/>
              </a:lnSpc>
            </a:pPr>
            <a:r>
              <a:rPr lang="en-US" sz="1050"/>
              <a:t>Materials microstructure evolution during processing by e.g. thermal treatments or plastic deformation as well as during application lies at the very essence of understanding the relations between process parameters, properties and performance. Understanding the microstructure evolution and phase transformations in materials forms the basis for materials modelling activities.</a:t>
            </a:r>
            <a:endParaRPr lang="en-US" sz="1050" dirty="0"/>
          </a:p>
        </p:txBody>
      </p:sp>
      <p:sp>
        <p:nvSpPr>
          <p:cNvPr id="17" name="Theme: Materials performance and degradation">
            <a:extLst>
              <a:ext uri="{FF2B5EF4-FFF2-40B4-BE49-F238E27FC236}">
                <a16:creationId xmlns:a16="http://schemas.microsoft.com/office/drawing/2014/main" id="{D4ED4441-DF04-9AB4-3EB3-C0AE065D0A6E}"/>
              </a:ext>
            </a:extLst>
          </p:cNvPr>
          <p:cNvSpPr/>
          <p:nvPr/>
        </p:nvSpPr>
        <p:spPr>
          <a:xfrm>
            <a:off x="288290" y="4885958"/>
            <a:ext cx="6426200" cy="176972"/>
          </a:xfrm>
          <a:prstGeom prst="rect">
            <a:avLst/>
          </a:prstGeom>
          <a:noFill/>
          <a:ln/>
        </p:spPr>
        <p:txBody>
          <a:bodyPr wrap="square" lIns="0" tIns="0" rIns="0" bIns="0" rtlCol="0" anchor="t">
            <a:spAutoFit/>
          </a:bodyPr>
          <a:lstStyle/>
          <a:p>
            <a:pPr marL="0" indent="0">
              <a:lnSpc>
                <a:spcPct val="100000"/>
              </a:lnSpc>
              <a:buNone/>
            </a:pPr>
            <a:r>
              <a:rPr lang="en-US" sz="1150" b="1">
                <a:solidFill>
                  <a:srgbClr val="5D666B"/>
                </a:solidFill>
                <a:latin typeface="Aptos Display" pitchFamily="34" charset="0"/>
                <a:ea typeface="Aptos Display" pitchFamily="34" charset="-122"/>
                <a:cs typeface="Aptos Display" pitchFamily="34" charset="-120"/>
              </a:rPr>
              <a:t>Materials performance and degradation</a:t>
            </a:r>
            <a:endParaRPr lang="en-US" sz="1150" dirty="0"/>
          </a:p>
        </p:txBody>
      </p:sp>
      <p:sp>
        <p:nvSpPr>
          <p:cNvPr id="19" name="Theme text: Materials performance and degradation">
            <a:extLst>
              <a:ext uri="{FF2B5EF4-FFF2-40B4-BE49-F238E27FC236}">
                <a16:creationId xmlns:a16="http://schemas.microsoft.com/office/drawing/2014/main" id="{BCC13EEA-BA37-8623-DF80-7CB6124D0E50}"/>
              </a:ext>
            </a:extLst>
          </p:cNvPr>
          <p:cNvSpPr/>
          <p:nvPr/>
        </p:nvSpPr>
        <p:spPr>
          <a:xfrm>
            <a:off x="288290" y="5088330"/>
            <a:ext cx="6426200" cy="667555"/>
          </a:xfrm>
          <a:prstGeom prst="rect">
            <a:avLst/>
          </a:prstGeom>
          <a:noFill/>
          <a:ln/>
        </p:spPr>
        <p:txBody>
          <a:bodyPr wrap="square" lIns="0" tIns="0" rIns="0" bIns="0" rtlCol="0" anchor="t">
            <a:spAutoFit/>
          </a:bodyPr>
          <a:lstStyle/>
          <a:p>
            <a:pPr>
              <a:lnSpc>
                <a:spcPct val="104000"/>
              </a:lnSpc>
            </a:pPr>
            <a:r>
              <a:rPr lang="en-US" sz="1050"/>
              <a:t>Research in materials performance and materials degradation is focused on corrosion, tribology and high temperature applications, i.e. the chemical, mechanical and thermal interaction of materials with the environment. The degradation mechanisms are investigated and the obtained understanding is explored to predict the life expectancy and design improved materials solutions.</a:t>
            </a:r>
            <a:endParaRPr lang="en-US" sz="1050" dirty="0"/>
          </a:p>
        </p:txBody>
      </p:sp>
      <p:sp>
        <p:nvSpPr>
          <p:cNvPr id="20" name="Current focus">
            <a:extLst>
              <a:ext uri="{FF2B5EF4-FFF2-40B4-BE49-F238E27FC236}">
                <a16:creationId xmlns:a16="http://schemas.microsoft.com/office/drawing/2014/main" id="{6B07311A-D54C-D497-FA2D-F8613BB9C522}"/>
              </a:ext>
            </a:extLst>
          </p:cNvPr>
          <p:cNvSpPr/>
          <p:nvPr/>
        </p:nvSpPr>
        <p:spPr>
          <a:xfrm>
            <a:off x="288290" y="5984485"/>
            <a:ext cx="6426200" cy="331437"/>
          </a:xfrm>
          <a:prstGeom prst="rect">
            <a:avLst/>
          </a:prstGeom>
          <a:noFill/>
          <a:ln/>
        </p:spPr>
        <p:txBody>
          <a:bodyPr wrap="square" lIns="0" tIns="0" rIns="0" bIns="0" rtlCol="0" anchor="t">
            <a:spAutoFit/>
          </a:bodyPr>
          <a:lstStyle/>
          <a:p>
            <a:pPr>
              <a:lnSpc>
                <a:spcPct val="104000"/>
              </a:lnSpc>
            </a:pPr>
            <a:r>
              <a:rPr lang="en-US" sz="1050" i="1"/>
              <a:t>Currently, we focus on materials for (sustainable) energy applications and materials in medical applications. We have a broad international network of collaboration within academia and industry.</a:t>
            </a:r>
            <a:endParaRPr lang="en-US" sz="1050" i="1" dirty="0"/>
          </a:p>
        </p:txBody>
      </p:sp>
      <p:sp>
        <p:nvSpPr>
          <p:cNvPr id="21" name="Divider">
            <a:extLst>
              <a:ext uri="{FF2B5EF4-FFF2-40B4-BE49-F238E27FC236}">
                <a16:creationId xmlns:a16="http://schemas.microsoft.com/office/drawing/2014/main" id="{C6C16293-3386-BC70-992C-BC41CC0F6FDA}"/>
              </a:ext>
            </a:extLst>
          </p:cNvPr>
          <p:cNvSpPr/>
          <p:nvPr/>
        </p:nvSpPr>
        <p:spPr>
          <a:xfrm>
            <a:off x="288290" y="6595322"/>
            <a:ext cx="6426200" cy="0"/>
          </a:xfrm>
          <a:prstGeom prst="line">
            <a:avLst/>
          </a:prstGeom>
          <a:noFill/>
          <a:ln w="10795">
            <a:solidFill>
              <a:srgbClr val="DFE2E3"/>
            </a:solidFill>
            <a:prstDash val="solid"/>
          </a:ln>
        </p:spPr>
        <p:txBody>
          <a:bodyPr/>
          <a:lstStyle/>
          <a:p>
            <a:endParaRPr lang="LID4096"/>
          </a:p>
        </p:txBody>
      </p:sp>
      <p:sp>
        <p:nvSpPr>
          <p:cNvPr id="22" name="Staff heading">
            <a:extLst>
              <a:ext uri="{FF2B5EF4-FFF2-40B4-BE49-F238E27FC236}">
                <a16:creationId xmlns:a16="http://schemas.microsoft.com/office/drawing/2014/main" id="{DB3BC0B1-5AA3-8EBF-EBD5-D28596EDAE36}"/>
              </a:ext>
            </a:extLst>
          </p:cNvPr>
          <p:cNvSpPr/>
          <p:nvPr/>
        </p:nvSpPr>
        <p:spPr>
          <a:xfrm>
            <a:off x="288290" y="6849322"/>
            <a:ext cx="6426200" cy="132344"/>
          </a:xfrm>
          <a:prstGeom prst="rect">
            <a:avLst/>
          </a:prstGeom>
          <a:noFill/>
          <a:ln/>
        </p:spPr>
        <p:txBody>
          <a:bodyPr wrap="square" lIns="0" tIns="0" rIns="0" bIns="0" rtlCol="0" anchor="t">
            <a:spAutoFit/>
          </a:bodyPr>
          <a:lstStyle/>
          <a:p>
            <a:pPr marL="0" indent="0">
              <a:lnSpc>
                <a:spcPct val="100000"/>
              </a:lnSpc>
              <a:buNone/>
            </a:pPr>
            <a:r>
              <a:rPr lang="en-US" sz="860" b="1" kern="0" cap="all" spc="120">
                <a:solidFill>
                  <a:srgbClr val="A30018"/>
                </a:solidFill>
                <a:latin typeface="Aptos Display" pitchFamily="34" charset="0"/>
                <a:ea typeface="Aptos Display" pitchFamily="34" charset="-122"/>
                <a:cs typeface="Aptos Display" pitchFamily="34" charset="-120"/>
              </a:rPr>
              <a:t>Permanent scientific staff:</a:t>
            </a:r>
            <a:endParaRPr lang="en-US" sz="860" cap="all" dirty="0"/>
          </a:p>
        </p:txBody>
      </p:sp>
      <p:sp>
        <p:nvSpPr>
          <p:cNvPr id="23" name="Staff: Grethe Winther">
            <a:extLst>
              <a:ext uri="{FF2B5EF4-FFF2-40B4-BE49-F238E27FC236}">
                <a16:creationId xmlns:a16="http://schemas.microsoft.com/office/drawing/2014/main" id="{7829B11C-9342-6011-0B2B-91BF8383F568}"/>
              </a:ext>
            </a:extLst>
          </p:cNvPr>
          <p:cNvSpPr/>
          <p:nvPr/>
        </p:nvSpPr>
        <p:spPr>
          <a:xfrm>
            <a:off x="288290" y="7108666"/>
            <a:ext cx="2040467" cy="161583"/>
          </a:xfrm>
          <a:prstGeom prst="rect">
            <a:avLst/>
          </a:prstGeom>
          <a:noFill/>
          <a:ln/>
        </p:spPr>
        <p:txBody>
          <a:bodyPr wrap="square" lIns="0" tIns="0" rIns="0" bIns="0" rtlCol="0" anchor="t">
            <a:spAutoFit/>
          </a:bodyPr>
          <a:lstStyle/>
          <a:p>
            <a:pPr marL="0" indent="0">
              <a:lnSpc>
                <a:spcPct val="100000"/>
              </a:lnSpc>
              <a:buNone/>
            </a:pPr>
            <a:r>
              <a:rPr lang="en-US" sz="1050" b="1">
                <a:solidFill>
                  <a:srgbClr val="5D666B"/>
                </a:solidFill>
                <a:latin typeface="Aptos Display" pitchFamily="34" charset="0"/>
                <a:ea typeface="Aptos Display" pitchFamily="34" charset="-122"/>
                <a:cs typeface="Aptos Display" pitchFamily="34" charset="-120"/>
              </a:rPr>
              <a:t>Grethe Winther</a:t>
            </a:r>
            <a:endParaRPr lang="en-US" sz="1050" dirty="0"/>
          </a:p>
        </p:txBody>
      </p:sp>
      <p:sp>
        <p:nvSpPr>
          <p:cNvPr id="24" name="Staff role: Grethe Winther">
            <a:extLst>
              <a:ext uri="{FF2B5EF4-FFF2-40B4-BE49-F238E27FC236}">
                <a16:creationId xmlns:a16="http://schemas.microsoft.com/office/drawing/2014/main" id="{F56BC970-6953-007F-F3D7-FC2A088CD3D6}"/>
              </a:ext>
            </a:extLst>
          </p:cNvPr>
          <p:cNvSpPr/>
          <p:nvPr/>
        </p:nvSpPr>
        <p:spPr>
          <a:xfrm>
            <a:off x="288290" y="7244849"/>
            <a:ext cx="2040467" cy="138499"/>
          </a:xfrm>
          <a:prstGeom prst="rect">
            <a:avLst/>
          </a:prstGeom>
          <a:noFill/>
          <a:ln/>
        </p:spPr>
        <p:txBody>
          <a:bodyPr wrap="square" lIns="0" tIns="0" rIns="0" bIns="0" rtlCol="0" anchor="t">
            <a:spAutoFit/>
          </a:bodyPr>
          <a:lstStyle/>
          <a:p>
            <a:pPr marL="0" indent="0">
              <a:lnSpc>
                <a:spcPct val="100000"/>
              </a:lnSpc>
              <a:buNone/>
            </a:pPr>
            <a:r>
              <a:rPr lang="en-US" sz="900" i="1">
                <a:solidFill>
                  <a:srgbClr val="5D666B"/>
                </a:solidFill>
                <a:latin typeface="Aptos Display" pitchFamily="34" charset="0"/>
              </a:rPr>
              <a:t>head of the section</a:t>
            </a:r>
            <a:endParaRPr lang="en-US" sz="900" i="1" dirty="0"/>
          </a:p>
        </p:txBody>
      </p:sp>
      <p:sp>
        <p:nvSpPr>
          <p:cNvPr id="25" name="Staff email: Grethe Winther">
            <a:extLst>
              <a:ext uri="{FF2B5EF4-FFF2-40B4-BE49-F238E27FC236}">
                <a16:creationId xmlns:a16="http://schemas.microsoft.com/office/drawing/2014/main" id="{F5890DD6-EA05-C803-B43F-ED0D88B1E8B1}"/>
              </a:ext>
            </a:extLst>
          </p:cNvPr>
          <p:cNvSpPr/>
          <p:nvPr/>
        </p:nvSpPr>
        <p:spPr>
          <a:xfrm>
            <a:off x="288290" y="7357949"/>
            <a:ext cx="2040467" cy="146194"/>
          </a:xfrm>
          <a:prstGeom prst="rect">
            <a:avLst/>
          </a:prstGeom>
          <a:noFill/>
          <a:ln/>
        </p:spPr>
        <p:txBody>
          <a:bodyPr wrap="square" lIns="0" tIns="0" rIns="0" bIns="0" rtlCol="0" anchor="t">
            <a:spAutoFit/>
          </a:bodyPr>
          <a:lstStyle/>
          <a:p>
            <a:pPr marL="0" indent="0">
              <a:lnSpc>
                <a:spcPct val="100000"/>
              </a:lnSpc>
              <a:buNone/>
            </a:pPr>
            <a:r>
              <a:rPr lang="en-US" sz="950">
                <a:solidFill>
                  <a:srgbClr val="A30018"/>
                </a:solidFill>
                <a:latin typeface="Aptos" pitchFamily="34" charset="0"/>
                <a:ea typeface="Aptos" pitchFamily="34" charset="-122"/>
                <a:cs typeface="Aptos" pitchFamily="34" charset="-120"/>
                <a:hlinkClick r:id="rId3">
                  <a:extLst>
                    <a:ext uri="{A12FA001-AC4F-418D-AE19-62706E023703}">
                      <ahyp:hlinkClr xmlns:ahyp="http://schemas.microsoft.com/office/drawing/2018/hyperlinkcolor" val="tx"/>
                    </a:ext>
                  </a:extLst>
                </a:hlinkClick>
              </a:rPr>
              <a:t>grwi@dtu.dk</a:t>
            </a:r>
            <a:endParaRPr lang="en-US" sz="950" dirty="0">
              <a:solidFill>
                <a:srgbClr val="A30018"/>
              </a:solidFill>
            </a:endParaRPr>
          </a:p>
        </p:txBody>
      </p:sp>
      <p:sp>
        <p:nvSpPr>
          <p:cNvPr id="27" name="Staff: Rajan Ambat">
            <a:extLst>
              <a:ext uri="{FF2B5EF4-FFF2-40B4-BE49-F238E27FC236}">
                <a16:creationId xmlns:a16="http://schemas.microsoft.com/office/drawing/2014/main" id="{FF7CBF5F-12E8-F57C-BE6B-B2323F21BDC0}"/>
              </a:ext>
            </a:extLst>
          </p:cNvPr>
          <p:cNvSpPr/>
          <p:nvPr/>
        </p:nvSpPr>
        <p:spPr>
          <a:xfrm>
            <a:off x="2430357" y="7108666"/>
            <a:ext cx="2040467" cy="161583"/>
          </a:xfrm>
          <a:prstGeom prst="rect">
            <a:avLst/>
          </a:prstGeom>
          <a:noFill/>
          <a:ln/>
        </p:spPr>
        <p:txBody>
          <a:bodyPr wrap="square" lIns="0" tIns="0" rIns="0" bIns="0" rtlCol="0" anchor="t">
            <a:spAutoFit/>
          </a:bodyPr>
          <a:lstStyle/>
          <a:p>
            <a:pPr marL="0" indent="0">
              <a:lnSpc>
                <a:spcPct val="100000"/>
              </a:lnSpc>
              <a:buNone/>
            </a:pPr>
            <a:r>
              <a:rPr lang="en-US" sz="1050" b="1">
                <a:solidFill>
                  <a:srgbClr val="5D666B"/>
                </a:solidFill>
                <a:latin typeface="Aptos Display" pitchFamily="34" charset="0"/>
                <a:ea typeface="Aptos Display" pitchFamily="34" charset="-122"/>
                <a:cs typeface="Aptos Display" pitchFamily="34" charset="-120"/>
              </a:rPr>
              <a:t>Rajan Ambat</a:t>
            </a:r>
            <a:endParaRPr lang="en-US" sz="1050" dirty="0"/>
          </a:p>
        </p:txBody>
      </p:sp>
      <p:sp>
        <p:nvSpPr>
          <p:cNvPr id="29" name="Staff email: Rajan Ambat">
            <a:extLst>
              <a:ext uri="{FF2B5EF4-FFF2-40B4-BE49-F238E27FC236}">
                <a16:creationId xmlns:a16="http://schemas.microsoft.com/office/drawing/2014/main" id="{1A8A99F7-5834-72EA-347E-068498BD0916}"/>
              </a:ext>
            </a:extLst>
          </p:cNvPr>
          <p:cNvSpPr/>
          <p:nvPr/>
        </p:nvSpPr>
        <p:spPr>
          <a:xfrm>
            <a:off x="2430357" y="7244849"/>
            <a:ext cx="2040467" cy="146194"/>
          </a:xfrm>
          <a:prstGeom prst="rect">
            <a:avLst/>
          </a:prstGeom>
          <a:noFill/>
          <a:ln/>
        </p:spPr>
        <p:txBody>
          <a:bodyPr wrap="square" lIns="0" tIns="0" rIns="0" bIns="0" rtlCol="0" anchor="t">
            <a:spAutoFit/>
          </a:bodyPr>
          <a:lstStyle/>
          <a:p>
            <a:pPr marL="0" indent="0">
              <a:lnSpc>
                <a:spcPct val="100000"/>
              </a:lnSpc>
              <a:buNone/>
            </a:pPr>
            <a:r>
              <a:rPr lang="en-US" sz="950">
                <a:solidFill>
                  <a:srgbClr val="A30018"/>
                </a:solidFill>
                <a:latin typeface="Aptos" pitchFamily="34" charset="0"/>
                <a:ea typeface="Aptos" pitchFamily="34" charset="-122"/>
                <a:cs typeface="Aptos" pitchFamily="34" charset="-120"/>
                <a:hlinkClick r:id="rId4">
                  <a:extLst>
                    <a:ext uri="{A12FA001-AC4F-418D-AE19-62706E023703}">
                      <ahyp:hlinkClr xmlns:ahyp="http://schemas.microsoft.com/office/drawing/2018/hyperlinkcolor" val="tx"/>
                    </a:ext>
                  </a:extLst>
                </a:hlinkClick>
              </a:rPr>
              <a:t>ram@dtu.dk</a:t>
            </a:r>
            <a:endParaRPr lang="en-US" sz="950" dirty="0">
              <a:solidFill>
                <a:srgbClr val="A30018"/>
              </a:solidFill>
            </a:endParaRPr>
          </a:p>
        </p:txBody>
      </p:sp>
      <p:sp>
        <p:nvSpPr>
          <p:cNvPr id="31" name="Staff: John Hald">
            <a:extLst>
              <a:ext uri="{FF2B5EF4-FFF2-40B4-BE49-F238E27FC236}">
                <a16:creationId xmlns:a16="http://schemas.microsoft.com/office/drawing/2014/main" id="{0463BFBF-3F20-8504-4F68-FCF97A244C34}"/>
              </a:ext>
            </a:extLst>
          </p:cNvPr>
          <p:cNvSpPr/>
          <p:nvPr/>
        </p:nvSpPr>
        <p:spPr>
          <a:xfrm>
            <a:off x="4572423" y="7108666"/>
            <a:ext cx="2040467" cy="161583"/>
          </a:xfrm>
          <a:prstGeom prst="rect">
            <a:avLst/>
          </a:prstGeom>
          <a:noFill/>
          <a:ln/>
        </p:spPr>
        <p:txBody>
          <a:bodyPr wrap="square" lIns="0" tIns="0" rIns="0" bIns="0" rtlCol="0" anchor="t">
            <a:spAutoFit/>
          </a:bodyPr>
          <a:lstStyle/>
          <a:p>
            <a:pPr marL="0" indent="0">
              <a:lnSpc>
                <a:spcPct val="100000"/>
              </a:lnSpc>
              <a:buNone/>
            </a:pPr>
            <a:r>
              <a:rPr lang="en-US" sz="1050" b="1">
                <a:solidFill>
                  <a:srgbClr val="5D666B"/>
                </a:solidFill>
                <a:latin typeface="Aptos Display" pitchFamily="34" charset="0"/>
                <a:ea typeface="Aptos Display" pitchFamily="34" charset="-122"/>
                <a:cs typeface="Aptos Display" pitchFamily="34" charset="-120"/>
              </a:rPr>
              <a:t>John Hald</a:t>
            </a:r>
            <a:endParaRPr lang="en-US" sz="1050" dirty="0"/>
          </a:p>
        </p:txBody>
      </p:sp>
      <p:sp>
        <p:nvSpPr>
          <p:cNvPr id="33" name="Staff email: John Hald">
            <a:extLst>
              <a:ext uri="{FF2B5EF4-FFF2-40B4-BE49-F238E27FC236}">
                <a16:creationId xmlns:a16="http://schemas.microsoft.com/office/drawing/2014/main" id="{550F90D7-015F-BC81-C6AA-BC4EF7CB67C5}"/>
              </a:ext>
            </a:extLst>
          </p:cNvPr>
          <p:cNvSpPr/>
          <p:nvPr/>
        </p:nvSpPr>
        <p:spPr>
          <a:xfrm>
            <a:off x="4572423" y="7244849"/>
            <a:ext cx="2040467" cy="146194"/>
          </a:xfrm>
          <a:prstGeom prst="rect">
            <a:avLst/>
          </a:prstGeom>
          <a:noFill/>
          <a:ln/>
        </p:spPr>
        <p:txBody>
          <a:bodyPr wrap="square" lIns="0" tIns="0" rIns="0" bIns="0" rtlCol="0" anchor="t">
            <a:spAutoFit/>
          </a:bodyPr>
          <a:lstStyle/>
          <a:p>
            <a:pPr marL="0" indent="0">
              <a:lnSpc>
                <a:spcPct val="100000"/>
              </a:lnSpc>
              <a:buNone/>
            </a:pPr>
            <a:r>
              <a:rPr lang="en-US" sz="950">
                <a:solidFill>
                  <a:srgbClr val="A30018"/>
                </a:solidFill>
                <a:latin typeface="Aptos" pitchFamily="34" charset="0"/>
                <a:ea typeface="Aptos" pitchFamily="34" charset="-122"/>
                <a:cs typeface="Aptos" pitchFamily="34" charset="-120"/>
                <a:hlinkClick r:id="rId5">
                  <a:extLst>
                    <a:ext uri="{A12FA001-AC4F-418D-AE19-62706E023703}">
                      <ahyp:hlinkClr xmlns:ahyp="http://schemas.microsoft.com/office/drawing/2018/hyperlinkcolor" val="tx"/>
                    </a:ext>
                  </a:extLst>
                </a:hlinkClick>
              </a:rPr>
              <a:t>jhald@dtu.dk</a:t>
            </a:r>
            <a:endParaRPr lang="en-US" sz="950" dirty="0">
              <a:solidFill>
                <a:srgbClr val="A30018"/>
              </a:solidFill>
            </a:endParaRPr>
          </a:p>
        </p:txBody>
      </p:sp>
      <p:sp>
        <p:nvSpPr>
          <p:cNvPr id="35" name="Staff: Morten Stendahl Jellesen">
            <a:extLst>
              <a:ext uri="{FF2B5EF4-FFF2-40B4-BE49-F238E27FC236}">
                <a16:creationId xmlns:a16="http://schemas.microsoft.com/office/drawing/2014/main" id="{CF0D678D-4A56-5C2E-B819-2006EF0663E6}"/>
              </a:ext>
            </a:extLst>
          </p:cNvPr>
          <p:cNvSpPr/>
          <p:nvPr/>
        </p:nvSpPr>
        <p:spPr>
          <a:xfrm>
            <a:off x="288290" y="7669244"/>
            <a:ext cx="2040467" cy="161583"/>
          </a:xfrm>
          <a:prstGeom prst="rect">
            <a:avLst/>
          </a:prstGeom>
          <a:noFill/>
          <a:ln/>
        </p:spPr>
        <p:txBody>
          <a:bodyPr wrap="square" lIns="0" tIns="0" rIns="0" bIns="0" rtlCol="0" anchor="t">
            <a:spAutoFit/>
          </a:bodyPr>
          <a:lstStyle/>
          <a:p>
            <a:pPr marL="0" indent="0">
              <a:lnSpc>
                <a:spcPct val="100000"/>
              </a:lnSpc>
              <a:buNone/>
            </a:pPr>
            <a:r>
              <a:rPr lang="en-US" sz="1050" b="1">
                <a:solidFill>
                  <a:srgbClr val="5D666B"/>
                </a:solidFill>
                <a:latin typeface="Aptos Display" pitchFamily="34" charset="0"/>
                <a:ea typeface="Aptos Display" pitchFamily="34" charset="-122"/>
                <a:cs typeface="Aptos Display" pitchFamily="34" charset="-120"/>
              </a:rPr>
              <a:t>Morten Stendahl Jellesen</a:t>
            </a:r>
            <a:endParaRPr lang="en-US" sz="1050" dirty="0"/>
          </a:p>
        </p:txBody>
      </p:sp>
      <p:sp>
        <p:nvSpPr>
          <p:cNvPr id="37" name="Staff email: Morten Stendahl Jellesen">
            <a:extLst>
              <a:ext uri="{FF2B5EF4-FFF2-40B4-BE49-F238E27FC236}">
                <a16:creationId xmlns:a16="http://schemas.microsoft.com/office/drawing/2014/main" id="{D0381A9A-4C4F-8B05-ED03-3ECF05953D70}"/>
              </a:ext>
            </a:extLst>
          </p:cNvPr>
          <p:cNvSpPr/>
          <p:nvPr/>
        </p:nvSpPr>
        <p:spPr>
          <a:xfrm>
            <a:off x="288290" y="7805427"/>
            <a:ext cx="2040467" cy="146194"/>
          </a:xfrm>
          <a:prstGeom prst="rect">
            <a:avLst/>
          </a:prstGeom>
          <a:noFill/>
          <a:ln/>
        </p:spPr>
        <p:txBody>
          <a:bodyPr wrap="square" lIns="0" tIns="0" rIns="0" bIns="0" rtlCol="0" anchor="t">
            <a:spAutoFit/>
          </a:bodyPr>
          <a:lstStyle/>
          <a:p>
            <a:pPr marL="0" indent="0">
              <a:lnSpc>
                <a:spcPct val="100000"/>
              </a:lnSpc>
              <a:buNone/>
            </a:pPr>
            <a:r>
              <a:rPr lang="en-US" sz="950">
                <a:solidFill>
                  <a:srgbClr val="A30018"/>
                </a:solidFill>
                <a:latin typeface="Aptos" pitchFamily="34" charset="0"/>
                <a:ea typeface="Aptos" pitchFamily="34" charset="-122"/>
                <a:cs typeface="Aptos" pitchFamily="34" charset="-120"/>
                <a:hlinkClick r:id="rId6">
                  <a:extLst>
                    <a:ext uri="{A12FA001-AC4F-418D-AE19-62706E023703}">
                      <ahyp:hlinkClr xmlns:ahyp="http://schemas.microsoft.com/office/drawing/2018/hyperlinkcolor" val="tx"/>
                    </a:ext>
                  </a:extLst>
                </a:hlinkClick>
              </a:rPr>
              <a:t>msje@dtu.dk</a:t>
            </a:r>
            <a:endParaRPr lang="en-US" sz="950" dirty="0">
              <a:solidFill>
                <a:srgbClr val="A30018"/>
              </a:solidFill>
            </a:endParaRPr>
          </a:p>
        </p:txBody>
      </p:sp>
      <p:sp>
        <p:nvSpPr>
          <p:cNvPr id="38" name="Staff: Mehdi Mehrali">
            <a:extLst>
              <a:ext uri="{FF2B5EF4-FFF2-40B4-BE49-F238E27FC236}">
                <a16:creationId xmlns:a16="http://schemas.microsoft.com/office/drawing/2014/main" id="{5BA9A64B-C6ED-DFD0-B0F3-0B8226BF392F}"/>
              </a:ext>
            </a:extLst>
          </p:cNvPr>
          <p:cNvSpPr/>
          <p:nvPr/>
        </p:nvSpPr>
        <p:spPr>
          <a:xfrm>
            <a:off x="2430357" y="7669244"/>
            <a:ext cx="2040467" cy="161583"/>
          </a:xfrm>
          <a:prstGeom prst="rect">
            <a:avLst/>
          </a:prstGeom>
          <a:noFill/>
          <a:ln/>
        </p:spPr>
        <p:txBody>
          <a:bodyPr wrap="square" lIns="0" tIns="0" rIns="0" bIns="0" rtlCol="0" anchor="t">
            <a:spAutoFit/>
          </a:bodyPr>
          <a:lstStyle/>
          <a:p>
            <a:pPr marL="0" indent="0">
              <a:lnSpc>
                <a:spcPct val="100000"/>
              </a:lnSpc>
              <a:buNone/>
            </a:pPr>
            <a:r>
              <a:rPr lang="en-US" sz="1050" b="1">
                <a:solidFill>
                  <a:srgbClr val="5D666B"/>
                </a:solidFill>
                <a:latin typeface="Aptos Display" pitchFamily="34" charset="0"/>
                <a:ea typeface="Aptos Display" pitchFamily="34" charset="-122"/>
                <a:cs typeface="Aptos Display" pitchFamily="34" charset="-120"/>
              </a:rPr>
              <a:t>Mehdi Mehrali</a:t>
            </a:r>
            <a:endParaRPr lang="en-US" sz="1050" dirty="0"/>
          </a:p>
        </p:txBody>
      </p:sp>
      <p:sp>
        <p:nvSpPr>
          <p:cNvPr id="39" name="Staff email: Mehdi Mehrali">
            <a:extLst>
              <a:ext uri="{FF2B5EF4-FFF2-40B4-BE49-F238E27FC236}">
                <a16:creationId xmlns:a16="http://schemas.microsoft.com/office/drawing/2014/main" id="{1F6944CF-DDF8-99B2-7BFB-60BB8EC1C3E8}"/>
              </a:ext>
            </a:extLst>
          </p:cNvPr>
          <p:cNvSpPr/>
          <p:nvPr/>
        </p:nvSpPr>
        <p:spPr>
          <a:xfrm>
            <a:off x="2430357" y="7805427"/>
            <a:ext cx="2040467" cy="146194"/>
          </a:xfrm>
          <a:prstGeom prst="rect">
            <a:avLst/>
          </a:prstGeom>
          <a:noFill/>
          <a:ln/>
        </p:spPr>
        <p:txBody>
          <a:bodyPr wrap="square" lIns="0" tIns="0" rIns="0" bIns="0" rtlCol="0" anchor="t">
            <a:spAutoFit/>
          </a:bodyPr>
          <a:lstStyle/>
          <a:p>
            <a:pPr marL="0" indent="0">
              <a:lnSpc>
                <a:spcPct val="100000"/>
              </a:lnSpc>
              <a:buNone/>
            </a:pPr>
            <a:r>
              <a:rPr lang="en-US" sz="950">
                <a:solidFill>
                  <a:srgbClr val="A30018"/>
                </a:solidFill>
                <a:latin typeface="Aptos" pitchFamily="34" charset="0"/>
                <a:ea typeface="Aptos" pitchFamily="34" charset="-122"/>
                <a:cs typeface="Aptos" pitchFamily="34" charset="-120"/>
                <a:hlinkClick r:id="rId7">
                  <a:extLst>
                    <a:ext uri="{A12FA001-AC4F-418D-AE19-62706E023703}">
                      <ahyp:hlinkClr xmlns:ahyp="http://schemas.microsoft.com/office/drawing/2018/hyperlinkcolor" val="tx"/>
                    </a:ext>
                  </a:extLst>
                </a:hlinkClick>
              </a:rPr>
              <a:t>meme@dtu.dk</a:t>
            </a:r>
            <a:endParaRPr lang="en-US" sz="950" dirty="0">
              <a:solidFill>
                <a:srgbClr val="A30018"/>
              </a:solidFill>
            </a:endParaRPr>
          </a:p>
        </p:txBody>
      </p:sp>
      <p:sp>
        <p:nvSpPr>
          <p:cNvPr id="40" name="Staff: Oleg Mishin">
            <a:extLst>
              <a:ext uri="{FF2B5EF4-FFF2-40B4-BE49-F238E27FC236}">
                <a16:creationId xmlns:a16="http://schemas.microsoft.com/office/drawing/2014/main" id="{E4E12A77-F749-ED0E-6635-981F35BD26D5}"/>
              </a:ext>
            </a:extLst>
          </p:cNvPr>
          <p:cNvSpPr/>
          <p:nvPr/>
        </p:nvSpPr>
        <p:spPr>
          <a:xfrm>
            <a:off x="4572423" y="7669244"/>
            <a:ext cx="2040467" cy="161583"/>
          </a:xfrm>
          <a:prstGeom prst="rect">
            <a:avLst/>
          </a:prstGeom>
          <a:noFill/>
          <a:ln/>
        </p:spPr>
        <p:txBody>
          <a:bodyPr wrap="square" lIns="0" tIns="0" rIns="0" bIns="0" rtlCol="0" anchor="t">
            <a:spAutoFit/>
          </a:bodyPr>
          <a:lstStyle/>
          <a:p>
            <a:pPr marL="0" indent="0">
              <a:lnSpc>
                <a:spcPct val="100000"/>
              </a:lnSpc>
              <a:buNone/>
            </a:pPr>
            <a:r>
              <a:rPr lang="en-US" sz="1050" b="1">
                <a:solidFill>
                  <a:srgbClr val="5D666B"/>
                </a:solidFill>
                <a:latin typeface="Aptos Display" pitchFamily="34" charset="0"/>
                <a:ea typeface="Aptos Display" pitchFamily="34" charset="-122"/>
                <a:cs typeface="Aptos Display" pitchFamily="34" charset="-120"/>
              </a:rPr>
              <a:t>Oleg Mishin</a:t>
            </a:r>
            <a:endParaRPr lang="en-US" sz="1050" dirty="0"/>
          </a:p>
        </p:txBody>
      </p:sp>
      <p:sp>
        <p:nvSpPr>
          <p:cNvPr id="41" name="Staff email: Oleg Mishin">
            <a:extLst>
              <a:ext uri="{FF2B5EF4-FFF2-40B4-BE49-F238E27FC236}">
                <a16:creationId xmlns:a16="http://schemas.microsoft.com/office/drawing/2014/main" id="{4EF05DFC-16B7-E0DB-FD4E-2AF594E86DA7}"/>
              </a:ext>
            </a:extLst>
          </p:cNvPr>
          <p:cNvSpPr/>
          <p:nvPr/>
        </p:nvSpPr>
        <p:spPr>
          <a:xfrm>
            <a:off x="4572423" y="7805427"/>
            <a:ext cx="2040467" cy="146194"/>
          </a:xfrm>
          <a:prstGeom prst="rect">
            <a:avLst/>
          </a:prstGeom>
          <a:noFill/>
          <a:ln/>
        </p:spPr>
        <p:txBody>
          <a:bodyPr wrap="square" lIns="0" tIns="0" rIns="0" bIns="0" rtlCol="0" anchor="t">
            <a:spAutoFit/>
          </a:bodyPr>
          <a:lstStyle/>
          <a:p>
            <a:pPr marL="0" indent="0">
              <a:lnSpc>
                <a:spcPct val="100000"/>
              </a:lnSpc>
              <a:buNone/>
            </a:pPr>
            <a:r>
              <a:rPr lang="en-US" sz="950">
                <a:solidFill>
                  <a:srgbClr val="A30018"/>
                </a:solidFill>
                <a:latin typeface="Aptos" pitchFamily="34" charset="0"/>
                <a:ea typeface="Aptos" pitchFamily="34" charset="-122"/>
                <a:cs typeface="Aptos" pitchFamily="34" charset="-120"/>
                <a:hlinkClick r:id="rId8">
                  <a:extLst>
                    <a:ext uri="{A12FA001-AC4F-418D-AE19-62706E023703}">
                      <ahyp:hlinkClr xmlns:ahyp="http://schemas.microsoft.com/office/drawing/2018/hyperlinkcolor" val="tx"/>
                    </a:ext>
                  </a:extLst>
                </a:hlinkClick>
              </a:rPr>
              <a:t>olmi@dtu.dk</a:t>
            </a:r>
            <a:endParaRPr lang="en-US" sz="950" dirty="0">
              <a:solidFill>
                <a:srgbClr val="A30018"/>
              </a:solidFill>
            </a:endParaRPr>
          </a:p>
        </p:txBody>
      </p:sp>
      <p:sp>
        <p:nvSpPr>
          <p:cNvPr id="43" name="Staff: Karen Pantleon">
            <a:extLst>
              <a:ext uri="{FF2B5EF4-FFF2-40B4-BE49-F238E27FC236}">
                <a16:creationId xmlns:a16="http://schemas.microsoft.com/office/drawing/2014/main" id="{79BAD1F6-9C31-F476-8400-2CA5F35514EF}"/>
              </a:ext>
            </a:extLst>
          </p:cNvPr>
          <p:cNvSpPr/>
          <p:nvPr/>
        </p:nvSpPr>
        <p:spPr>
          <a:xfrm>
            <a:off x="288290" y="8116721"/>
            <a:ext cx="2040467" cy="161583"/>
          </a:xfrm>
          <a:prstGeom prst="rect">
            <a:avLst/>
          </a:prstGeom>
          <a:noFill/>
          <a:ln/>
        </p:spPr>
        <p:txBody>
          <a:bodyPr wrap="square" lIns="0" tIns="0" rIns="0" bIns="0" rtlCol="0" anchor="t">
            <a:spAutoFit/>
          </a:bodyPr>
          <a:lstStyle/>
          <a:p>
            <a:pPr marL="0" indent="0">
              <a:lnSpc>
                <a:spcPct val="100000"/>
              </a:lnSpc>
              <a:buNone/>
            </a:pPr>
            <a:r>
              <a:rPr lang="en-US" sz="1050" b="1">
                <a:solidFill>
                  <a:srgbClr val="5D666B"/>
                </a:solidFill>
                <a:latin typeface="Aptos Display" pitchFamily="34" charset="0"/>
                <a:ea typeface="Aptos Display" pitchFamily="34" charset="-122"/>
                <a:cs typeface="Aptos Display" pitchFamily="34" charset="-120"/>
              </a:rPr>
              <a:t>Karen Pantleon</a:t>
            </a:r>
            <a:endParaRPr lang="en-US" sz="1050" dirty="0"/>
          </a:p>
        </p:txBody>
      </p:sp>
      <p:sp>
        <p:nvSpPr>
          <p:cNvPr id="45" name="Staff email: Karen Pantleon">
            <a:extLst>
              <a:ext uri="{FF2B5EF4-FFF2-40B4-BE49-F238E27FC236}">
                <a16:creationId xmlns:a16="http://schemas.microsoft.com/office/drawing/2014/main" id="{244EE47F-74BF-09DE-6551-D54F9B8980F4}"/>
              </a:ext>
            </a:extLst>
          </p:cNvPr>
          <p:cNvSpPr/>
          <p:nvPr/>
        </p:nvSpPr>
        <p:spPr>
          <a:xfrm>
            <a:off x="288290" y="8252904"/>
            <a:ext cx="2040467" cy="146194"/>
          </a:xfrm>
          <a:prstGeom prst="rect">
            <a:avLst/>
          </a:prstGeom>
          <a:noFill/>
          <a:ln/>
        </p:spPr>
        <p:txBody>
          <a:bodyPr wrap="square" lIns="0" tIns="0" rIns="0" bIns="0" rtlCol="0" anchor="t">
            <a:spAutoFit/>
          </a:bodyPr>
          <a:lstStyle/>
          <a:p>
            <a:pPr marL="0" indent="0">
              <a:lnSpc>
                <a:spcPct val="100000"/>
              </a:lnSpc>
              <a:buNone/>
            </a:pPr>
            <a:r>
              <a:rPr lang="en-US" sz="950">
                <a:solidFill>
                  <a:srgbClr val="A30018"/>
                </a:solidFill>
                <a:latin typeface="Aptos" pitchFamily="34" charset="0"/>
                <a:ea typeface="Aptos" pitchFamily="34" charset="-122"/>
                <a:cs typeface="Aptos" pitchFamily="34" charset="-120"/>
                <a:hlinkClick r:id="rId9">
                  <a:extLst>
                    <a:ext uri="{A12FA001-AC4F-418D-AE19-62706E023703}">
                      <ahyp:hlinkClr xmlns:ahyp="http://schemas.microsoft.com/office/drawing/2018/hyperlinkcolor" val="tx"/>
                    </a:ext>
                  </a:extLst>
                </a:hlinkClick>
              </a:rPr>
              <a:t>kapa@dtu.dk</a:t>
            </a:r>
            <a:endParaRPr lang="en-US" sz="950" dirty="0">
              <a:solidFill>
                <a:srgbClr val="A30018"/>
              </a:solidFill>
            </a:endParaRPr>
          </a:p>
        </p:txBody>
      </p:sp>
      <p:sp>
        <p:nvSpPr>
          <p:cNvPr id="47" name="Staff: Wolfgang Pantleon">
            <a:extLst>
              <a:ext uri="{FF2B5EF4-FFF2-40B4-BE49-F238E27FC236}">
                <a16:creationId xmlns:a16="http://schemas.microsoft.com/office/drawing/2014/main" id="{F62D9733-96C4-C7EB-21FF-47345EE81299}"/>
              </a:ext>
            </a:extLst>
          </p:cNvPr>
          <p:cNvSpPr/>
          <p:nvPr/>
        </p:nvSpPr>
        <p:spPr>
          <a:xfrm>
            <a:off x="2430357" y="8116721"/>
            <a:ext cx="2040467" cy="161583"/>
          </a:xfrm>
          <a:prstGeom prst="rect">
            <a:avLst/>
          </a:prstGeom>
          <a:noFill/>
          <a:ln/>
        </p:spPr>
        <p:txBody>
          <a:bodyPr wrap="square" lIns="0" tIns="0" rIns="0" bIns="0" rtlCol="0" anchor="t">
            <a:spAutoFit/>
          </a:bodyPr>
          <a:lstStyle/>
          <a:p>
            <a:pPr marL="0" indent="0">
              <a:lnSpc>
                <a:spcPct val="100000"/>
              </a:lnSpc>
              <a:buNone/>
            </a:pPr>
            <a:r>
              <a:rPr lang="en-US" sz="1050" b="1">
                <a:solidFill>
                  <a:srgbClr val="5D666B"/>
                </a:solidFill>
                <a:latin typeface="Aptos Display" pitchFamily="34" charset="0"/>
                <a:ea typeface="Aptos Display" pitchFamily="34" charset="-122"/>
                <a:cs typeface="Aptos Display" pitchFamily="34" charset="-120"/>
              </a:rPr>
              <a:t>Wolfgang Pantleon</a:t>
            </a:r>
            <a:endParaRPr lang="en-US" sz="1050" dirty="0"/>
          </a:p>
        </p:txBody>
      </p:sp>
      <p:sp>
        <p:nvSpPr>
          <p:cNvPr id="49" name="Staff email: Wolfgang Pantleon">
            <a:extLst>
              <a:ext uri="{FF2B5EF4-FFF2-40B4-BE49-F238E27FC236}">
                <a16:creationId xmlns:a16="http://schemas.microsoft.com/office/drawing/2014/main" id="{639866ED-7ABA-8D9E-D06C-5770A7FC73BC}"/>
              </a:ext>
            </a:extLst>
          </p:cNvPr>
          <p:cNvSpPr/>
          <p:nvPr/>
        </p:nvSpPr>
        <p:spPr>
          <a:xfrm>
            <a:off x="2430357" y="8252904"/>
            <a:ext cx="2040467" cy="146194"/>
          </a:xfrm>
          <a:prstGeom prst="rect">
            <a:avLst/>
          </a:prstGeom>
          <a:noFill/>
          <a:ln/>
        </p:spPr>
        <p:txBody>
          <a:bodyPr wrap="square" lIns="0" tIns="0" rIns="0" bIns="0" rtlCol="0" anchor="t">
            <a:spAutoFit/>
          </a:bodyPr>
          <a:lstStyle/>
          <a:p>
            <a:pPr marL="0" indent="0">
              <a:lnSpc>
                <a:spcPct val="100000"/>
              </a:lnSpc>
              <a:buNone/>
            </a:pPr>
            <a:r>
              <a:rPr lang="en-US" sz="950">
                <a:solidFill>
                  <a:srgbClr val="A30018"/>
                </a:solidFill>
                <a:latin typeface="Aptos" pitchFamily="34" charset="0"/>
                <a:ea typeface="Aptos" pitchFamily="34" charset="-122"/>
                <a:cs typeface="Aptos" pitchFamily="34" charset="-120"/>
                <a:hlinkClick r:id="rId10">
                  <a:extLst>
                    <a:ext uri="{A12FA001-AC4F-418D-AE19-62706E023703}">
                      <ahyp:hlinkClr xmlns:ahyp="http://schemas.microsoft.com/office/drawing/2018/hyperlinkcolor" val="tx"/>
                    </a:ext>
                  </a:extLst>
                </a:hlinkClick>
              </a:rPr>
              <a:t>pawo@dtu.dk</a:t>
            </a:r>
            <a:endParaRPr lang="en-US" sz="950" dirty="0">
              <a:solidFill>
                <a:srgbClr val="A30018"/>
              </a:solidFill>
            </a:endParaRPr>
          </a:p>
        </p:txBody>
      </p:sp>
      <p:sp>
        <p:nvSpPr>
          <p:cNvPr id="51" name="Staff: Marcel A.J. Somers">
            <a:extLst>
              <a:ext uri="{FF2B5EF4-FFF2-40B4-BE49-F238E27FC236}">
                <a16:creationId xmlns:a16="http://schemas.microsoft.com/office/drawing/2014/main" id="{94CE4FF3-5845-1735-B677-D49F6D2FB0A8}"/>
              </a:ext>
            </a:extLst>
          </p:cNvPr>
          <p:cNvSpPr/>
          <p:nvPr/>
        </p:nvSpPr>
        <p:spPr>
          <a:xfrm>
            <a:off x="4572423" y="8116721"/>
            <a:ext cx="2040467" cy="161583"/>
          </a:xfrm>
          <a:prstGeom prst="rect">
            <a:avLst/>
          </a:prstGeom>
          <a:noFill/>
          <a:ln/>
        </p:spPr>
        <p:txBody>
          <a:bodyPr wrap="square" lIns="0" tIns="0" rIns="0" bIns="0" rtlCol="0" anchor="t">
            <a:spAutoFit/>
          </a:bodyPr>
          <a:lstStyle/>
          <a:p>
            <a:pPr marL="0" indent="0">
              <a:lnSpc>
                <a:spcPct val="100000"/>
              </a:lnSpc>
              <a:buNone/>
            </a:pPr>
            <a:r>
              <a:rPr lang="en-US" sz="1050" b="1">
                <a:solidFill>
                  <a:srgbClr val="5D666B"/>
                </a:solidFill>
                <a:latin typeface="Aptos Display" pitchFamily="34" charset="0"/>
                <a:ea typeface="Aptos Display" pitchFamily="34" charset="-122"/>
                <a:cs typeface="Aptos Display" pitchFamily="34" charset="-120"/>
              </a:rPr>
              <a:t>Marcel A.J. Somers</a:t>
            </a:r>
            <a:endParaRPr lang="en-US" sz="1050" dirty="0"/>
          </a:p>
        </p:txBody>
      </p:sp>
      <p:sp>
        <p:nvSpPr>
          <p:cNvPr id="53" name="Staff email: Marcel A.J. Somers">
            <a:extLst>
              <a:ext uri="{FF2B5EF4-FFF2-40B4-BE49-F238E27FC236}">
                <a16:creationId xmlns:a16="http://schemas.microsoft.com/office/drawing/2014/main" id="{EDE7DF1F-BBB7-7224-2E62-EFCF91127F85}"/>
              </a:ext>
            </a:extLst>
          </p:cNvPr>
          <p:cNvSpPr/>
          <p:nvPr/>
        </p:nvSpPr>
        <p:spPr>
          <a:xfrm>
            <a:off x="4572423" y="8252904"/>
            <a:ext cx="2040467" cy="146194"/>
          </a:xfrm>
          <a:prstGeom prst="rect">
            <a:avLst/>
          </a:prstGeom>
          <a:noFill/>
          <a:ln/>
        </p:spPr>
        <p:txBody>
          <a:bodyPr wrap="square" lIns="0" tIns="0" rIns="0" bIns="0" rtlCol="0" anchor="t">
            <a:spAutoFit/>
          </a:bodyPr>
          <a:lstStyle/>
          <a:p>
            <a:pPr marL="0" indent="0">
              <a:lnSpc>
                <a:spcPct val="100000"/>
              </a:lnSpc>
              <a:buNone/>
            </a:pPr>
            <a:r>
              <a:rPr lang="en-US" sz="950">
                <a:solidFill>
                  <a:srgbClr val="A30018"/>
                </a:solidFill>
                <a:latin typeface="Aptos" pitchFamily="34" charset="0"/>
                <a:ea typeface="Aptos" pitchFamily="34" charset="-122"/>
                <a:cs typeface="Aptos" pitchFamily="34" charset="-120"/>
                <a:hlinkClick r:id="rId11">
                  <a:extLst>
                    <a:ext uri="{A12FA001-AC4F-418D-AE19-62706E023703}">
                      <ahyp:hlinkClr xmlns:ahyp="http://schemas.microsoft.com/office/drawing/2018/hyperlinkcolor" val="tx"/>
                    </a:ext>
                  </a:extLst>
                </a:hlinkClick>
              </a:rPr>
              <a:t>majs@dtu.dk</a:t>
            </a:r>
            <a:endParaRPr lang="en-US" sz="950" dirty="0">
              <a:solidFill>
                <a:srgbClr val="A30018"/>
              </a:solidFill>
            </a:endParaRPr>
          </a:p>
        </p:txBody>
      </p:sp>
      <p:sp>
        <p:nvSpPr>
          <p:cNvPr id="55" name="Staff: Kapil Kumar Gupta">
            <a:extLst>
              <a:ext uri="{FF2B5EF4-FFF2-40B4-BE49-F238E27FC236}">
                <a16:creationId xmlns:a16="http://schemas.microsoft.com/office/drawing/2014/main" id="{063AC545-63B1-3554-41FE-F7CAA602E3AC}"/>
              </a:ext>
            </a:extLst>
          </p:cNvPr>
          <p:cNvSpPr/>
          <p:nvPr/>
        </p:nvSpPr>
        <p:spPr>
          <a:xfrm>
            <a:off x="288290" y="8564198"/>
            <a:ext cx="2040467" cy="161583"/>
          </a:xfrm>
          <a:prstGeom prst="rect">
            <a:avLst/>
          </a:prstGeom>
          <a:noFill/>
          <a:ln/>
        </p:spPr>
        <p:txBody>
          <a:bodyPr wrap="square" lIns="0" tIns="0" rIns="0" bIns="0" rtlCol="0" anchor="t">
            <a:spAutoFit/>
          </a:bodyPr>
          <a:lstStyle/>
          <a:p>
            <a:pPr marL="0" indent="0">
              <a:lnSpc>
                <a:spcPct val="100000"/>
              </a:lnSpc>
              <a:buNone/>
            </a:pPr>
            <a:r>
              <a:rPr lang="en-US" sz="1050" b="1">
                <a:solidFill>
                  <a:srgbClr val="5D666B"/>
                </a:solidFill>
                <a:latin typeface="Aptos Display" pitchFamily="34" charset="0"/>
                <a:ea typeface="Aptos Display" pitchFamily="34" charset="-122"/>
                <a:cs typeface="Aptos Display" pitchFamily="34" charset="-120"/>
              </a:rPr>
              <a:t>Kapil Kumar Gupta</a:t>
            </a:r>
            <a:endParaRPr lang="en-US" sz="1050" dirty="0"/>
          </a:p>
        </p:txBody>
      </p:sp>
      <p:sp>
        <p:nvSpPr>
          <p:cNvPr id="57" name="Staff email: Kapil Kumar Gupta">
            <a:extLst>
              <a:ext uri="{FF2B5EF4-FFF2-40B4-BE49-F238E27FC236}">
                <a16:creationId xmlns:a16="http://schemas.microsoft.com/office/drawing/2014/main" id="{4ED4D755-616F-C849-35CB-21C10D0CBBAA}"/>
              </a:ext>
            </a:extLst>
          </p:cNvPr>
          <p:cNvSpPr/>
          <p:nvPr/>
        </p:nvSpPr>
        <p:spPr>
          <a:xfrm>
            <a:off x="288290" y="8700381"/>
            <a:ext cx="2040467" cy="146194"/>
          </a:xfrm>
          <a:prstGeom prst="rect">
            <a:avLst/>
          </a:prstGeom>
          <a:noFill/>
          <a:ln/>
        </p:spPr>
        <p:txBody>
          <a:bodyPr wrap="square" lIns="0" tIns="0" rIns="0" bIns="0" rtlCol="0" anchor="t">
            <a:spAutoFit/>
          </a:bodyPr>
          <a:lstStyle/>
          <a:p>
            <a:pPr marL="0" indent="0">
              <a:lnSpc>
                <a:spcPct val="100000"/>
              </a:lnSpc>
              <a:buNone/>
            </a:pPr>
            <a:r>
              <a:rPr lang="en-US" sz="950">
                <a:solidFill>
                  <a:srgbClr val="A30018"/>
                </a:solidFill>
                <a:latin typeface="Aptos" pitchFamily="34" charset="0"/>
                <a:ea typeface="Aptos" pitchFamily="34" charset="-122"/>
                <a:cs typeface="Aptos" pitchFamily="34" charset="-120"/>
                <a:hlinkClick r:id="rId12">
                  <a:extLst>
                    <a:ext uri="{A12FA001-AC4F-418D-AE19-62706E023703}">
                      <ahyp:hlinkClr xmlns:ahyp="http://schemas.microsoft.com/office/drawing/2018/hyperlinkcolor" val="tx"/>
                    </a:ext>
                  </a:extLst>
                </a:hlinkClick>
              </a:rPr>
              <a:t>kkgup@dtu.dk</a:t>
            </a:r>
            <a:endParaRPr lang="en-US" sz="950" dirty="0">
              <a:solidFill>
                <a:srgbClr val="A30018"/>
              </a:solidFill>
            </a:endParaRPr>
          </a:p>
        </p:txBody>
      </p:sp>
      <p:sp>
        <p:nvSpPr>
          <p:cNvPr id="59" name="Staff: Cecilie Vase Funch">
            <a:extLst>
              <a:ext uri="{FF2B5EF4-FFF2-40B4-BE49-F238E27FC236}">
                <a16:creationId xmlns:a16="http://schemas.microsoft.com/office/drawing/2014/main" id="{814A70D5-4300-A9A9-1669-36043516C317}"/>
              </a:ext>
            </a:extLst>
          </p:cNvPr>
          <p:cNvSpPr/>
          <p:nvPr/>
        </p:nvSpPr>
        <p:spPr>
          <a:xfrm>
            <a:off x="2430357" y="8564198"/>
            <a:ext cx="2040467" cy="161583"/>
          </a:xfrm>
          <a:prstGeom prst="rect">
            <a:avLst/>
          </a:prstGeom>
          <a:noFill/>
          <a:ln/>
        </p:spPr>
        <p:txBody>
          <a:bodyPr wrap="square" lIns="0" tIns="0" rIns="0" bIns="0" rtlCol="0" anchor="t">
            <a:spAutoFit/>
          </a:bodyPr>
          <a:lstStyle/>
          <a:p>
            <a:pPr marL="0" indent="0">
              <a:lnSpc>
                <a:spcPct val="100000"/>
              </a:lnSpc>
              <a:buNone/>
            </a:pPr>
            <a:r>
              <a:rPr lang="en-US" sz="1050" b="1">
                <a:solidFill>
                  <a:srgbClr val="5D666B"/>
                </a:solidFill>
                <a:latin typeface="Aptos Display" pitchFamily="34" charset="0"/>
                <a:ea typeface="Aptos Display" pitchFamily="34" charset="-122"/>
                <a:cs typeface="Aptos Display" pitchFamily="34" charset="-120"/>
              </a:rPr>
              <a:t>Cecilie Vase Funch</a:t>
            </a:r>
            <a:endParaRPr lang="en-US" sz="1050" dirty="0"/>
          </a:p>
        </p:txBody>
      </p:sp>
      <p:sp>
        <p:nvSpPr>
          <p:cNvPr id="61" name="Staff email: Cecilie Vase Funch">
            <a:extLst>
              <a:ext uri="{FF2B5EF4-FFF2-40B4-BE49-F238E27FC236}">
                <a16:creationId xmlns:a16="http://schemas.microsoft.com/office/drawing/2014/main" id="{E699FB28-AE2C-ECA7-420F-08E9E8EF07F5}"/>
              </a:ext>
            </a:extLst>
          </p:cNvPr>
          <p:cNvSpPr/>
          <p:nvPr/>
        </p:nvSpPr>
        <p:spPr>
          <a:xfrm>
            <a:off x="2430357" y="8700381"/>
            <a:ext cx="2040467" cy="146194"/>
          </a:xfrm>
          <a:prstGeom prst="rect">
            <a:avLst/>
          </a:prstGeom>
          <a:noFill/>
          <a:ln/>
        </p:spPr>
        <p:txBody>
          <a:bodyPr wrap="square" lIns="0" tIns="0" rIns="0" bIns="0" rtlCol="0" anchor="t">
            <a:spAutoFit/>
          </a:bodyPr>
          <a:lstStyle/>
          <a:p>
            <a:pPr marL="0" indent="0">
              <a:lnSpc>
                <a:spcPct val="100000"/>
              </a:lnSpc>
              <a:buNone/>
            </a:pPr>
            <a:r>
              <a:rPr lang="en-US" sz="950">
                <a:solidFill>
                  <a:srgbClr val="A30018"/>
                </a:solidFill>
                <a:latin typeface="Aptos" pitchFamily="34" charset="0"/>
                <a:ea typeface="Aptos" pitchFamily="34" charset="-122"/>
                <a:cs typeface="Aptos" pitchFamily="34" charset="-120"/>
                <a:hlinkClick r:id="rId13">
                  <a:extLst>
                    <a:ext uri="{A12FA001-AC4F-418D-AE19-62706E023703}">
                      <ahyp:hlinkClr xmlns:ahyp="http://schemas.microsoft.com/office/drawing/2018/hyperlinkcolor" val="tx"/>
                    </a:ext>
                  </a:extLst>
                </a:hlinkClick>
              </a:rPr>
              <a:t>cevfu@dtu.dk</a:t>
            </a:r>
            <a:endParaRPr lang="en-US" sz="950" dirty="0">
              <a:solidFill>
                <a:srgbClr val="A30018"/>
              </a:solidFill>
            </a:endParaRPr>
          </a:p>
        </p:txBody>
      </p:sp>
      <p:sp>
        <p:nvSpPr>
          <p:cNvPr id="63" name="Staff: Masoud Hasany">
            <a:extLst>
              <a:ext uri="{FF2B5EF4-FFF2-40B4-BE49-F238E27FC236}">
                <a16:creationId xmlns:a16="http://schemas.microsoft.com/office/drawing/2014/main" id="{51082C1C-73C7-1D49-13B1-7271DA6E39E6}"/>
              </a:ext>
            </a:extLst>
          </p:cNvPr>
          <p:cNvSpPr/>
          <p:nvPr/>
        </p:nvSpPr>
        <p:spPr>
          <a:xfrm>
            <a:off x="4572423" y="8564198"/>
            <a:ext cx="2040467" cy="161583"/>
          </a:xfrm>
          <a:prstGeom prst="rect">
            <a:avLst/>
          </a:prstGeom>
          <a:noFill/>
          <a:ln/>
        </p:spPr>
        <p:txBody>
          <a:bodyPr wrap="square" lIns="0" tIns="0" rIns="0" bIns="0" rtlCol="0" anchor="t">
            <a:spAutoFit/>
          </a:bodyPr>
          <a:lstStyle/>
          <a:p>
            <a:pPr marL="0" indent="0">
              <a:lnSpc>
                <a:spcPct val="100000"/>
              </a:lnSpc>
              <a:buNone/>
            </a:pPr>
            <a:r>
              <a:rPr lang="en-US" sz="1050" b="1">
                <a:solidFill>
                  <a:srgbClr val="5D666B"/>
                </a:solidFill>
                <a:latin typeface="Aptos Display" pitchFamily="34" charset="0"/>
                <a:ea typeface="Aptos Display" pitchFamily="34" charset="-122"/>
                <a:cs typeface="Aptos Display" pitchFamily="34" charset="-120"/>
              </a:rPr>
              <a:t>Masoud Hasany</a:t>
            </a:r>
            <a:endParaRPr lang="en-US" sz="1050" dirty="0"/>
          </a:p>
        </p:txBody>
      </p:sp>
      <p:sp>
        <p:nvSpPr>
          <p:cNvPr id="64" name="Staff email: Masoud Hasany">
            <a:extLst>
              <a:ext uri="{FF2B5EF4-FFF2-40B4-BE49-F238E27FC236}">
                <a16:creationId xmlns:a16="http://schemas.microsoft.com/office/drawing/2014/main" id="{C32A70BE-33AE-ABF9-C1DF-79C5936AF810}"/>
              </a:ext>
            </a:extLst>
          </p:cNvPr>
          <p:cNvSpPr/>
          <p:nvPr/>
        </p:nvSpPr>
        <p:spPr>
          <a:xfrm>
            <a:off x="4572423" y="8700381"/>
            <a:ext cx="2040467" cy="146194"/>
          </a:xfrm>
          <a:prstGeom prst="rect">
            <a:avLst/>
          </a:prstGeom>
          <a:noFill/>
          <a:ln/>
        </p:spPr>
        <p:txBody>
          <a:bodyPr wrap="square" lIns="0" tIns="0" rIns="0" bIns="0" rtlCol="0" anchor="t">
            <a:spAutoFit/>
          </a:bodyPr>
          <a:lstStyle/>
          <a:p>
            <a:pPr marL="0" indent="0">
              <a:lnSpc>
                <a:spcPct val="100000"/>
              </a:lnSpc>
              <a:buNone/>
            </a:pPr>
            <a:r>
              <a:rPr lang="en-US" sz="950">
                <a:solidFill>
                  <a:srgbClr val="A30018"/>
                </a:solidFill>
                <a:latin typeface="Aptos" pitchFamily="34" charset="0"/>
                <a:ea typeface="Aptos" pitchFamily="34" charset="-122"/>
                <a:cs typeface="Aptos" pitchFamily="34" charset="-120"/>
                <a:hlinkClick r:id="rId14">
                  <a:extLst>
                    <a:ext uri="{A12FA001-AC4F-418D-AE19-62706E023703}">
                      <ahyp:hlinkClr xmlns:ahyp="http://schemas.microsoft.com/office/drawing/2018/hyperlinkcolor" val="tx"/>
                    </a:ext>
                  </a:extLst>
                </a:hlinkClick>
              </a:rPr>
              <a:t>mahas@dtu.dk</a:t>
            </a:r>
            <a:endParaRPr lang="en-US" sz="950" dirty="0">
              <a:solidFill>
                <a:srgbClr val="A30018"/>
              </a:solidFill>
            </a:endParaRPr>
          </a:p>
        </p:txBody>
      </p:sp>
    </p:spTree>
    <p:extLst>
      <p:ext uri="{BB962C8B-B14F-4D97-AF65-F5344CB8AC3E}">
        <p14:creationId xmlns:p14="http://schemas.microsoft.com/office/powerpoint/2010/main" val="259034726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316</TotalTime>
  <Words>393</Words>
  <Application>Microsoft Office PowerPoint</Application>
  <PresentationFormat>A4 Paper (210x297 mm)</PresentationFormat>
  <Paragraphs>38</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TECHNICAL UNIVERSITY OF DENMARK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Masoud Hasany</dc:creator>
  <cp:lastModifiedBy>Masoud Hasany</cp:lastModifiedBy>
  <cp:revision>7</cp:revision>
  <cp:lastPrinted>2026-10-09T11:17:07Z</cp:lastPrinted>
  <dcterms:created xsi:type="dcterms:W3CDTF">2026-10-09T11:09:38Z</dcterms:created>
  <dcterms:modified xsi:type="dcterms:W3CDTF">2026-10-27T15:00:16Z</dcterms:modified>
</cp:coreProperties>
</file>