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
  </p:notesMasterIdLst>
  <p:sldIdLst>
    <p:sldId id="256" r:id="rId2"/>
    <p:sldId id="257" r:id="rId3"/>
    <p:sldId id="581" r:id="rId4"/>
  </p:sldIdLst>
  <p:sldSz cx="6858000" cy="9906000" type="A4"/>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F3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464" autoAdjust="0"/>
    <p:restoredTop sz="94660"/>
  </p:normalViewPr>
  <p:slideViewPr>
    <p:cSldViewPr snapToGrid="0">
      <p:cViewPr varScale="1">
        <p:scale>
          <a:sx n="81" d="100"/>
          <a:sy n="81" d="100"/>
        </p:scale>
        <p:origin x="750"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CC5A8F6C-B07C-452E-B339-02239878CD78}" type="datetimeFigureOut">
              <a:rPr lang="en-US" smtClean="0"/>
              <a:t>10/27/2026</a:t>
            </a:fld>
            <a:endParaRPr lang="en-US"/>
          </a:p>
        </p:txBody>
      </p:sp>
      <p:sp>
        <p:nvSpPr>
          <p:cNvPr id="4" name="Slide Image Placeholder 3"/>
          <p:cNvSpPr>
            <a:spLocks noGrp="1" noRot="1" noChangeAspect="1"/>
          </p:cNvSpPr>
          <p:nvPr>
            <p:ph type="sldImg" idx="2"/>
          </p:nvPr>
        </p:nvSpPr>
        <p:spPr>
          <a:xfrm>
            <a:off x="2239963" y="1241425"/>
            <a:ext cx="2317750" cy="33496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4A641D6A-0069-447C-9CC0-570BB150D784}" type="slidenum">
              <a:rPr lang="en-US" smtClean="0"/>
              <a:t>‹#›</a:t>
            </a:fld>
            <a:endParaRPr lang="en-US"/>
          </a:p>
        </p:txBody>
      </p:sp>
    </p:spTree>
    <p:extLst>
      <p:ext uri="{BB962C8B-B14F-4D97-AF65-F5344CB8AC3E}">
        <p14:creationId xmlns:p14="http://schemas.microsoft.com/office/powerpoint/2010/main" val="21860604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D7949EE-9881-4002-A5D2-5C603941A9EE}" type="datetime1">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34066D-384D-4BE1-BDC2-82BCC33558DD}" type="slidenum">
              <a:rPr lang="en-US" smtClean="0"/>
              <a:t>‹#›</a:t>
            </a:fld>
            <a:endParaRPr lang="en-US"/>
          </a:p>
        </p:txBody>
      </p:sp>
    </p:spTree>
    <p:extLst>
      <p:ext uri="{BB962C8B-B14F-4D97-AF65-F5344CB8AC3E}">
        <p14:creationId xmlns:p14="http://schemas.microsoft.com/office/powerpoint/2010/main" val="36285405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4AD393A-51C8-4873-AB5B-33A9CA72457B}" type="datetime1">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34066D-384D-4BE1-BDC2-82BCC33558DD}" type="slidenum">
              <a:rPr lang="en-US" smtClean="0"/>
              <a:t>‹#›</a:t>
            </a:fld>
            <a:endParaRPr lang="en-US"/>
          </a:p>
        </p:txBody>
      </p:sp>
    </p:spTree>
    <p:extLst>
      <p:ext uri="{BB962C8B-B14F-4D97-AF65-F5344CB8AC3E}">
        <p14:creationId xmlns:p14="http://schemas.microsoft.com/office/powerpoint/2010/main" val="10079375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5ED32DC-3138-49D5-A762-35EF2E7B5708}" type="datetime1">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34066D-384D-4BE1-BDC2-82BCC33558DD}" type="slidenum">
              <a:rPr lang="en-US" smtClean="0"/>
              <a:t>‹#›</a:t>
            </a:fld>
            <a:endParaRPr lang="en-US"/>
          </a:p>
        </p:txBody>
      </p:sp>
    </p:spTree>
    <p:extLst>
      <p:ext uri="{BB962C8B-B14F-4D97-AF65-F5344CB8AC3E}">
        <p14:creationId xmlns:p14="http://schemas.microsoft.com/office/powerpoint/2010/main" val="20314746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434DCFC-A56F-426C-B9EF-CD0CDC7D69F1}" type="datetime1">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934066D-384D-4BE1-BDC2-82BCC33558DD}" type="slidenum">
              <a:rPr lang="en-US" smtClean="0"/>
              <a:t>‹#›</a:t>
            </a:fld>
            <a:endParaRPr lang="en-US"/>
          </a:p>
        </p:txBody>
      </p:sp>
    </p:spTree>
    <p:extLst>
      <p:ext uri="{BB962C8B-B14F-4D97-AF65-F5344CB8AC3E}">
        <p14:creationId xmlns:p14="http://schemas.microsoft.com/office/powerpoint/2010/main" val="24855271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54E70D6-12C6-4DE5-9A5D-29B6EE417C39}" type="datetime1">
              <a:rPr lang="en-US" smtClean="0"/>
              <a:t>10/27/2026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934066D-384D-4BE1-BDC2-82BCC33558DD}" type="slidenum">
              <a:rPr lang="en-US" smtClean="0"/>
              <a:t>‹#›</a:t>
            </a:fld>
            <a:endParaRPr lang="en-US"/>
          </a:p>
        </p:txBody>
      </p:sp>
    </p:spTree>
    <p:extLst>
      <p:ext uri="{BB962C8B-B14F-4D97-AF65-F5344CB8AC3E}">
        <p14:creationId xmlns:p14="http://schemas.microsoft.com/office/powerpoint/2010/main" val="33604942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40E3A64-FA3B-4E33-B42D-2315F535535C}" type="datetime1">
              <a:rPr lang="en-US" smtClean="0"/>
              <a:t>10/27/2026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934066D-384D-4BE1-BDC2-82BCC33558DD}" type="slidenum">
              <a:rPr lang="en-US" smtClean="0"/>
              <a:t>‹#›</a:t>
            </a:fld>
            <a:endParaRPr lang="en-US"/>
          </a:p>
        </p:txBody>
      </p:sp>
    </p:spTree>
    <p:extLst>
      <p:ext uri="{BB962C8B-B14F-4D97-AF65-F5344CB8AC3E}">
        <p14:creationId xmlns:p14="http://schemas.microsoft.com/office/powerpoint/2010/main" val="25511484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8DA539-685E-4880-A468-8EF8C4AD42F8}" type="datetime1">
              <a:rPr lang="en-US" smtClean="0"/>
              <a:t>10/27/2026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934066D-384D-4BE1-BDC2-82BCC33558DD}" type="slidenum">
              <a:rPr lang="en-US" smtClean="0"/>
              <a:t>‹#›</a:t>
            </a:fld>
            <a:endParaRPr lang="en-US"/>
          </a:p>
        </p:txBody>
      </p:sp>
    </p:spTree>
    <p:extLst>
      <p:ext uri="{BB962C8B-B14F-4D97-AF65-F5344CB8AC3E}">
        <p14:creationId xmlns:p14="http://schemas.microsoft.com/office/powerpoint/2010/main" val="14886372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F88FD366-2480-4FDC-A6F7-D357B93DAA4F}" type="datetime1">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934066D-384D-4BE1-BDC2-82BCC33558DD}" type="slidenum">
              <a:rPr lang="en-US" smtClean="0"/>
              <a:t>‹#›</a:t>
            </a:fld>
            <a:endParaRPr lang="en-US"/>
          </a:p>
        </p:txBody>
      </p:sp>
    </p:spTree>
    <p:extLst>
      <p:ext uri="{BB962C8B-B14F-4D97-AF65-F5344CB8AC3E}">
        <p14:creationId xmlns:p14="http://schemas.microsoft.com/office/powerpoint/2010/main" val="1395363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8C470449-18DB-4FF7-8D7E-CF4A040C7D57}" type="datetime1">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934066D-384D-4BE1-BDC2-82BCC33558DD}" type="slidenum">
              <a:rPr lang="en-US" smtClean="0"/>
              <a:t>‹#›</a:t>
            </a:fld>
            <a:endParaRPr lang="en-US"/>
          </a:p>
        </p:txBody>
      </p:sp>
    </p:spTree>
    <p:extLst>
      <p:ext uri="{BB962C8B-B14F-4D97-AF65-F5344CB8AC3E}">
        <p14:creationId xmlns:p14="http://schemas.microsoft.com/office/powerpoint/2010/main" val="15357327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A6D735C-9495-42D3-9A57-B69F6B441082}" type="datetime1">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34066D-384D-4BE1-BDC2-82BCC33558DD}" type="slidenum">
              <a:rPr lang="en-US" smtClean="0"/>
              <a:t>‹#›</a:t>
            </a:fld>
            <a:endParaRPr lang="en-US"/>
          </a:p>
        </p:txBody>
      </p:sp>
    </p:spTree>
    <p:extLst>
      <p:ext uri="{BB962C8B-B14F-4D97-AF65-F5344CB8AC3E}">
        <p14:creationId xmlns:p14="http://schemas.microsoft.com/office/powerpoint/2010/main" val="20393286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9F4679-FE80-435C-9BF4-7126CA01D8FE}" type="datetime1">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34066D-384D-4BE1-BDC2-82BCC33558DD}" type="slidenum">
              <a:rPr lang="en-US" smtClean="0"/>
              <a:t>‹#›</a:t>
            </a:fld>
            <a:endParaRPr lang="en-US"/>
          </a:p>
        </p:txBody>
      </p:sp>
    </p:spTree>
    <p:extLst>
      <p:ext uri="{BB962C8B-B14F-4D97-AF65-F5344CB8AC3E}">
        <p14:creationId xmlns:p14="http://schemas.microsoft.com/office/powerpoint/2010/main" val="39941055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43F121EA-D16B-4B7B-A7AE-6CA1296CE191}" type="datetime1">
              <a:rPr lang="en-US" smtClean="0"/>
              <a:t>10/27/2026</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F934066D-384D-4BE1-BDC2-82BCC33558DD}" type="slidenum">
              <a:rPr lang="en-US" smtClean="0"/>
              <a:t>‹#›</a:t>
            </a:fld>
            <a:endParaRPr lang="en-US"/>
          </a:p>
        </p:txBody>
      </p:sp>
    </p:spTree>
    <p:extLst>
      <p:ext uri="{BB962C8B-B14F-4D97-AF65-F5344CB8AC3E}">
        <p14:creationId xmlns:p14="http://schemas.microsoft.com/office/powerpoint/2010/main" val="359510726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hyperlink" Target="mailto:birst@dtu.dk" TargetMode="External"/><Relationship Id="rId5" Type="http://schemas.openxmlformats.org/officeDocument/2006/relationships/hyperlink" Target="mailto:xxxxx@dtu.dk" TargetMode="External"/><Relationship Id="rId4" Type="http://schemas.openxmlformats.org/officeDocument/2006/relationships/hyperlink" Target="mailto:msje@dtu.dk" TargetMode="External"/></Relationships>
</file>

<file path=ppt/slides/_rels/slide2.xml.rels><?xml version="1.0" encoding="UTF-8" standalone="yes"?>
<Relationships xmlns="http://schemas.openxmlformats.org/package/2006/relationships"><Relationship Id="rId3" Type="http://schemas.openxmlformats.org/officeDocument/2006/relationships/hyperlink" Target="mailto:msje@dtu.dk" TargetMode="Externa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hyperlink" Target="mailto:birst@dtu.dk" TargetMode="External"/><Relationship Id="rId4" Type="http://schemas.openxmlformats.org/officeDocument/2006/relationships/hyperlink" Target="mailto:xxxxx@dtu.dk"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mailto:msje@dtu.dk" TargetMode="Externa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4.tiff"/><Relationship Id="rId5" Type="http://schemas.openxmlformats.org/officeDocument/2006/relationships/hyperlink" Target="mailto:birst@dtu.dk" TargetMode="External"/><Relationship Id="rId4" Type="http://schemas.openxmlformats.org/officeDocument/2006/relationships/hyperlink" Target="mailto:xxxxx@dtu.d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56EE6C5-ADE7-BA68-4733-D5E0784D844C}"/>
              </a:ext>
            </a:extLst>
          </p:cNvPr>
          <p:cNvSpPr>
            <a:spLocks noGrp="1"/>
          </p:cNvSpPr>
          <p:nvPr>
            <p:ph type="sldNum" sz="quarter" idx="12"/>
          </p:nvPr>
        </p:nvSpPr>
        <p:spPr>
          <a:xfrm>
            <a:off x="4989080" y="9329519"/>
            <a:ext cx="1543050" cy="527403"/>
          </a:xfrm>
        </p:spPr>
        <p:txBody>
          <a:bodyPr/>
          <a:lstStyle/>
          <a:p>
            <a:fld id="{F934066D-384D-4BE1-BDC2-82BCC33558DD}" type="slidenum">
              <a:rPr lang="en-US" sz="800" b="1" smtClean="0">
                <a:solidFill>
                  <a:srgbClr val="C00000"/>
                </a:solidFill>
                <a:latin typeface="+mj-lt"/>
              </a:rPr>
              <a:t>1</a:t>
            </a:fld>
            <a:endParaRPr lang="en-US" sz="800" b="1" dirty="0">
              <a:solidFill>
                <a:srgbClr val="C00000"/>
              </a:solidFill>
              <a:latin typeface="+mj-lt"/>
            </a:endParaRPr>
          </a:p>
        </p:txBody>
      </p:sp>
      <p:sp>
        <p:nvSpPr>
          <p:cNvPr id="6" name="Shape 1">
            <a:extLst>
              <a:ext uri="{FF2B5EF4-FFF2-40B4-BE49-F238E27FC236}">
                <a16:creationId xmlns:a16="http://schemas.microsoft.com/office/drawing/2014/main" id="{89BF93BE-C274-0D15-669E-1FA3EF5814EB}"/>
              </a:ext>
            </a:extLst>
          </p:cNvPr>
          <p:cNvSpPr/>
          <p:nvPr/>
        </p:nvSpPr>
        <p:spPr>
          <a:xfrm>
            <a:off x="288607" y="292298"/>
            <a:ext cx="32004" cy="393192"/>
          </a:xfrm>
          <a:prstGeom prst="rect">
            <a:avLst/>
          </a:prstGeom>
          <a:solidFill>
            <a:srgbClr val="A30018"/>
          </a:solidFill>
          <a:ln w="12700">
            <a:solidFill>
              <a:srgbClr val="A30018">
                <a:alpha val="0"/>
              </a:srgbClr>
            </a:solidFill>
            <a:prstDash val="solid"/>
          </a:ln>
        </p:spPr>
        <p:txBody>
          <a:bodyPr/>
          <a:lstStyle/>
          <a:p>
            <a:endParaRPr lang="LID4096"/>
          </a:p>
        </p:txBody>
      </p:sp>
      <p:sp>
        <p:nvSpPr>
          <p:cNvPr id="8" name="Text 2">
            <a:extLst>
              <a:ext uri="{FF2B5EF4-FFF2-40B4-BE49-F238E27FC236}">
                <a16:creationId xmlns:a16="http://schemas.microsoft.com/office/drawing/2014/main" id="{5EAF69B7-3F7F-6E8A-4099-7209EA4CC33C}"/>
              </a:ext>
            </a:extLst>
          </p:cNvPr>
          <p:cNvSpPr/>
          <p:nvPr/>
        </p:nvSpPr>
        <p:spPr>
          <a:xfrm>
            <a:off x="444055" y="278582"/>
            <a:ext cx="5166360" cy="210312"/>
          </a:xfrm>
          <a:prstGeom prst="rect">
            <a:avLst/>
          </a:prstGeom>
          <a:noFill/>
          <a:ln/>
        </p:spPr>
        <p:txBody>
          <a:bodyPr wrap="square" lIns="0" tIns="0" rIns="0" bIns="0" rtlCol="0" anchor="t"/>
          <a:lstStyle/>
          <a:p>
            <a:pPr marL="0" indent="0">
              <a:lnSpc>
                <a:spcPct val="100000"/>
              </a:lnSpc>
              <a:buNone/>
            </a:pPr>
            <a:r>
              <a:rPr lang="en-US" sz="1100" b="1" kern="0" spc="20" dirty="0">
                <a:solidFill>
                  <a:srgbClr val="22282D"/>
                </a:solidFill>
                <a:latin typeface="Aptos Display" pitchFamily="34" charset="0"/>
                <a:ea typeface="Aptos Display" pitchFamily="34" charset="-122"/>
                <a:cs typeface="Aptos Display" pitchFamily="34" charset="-120"/>
              </a:rPr>
              <a:t>MATERIALS AND SURFACE ENGINEERING</a:t>
            </a:r>
            <a:endParaRPr lang="en-US" sz="1100" dirty="0"/>
          </a:p>
        </p:txBody>
      </p:sp>
      <p:sp>
        <p:nvSpPr>
          <p:cNvPr id="10" name="Text 3">
            <a:extLst>
              <a:ext uri="{FF2B5EF4-FFF2-40B4-BE49-F238E27FC236}">
                <a16:creationId xmlns:a16="http://schemas.microsoft.com/office/drawing/2014/main" id="{2E01AA62-8C62-3F02-7C3D-4A0D26C3A066}"/>
              </a:ext>
            </a:extLst>
          </p:cNvPr>
          <p:cNvSpPr/>
          <p:nvPr/>
        </p:nvSpPr>
        <p:spPr>
          <a:xfrm>
            <a:off x="444055" y="516326"/>
            <a:ext cx="5212080" cy="173736"/>
          </a:xfrm>
          <a:prstGeom prst="rect">
            <a:avLst/>
          </a:prstGeom>
          <a:noFill/>
          <a:ln/>
        </p:spPr>
        <p:txBody>
          <a:bodyPr wrap="square" lIns="0" tIns="0" rIns="0" bIns="0" rtlCol="0" anchor="t"/>
          <a:lstStyle/>
          <a:p>
            <a:pPr marL="0" indent="0">
              <a:lnSpc>
                <a:spcPct val="100000"/>
              </a:lnSpc>
              <a:buNone/>
            </a:pPr>
            <a:r>
              <a:rPr lang="en-US" sz="1400" kern="0" spc="55" dirty="0">
                <a:solidFill>
                  <a:srgbClr val="5D666B"/>
                </a:solidFill>
                <a:latin typeface="Aptos" pitchFamily="34" charset="0"/>
                <a:ea typeface="Aptos" pitchFamily="34" charset="-122"/>
                <a:cs typeface="Aptos" pitchFamily="34" charset="-120"/>
              </a:rPr>
              <a:t>DEPARTMENT OF CIVIL AND MECHANICAL ENGINEERING</a:t>
            </a:r>
            <a:endParaRPr lang="en-US" sz="1400" dirty="0"/>
          </a:p>
        </p:txBody>
      </p:sp>
      <p:pic>
        <p:nvPicPr>
          <p:cNvPr id="12" name="Image 0" descr="/mnt/data/dtu_logo.png">
            <a:extLst>
              <a:ext uri="{FF2B5EF4-FFF2-40B4-BE49-F238E27FC236}">
                <a16:creationId xmlns:a16="http://schemas.microsoft.com/office/drawing/2014/main" id="{9483A475-12DC-7037-9FE4-BCB956416E5B}"/>
              </a:ext>
            </a:extLst>
          </p:cNvPr>
          <p:cNvPicPr>
            <a:picLocks noChangeAspect="1"/>
          </p:cNvPicPr>
          <p:nvPr/>
        </p:nvPicPr>
        <p:blipFill>
          <a:blip r:embed="rId2"/>
          <a:stretch>
            <a:fillRect/>
          </a:stretch>
        </p:blipFill>
        <p:spPr>
          <a:xfrm>
            <a:off x="6223063" y="197200"/>
            <a:ext cx="429768" cy="601675"/>
          </a:xfrm>
          <a:prstGeom prst="rect">
            <a:avLst/>
          </a:prstGeom>
        </p:spPr>
      </p:pic>
      <p:sp>
        <p:nvSpPr>
          <p:cNvPr id="14" name="Shape 4">
            <a:extLst>
              <a:ext uri="{FF2B5EF4-FFF2-40B4-BE49-F238E27FC236}">
                <a16:creationId xmlns:a16="http://schemas.microsoft.com/office/drawing/2014/main" id="{B5BFAC40-3074-95A1-6062-557C2EC8A10B}"/>
              </a:ext>
            </a:extLst>
          </p:cNvPr>
          <p:cNvSpPr/>
          <p:nvPr/>
        </p:nvSpPr>
        <p:spPr>
          <a:xfrm>
            <a:off x="288607" y="936950"/>
            <a:ext cx="6426403" cy="0"/>
          </a:xfrm>
          <a:prstGeom prst="line">
            <a:avLst/>
          </a:prstGeom>
          <a:noFill/>
          <a:ln w="19050">
            <a:solidFill>
              <a:srgbClr val="A30018"/>
            </a:solidFill>
            <a:prstDash val="solid"/>
          </a:ln>
        </p:spPr>
        <p:txBody>
          <a:bodyPr/>
          <a:lstStyle/>
          <a:p>
            <a:endParaRPr lang="LID4096"/>
          </a:p>
        </p:txBody>
      </p:sp>
      <p:sp>
        <p:nvSpPr>
          <p:cNvPr id="16" name="Text 5">
            <a:extLst>
              <a:ext uri="{FF2B5EF4-FFF2-40B4-BE49-F238E27FC236}">
                <a16:creationId xmlns:a16="http://schemas.microsoft.com/office/drawing/2014/main" id="{F9F2F617-4FE4-3AFB-5BE6-447724F14CFF}"/>
              </a:ext>
            </a:extLst>
          </p:cNvPr>
          <p:cNvSpPr/>
          <p:nvPr/>
        </p:nvSpPr>
        <p:spPr>
          <a:xfrm>
            <a:off x="288607" y="1224986"/>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PROJECT LEVEL: Master and Bachelor </a:t>
            </a:r>
            <a:endParaRPr lang="en-US" sz="860" dirty="0"/>
          </a:p>
        </p:txBody>
      </p:sp>
      <p:sp>
        <p:nvSpPr>
          <p:cNvPr id="18" name="Text 6">
            <a:extLst>
              <a:ext uri="{FF2B5EF4-FFF2-40B4-BE49-F238E27FC236}">
                <a16:creationId xmlns:a16="http://schemas.microsoft.com/office/drawing/2014/main" id="{6F0B72D1-F35C-ED87-929B-81DB04BC902C}"/>
              </a:ext>
            </a:extLst>
          </p:cNvPr>
          <p:cNvSpPr/>
          <p:nvPr/>
        </p:nvSpPr>
        <p:spPr>
          <a:xfrm>
            <a:off x="288607" y="1526738"/>
            <a:ext cx="6426403" cy="905256"/>
          </a:xfrm>
          <a:prstGeom prst="rect">
            <a:avLst/>
          </a:prstGeom>
          <a:noFill/>
          <a:ln/>
        </p:spPr>
        <p:txBody>
          <a:bodyPr wrap="square" lIns="0" tIns="0" rIns="0" bIns="0" rtlCol="0" anchor="t"/>
          <a:lstStyle/>
          <a:p>
            <a:pPr marL="0" indent="0">
              <a:lnSpc>
                <a:spcPct val="95000"/>
              </a:lnSpc>
              <a:buNone/>
            </a:pPr>
            <a:r>
              <a:rPr lang="en-US" sz="2000" b="1" dirty="0">
                <a:solidFill>
                  <a:srgbClr val="22282D"/>
                </a:solidFill>
                <a:latin typeface="Aptos Display" pitchFamily="34" charset="0"/>
                <a:ea typeface="Aptos Display" pitchFamily="34" charset="-122"/>
                <a:cs typeface="Aptos Display" pitchFamily="34" charset="-120"/>
              </a:rPr>
              <a:t>Corrosion in Molten Salt</a:t>
            </a:r>
            <a:endParaRPr lang="en-US" sz="2000" dirty="0"/>
          </a:p>
        </p:txBody>
      </p:sp>
      <p:sp>
        <p:nvSpPr>
          <p:cNvPr id="20" name="Shape 7">
            <a:extLst>
              <a:ext uri="{FF2B5EF4-FFF2-40B4-BE49-F238E27FC236}">
                <a16:creationId xmlns:a16="http://schemas.microsoft.com/office/drawing/2014/main" id="{BF93D45E-B774-456A-8A91-E3FB6CC60F32}"/>
              </a:ext>
            </a:extLst>
          </p:cNvPr>
          <p:cNvSpPr/>
          <p:nvPr/>
        </p:nvSpPr>
        <p:spPr>
          <a:xfrm>
            <a:off x="320611" y="2504384"/>
            <a:ext cx="4306824" cy="2107692"/>
          </a:xfrm>
          <a:prstGeom prst="rect">
            <a:avLst/>
          </a:prstGeom>
          <a:solidFill>
            <a:srgbClr val="F5F6F5"/>
          </a:solidFill>
          <a:ln w="7620">
            <a:solidFill>
              <a:srgbClr val="DFE2E3"/>
            </a:solidFill>
            <a:prstDash val="solid"/>
          </a:ln>
        </p:spPr>
        <p:txBody>
          <a:bodyPr/>
          <a:lstStyle/>
          <a:p>
            <a:endParaRPr lang="LID4096" dirty="0"/>
          </a:p>
        </p:txBody>
      </p:sp>
      <p:sp>
        <p:nvSpPr>
          <p:cNvPr id="22" name="Text 11">
            <a:extLst>
              <a:ext uri="{FF2B5EF4-FFF2-40B4-BE49-F238E27FC236}">
                <a16:creationId xmlns:a16="http://schemas.microsoft.com/office/drawing/2014/main" id="{28E803EE-B073-082C-48D2-01CCF1FA4A4E}"/>
              </a:ext>
            </a:extLst>
          </p:cNvPr>
          <p:cNvSpPr/>
          <p:nvPr/>
        </p:nvSpPr>
        <p:spPr>
          <a:xfrm>
            <a:off x="471487" y="3505652"/>
            <a:ext cx="3941064" cy="256032"/>
          </a:xfrm>
          <a:prstGeom prst="rect">
            <a:avLst/>
          </a:prstGeom>
          <a:noFill/>
          <a:ln/>
        </p:spPr>
        <p:txBody>
          <a:bodyPr wrap="square" lIns="0" tIns="0" rIns="0" bIns="0" rtlCol="0" anchor="t"/>
          <a:lstStyle/>
          <a:p>
            <a:pPr marL="0" indent="0" algn="ctr">
              <a:lnSpc>
                <a:spcPct val="100000"/>
              </a:lnSpc>
              <a:buNone/>
            </a:pPr>
            <a:r>
              <a:rPr lang="en-US" sz="1040" b="1" kern="0" spc="60" dirty="0">
                <a:solidFill>
                  <a:srgbClr val="5D666B"/>
                </a:solidFill>
                <a:latin typeface="Aptos Display" pitchFamily="34" charset="0"/>
                <a:ea typeface="Aptos Display" pitchFamily="34" charset="-122"/>
                <a:cs typeface="Aptos Display" pitchFamily="34" charset="-120"/>
              </a:rPr>
              <a:t>[INSERT PROJECT IMAGE]</a:t>
            </a:r>
            <a:endParaRPr lang="en-US" sz="1040" dirty="0"/>
          </a:p>
        </p:txBody>
      </p:sp>
      <p:sp>
        <p:nvSpPr>
          <p:cNvPr id="26" name="Shape 14">
            <a:extLst>
              <a:ext uri="{FF2B5EF4-FFF2-40B4-BE49-F238E27FC236}">
                <a16:creationId xmlns:a16="http://schemas.microsoft.com/office/drawing/2014/main" id="{AA36B306-337C-04B4-9B92-70B043FEE96D}"/>
              </a:ext>
            </a:extLst>
          </p:cNvPr>
          <p:cNvSpPr/>
          <p:nvPr/>
        </p:nvSpPr>
        <p:spPr>
          <a:xfrm>
            <a:off x="4686871" y="2499812"/>
            <a:ext cx="0" cy="2112264"/>
          </a:xfrm>
          <a:prstGeom prst="line">
            <a:avLst/>
          </a:prstGeom>
          <a:noFill/>
          <a:ln w="12700">
            <a:solidFill>
              <a:srgbClr val="DFE2E3"/>
            </a:solidFill>
            <a:prstDash val="solid"/>
          </a:ln>
        </p:spPr>
        <p:txBody>
          <a:bodyPr/>
          <a:lstStyle/>
          <a:p>
            <a:endParaRPr lang="LID4096"/>
          </a:p>
        </p:txBody>
      </p:sp>
      <p:sp>
        <p:nvSpPr>
          <p:cNvPr id="28" name="Text 15">
            <a:extLst>
              <a:ext uri="{FF2B5EF4-FFF2-40B4-BE49-F238E27FC236}">
                <a16:creationId xmlns:a16="http://schemas.microsoft.com/office/drawing/2014/main" id="{DDA6AD76-253A-BDEE-D80F-CF8C578343F2}"/>
              </a:ext>
            </a:extLst>
          </p:cNvPr>
          <p:cNvSpPr/>
          <p:nvPr/>
        </p:nvSpPr>
        <p:spPr>
          <a:xfrm>
            <a:off x="4805743" y="2536388"/>
            <a:ext cx="1901952"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5D666B"/>
                </a:solidFill>
                <a:latin typeface="Aptos Display" pitchFamily="34" charset="0"/>
                <a:ea typeface="Aptos Display" pitchFamily="34" charset="-122"/>
                <a:cs typeface="Aptos Display" pitchFamily="34" charset="-120"/>
              </a:rPr>
              <a:t>SUPERVISORS</a:t>
            </a:r>
            <a:endParaRPr lang="en-US" sz="860" dirty="0"/>
          </a:p>
        </p:txBody>
      </p:sp>
      <p:sp>
        <p:nvSpPr>
          <p:cNvPr id="42" name="Text 22">
            <a:extLst>
              <a:ext uri="{FF2B5EF4-FFF2-40B4-BE49-F238E27FC236}">
                <a16:creationId xmlns:a16="http://schemas.microsoft.com/office/drawing/2014/main" id="{1DF1104B-1700-DC4D-5689-1F91FE7F43E6}"/>
              </a:ext>
            </a:extLst>
          </p:cNvPr>
          <p:cNvSpPr/>
          <p:nvPr/>
        </p:nvSpPr>
        <p:spPr>
          <a:xfrm>
            <a:off x="4805743" y="4328612"/>
            <a:ext cx="1901952"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5D666B"/>
                </a:solidFill>
                <a:latin typeface="Aptos Display" pitchFamily="34" charset="0"/>
                <a:ea typeface="Aptos Display" pitchFamily="34" charset="-122"/>
                <a:cs typeface="Aptos Display" pitchFamily="34" charset="-120"/>
              </a:rPr>
              <a:t>COLLABORATION</a:t>
            </a:r>
            <a:endParaRPr lang="en-US" sz="860" dirty="0"/>
          </a:p>
        </p:txBody>
      </p:sp>
      <p:sp>
        <p:nvSpPr>
          <p:cNvPr id="44" name="Text 23">
            <a:extLst>
              <a:ext uri="{FF2B5EF4-FFF2-40B4-BE49-F238E27FC236}">
                <a16:creationId xmlns:a16="http://schemas.microsoft.com/office/drawing/2014/main" id="{EE6A2E6F-D0C1-1685-693D-44A5B2B1A9B8}"/>
              </a:ext>
            </a:extLst>
          </p:cNvPr>
          <p:cNvSpPr/>
          <p:nvPr/>
        </p:nvSpPr>
        <p:spPr>
          <a:xfrm>
            <a:off x="4805743" y="4520636"/>
            <a:ext cx="1901952" cy="182880"/>
          </a:xfrm>
          <a:prstGeom prst="rect">
            <a:avLst/>
          </a:prstGeom>
          <a:noFill/>
          <a:ln/>
        </p:spPr>
        <p:txBody>
          <a:bodyPr wrap="square" lIns="0" tIns="0" rIns="0" bIns="0" rtlCol="0" anchor="t"/>
          <a:lstStyle/>
          <a:p>
            <a:pPr marL="0" indent="0">
              <a:lnSpc>
                <a:spcPct val="100000"/>
              </a:lnSpc>
              <a:buNone/>
            </a:pPr>
            <a:r>
              <a:rPr lang="en-US" sz="900" dirty="0">
                <a:solidFill>
                  <a:srgbClr val="5D666B"/>
                </a:solidFill>
                <a:latin typeface="Aptos Display" pitchFamily="34" charset="0"/>
                <a:ea typeface="Aptos Display" pitchFamily="34" charset="-122"/>
                <a:cs typeface="Aptos Display" pitchFamily="34" charset="-120"/>
              </a:rPr>
              <a:t>Molten Salt companies as Copenhagen Atomics, Seaborg Technologies or Nordic Salt Cycle </a:t>
            </a:r>
            <a:endParaRPr lang="en-US" sz="900" dirty="0"/>
          </a:p>
        </p:txBody>
      </p:sp>
      <p:sp>
        <p:nvSpPr>
          <p:cNvPr id="46" name="Shape 24">
            <a:extLst>
              <a:ext uri="{FF2B5EF4-FFF2-40B4-BE49-F238E27FC236}">
                <a16:creationId xmlns:a16="http://schemas.microsoft.com/office/drawing/2014/main" id="{741B9529-EDF4-0277-9517-AD77B4EC7EFA}"/>
              </a:ext>
            </a:extLst>
          </p:cNvPr>
          <p:cNvSpPr/>
          <p:nvPr/>
        </p:nvSpPr>
        <p:spPr>
          <a:xfrm>
            <a:off x="288607" y="4886396"/>
            <a:ext cx="6426403" cy="0"/>
          </a:xfrm>
          <a:prstGeom prst="line">
            <a:avLst/>
          </a:prstGeom>
          <a:noFill/>
          <a:ln w="10795">
            <a:solidFill>
              <a:srgbClr val="DFE2E3"/>
            </a:solidFill>
            <a:prstDash val="solid"/>
          </a:ln>
        </p:spPr>
        <p:txBody>
          <a:bodyPr/>
          <a:lstStyle/>
          <a:p>
            <a:endParaRPr lang="LID4096"/>
          </a:p>
        </p:txBody>
      </p:sp>
      <p:sp>
        <p:nvSpPr>
          <p:cNvPr id="48" name="Text 25">
            <a:extLst>
              <a:ext uri="{FF2B5EF4-FFF2-40B4-BE49-F238E27FC236}">
                <a16:creationId xmlns:a16="http://schemas.microsoft.com/office/drawing/2014/main" id="{550D7A41-D8A4-84EE-5510-72BFA808AFF9}"/>
              </a:ext>
            </a:extLst>
          </p:cNvPr>
          <p:cNvSpPr/>
          <p:nvPr/>
        </p:nvSpPr>
        <p:spPr>
          <a:xfrm>
            <a:off x="288607" y="5055560"/>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01  /  PROJECT BACKGROUND</a:t>
            </a:r>
            <a:endParaRPr lang="en-US" sz="860" dirty="0"/>
          </a:p>
        </p:txBody>
      </p:sp>
      <p:sp>
        <p:nvSpPr>
          <p:cNvPr id="50" name="Text 26">
            <a:extLst>
              <a:ext uri="{FF2B5EF4-FFF2-40B4-BE49-F238E27FC236}">
                <a16:creationId xmlns:a16="http://schemas.microsoft.com/office/drawing/2014/main" id="{DF11FE43-43A1-EFCB-29F2-49F1913B15C4}"/>
              </a:ext>
            </a:extLst>
          </p:cNvPr>
          <p:cNvSpPr/>
          <p:nvPr/>
        </p:nvSpPr>
        <p:spPr>
          <a:xfrm>
            <a:off x="288607" y="5288732"/>
            <a:ext cx="6426403" cy="1197864"/>
          </a:xfrm>
          <a:prstGeom prst="rect">
            <a:avLst/>
          </a:prstGeom>
          <a:noFill/>
          <a:ln/>
        </p:spPr>
        <p:txBody>
          <a:bodyPr wrap="square" lIns="0" tIns="0" rIns="0" bIns="0" rtlCol="0" anchor="t"/>
          <a:lstStyle/>
          <a:p>
            <a:pPr algn="just"/>
            <a:r>
              <a:rPr lang="en-US" sz="1000" dirty="0"/>
              <a:t>Molten salt technologies offers new promising qualities, like excellent heat transfer properties or inherent safety arising from high thermal stability and low pressures. The disadvantage of molten salt lies in their high corrosivity, which makes their long-term containment challenging. Nickel alloys and nickel surface treatments are the most promising solutions; however, further development is necessary. </a:t>
            </a:r>
            <a:endParaRPr lang="en-US" sz="990" dirty="0"/>
          </a:p>
        </p:txBody>
      </p:sp>
      <p:sp>
        <p:nvSpPr>
          <p:cNvPr id="52" name="Text 27">
            <a:extLst>
              <a:ext uri="{FF2B5EF4-FFF2-40B4-BE49-F238E27FC236}">
                <a16:creationId xmlns:a16="http://schemas.microsoft.com/office/drawing/2014/main" id="{E1F4C334-2223-19ED-44AB-9671AA39A52B}"/>
              </a:ext>
            </a:extLst>
          </p:cNvPr>
          <p:cNvSpPr/>
          <p:nvPr/>
        </p:nvSpPr>
        <p:spPr>
          <a:xfrm>
            <a:off x="288607" y="6134552"/>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02  /  PROJECT AIM</a:t>
            </a:r>
            <a:endParaRPr lang="en-US" sz="860" dirty="0"/>
          </a:p>
        </p:txBody>
      </p:sp>
      <p:sp>
        <p:nvSpPr>
          <p:cNvPr id="54" name="Text 28">
            <a:extLst>
              <a:ext uri="{FF2B5EF4-FFF2-40B4-BE49-F238E27FC236}">
                <a16:creationId xmlns:a16="http://schemas.microsoft.com/office/drawing/2014/main" id="{3B32DA2F-B6E5-BD0C-B0E2-8DB758B29FE0}"/>
              </a:ext>
            </a:extLst>
          </p:cNvPr>
          <p:cNvSpPr/>
          <p:nvPr/>
        </p:nvSpPr>
        <p:spPr>
          <a:xfrm>
            <a:off x="288607" y="6367724"/>
            <a:ext cx="6426403" cy="438912"/>
          </a:xfrm>
          <a:prstGeom prst="rect">
            <a:avLst/>
          </a:prstGeom>
          <a:noFill/>
          <a:ln/>
        </p:spPr>
        <p:txBody>
          <a:bodyPr wrap="square" lIns="0" tIns="0" rIns="0" bIns="0" rtlCol="0" anchor="t"/>
          <a:lstStyle/>
          <a:p>
            <a:pPr algn="just"/>
            <a:r>
              <a:rPr lang="en-US" sz="1000" dirty="0">
                <a:solidFill>
                  <a:srgbClr val="5D666B"/>
                </a:solidFill>
                <a:latin typeface="Aptos" pitchFamily="34" charset="0"/>
                <a:ea typeface="Aptos" pitchFamily="34" charset="-122"/>
                <a:cs typeface="Aptos" pitchFamily="34" charset="-120"/>
              </a:rPr>
              <a:t>[</a:t>
            </a:r>
            <a:r>
              <a:rPr lang="en-US" sz="1000" dirty="0"/>
              <a:t>The scope of this master thesis project is to investigate the corrosion resistance in molten salt, e.g. </a:t>
            </a:r>
          </a:p>
          <a:p>
            <a:pPr marL="171450" indent="-171450" algn="just">
              <a:buFont typeface="Arial" panose="020B0604020202020204" pitchFamily="34" charset="0"/>
              <a:buChar char="•"/>
            </a:pPr>
            <a:endParaRPr lang="en-US" sz="1000" dirty="0"/>
          </a:p>
          <a:p>
            <a:pPr marL="171450" indent="-171450" algn="just">
              <a:buFont typeface="Arial" panose="020B0604020202020204" pitchFamily="34" charset="0"/>
              <a:buChar char="•"/>
            </a:pPr>
            <a:r>
              <a:rPr lang="en-US" sz="1000" dirty="0"/>
              <a:t>Characterize samples in SEM/EDS and optical microscope.</a:t>
            </a:r>
          </a:p>
          <a:p>
            <a:pPr marL="171450" indent="-171450" algn="just">
              <a:buFont typeface="Arial" panose="020B0604020202020204" pitchFamily="34" charset="0"/>
              <a:buChar char="•"/>
            </a:pPr>
            <a:r>
              <a:rPr lang="en-US" sz="1000" dirty="0"/>
              <a:t>Conduct corrosion tests in molten fluorides at high temperatures.</a:t>
            </a:r>
          </a:p>
          <a:p>
            <a:pPr marL="171450" indent="-171450" algn="just">
              <a:buFont typeface="Arial" panose="020B0604020202020204" pitchFamily="34" charset="0"/>
              <a:buChar char="•"/>
            </a:pPr>
            <a:r>
              <a:rPr lang="en-US" sz="1000" dirty="0"/>
              <a:t>Investigate corrosion resistance in SEM/EDS and optical microscope.</a:t>
            </a:r>
          </a:p>
          <a:p>
            <a:pPr marL="171450" indent="-171450" algn="just">
              <a:buFont typeface="Arial" panose="020B0604020202020204" pitchFamily="34" charset="0"/>
              <a:buChar char="•"/>
            </a:pPr>
            <a:r>
              <a:rPr lang="en-US" sz="1000" dirty="0"/>
              <a:t>Make recommendations about critical values and further work.</a:t>
            </a:r>
          </a:p>
          <a:p>
            <a:pPr marL="0" indent="0">
              <a:lnSpc>
                <a:spcPct val="103000"/>
              </a:lnSpc>
              <a:buNone/>
            </a:pPr>
            <a:endParaRPr lang="en-US" sz="1000" dirty="0"/>
          </a:p>
        </p:txBody>
      </p:sp>
      <p:sp>
        <p:nvSpPr>
          <p:cNvPr id="56" name="Text 29">
            <a:extLst>
              <a:ext uri="{FF2B5EF4-FFF2-40B4-BE49-F238E27FC236}">
                <a16:creationId xmlns:a16="http://schemas.microsoft.com/office/drawing/2014/main" id="{B6524C55-32C1-1701-39AF-30B8513D5859}"/>
              </a:ext>
            </a:extLst>
          </p:cNvPr>
          <p:cNvSpPr/>
          <p:nvPr/>
        </p:nvSpPr>
        <p:spPr>
          <a:xfrm>
            <a:off x="288607" y="7509010"/>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03  /  PROJECT ACTIVITIES</a:t>
            </a:r>
            <a:endParaRPr lang="en-US" sz="860" dirty="0"/>
          </a:p>
        </p:txBody>
      </p:sp>
      <p:sp>
        <p:nvSpPr>
          <p:cNvPr id="58" name="Text 30">
            <a:extLst>
              <a:ext uri="{FF2B5EF4-FFF2-40B4-BE49-F238E27FC236}">
                <a16:creationId xmlns:a16="http://schemas.microsoft.com/office/drawing/2014/main" id="{E52291FE-67CB-49F0-597C-9F48EC893D25}"/>
              </a:ext>
            </a:extLst>
          </p:cNvPr>
          <p:cNvSpPr/>
          <p:nvPr/>
        </p:nvSpPr>
        <p:spPr>
          <a:xfrm>
            <a:off x="306895" y="7751326"/>
            <a:ext cx="6398971" cy="219456"/>
          </a:xfrm>
          <a:prstGeom prst="rect">
            <a:avLst/>
          </a:prstGeom>
          <a:noFill/>
          <a:ln/>
        </p:spPr>
        <p:txBody>
          <a:bodyPr wrap="square" lIns="0" tIns="0" rIns="0" bIns="0" rtlCol="0" anchor="t"/>
          <a:lstStyle/>
          <a:p>
            <a:pPr marL="139700" indent="-139700">
              <a:lnSpc>
                <a:spcPct val="106000"/>
              </a:lnSpc>
              <a:buSzPct val="100000"/>
              <a:buChar char="•"/>
            </a:pPr>
            <a:r>
              <a:rPr lang="en-US" sz="1000" dirty="0"/>
              <a:t>All the projects involve literature study, experimental exposure tests, preparation of samples for characterization by SEM and XRD, determination of the nature of the corrosion and corrosion rates</a:t>
            </a:r>
            <a:endParaRPr lang="en-US" sz="975" dirty="0"/>
          </a:p>
        </p:txBody>
      </p:sp>
      <p:sp>
        <p:nvSpPr>
          <p:cNvPr id="68" name="Text 35">
            <a:extLst>
              <a:ext uri="{FF2B5EF4-FFF2-40B4-BE49-F238E27FC236}">
                <a16:creationId xmlns:a16="http://schemas.microsoft.com/office/drawing/2014/main" id="{2F7D2E65-2E3D-DD1B-98AF-16E5BD6564A6}"/>
              </a:ext>
            </a:extLst>
          </p:cNvPr>
          <p:cNvSpPr/>
          <p:nvPr/>
        </p:nvSpPr>
        <p:spPr>
          <a:xfrm>
            <a:off x="288607" y="8583620"/>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04  /  PRACTICAL NOTES</a:t>
            </a:r>
            <a:endParaRPr lang="en-US" sz="860" dirty="0"/>
          </a:p>
        </p:txBody>
      </p:sp>
      <p:sp>
        <p:nvSpPr>
          <p:cNvPr id="70" name="Text 36">
            <a:extLst>
              <a:ext uri="{FF2B5EF4-FFF2-40B4-BE49-F238E27FC236}">
                <a16:creationId xmlns:a16="http://schemas.microsoft.com/office/drawing/2014/main" id="{A368D0A1-E117-25EE-605D-20388D61C90D}"/>
              </a:ext>
            </a:extLst>
          </p:cNvPr>
          <p:cNvSpPr/>
          <p:nvPr/>
        </p:nvSpPr>
        <p:spPr>
          <a:xfrm>
            <a:off x="321624" y="8817456"/>
            <a:ext cx="6426403" cy="438912"/>
          </a:xfrm>
          <a:prstGeom prst="rect">
            <a:avLst/>
          </a:prstGeom>
          <a:noFill/>
          <a:ln/>
        </p:spPr>
        <p:txBody>
          <a:bodyPr wrap="square" lIns="0" tIns="0" rIns="0" bIns="0" rtlCol="0" anchor="t"/>
          <a:lstStyle/>
          <a:p>
            <a:pPr>
              <a:lnSpc>
                <a:spcPct val="102000"/>
              </a:lnSpc>
            </a:pPr>
            <a:r>
              <a:rPr lang="en-US" sz="1000" dirty="0"/>
              <a:t>The exact topic and nature of the project will be specified in a discussion with the students who are interested.</a:t>
            </a:r>
          </a:p>
          <a:p>
            <a:pPr marL="0" indent="0">
              <a:lnSpc>
                <a:spcPct val="102000"/>
              </a:lnSpc>
              <a:buNone/>
            </a:pPr>
            <a:endParaRPr lang="en-US" sz="975" dirty="0"/>
          </a:p>
        </p:txBody>
      </p:sp>
      <p:sp>
        <p:nvSpPr>
          <p:cNvPr id="72" name="Shape 38">
            <a:extLst>
              <a:ext uri="{FF2B5EF4-FFF2-40B4-BE49-F238E27FC236}">
                <a16:creationId xmlns:a16="http://schemas.microsoft.com/office/drawing/2014/main" id="{081F88CA-2AEC-F488-1189-D6324DB0A884}"/>
              </a:ext>
            </a:extLst>
          </p:cNvPr>
          <p:cNvSpPr/>
          <p:nvPr/>
        </p:nvSpPr>
        <p:spPr>
          <a:xfrm>
            <a:off x="288607" y="9482018"/>
            <a:ext cx="6426403" cy="0"/>
          </a:xfrm>
          <a:prstGeom prst="line">
            <a:avLst/>
          </a:prstGeom>
          <a:noFill/>
          <a:ln w="10160">
            <a:solidFill>
              <a:srgbClr val="DFE2E3"/>
            </a:solidFill>
            <a:prstDash val="solid"/>
          </a:ln>
        </p:spPr>
        <p:txBody>
          <a:bodyPr/>
          <a:lstStyle/>
          <a:p>
            <a:endParaRPr lang="LID4096"/>
          </a:p>
        </p:txBody>
      </p:sp>
      <p:sp>
        <p:nvSpPr>
          <p:cNvPr id="74" name="Text 39">
            <a:extLst>
              <a:ext uri="{FF2B5EF4-FFF2-40B4-BE49-F238E27FC236}">
                <a16:creationId xmlns:a16="http://schemas.microsoft.com/office/drawing/2014/main" id="{7D6E5BF1-5B95-826E-7C58-11E988F22D64}"/>
              </a:ext>
            </a:extLst>
          </p:cNvPr>
          <p:cNvSpPr/>
          <p:nvPr/>
        </p:nvSpPr>
        <p:spPr>
          <a:xfrm>
            <a:off x="288607" y="9555170"/>
            <a:ext cx="4480560" cy="137160"/>
          </a:xfrm>
          <a:prstGeom prst="rect">
            <a:avLst/>
          </a:prstGeom>
          <a:noFill/>
          <a:ln/>
        </p:spPr>
        <p:txBody>
          <a:bodyPr wrap="square" lIns="0" tIns="0" rIns="0" bIns="0" rtlCol="0" anchor="t"/>
          <a:lstStyle/>
          <a:p>
            <a:pPr marL="0" indent="0">
              <a:lnSpc>
                <a:spcPct val="100000"/>
              </a:lnSpc>
              <a:buNone/>
            </a:pPr>
            <a:r>
              <a:rPr lang="en-US" sz="715" kern="0" spc="60" dirty="0">
                <a:solidFill>
                  <a:srgbClr val="5D666B"/>
                </a:solidFill>
                <a:latin typeface="Aptos Display" pitchFamily="34" charset="0"/>
                <a:ea typeface="Aptos Display" pitchFamily="34" charset="-122"/>
                <a:cs typeface="Aptos Display" pitchFamily="34" charset="-120"/>
              </a:rPr>
              <a:t>DTU CONSTRUCT  /  MATERIALS AND SURFACE ENGINEERING</a:t>
            </a:r>
            <a:endParaRPr lang="en-US" sz="715" dirty="0"/>
          </a:p>
        </p:txBody>
      </p:sp>
      <p:pic>
        <p:nvPicPr>
          <p:cNvPr id="2" name="Content Placeholder 10" descr="A close-up of a machine&#10;&#10;Description automatically generated">
            <a:extLst>
              <a:ext uri="{FF2B5EF4-FFF2-40B4-BE49-F238E27FC236}">
                <a16:creationId xmlns:a16="http://schemas.microsoft.com/office/drawing/2014/main" id="{07B49A1B-6EDC-1867-CC1C-D8A796CD583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8" y="2181117"/>
            <a:ext cx="4673149" cy="2385473"/>
          </a:xfrm>
          <a:prstGeom prst="rect">
            <a:avLst/>
          </a:prstGeom>
        </p:spPr>
      </p:pic>
      <p:sp>
        <p:nvSpPr>
          <p:cNvPr id="5" name="TextBox 4">
            <a:extLst>
              <a:ext uri="{FF2B5EF4-FFF2-40B4-BE49-F238E27FC236}">
                <a16:creationId xmlns:a16="http://schemas.microsoft.com/office/drawing/2014/main" id="{AD9C7F7C-E8CB-3D42-B696-82D96AD9E97C}"/>
              </a:ext>
            </a:extLst>
          </p:cNvPr>
          <p:cNvSpPr txBox="1"/>
          <p:nvPr/>
        </p:nvSpPr>
        <p:spPr>
          <a:xfrm>
            <a:off x="4746308" y="2814182"/>
            <a:ext cx="3458496" cy="1200329"/>
          </a:xfrm>
          <a:prstGeom prst="rect">
            <a:avLst/>
          </a:prstGeom>
          <a:noFill/>
        </p:spPr>
        <p:txBody>
          <a:bodyPr wrap="square">
            <a:spAutoFit/>
          </a:bodyPr>
          <a:lstStyle/>
          <a:p>
            <a:r>
              <a:rPr lang="en-US" sz="1200" dirty="0"/>
              <a:t>Morten S. Jellesen</a:t>
            </a:r>
          </a:p>
          <a:p>
            <a:r>
              <a:rPr lang="en-US" sz="1200" dirty="0">
                <a:hlinkClick r:id="rId4">
                  <a:extLst>
                    <a:ext uri="{A12FA001-AC4F-418D-AE19-62706E023703}">
                      <ahyp:hlinkClr xmlns:ahyp="http://schemas.microsoft.com/office/drawing/2018/hyperlinkcolor" val="tx"/>
                    </a:ext>
                  </a:extLst>
                </a:hlinkClick>
              </a:rPr>
              <a:t>msje@dtu.dk</a:t>
            </a:r>
            <a:r>
              <a:rPr lang="en-US" sz="1200" dirty="0"/>
              <a:t>,</a:t>
            </a:r>
          </a:p>
          <a:p>
            <a:r>
              <a:rPr lang="en-US" sz="1200" dirty="0">
                <a:solidFill>
                  <a:schemeClr val="tx1"/>
                </a:solidFill>
              </a:rPr>
              <a:t>John Hald</a:t>
            </a:r>
          </a:p>
          <a:p>
            <a:r>
              <a:rPr lang="en-US" sz="1200" dirty="0">
                <a:solidFill>
                  <a:schemeClr val="tx1"/>
                </a:solidFill>
                <a:hlinkClick r:id="rId5">
                  <a:extLst>
                    <a:ext uri="{A12FA001-AC4F-418D-AE19-62706E023703}">
                      <ahyp:hlinkClr xmlns:ahyp="http://schemas.microsoft.com/office/drawing/2018/hyperlinkcolor" val="tx"/>
                    </a:ext>
                  </a:extLst>
                </a:hlinkClick>
              </a:rPr>
              <a:t>jhald@dtu.dk</a:t>
            </a:r>
            <a:r>
              <a:rPr lang="en-US" sz="1200" dirty="0">
                <a:solidFill>
                  <a:schemeClr val="tx1"/>
                </a:solidFill>
              </a:rPr>
              <a:t>,</a:t>
            </a:r>
          </a:p>
          <a:p>
            <a:r>
              <a:rPr lang="en-US" sz="1200" dirty="0">
                <a:solidFill>
                  <a:schemeClr val="tx1"/>
                </a:solidFill>
              </a:rPr>
              <a:t>Birgitte Stoffersen</a:t>
            </a:r>
          </a:p>
          <a:p>
            <a:r>
              <a:rPr lang="en-US" sz="1200" dirty="0">
                <a:solidFill>
                  <a:schemeClr val="tx1"/>
                </a:solidFill>
                <a:hlinkClick r:id="rId6">
                  <a:extLst>
                    <a:ext uri="{A12FA001-AC4F-418D-AE19-62706E023703}">
                      <ahyp:hlinkClr xmlns:ahyp="http://schemas.microsoft.com/office/drawing/2018/hyperlinkcolor" val="tx"/>
                    </a:ext>
                  </a:extLst>
                </a:hlinkClick>
              </a:rPr>
              <a:t>birst@dtu.dk</a:t>
            </a:r>
            <a:r>
              <a:rPr lang="en-US" sz="1200" dirty="0">
                <a:solidFill>
                  <a:schemeClr val="tx1"/>
                </a:solidFill>
              </a:rPr>
              <a:t>,</a:t>
            </a:r>
          </a:p>
        </p:txBody>
      </p:sp>
    </p:spTree>
    <p:extLst>
      <p:ext uri="{BB962C8B-B14F-4D97-AF65-F5344CB8AC3E}">
        <p14:creationId xmlns:p14="http://schemas.microsoft.com/office/powerpoint/2010/main" val="22361498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4BFE5-010B-BFA3-AF4F-D390CE28FFA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E4DF69D-3E85-0647-D778-B438556D666B}"/>
              </a:ext>
            </a:extLst>
          </p:cNvPr>
          <p:cNvSpPr>
            <a:spLocks noGrp="1"/>
          </p:cNvSpPr>
          <p:nvPr>
            <p:ph type="sldNum" sz="quarter" idx="12"/>
          </p:nvPr>
        </p:nvSpPr>
        <p:spPr>
          <a:xfrm>
            <a:off x="4989080" y="9329519"/>
            <a:ext cx="1543050" cy="527403"/>
          </a:xfrm>
        </p:spPr>
        <p:txBody>
          <a:bodyPr/>
          <a:lstStyle/>
          <a:p>
            <a:fld id="{F934066D-384D-4BE1-BDC2-82BCC33558DD}" type="slidenum">
              <a:rPr lang="en-US" sz="800" b="1" smtClean="0">
                <a:solidFill>
                  <a:srgbClr val="C00000"/>
                </a:solidFill>
                <a:latin typeface="+mj-lt"/>
              </a:rPr>
              <a:t>2</a:t>
            </a:fld>
            <a:endParaRPr lang="en-US" sz="800" b="1" dirty="0">
              <a:solidFill>
                <a:srgbClr val="C00000"/>
              </a:solidFill>
              <a:latin typeface="+mj-lt"/>
            </a:endParaRPr>
          </a:p>
        </p:txBody>
      </p:sp>
      <p:sp>
        <p:nvSpPr>
          <p:cNvPr id="6" name="Shape 1">
            <a:extLst>
              <a:ext uri="{FF2B5EF4-FFF2-40B4-BE49-F238E27FC236}">
                <a16:creationId xmlns:a16="http://schemas.microsoft.com/office/drawing/2014/main" id="{89969459-A3C5-54B5-3957-BEDB4377BC22}"/>
              </a:ext>
            </a:extLst>
          </p:cNvPr>
          <p:cNvSpPr/>
          <p:nvPr/>
        </p:nvSpPr>
        <p:spPr>
          <a:xfrm>
            <a:off x="288607" y="292298"/>
            <a:ext cx="32004" cy="393192"/>
          </a:xfrm>
          <a:prstGeom prst="rect">
            <a:avLst/>
          </a:prstGeom>
          <a:solidFill>
            <a:srgbClr val="A30018"/>
          </a:solidFill>
          <a:ln w="12700">
            <a:solidFill>
              <a:srgbClr val="A30018">
                <a:alpha val="0"/>
              </a:srgbClr>
            </a:solidFill>
            <a:prstDash val="solid"/>
          </a:ln>
        </p:spPr>
        <p:txBody>
          <a:bodyPr/>
          <a:lstStyle/>
          <a:p>
            <a:endParaRPr lang="LID4096"/>
          </a:p>
        </p:txBody>
      </p:sp>
      <p:sp>
        <p:nvSpPr>
          <p:cNvPr id="8" name="Text 2">
            <a:extLst>
              <a:ext uri="{FF2B5EF4-FFF2-40B4-BE49-F238E27FC236}">
                <a16:creationId xmlns:a16="http://schemas.microsoft.com/office/drawing/2014/main" id="{392CC641-FF4E-F2E6-94D4-D11ABAD9DA5A}"/>
              </a:ext>
            </a:extLst>
          </p:cNvPr>
          <p:cNvSpPr/>
          <p:nvPr/>
        </p:nvSpPr>
        <p:spPr>
          <a:xfrm>
            <a:off x="444055" y="278582"/>
            <a:ext cx="5166360" cy="210312"/>
          </a:xfrm>
          <a:prstGeom prst="rect">
            <a:avLst/>
          </a:prstGeom>
          <a:noFill/>
          <a:ln/>
        </p:spPr>
        <p:txBody>
          <a:bodyPr wrap="square" lIns="0" tIns="0" rIns="0" bIns="0" rtlCol="0" anchor="t"/>
          <a:lstStyle/>
          <a:p>
            <a:pPr marL="0" indent="0">
              <a:lnSpc>
                <a:spcPct val="100000"/>
              </a:lnSpc>
              <a:buNone/>
            </a:pPr>
            <a:r>
              <a:rPr lang="en-US" sz="1100" b="1" kern="0" spc="20" dirty="0">
                <a:solidFill>
                  <a:srgbClr val="22282D"/>
                </a:solidFill>
                <a:latin typeface="Aptos Display" pitchFamily="34" charset="0"/>
                <a:ea typeface="Aptos Display" pitchFamily="34" charset="-122"/>
                <a:cs typeface="Aptos Display" pitchFamily="34" charset="-120"/>
              </a:rPr>
              <a:t>MATERIALS AND SURFACE ENGINEERING</a:t>
            </a:r>
            <a:endParaRPr lang="en-US" sz="1100" dirty="0"/>
          </a:p>
        </p:txBody>
      </p:sp>
      <p:sp>
        <p:nvSpPr>
          <p:cNvPr id="10" name="Text 3">
            <a:extLst>
              <a:ext uri="{FF2B5EF4-FFF2-40B4-BE49-F238E27FC236}">
                <a16:creationId xmlns:a16="http://schemas.microsoft.com/office/drawing/2014/main" id="{FE1CE161-38B5-675A-0D10-411A0DB2A1B4}"/>
              </a:ext>
            </a:extLst>
          </p:cNvPr>
          <p:cNvSpPr/>
          <p:nvPr/>
        </p:nvSpPr>
        <p:spPr>
          <a:xfrm>
            <a:off x="444055" y="516326"/>
            <a:ext cx="5212080" cy="173736"/>
          </a:xfrm>
          <a:prstGeom prst="rect">
            <a:avLst/>
          </a:prstGeom>
          <a:noFill/>
          <a:ln/>
        </p:spPr>
        <p:txBody>
          <a:bodyPr wrap="square" lIns="0" tIns="0" rIns="0" bIns="0" rtlCol="0" anchor="t"/>
          <a:lstStyle/>
          <a:p>
            <a:pPr marL="0" indent="0">
              <a:lnSpc>
                <a:spcPct val="100000"/>
              </a:lnSpc>
              <a:buNone/>
            </a:pPr>
            <a:r>
              <a:rPr lang="en-US" sz="1400" kern="0" spc="55" dirty="0">
                <a:solidFill>
                  <a:srgbClr val="5D666B"/>
                </a:solidFill>
                <a:latin typeface="Aptos" pitchFamily="34" charset="0"/>
                <a:ea typeface="Aptos" pitchFamily="34" charset="-122"/>
                <a:cs typeface="Aptos" pitchFamily="34" charset="-120"/>
              </a:rPr>
              <a:t>DEPARTMENT OF CIVIL AND MECHANICAL ENGINEERING</a:t>
            </a:r>
            <a:endParaRPr lang="en-US" sz="1400" dirty="0"/>
          </a:p>
        </p:txBody>
      </p:sp>
      <p:pic>
        <p:nvPicPr>
          <p:cNvPr id="12" name="Image 0" descr="/mnt/data/dtu_logo.png">
            <a:extLst>
              <a:ext uri="{FF2B5EF4-FFF2-40B4-BE49-F238E27FC236}">
                <a16:creationId xmlns:a16="http://schemas.microsoft.com/office/drawing/2014/main" id="{F9B9674A-A2A8-9673-5124-8384293ECC0C}"/>
              </a:ext>
            </a:extLst>
          </p:cNvPr>
          <p:cNvPicPr>
            <a:picLocks noChangeAspect="1"/>
          </p:cNvPicPr>
          <p:nvPr/>
        </p:nvPicPr>
        <p:blipFill>
          <a:blip r:embed="rId2"/>
          <a:stretch>
            <a:fillRect/>
          </a:stretch>
        </p:blipFill>
        <p:spPr>
          <a:xfrm>
            <a:off x="6223063" y="197200"/>
            <a:ext cx="429768" cy="601675"/>
          </a:xfrm>
          <a:prstGeom prst="rect">
            <a:avLst/>
          </a:prstGeom>
        </p:spPr>
      </p:pic>
      <p:sp>
        <p:nvSpPr>
          <p:cNvPr id="14" name="Shape 4">
            <a:extLst>
              <a:ext uri="{FF2B5EF4-FFF2-40B4-BE49-F238E27FC236}">
                <a16:creationId xmlns:a16="http://schemas.microsoft.com/office/drawing/2014/main" id="{71FBA477-8459-26C2-FAA3-8CD88E79F9DF}"/>
              </a:ext>
            </a:extLst>
          </p:cNvPr>
          <p:cNvSpPr/>
          <p:nvPr/>
        </p:nvSpPr>
        <p:spPr>
          <a:xfrm>
            <a:off x="288607" y="936950"/>
            <a:ext cx="6426403" cy="0"/>
          </a:xfrm>
          <a:prstGeom prst="line">
            <a:avLst/>
          </a:prstGeom>
          <a:noFill/>
          <a:ln w="19050">
            <a:solidFill>
              <a:srgbClr val="A30018"/>
            </a:solidFill>
            <a:prstDash val="solid"/>
          </a:ln>
        </p:spPr>
        <p:txBody>
          <a:bodyPr/>
          <a:lstStyle/>
          <a:p>
            <a:endParaRPr lang="LID4096"/>
          </a:p>
        </p:txBody>
      </p:sp>
      <p:sp>
        <p:nvSpPr>
          <p:cNvPr id="16" name="Text 5">
            <a:extLst>
              <a:ext uri="{FF2B5EF4-FFF2-40B4-BE49-F238E27FC236}">
                <a16:creationId xmlns:a16="http://schemas.microsoft.com/office/drawing/2014/main" id="{34AE30B6-9C69-87A7-4EA8-45C1D6F7BF69}"/>
              </a:ext>
            </a:extLst>
          </p:cNvPr>
          <p:cNvSpPr/>
          <p:nvPr/>
        </p:nvSpPr>
        <p:spPr>
          <a:xfrm>
            <a:off x="288607" y="1224986"/>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PROJECT LEVEL: Master and Bachelor </a:t>
            </a:r>
            <a:endParaRPr lang="en-US" sz="860" dirty="0"/>
          </a:p>
        </p:txBody>
      </p:sp>
      <p:sp>
        <p:nvSpPr>
          <p:cNvPr id="18" name="Text 6">
            <a:extLst>
              <a:ext uri="{FF2B5EF4-FFF2-40B4-BE49-F238E27FC236}">
                <a16:creationId xmlns:a16="http://schemas.microsoft.com/office/drawing/2014/main" id="{2EAAD852-2E9F-FD72-C19D-8B54713D492D}"/>
              </a:ext>
            </a:extLst>
          </p:cNvPr>
          <p:cNvSpPr/>
          <p:nvPr/>
        </p:nvSpPr>
        <p:spPr>
          <a:xfrm>
            <a:off x="288607" y="1526738"/>
            <a:ext cx="6426403" cy="905256"/>
          </a:xfrm>
          <a:prstGeom prst="rect">
            <a:avLst/>
          </a:prstGeom>
          <a:noFill/>
          <a:ln/>
        </p:spPr>
        <p:txBody>
          <a:bodyPr wrap="square" lIns="0" tIns="0" rIns="0" bIns="0" rtlCol="0" anchor="t"/>
          <a:lstStyle/>
          <a:p>
            <a:pPr>
              <a:lnSpc>
                <a:spcPct val="95000"/>
              </a:lnSpc>
            </a:pPr>
            <a:r>
              <a:rPr lang="da-DK" sz="2000" dirty="0"/>
              <a:t>Short- and Long-range </a:t>
            </a:r>
            <a:r>
              <a:rPr lang="da-DK" sz="2000" dirty="0" err="1"/>
              <a:t>Ordering</a:t>
            </a:r>
            <a:r>
              <a:rPr lang="da-DK" sz="2000" dirty="0"/>
              <a:t> of Ni-</a:t>
            </a:r>
            <a:r>
              <a:rPr lang="da-DK" sz="2000" dirty="0" err="1"/>
              <a:t>Cr</a:t>
            </a:r>
            <a:r>
              <a:rPr lang="da-DK" sz="2000" dirty="0"/>
              <a:t>-Fe </a:t>
            </a:r>
            <a:r>
              <a:rPr lang="da-DK" sz="2000" dirty="0" err="1"/>
              <a:t>Alloys</a:t>
            </a:r>
            <a:r>
              <a:rPr lang="da-DK" sz="2000" dirty="0"/>
              <a:t> </a:t>
            </a:r>
            <a:br>
              <a:rPr lang="da-DK" sz="2000" dirty="0"/>
            </a:br>
            <a:r>
              <a:rPr lang="da-DK" sz="2000" dirty="0"/>
              <a:t>For </a:t>
            </a:r>
            <a:r>
              <a:rPr lang="da-DK" sz="2000" dirty="0" err="1"/>
              <a:t>Nuclear</a:t>
            </a:r>
            <a:r>
              <a:rPr lang="da-DK" sz="2000" dirty="0"/>
              <a:t> </a:t>
            </a:r>
            <a:r>
              <a:rPr lang="da-DK" sz="2000" dirty="0" err="1"/>
              <a:t>Reactors</a:t>
            </a:r>
            <a:r>
              <a:rPr lang="da-DK" sz="2000" dirty="0"/>
              <a:t> And Energy Storage </a:t>
            </a:r>
            <a:r>
              <a:rPr lang="da-DK" sz="2000" dirty="0" err="1"/>
              <a:t>Plants</a:t>
            </a:r>
            <a:endParaRPr lang="en-US" sz="2000" dirty="0"/>
          </a:p>
        </p:txBody>
      </p:sp>
      <p:sp>
        <p:nvSpPr>
          <p:cNvPr id="22" name="Text 11">
            <a:extLst>
              <a:ext uri="{FF2B5EF4-FFF2-40B4-BE49-F238E27FC236}">
                <a16:creationId xmlns:a16="http://schemas.microsoft.com/office/drawing/2014/main" id="{51A841A0-E444-4A39-EB7B-ED587A51C69D}"/>
              </a:ext>
            </a:extLst>
          </p:cNvPr>
          <p:cNvSpPr/>
          <p:nvPr/>
        </p:nvSpPr>
        <p:spPr>
          <a:xfrm>
            <a:off x="471487" y="3505652"/>
            <a:ext cx="3941064" cy="256032"/>
          </a:xfrm>
          <a:prstGeom prst="rect">
            <a:avLst/>
          </a:prstGeom>
          <a:noFill/>
          <a:ln/>
        </p:spPr>
        <p:txBody>
          <a:bodyPr wrap="square" lIns="0" tIns="0" rIns="0" bIns="0" rtlCol="0" anchor="t"/>
          <a:lstStyle/>
          <a:p>
            <a:pPr marL="0" indent="0" algn="ctr">
              <a:lnSpc>
                <a:spcPct val="100000"/>
              </a:lnSpc>
              <a:buNone/>
            </a:pPr>
            <a:r>
              <a:rPr lang="en-US" sz="1040" b="1" kern="0" spc="60" dirty="0">
                <a:solidFill>
                  <a:srgbClr val="5D666B"/>
                </a:solidFill>
                <a:latin typeface="Aptos Display" pitchFamily="34" charset="0"/>
                <a:ea typeface="Aptos Display" pitchFamily="34" charset="-122"/>
                <a:cs typeface="Aptos Display" pitchFamily="34" charset="-120"/>
              </a:rPr>
              <a:t>[INSERT PROJECT IMAGE]</a:t>
            </a:r>
            <a:endParaRPr lang="en-US" sz="1040" dirty="0"/>
          </a:p>
        </p:txBody>
      </p:sp>
      <p:sp>
        <p:nvSpPr>
          <p:cNvPr id="26" name="Shape 14">
            <a:extLst>
              <a:ext uri="{FF2B5EF4-FFF2-40B4-BE49-F238E27FC236}">
                <a16:creationId xmlns:a16="http://schemas.microsoft.com/office/drawing/2014/main" id="{02BBE173-0267-7A40-083A-978B2CF1E4B0}"/>
              </a:ext>
            </a:extLst>
          </p:cNvPr>
          <p:cNvSpPr/>
          <p:nvPr/>
        </p:nvSpPr>
        <p:spPr>
          <a:xfrm>
            <a:off x="4686871" y="2499812"/>
            <a:ext cx="0" cy="2112264"/>
          </a:xfrm>
          <a:prstGeom prst="line">
            <a:avLst/>
          </a:prstGeom>
          <a:noFill/>
          <a:ln w="12700">
            <a:solidFill>
              <a:srgbClr val="DFE2E3"/>
            </a:solidFill>
            <a:prstDash val="solid"/>
          </a:ln>
        </p:spPr>
        <p:txBody>
          <a:bodyPr/>
          <a:lstStyle/>
          <a:p>
            <a:endParaRPr lang="LID4096"/>
          </a:p>
        </p:txBody>
      </p:sp>
      <p:sp>
        <p:nvSpPr>
          <p:cNvPr id="28" name="Text 15">
            <a:extLst>
              <a:ext uri="{FF2B5EF4-FFF2-40B4-BE49-F238E27FC236}">
                <a16:creationId xmlns:a16="http://schemas.microsoft.com/office/drawing/2014/main" id="{26A705C4-036D-B221-65A3-80E65A5EDB10}"/>
              </a:ext>
            </a:extLst>
          </p:cNvPr>
          <p:cNvSpPr/>
          <p:nvPr/>
        </p:nvSpPr>
        <p:spPr>
          <a:xfrm>
            <a:off x="4805743" y="2536388"/>
            <a:ext cx="1901952"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5D666B"/>
                </a:solidFill>
                <a:latin typeface="Aptos Display" pitchFamily="34" charset="0"/>
                <a:ea typeface="Aptos Display" pitchFamily="34" charset="-122"/>
                <a:cs typeface="Aptos Display" pitchFamily="34" charset="-120"/>
              </a:rPr>
              <a:t>SUPERVISORS</a:t>
            </a:r>
            <a:endParaRPr lang="en-US" sz="860" dirty="0"/>
          </a:p>
        </p:txBody>
      </p:sp>
      <p:sp>
        <p:nvSpPr>
          <p:cNvPr id="42" name="Text 22">
            <a:extLst>
              <a:ext uri="{FF2B5EF4-FFF2-40B4-BE49-F238E27FC236}">
                <a16:creationId xmlns:a16="http://schemas.microsoft.com/office/drawing/2014/main" id="{34D70457-A0D4-C95B-6042-C37E32F90177}"/>
              </a:ext>
            </a:extLst>
          </p:cNvPr>
          <p:cNvSpPr/>
          <p:nvPr/>
        </p:nvSpPr>
        <p:spPr>
          <a:xfrm>
            <a:off x="4805743" y="4125584"/>
            <a:ext cx="1901952"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5D666B"/>
                </a:solidFill>
                <a:latin typeface="Aptos Display" pitchFamily="34" charset="0"/>
                <a:ea typeface="Aptos Display" pitchFamily="34" charset="-122"/>
                <a:cs typeface="Aptos Display" pitchFamily="34" charset="-120"/>
              </a:rPr>
              <a:t>COLLABORATION</a:t>
            </a:r>
            <a:endParaRPr lang="en-US" sz="860" dirty="0"/>
          </a:p>
        </p:txBody>
      </p:sp>
      <p:sp>
        <p:nvSpPr>
          <p:cNvPr id="44" name="Text 23">
            <a:extLst>
              <a:ext uri="{FF2B5EF4-FFF2-40B4-BE49-F238E27FC236}">
                <a16:creationId xmlns:a16="http://schemas.microsoft.com/office/drawing/2014/main" id="{C04308B8-4456-192D-FAF5-732855D473A0}"/>
              </a:ext>
            </a:extLst>
          </p:cNvPr>
          <p:cNvSpPr/>
          <p:nvPr/>
        </p:nvSpPr>
        <p:spPr>
          <a:xfrm>
            <a:off x="4805743" y="4317608"/>
            <a:ext cx="1901952" cy="182880"/>
          </a:xfrm>
          <a:prstGeom prst="rect">
            <a:avLst/>
          </a:prstGeom>
          <a:noFill/>
          <a:ln/>
        </p:spPr>
        <p:txBody>
          <a:bodyPr wrap="square" lIns="0" tIns="0" rIns="0" bIns="0" rtlCol="0" anchor="t"/>
          <a:lstStyle/>
          <a:p>
            <a:pPr marL="0" indent="0">
              <a:lnSpc>
                <a:spcPct val="100000"/>
              </a:lnSpc>
              <a:buNone/>
            </a:pPr>
            <a:r>
              <a:rPr lang="en-US" sz="900" dirty="0">
                <a:solidFill>
                  <a:srgbClr val="5D666B"/>
                </a:solidFill>
                <a:latin typeface="Aptos Display" pitchFamily="34" charset="0"/>
                <a:ea typeface="Aptos Display" pitchFamily="34" charset="-122"/>
                <a:cs typeface="Aptos Display" pitchFamily="34" charset="-120"/>
              </a:rPr>
              <a:t>Molten Salt companies as Copenhagen Atomics, Seaborg Technologies or Nordic Salt Cycle </a:t>
            </a:r>
            <a:endParaRPr lang="en-US" sz="900" dirty="0"/>
          </a:p>
        </p:txBody>
      </p:sp>
      <p:sp>
        <p:nvSpPr>
          <p:cNvPr id="46" name="Shape 24">
            <a:extLst>
              <a:ext uri="{FF2B5EF4-FFF2-40B4-BE49-F238E27FC236}">
                <a16:creationId xmlns:a16="http://schemas.microsoft.com/office/drawing/2014/main" id="{95EEE1C4-7A83-FC14-A629-FD412AD84252}"/>
              </a:ext>
            </a:extLst>
          </p:cNvPr>
          <p:cNvSpPr/>
          <p:nvPr/>
        </p:nvSpPr>
        <p:spPr>
          <a:xfrm>
            <a:off x="288607" y="4886396"/>
            <a:ext cx="6426403" cy="0"/>
          </a:xfrm>
          <a:prstGeom prst="line">
            <a:avLst/>
          </a:prstGeom>
          <a:noFill/>
          <a:ln w="10795">
            <a:solidFill>
              <a:srgbClr val="DFE2E3"/>
            </a:solidFill>
            <a:prstDash val="solid"/>
          </a:ln>
        </p:spPr>
        <p:txBody>
          <a:bodyPr/>
          <a:lstStyle/>
          <a:p>
            <a:endParaRPr lang="LID4096"/>
          </a:p>
        </p:txBody>
      </p:sp>
      <p:sp>
        <p:nvSpPr>
          <p:cNvPr id="48" name="Text 25">
            <a:extLst>
              <a:ext uri="{FF2B5EF4-FFF2-40B4-BE49-F238E27FC236}">
                <a16:creationId xmlns:a16="http://schemas.microsoft.com/office/drawing/2014/main" id="{4D5CF17D-DDEA-8EDA-F0D0-6F19F0E9FBEF}"/>
              </a:ext>
            </a:extLst>
          </p:cNvPr>
          <p:cNvSpPr/>
          <p:nvPr/>
        </p:nvSpPr>
        <p:spPr>
          <a:xfrm>
            <a:off x="288607" y="5055560"/>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01  /  PROJECT BACKGROUND</a:t>
            </a:r>
            <a:endParaRPr lang="en-US" sz="860" dirty="0"/>
          </a:p>
        </p:txBody>
      </p:sp>
      <p:sp>
        <p:nvSpPr>
          <p:cNvPr id="50" name="Text 26">
            <a:extLst>
              <a:ext uri="{FF2B5EF4-FFF2-40B4-BE49-F238E27FC236}">
                <a16:creationId xmlns:a16="http://schemas.microsoft.com/office/drawing/2014/main" id="{7C64F0B6-A173-902B-E1F0-6DE605A766AB}"/>
              </a:ext>
            </a:extLst>
          </p:cNvPr>
          <p:cNvSpPr/>
          <p:nvPr/>
        </p:nvSpPr>
        <p:spPr>
          <a:xfrm>
            <a:off x="288607" y="5288732"/>
            <a:ext cx="6426403" cy="1197864"/>
          </a:xfrm>
          <a:prstGeom prst="rect">
            <a:avLst/>
          </a:prstGeom>
          <a:noFill/>
          <a:ln/>
        </p:spPr>
        <p:txBody>
          <a:bodyPr wrap="square" lIns="0" tIns="0" rIns="0" bIns="0" rtlCol="0" anchor="t"/>
          <a:lstStyle/>
          <a:p>
            <a:pPr algn="just"/>
            <a:r>
              <a:rPr lang="da-DK" sz="1000" dirty="0"/>
              <a:t>The </a:t>
            </a:r>
            <a:r>
              <a:rPr lang="da-DK" sz="1000" dirty="0" err="1"/>
              <a:t>focus</a:t>
            </a:r>
            <a:r>
              <a:rPr lang="da-DK" sz="1000" dirty="0"/>
              <a:t> of </a:t>
            </a:r>
            <a:r>
              <a:rPr lang="da-DK" sz="1000" dirty="0" err="1"/>
              <a:t>this</a:t>
            </a:r>
            <a:r>
              <a:rPr lang="da-DK" sz="1000" dirty="0"/>
              <a:t> </a:t>
            </a:r>
            <a:r>
              <a:rPr lang="da-DK" sz="1000" dirty="0" err="1"/>
              <a:t>project</a:t>
            </a:r>
            <a:r>
              <a:rPr lang="da-DK" sz="1000" dirty="0"/>
              <a:t> is an </a:t>
            </a:r>
            <a:r>
              <a:rPr lang="da-DK" sz="1000" dirty="0" err="1"/>
              <a:t>investigation</a:t>
            </a:r>
            <a:r>
              <a:rPr lang="da-DK" sz="1000" dirty="0"/>
              <a:t> of the short-range </a:t>
            </a:r>
            <a:r>
              <a:rPr lang="da-DK" sz="1000" dirty="0" err="1"/>
              <a:t>ordering</a:t>
            </a:r>
            <a:r>
              <a:rPr lang="da-DK" sz="1000" dirty="0"/>
              <a:t> (SRO) and long-range </a:t>
            </a:r>
            <a:r>
              <a:rPr lang="da-DK" sz="1000" dirty="0" err="1"/>
              <a:t>ordering</a:t>
            </a:r>
            <a:r>
              <a:rPr lang="da-DK" sz="1000" dirty="0"/>
              <a:t> (LRO) </a:t>
            </a:r>
            <a:r>
              <a:rPr lang="da-DK" sz="1000" dirty="0" err="1"/>
              <a:t>that</a:t>
            </a:r>
            <a:r>
              <a:rPr lang="da-DK" sz="1000" dirty="0"/>
              <a:t> </a:t>
            </a:r>
            <a:r>
              <a:rPr lang="da-DK" sz="1000" dirty="0" err="1"/>
              <a:t>can</a:t>
            </a:r>
            <a:r>
              <a:rPr lang="da-DK" sz="1000" dirty="0"/>
              <a:t> </a:t>
            </a:r>
            <a:r>
              <a:rPr lang="da-DK" sz="1000" dirty="0" err="1"/>
              <a:t>occur</a:t>
            </a:r>
            <a:r>
              <a:rPr lang="da-DK" sz="1000" dirty="0"/>
              <a:t> in Ni-</a:t>
            </a:r>
            <a:r>
              <a:rPr lang="da-DK" sz="1000" dirty="0" err="1"/>
              <a:t>Cr</a:t>
            </a:r>
            <a:r>
              <a:rPr lang="da-DK" sz="1000" dirty="0"/>
              <a:t>-Fe </a:t>
            </a:r>
            <a:r>
              <a:rPr lang="da-DK" sz="1000" dirty="0" err="1"/>
              <a:t>alloys</a:t>
            </a:r>
            <a:r>
              <a:rPr lang="da-DK" sz="1000" dirty="0"/>
              <a:t>.  Industry </a:t>
            </a:r>
            <a:r>
              <a:rPr lang="da-DK" sz="1000" dirty="0" err="1"/>
              <a:t>applications</a:t>
            </a:r>
            <a:r>
              <a:rPr lang="da-DK" sz="1000" dirty="0"/>
              <a:t> </a:t>
            </a:r>
            <a:r>
              <a:rPr lang="da-DK" sz="1000" dirty="0" err="1"/>
              <a:t>such</a:t>
            </a:r>
            <a:r>
              <a:rPr lang="da-DK" sz="1000" dirty="0"/>
              <a:t> as </a:t>
            </a:r>
            <a:r>
              <a:rPr lang="da-DK" sz="1000" dirty="0" err="1"/>
              <a:t>next</a:t>
            </a:r>
            <a:r>
              <a:rPr lang="da-DK" sz="1000" dirty="0"/>
              <a:t>-generation salt-</a:t>
            </a:r>
            <a:r>
              <a:rPr lang="da-DK" sz="1000" dirty="0" err="1"/>
              <a:t>moderated</a:t>
            </a:r>
            <a:r>
              <a:rPr lang="da-DK" sz="1000" dirty="0"/>
              <a:t> </a:t>
            </a:r>
            <a:r>
              <a:rPr lang="da-DK" sz="1000" dirty="0" err="1"/>
              <a:t>nuclear</a:t>
            </a:r>
            <a:r>
              <a:rPr lang="da-DK" sz="1000" dirty="0"/>
              <a:t> power </a:t>
            </a:r>
            <a:r>
              <a:rPr lang="da-DK" sz="1000" dirty="0" err="1"/>
              <a:t>plants</a:t>
            </a:r>
            <a:r>
              <a:rPr lang="da-DK" sz="1000" dirty="0"/>
              <a:t> and salt </a:t>
            </a:r>
            <a:r>
              <a:rPr lang="da-DK" sz="1000" dirty="0" err="1"/>
              <a:t>thermal</a:t>
            </a:r>
            <a:r>
              <a:rPr lang="da-DK" sz="1000" dirty="0"/>
              <a:t> </a:t>
            </a:r>
            <a:r>
              <a:rPr lang="da-DK" sz="1000" dirty="0" err="1"/>
              <a:t>energy</a:t>
            </a:r>
            <a:r>
              <a:rPr lang="da-DK" sz="1000" dirty="0"/>
              <a:t> </a:t>
            </a:r>
            <a:r>
              <a:rPr lang="da-DK" sz="1000" dirty="0" err="1"/>
              <a:t>storage</a:t>
            </a:r>
            <a:r>
              <a:rPr lang="da-DK" sz="1000" dirty="0"/>
              <a:t> systems </a:t>
            </a:r>
            <a:r>
              <a:rPr lang="da-DK" sz="1000" dirty="0" err="1"/>
              <a:t>are</a:t>
            </a:r>
            <a:r>
              <a:rPr lang="da-DK" sz="1000" dirty="0"/>
              <a:t> </a:t>
            </a:r>
            <a:r>
              <a:rPr lang="da-DK" sz="1000" dirty="0" err="1"/>
              <a:t>highly</a:t>
            </a:r>
            <a:r>
              <a:rPr lang="da-DK" sz="1000" dirty="0"/>
              <a:t> </a:t>
            </a:r>
            <a:r>
              <a:rPr lang="da-DK" sz="1000" dirty="0" err="1"/>
              <a:t>corrosive</a:t>
            </a:r>
            <a:r>
              <a:rPr lang="en-US" sz="1000" dirty="0"/>
              <a:t> environments relying on Ni-Cr-Fe alloys for tubes and tanks. </a:t>
            </a:r>
          </a:p>
        </p:txBody>
      </p:sp>
      <p:sp>
        <p:nvSpPr>
          <p:cNvPr id="52" name="Text 27">
            <a:extLst>
              <a:ext uri="{FF2B5EF4-FFF2-40B4-BE49-F238E27FC236}">
                <a16:creationId xmlns:a16="http://schemas.microsoft.com/office/drawing/2014/main" id="{BEF63528-3364-B62F-4510-EFE358CE82F5}"/>
              </a:ext>
            </a:extLst>
          </p:cNvPr>
          <p:cNvSpPr/>
          <p:nvPr/>
        </p:nvSpPr>
        <p:spPr>
          <a:xfrm>
            <a:off x="288607" y="6134552"/>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02  /  PROJECT AIM</a:t>
            </a:r>
            <a:endParaRPr lang="en-US" sz="860" dirty="0"/>
          </a:p>
        </p:txBody>
      </p:sp>
      <p:sp>
        <p:nvSpPr>
          <p:cNvPr id="54" name="Text 28">
            <a:extLst>
              <a:ext uri="{FF2B5EF4-FFF2-40B4-BE49-F238E27FC236}">
                <a16:creationId xmlns:a16="http://schemas.microsoft.com/office/drawing/2014/main" id="{B0EBEF23-C232-E120-A6D4-82403ADE7B93}"/>
              </a:ext>
            </a:extLst>
          </p:cNvPr>
          <p:cNvSpPr/>
          <p:nvPr/>
        </p:nvSpPr>
        <p:spPr>
          <a:xfrm>
            <a:off x="288607" y="6367724"/>
            <a:ext cx="6426403" cy="438912"/>
          </a:xfrm>
          <a:prstGeom prst="rect">
            <a:avLst/>
          </a:prstGeom>
          <a:noFill/>
          <a:ln/>
        </p:spPr>
        <p:txBody>
          <a:bodyPr wrap="square" lIns="0" tIns="0" rIns="0" bIns="0" rtlCol="0" anchor="t"/>
          <a:lstStyle/>
          <a:p>
            <a:pPr algn="just"/>
            <a:r>
              <a:rPr lang="en-US" sz="1000" dirty="0"/>
              <a:t>SRO and LRO are phenomena that can occur in Ni-Cr alloys where the nickel and chromium atoms arrange in a non-stoichiometric Ni</a:t>
            </a:r>
            <a:r>
              <a:rPr lang="en-US" sz="1000" baseline="-25000" dirty="0"/>
              <a:t>2</a:t>
            </a:r>
            <a:r>
              <a:rPr lang="en-US" sz="1000" dirty="0"/>
              <a:t>Cr phase. This type of ordering is known to occur after long-time exposure to temperatures between 350-550°C. The ordering can lead to severely decreased mechanical properties by negative creep and promoted planar slip resulting in catastrophic failure of the affected part. </a:t>
            </a:r>
          </a:p>
        </p:txBody>
      </p:sp>
      <p:sp>
        <p:nvSpPr>
          <p:cNvPr id="56" name="Text 29">
            <a:extLst>
              <a:ext uri="{FF2B5EF4-FFF2-40B4-BE49-F238E27FC236}">
                <a16:creationId xmlns:a16="http://schemas.microsoft.com/office/drawing/2014/main" id="{DA986EA6-56D4-C071-31BC-94CAF81D6A6D}"/>
              </a:ext>
            </a:extLst>
          </p:cNvPr>
          <p:cNvSpPr/>
          <p:nvPr/>
        </p:nvSpPr>
        <p:spPr>
          <a:xfrm>
            <a:off x="288607" y="7509010"/>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03  /  PROJECT ACTIVITIES</a:t>
            </a:r>
            <a:endParaRPr lang="en-US" sz="860" dirty="0"/>
          </a:p>
        </p:txBody>
      </p:sp>
      <p:sp>
        <p:nvSpPr>
          <p:cNvPr id="58" name="Text 30">
            <a:extLst>
              <a:ext uri="{FF2B5EF4-FFF2-40B4-BE49-F238E27FC236}">
                <a16:creationId xmlns:a16="http://schemas.microsoft.com/office/drawing/2014/main" id="{9B5EC60C-A530-BCE1-FBC8-FAF9427E851E}"/>
              </a:ext>
            </a:extLst>
          </p:cNvPr>
          <p:cNvSpPr/>
          <p:nvPr/>
        </p:nvSpPr>
        <p:spPr>
          <a:xfrm>
            <a:off x="306895" y="7751326"/>
            <a:ext cx="6398971" cy="219456"/>
          </a:xfrm>
          <a:prstGeom prst="rect">
            <a:avLst/>
          </a:prstGeom>
          <a:noFill/>
          <a:ln/>
        </p:spPr>
        <p:txBody>
          <a:bodyPr wrap="square" lIns="0" tIns="0" rIns="0" bIns="0" rtlCol="0" anchor="t"/>
          <a:lstStyle/>
          <a:p>
            <a:pPr algn="just"/>
            <a:r>
              <a:rPr lang="en-US" sz="1000" dirty="0"/>
              <a:t>The project is experimental but will also require the student to apply knowledge from literature to find a viable solution to the challenges. The experimental part could include:</a:t>
            </a:r>
          </a:p>
          <a:p>
            <a:pPr marL="139700" indent="-139700" algn="just">
              <a:buSzPct val="100000"/>
              <a:buFont typeface="Arial" panose="020B0604020202020204" pitchFamily="34" charset="0"/>
              <a:buChar char="•"/>
            </a:pPr>
            <a:r>
              <a:rPr lang="en-US" sz="1000" dirty="0"/>
              <a:t>Heat treatment of relevant Ni-Cr tubes and coupons using furnaces.</a:t>
            </a:r>
          </a:p>
          <a:p>
            <a:pPr marL="139700" indent="-139700" algn="just">
              <a:buSzPct val="100000"/>
              <a:buFont typeface="Arial" panose="020B0604020202020204" pitchFamily="34" charset="0"/>
              <a:buChar char="•"/>
            </a:pPr>
            <a:r>
              <a:rPr lang="en-US" sz="1000" dirty="0"/>
              <a:t>Evaluation of the developed ordering and the severity of the ordering.</a:t>
            </a:r>
          </a:p>
          <a:p>
            <a:pPr marL="139700" indent="-139700" algn="just">
              <a:buSzPct val="100000"/>
              <a:buFont typeface="Arial" panose="020B0604020202020204" pitchFamily="34" charset="0"/>
              <a:buChar char="•"/>
            </a:pPr>
            <a:r>
              <a:rPr lang="en-US" sz="1000" dirty="0"/>
              <a:t>Characterization of the heat-treated alloys using: LOM, XRD, SEM, EDS, TEM and micro-hardness</a:t>
            </a:r>
            <a:endParaRPr lang="en-US" sz="975" dirty="0"/>
          </a:p>
        </p:txBody>
      </p:sp>
      <p:sp>
        <p:nvSpPr>
          <p:cNvPr id="68" name="Text 35">
            <a:extLst>
              <a:ext uri="{FF2B5EF4-FFF2-40B4-BE49-F238E27FC236}">
                <a16:creationId xmlns:a16="http://schemas.microsoft.com/office/drawing/2014/main" id="{3228DA07-2104-13FF-8F6C-9E8652D3FA2D}"/>
              </a:ext>
            </a:extLst>
          </p:cNvPr>
          <p:cNvSpPr/>
          <p:nvPr/>
        </p:nvSpPr>
        <p:spPr>
          <a:xfrm>
            <a:off x="288607" y="8583620"/>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04  /  PRACTICAL NOTES</a:t>
            </a:r>
            <a:endParaRPr lang="en-US" sz="860" dirty="0"/>
          </a:p>
        </p:txBody>
      </p:sp>
      <p:sp>
        <p:nvSpPr>
          <p:cNvPr id="70" name="Text 36">
            <a:extLst>
              <a:ext uri="{FF2B5EF4-FFF2-40B4-BE49-F238E27FC236}">
                <a16:creationId xmlns:a16="http://schemas.microsoft.com/office/drawing/2014/main" id="{02D655C6-267F-EDBE-7BD1-03C0907D8DF4}"/>
              </a:ext>
            </a:extLst>
          </p:cNvPr>
          <p:cNvSpPr/>
          <p:nvPr/>
        </p:nvSpPr>
        <p:spPr>
          <a:xfrm>
            <a:off x="321624" y="8817456"/>
            <a:ext cx="6426403" cy="438912"/>
          </a:xfrm>
          <a:prstGeom prst="rect">
            <a:avLst/>
          </a:prstGeom>
          <a:noFill/>
          <a:ln/>
        </p:spPr>
        <p:txBody>
          <a:bodyPr wrap="square" lIns="0" tIns="0" rIns="0" bIns="0" rtlCol="0" anchor="t"/>
          <a:lstStyle/>
          <a:p>
            <a:pPr>
              <a:lnSpc>
                <a:spcPct val="102000"/>
              </a:lnSpc>
            </a:pPr>
            <a:r>
              <a:rPr lang="en-US" sz="1000" dirty="0"/>
              <a:t>The exact topic and nature of the project will be specified in a discussion with the students who are interested.</a:t>
            </a:r>
          </a:p>
          <a:p>
            <a:pPr marL="0" indent="0">
              <a:lnSpc>
                <a:spcPct val="102000"/>
              </a:lnSpc>
              <a:buNone/>
            </a:pPr>
            <a:endParaRPr lang="en-US" sz="975" dirty="0"/>
          </a:p>
        </p:txBody>
      </p:sp>
      <p:sp>
        <p:nvSpPr>
          <p:cNvPr id="72" name="Shape 38">
            <a:extLst>
              <a:ext uri="{FF2B5EF4-FFF2-40B4-BE49-F238E27FC236}">
                <a16:creationId xmlns:a16="http://schemas.microsoft.com/office/drawing/2014/main" id="{E3EF3184-FEF0-D3D3-44CE-2A3DB166AB3E}"/>
              </a:ext>
            </a:extLst>
          </p:cNvPr>
          <p:cNvSpPr/>
          <p:nvPr/>
        </p:nvSpPr>
        <p:spPr>
          <a:xfrm>
            <a:off x="288607" y="9482018"/>
            <a:ext cx="6426403" cy="0"/>
          </a:xfrm>
          <a:prstGeom prst="line">
            <a:avLst/>
          </a:prstGeom>
          <a:noFill/>
          <a:ln w="10160">
            <a:solidFill>
              <a:srgbClr val="DFE2E3"/>
            </a:solidFill>
            <a:prstDash val="solid"/>
          </a:ln>
        </p:spPr>
        <p:txBody>
          <a:bodyPr/>
          <a:lstStyle/>
          <a:p>
            <a:endParaRPr lang="LID4096"/>
          </a:p>
        </p:txBody>
      </p:sp>
      <p:sp>
        <p:nvSpPr>
          <p:cNvPr id="74" name="Text 39">
            <a:extLst>
              <a:ext uri="{FF2B5EF4-FFF2-40B4-BE49-F238E27FC236}">
                <a16:creationId xmlns:a16="http://schemas.microsoft.com/office/drawing/2014/main" id="{68A27BDD-395A-B5F4-BF39-55675A489CBC}"/>
              </a:ext>
            </a:extLst>
          </p:cNvPr>
          <p:cNvSpPr/>
          <p:nvPr/>
        </p:nvSpPr>
        <p:spPr>
          <a:xfrm>
            <a:off x="288607" y="9555170"/>
            <a:ext cx="4480560" cy="137160"/>
          </a:xfrm>
          <a:prstGeom prst="rect">
            <a:avLst/>
          </a:prstGeom>
          <a:noFill/>
          <a:ln/>
        </p:spPr>
        <p:txBody>
          <a:bodyPr wrap="square" lIns="0" tIns="0" rIns="0" bIns="0" rtlCol="0" anchor="t"/>
          <a:lstStyle/>
          <a:p>
            <a:pPr marL="0" indent="0">
              <a:lnSpc>
                <a:spcPct val="100000"/>
              </a:lnSpc>
              <a:buNone/>
            </a:pPr>
            <a:r>
              <a:rPr lang="en-US" sz="715" kern="0" spc="60" dirty="0">
                <a:solidFill>
                  <a:srgbClr val="5D666B"/>
                </a:solidFill>
                <a:latin typeface="Aptos Display" pitchFamily="34" charset="0"/>
                <a:ea typeface="Aptos Display" pitchFamily="34" charset="-122"/>
                <a:cs typeface="Aptos Display" pitchFamily="34" charset="-120"/>
              </a:rPr>
              <a:t>DTU CONSTRUCT  /  MATERIALS AND SURFACE ENGINEERING</a:t>
            </a:r>
            <a:endParaRPr lang="en-US" sz="715" dirty="0"/>
          </a:p>
        </p:txBody>
      </p:sp>
      <p:sp>
        <p:nvSpPr>
          <p:cNvPr id="5" name="TextBox 4">
            <a:extLst>
              <a:ext uri="{FF2B5EF4-FFF2-40B4-BE49-F238E27FC236}">
                <a16:creationId xmlns:a16="http://schemas.microsoft.com/office/drawing/2014/main" id="{3CFDE71E-1B17-04B2-866A-79E203F1472C}"/>
              </a:ext>
            </a:extLst>
          </p:cNvPr>
          <p:cNvSpPr txBox="1"/>
          <p:nvPr/>
        </p:nvSpPr>
        <p:spPr>
          <a:xfrm>
            <a:off x="4746308" y="2814182"/>
            <a:ext cx="3458496" cy="1200329"/>
          </a:xfrm>
          <a:prstGeom prst="rect">
            <a:avLst/>
          </a:prstGeom>
          <a:noFill/>
        </p:spPr>
        <p:txBody>
          <a:bodyPr wrap="square">
            <a:spAutoFit/>
          </a:bodyPr>
          <a:lstStyle/>
          <a:p>
            <a:r>
              <a:rPr lang="en-US" sz="1200" dirty="0"/>
              <a:t>Morten S. Jellesen</a:t>
            </a:r>
          </a:p>
          <a:p>
            <a:r>
              <a:rPr lang="en-US" sz="1200" dirty="0">
                <a:hlinkClick r:id="rId3">
                  <a:extLst>
                    <a:ext uri="{A12FA001-AC4F-418D-AE19-62706E023703}">
                      <ahyp:hlinkClr xmlns:ahyp="http://schemas.microsoft.com/office/drawing/2018/hyperlinkcolor" val="tx"/>
                    </a:ext>
                  </a:extLst>
                </a:hlinkClick>
              </a:rPr>
              <a:t>msje@dtu.dk</a:t>
            </a:r>
            <a:r>
              <a:rPr lang="en-US" sz="1200" dirty="0"/>
              <a:t>,</a:t>
            </a:r>
          </a:p>
          <a:p>
            <a:r>
              <a:rPr lang="en-US" sz="1200" dirty="0">
                <a:solidFill>
                  <a:schemeClr val="tx1"/>
                </a:solidFill>
              </a:rPr>
              <a:t>John Hald</a:t>
            </a:r>
          </a:p>
          <a:p>
            <a:r>
              <a:rPr lang="en-US" sz="1200" dirty="0">
                <a:solidFill>
                  <a:schemeClr val="tx1"/>
                </a:solidFill>
                <a:hlinkClick r:id="rId4">
                  <a:extLst>
                    <a:ext uri="{A12FA001-AC4F-418D-AE19-62706E023703}">
                      <ahyp:hlinkClr xmlns:ahyp="http://schemas.microsoft.com/office/drawing/2018/hyperlinkcolor" val="tx"/>
                    </a:ext>
                  </a:extLst>
                </a:hlinkClick>
              </a:rPr>
              <a:t>jhald@dtu.dk</a:t>
            </a:r>
            <a:r>
              <a:rPr lang="en-US" sz="1200" dirty="0">
                <a:solidFill>
                  <a:schemeClr val="tx1"/>
                </a:solidFill>
              </a:rPr>
              <a:t>,</a:t>
            </a:r>
          </a:p>
          <a:p>
            <a:r>
              <a:rPr lang="en-US" sz="1200" dirty="0">
                <a:solidFill>
                  <a:schemeClr val="tx1"/>
                </a:solidFill>
              </a:rPr>
              <a:t>Birgitte Stoffersen</a:t>
            </a:r>
          </a:p>
          <a:p>
            <a:r>
              <a:rPr lang="en-US" sz="1200" dirty="0">
                <a:solidFill>
                  <a:schemeClr val="tx1"/>
                </a:solidFill>
                <a:hlinkClick r:id="rId5">
                  <a:extLst>
                    <a:ext uri="{A12FA001-AC4F-418D-AE19-62706E023703}">
                      <ahyp:hlinkClr xmlns:ahyp="http://schemas.microsoft.com/office/drawing/2018/hyperlinkcolor" val="tx"/>
                    </a:ext>
                  </a:extLst>
                </a:hlinkClick>
              </a:rPr>
              <a:t>birst@dtu.dk</a:t>
            </a:r>
            <a:r>
              <a:rPr lang="en-US" sz="1200" dirty="0">
                <a:solidFill>
                  <a:schemeClr val="tx1"/>
                </a:solidFill>
              </a:rPr>
              <a:t>,</a:t>
            </a:r>
          </a:p>
        </p:txBody>
      </p:sp>
      <p:pic>
        <p:nvPicPr>
          <p:cNvPr id="3" name="Content Placeholder 4">
            <a:extLst>
              <a:ext uri="{FF2B5EF4-FFF2-40B4-BE49-F238E27FC236}">
                <a16:creationId xmlns:a16="http://schemas.microsoft.com/office/drawing/2014/main" id="{1909B3B5-56C2-AFD4-385A-74B4B5707296}"/>
              </a:ext>
            </a:extLst>
          </p:cNvPr>
          <p:cNvPicPr>
            <a:picLocks noChangeAspect="1"/>
          </p:cNvPicPr>
          <p:nvPr/>
        </p:nvPicPr>
        <p:blipFill>
          <a:blip r:embed="rId6"/>
          <a:stretch>
            <a:fillRect/>
          </a:stretch>
        </p:blipFill>
        <p:spPr>
          <a:xfrm>
            <a:off x="1589979" y="2356555"/>
            <a:ext cx="1839021" cy="2439988"/>
          </a:xfrm>
          <a:prstGeom prst="rect">
            <a:avLst/>
          </a:prstGeom>
        </p:spPr>
      </p:pic>
    </p:spTree>
    <p:extLst>
      <p:ext uri="{BB962C8B-B14F-4D97-AF65-F5344CB8AC3E}">
        <p14:creationId xmlns:p14="http://schemas.microsoft.com/office/powerpoint/2010/main" val="40203103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A7200D-628E-A672-8CDB-2DDF099DA29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C151B0F-49B3-4B35-993F-6DBFF247E248}"/>
              </a:ext>
            </a:extLst>
          </p:cNvPr>
          <p:cNvSpPr>
            <a:spLocks noGrp="1"/>
          </p:cNvSpPr>
          <p:nvPr>
            <p:ph type="sldNum" sz="quarter" idx="12"/>
          </p:nvPr>
        </p:nvSpPr>
        <p:spPr>
          <a:xfrm>
            <a:off x="4989080" y="9329519"/>
            <a:ext cx="1543050" cy="527403"/>
          </a:xfrm>
        </p:spPr>
        <p:txBody>
          <a:bodyPr/>
          <a:lstStyle/>
          <a:p>
            <a:fld id="{F934066D-384D-4BE1-BDC2-82BCC33558DD}" type="slidenum">
              <a:rPr lang="en-US" sz="800" b="1" smtClean="0">
                <a:solidFill>
                  <a:srgbClr val="C00000"/>
                </a:solidFill>
                <a:latin typeface="+mj-lt"/>
              </a:rPr>
              <a:t>3</a:t>
            </a:fld>
            <a:endParaRPr lang="en-US" sz="800" b="1" dirty="0">
              <a:solidFill>
                <a:srgbClr val="C00000"/>
              </a:solidFill>
              <a:latin typeface="+mj-lt"/>
            </a:endParaRPr>
          </a:p>
        </p:txBody>
      </p:sp>
      <p:sp>
        <p:nvSpPr>
          <p:cNvPr id="6" name="Shape 1">
            <a:extLst>
              <a:ext uri="{FF2B5EF4-FFF2-40B4-BE49-F238E27FC236}">
                <a16:creationId xmlns:a16="http://schemas.microsoft.com/office/drawing/2014/main" id="{FAB59D6E-AAD4-EBB9-5065-3AF44FA36C26}"/>
              </a:ext>
            </a:extLst>
          </p:cNvPr>
          <p:cNvSpPr/>
          <p:nvPr/>
        </p:nvSpPr>
        <p:spPr>
          <a:xfrm>
            <a:off x="288607" y="292298"/>
            <a:ext cx="32004" cy="393192"/>
          </a:xfrm>
          <a:prstGeom prst="rect">
            <a:avLst/>
          </a:prstGeom>
          <a:solidFill>
            <a:srgbClr val="A30018"/>
          </a:solidFill>
          <a:ln w="12700">
            <a:solidFill>
              <a:srgbClr val="A30018">
                <a:alpha val="0"/>
              </a:srgbClr>
            </a:solidFill>
            <a:prstDash val="solid"/>
          </a:ln>
        </p:spPr>
        <p:txBody>
          <a:bodyPr/>
          <a:lstStyle/>
          <a:p>
            <a:endParaRPr lang="LID4096"/>
          </a:p>
        </p:txBody>
      </p:sp>
      <p:sp>
        <p:nvSpPr>
          <p:cNvPr id="8" name="Text 2">
            <a:extLst>
              <a:ext uri="{FF2B5EF4-FFF2-40B4-BE49-F238E27FC236}">
                <a16:creationId xmlns:a16="http://schemas.microsoft.com/office/drawing/2014/main" id="{F81B3DA2-57A1-59E3-08B8-14FD3703E998}"/>
              </a:ext>
            </a:extLst>
          </p:cNvPr>
          <p:cNvSpPr/>
          <p:nvPr/>
        </p:nvSpPr>
        <p:spPr>
          <a:xfrm>
            <a:off x="444055" y="278582"/>
            <a:ext cx="5166360" cy="210312"/>
          </a:xfrm>
          <a:prstGeom prst="rect">
            <a:avLst/>
          </a:prstGeom>
          <a:noFill/>
          <a:ln/>
        </p:spPr>
        <p:txBody>
          <a:bodyPr wrap="square" lIns="0" tIns="0" rIns="0" bIns="0" rtlCol="0" anchor="t"/>
          <a:lstStyle/>
          <a:p>
            <a:pPr marL="0" indent="0">
              <a:lnSpc>
                <a:spcPct val="100000"/>
              </a:lnSpc>
              <a:buNone/>
            </a:pPr>
            <a:r>
              <a:rPr lang="en-US" sz="1100" b="1" kern="0" spc="20" dirty="0">
                <a:solidFill>
                  <a:srgbClr val="22282D"/>
                </a:solidFill>
                <a:latin typeface="Aptos Display" pitchFamily="34" charset="0"/>
                <a:ea typeface="Aptos Display" pitchFamily="34" charset="-122"/>
                <a:cs typeface="Aptos Display" pitchFamily="34" charset="-120"/>
              </a:rPr>
              <a:t>MATERIALS AND SURFACE ENGINEERING</a:t>
            </a:r>
            <a:endParaRPr lang="en-US" sz="1100" dirty="0"/>
          </a:p>
        </p:txBody>
      </p:sp>
      <p:sp>
        <p:nvSpPr>
          <p:cNvPr id="10" name="Text 3">
            <a:extLst>
              <a:ext uri="{FF2B5EF4-FFF2-40B4-BE49-F238E27FC236}">
                <a16:creationId xmlns:a16="http://schemas.microsoft.com/office/drawing/2014/main" id="{BC7D190F-A262-6CE4-B6F2-9AEF69BB99ED}"/>
              </a:ext>
            </a:extLst>
          </p:cNvPr>
          <p:cNvSpPr/>
          <p:nvPr/>
        </p:nvSpPr>
        <p:spPr>
          <a:xfrm>
            <a:off x="444055" y="516326"/>
            <a:ext cx="5212080" cy="173736"/>
          </a:xfrm>
          <a:prstGeom prst="rect">
            <a:avLst/>
          </a:prstGeom>
          <a:noFill/>
          <a:ln/>
        </p:spPr>
        <p:txBody>
          <a:bodyPr wrap="square" lIns="0" tIns="0" rIns="0" bIns="0" rtlCol="0" anchor="t"/>
          <a:lstStyle/>
          <a:p>
            <a:pPr marL="0" indent="0">
              <a:lnSpc>
                <a:spcPct val="100000"/>
              </a:lnSpc>
              <a:buNone/>
            </a:pPr>
            <a:r>
              <a:rPr lang="en-US" sz="1400" kern="0" spc="55" dirty="0">
                <a:solidFill>
                  <a:srgbClr val="5D666B"/>
                </a:solidFill>
                <a:latin typeface="Aptos" pitchFamily="34" charset="0"/>
                <a:ea typeface="Aptos" pitchFamily="34" charset="-122"/>
                <a:cs typeface="Aptos" pitchFamily="34" charset="-120"/>
              </a:rPr>
              <a:t>DEPARTMENT OF CIVIL AND MECHANICAL ENGINEERING</a:t>
            </a:r>
            <a:endParaRPr lang="en-US" sz="1400" dirty="0"/>
          </a:p>
        </p:txBody>
      </p:sp>
      <p:pic>
        <p:nvPicPr>
          <p:cNvPr id="12" name="Image 0" descr="/mnt/data/dtu_logo.png">
            <a:extLst>
              <a:ext uri="{FF2B5EF4-FFF2-40B4-BE49-F238E27FC236}">
                <a16:creationId xmlns:a16="http://schemas.microsoft.com/office/drawing/2014/main" id="{A0700FE1-DB4E-D225-6BEF-51D48079B6C9}"/>
              </a:ext>
            </a:extLst>
          </p:cNvPr>
          <p:cNvPicPr>
            <a:picLocks noChangeAspect="1"/>
          </p:cNvPicPr>
          <p:nvPr/>
        </p:nvPicPr>
        <p:blipFill>
          <a:blip r:embed="rId2"/>
          <a:stretch>
            <a:fillRect/>
          </a:stretch>
        </p:blipFill>
        <p:spPr>
          <a:xfrm>
            <a:off x="6223063" y="197200"/>
            <a:ext cx="429768" cy="601675"/>
          </a:xfrm>
          <a:prstGeom prst="rect">
            <a:avLst/>
          </a:prstGeom>
        </p:spPr>
      </p:pic>
      <p:sp>
        <p:nvSpPr>
          <p:cNvPr id="14" name="Shape 4">
            <a:extLst>
              <a:ext uri="{FF2B5EF4-FFF2-40B4-BE49-F238E27FC236}">
                <a16:creationId xmlns:a16="http://schemas.microsoft.com/office/drawing/2014/main" id="{7280DAD7-5D3F-E60C-E588-86414F8C69A8}"/>
              </a:ext>
            </a:extLst>
          </p:cNvPr>
          <p:cNvSpPr/>
          <p:nvPr/>
        </p:nvSpPr>
        <p:spPr>
          <a:xfrm>
            <a:off x="288607" y="936950"/>
            <a:ext cx="6426403" cy="0"/>
          </a:xfrm>
          <a:prstGeom prst="line">
            <a:avLst/>
          </a:prstGeom>
          <a:noFill/>
          <a:ln w="19050">
            <a:solidFill>
              <a:srgbClr val="A30018"/>
            </a:solidFill>
            <a:prstDash val="solid"/>
          </a:ln>
        </p:spPr>
        <p:txBody>
          <a:bodyPr/>
          <a:lstStyle/>
          <a:p>
            <a:endParaRPr lang="LID4096"/>
          </a:p>
        </p:txBody>
      </p:sp>
      <p:sp>
        <p:nvSpPr>
          <p:cNvPr id="16" name="Text 5">
            <a:extLst>
              <a:ext uri="{FF2B5EF4-FFF2-40B4-BE49-F238E27FC236}">
                <a16:creationId xmlns:a16="http://schemas.microsoft.com/office/drawing/2014/main" id="{B8BDDDD9-FC38-40F4-CC83-AB95ED37E492}"/>
              </a:ext>
            </a:extLst>
          </p:cNvPr>
          <p:cNvSpPr/>
          <p:nvPr/>
        </p:nvSpPr>
        <p:spPr>
          <a:xfrm>
            <a:off x="288607" y="1224986"/>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PROJECT LEVEL: Master and Bachelor </a:t>
            </a:r>
            <a:endParaRPr lang="en-US" sz="860" dirty="0"/>
          </a:p>
        </p:txBody>
      </p:sp>
      <p:sp>
        <p:nvSpPr>
          <p:cNvPr id="18" name="Text 6">
            <a:extLst>
              <a:ext uri="{FF2B5EF4-FFF2-40B4-BE49-F238E27FC236}">
                <a16:creationId xmlns:a16="http://schemas.microsoft.com/office/drawing/2014/main" id="{90AF87F6-23F2-08D5-87C0-0DE42122D66B}"/>
              </a:ext>
            </a:extLst>
          </p:cNvPr>
          <p:cNvSpPr/>
          <p:nvPr/>
        </p:nvSpPr>
        <p:spPr>
          <a:xfrm>
            <a:off x="288607" y="1526738"/>
            <a:ext cx="6426403" cy="905256"/>
          </a:xfrm>
          <a:prstGeom prst="rect">
            <a:avLst/>
          </a:prstGeom>
          <a:noFill/>
          <a:ln/>
        </p:spPr>
        <p:txBody>
          <a:bodyPr wrap="square" lIns="0" tIns="0" rIns="0" bIns="0" rtlCol="0" anchor="t"/>
          <a:lstStyle/>
          <a:p>
            <a:pPr>
              <a:lnSpc>
                <a:spcPct val="95000"/>
              </a:lnSpc>
            </a:pPr>
            <a:r>
              <a:rPr lang="da-DK" sz="2000" dirty="0"/>
              <a:t>Stress </a:t>
            </a:r>
            <a:r>
              <a:rPr lang="da-DK" sz="2000" dirty="0" err="1"/>
              <a:t>Corrosion</a:t>
            </a:r>
            <a:r>
              <a:rPr lang="da-DK" sz="2000" dirty="0"/>
              <a:t> Cracking (SCC) in  Welds </a:t>
            </a:r>
            <a:br>
              <a:rPr lang="da-DK" sz="2000" dirty="0"/>
            </a:br>
            <a:r>
              <a:rPr lang="da-DK" sz="2000" dirty="0"/>
              <a:t>For </a:t>
            </a:r>
            <a:r>
              <a:rPr lang="da-DK" sz="2000" dirty="0" err="1"/>
              <a:t>Nuclear</a:t>
            </a:r>
            <a:r>
              <a:rPr lang="da-DK" sz="2000" dirty="0"/>
              <a:t> </a:t>
            </a:r>
            <a:r>
              <a:rPr lang="da-DK" sz="2000" dirty="0" err="1"/>
              <a:t>Reactors</a:t>
            </a:r>
            <a:endParaRPr lang="en-US" sz="2000" dirty="0"/>
          </a:p>
        </p:txBody>
      </p:sp>
      <p:sp>
        <p:nvSpPr>
          <p:cNvPr id="22" name="Text 11">
            <a:extLst>
              <a:ext uri="{FF2B5EF4-FFF2-40B4-BE49-F238E27FC236}">
                <a16:creationId xmlns:a16="http://schemas.microsoft.com/office/drawing/2014/main" id="{339AA5BE-AC91-0079-56B9-46178579515E}"/>
              </a:ext>
            </a:extLst>
          </p:cNvPr>
          <p:cNvSpPr/>
          <p:nvPr/>
        </p:nvSpPr>
        <p:spPr>
          <a:xfrm>
            <a:off x="471487" y="3505652"/>
            <a:ext cx="3941064" cy="256032"/>
          </a:xfrm>
          <a:prstGeom prst="rect">
            <a:avLst/>
          </a:prstGeom>
          <a:noFill/>
          <a:ln/>
        </p:spPr>
        <p:txBody>
          <a:bodyPr wrap="square" lIns="0" tIns="0" rIns="0" bIns="0" rtlCol="0" anchor="t"/>
          <a:lstStyle/>
          <a:p>
            <a:pPr marL="0" indent="0" algn="ctr">
              <a:lnSpc>
                <a:spcPct val="100000"/>
              </a:lnSpc>
              <a:buNone/>
            </a:pPr>
            <a:r>
              <a:rPr lang="en-US" sz="1040" b="1" kern="0" spc="60" dirty="0">
                <a:solidFill>
                  <a:srgbClr val="5D666B"/>
                </a:solidFill>
                <a:latin typeface="Aptos Display" pitchFamily="34" charset="0"/>
                <a:ea typeface="Aptos Display" pitchFamily="34" charset="-122"/>
                <a:cs typeface="Aptos Display" pitchFamily="34" charset="-120"/>
              </a:rPr>
              <a:t>[INSERT PROJECT IMAGE]</a:t>
            </a:r>
            <a:endParaRPr lang="en-US" sz="1040" dirty="0"/>
          </a:p>
        </p:txBody>
      </p:sp>
      <p:sp>
        <p:nvSpPr>
          <p:cNvPr id="26" name="Shape 14">
            <a:extLst>
              <a:ext uri="{FF2B5EF4-FFF2-40B4-BE49-F238E27FC236}">
                <a16:creationId xmlns:a16="http://schemas.microsoft.com/office/drawing/2014/main" id="{EB80737E-6EBB-15AC-953F-45E09A3B89F3}"/>
              </a:ext>
            </a:extLst>
          </p:cNvPr>
          <p:cNvSpPr/>
          <p:nvPr/>
        </p:nvSpPr>
        <p:spPr>
          <a:xfrm>
            <a:off x="4686871" y="2499812"/>
            <a:ext cx="0" cy="2112264"/>
          </a:xfrm>
          <a:prstGeom prst="line">
            <a:avLst/>
          </a:prstGeom>
          <a:noFill/>
          <a:ln w="12700">
            <a:solidFill>
              <a:srgbClr val="DFE2E3"/>
            </a:solidFill>
            <a:prstDash val="solid"/>
          </a:ln>
        </p:spPr>
        <p:txBody>
          <a:bodyPr/>
          <a:lstStyle/>
          <a:p>
            <a:endParaRPr lang="LID4096"/>
          </a:p>
        </p:txBody>
      </p:sp>
      <p:sp>
        <p:nvSpPr>
          <p:cNvPr id="28" name="Text 15">
            <a:extLst>
              <a:ext uri="{FF2B5EF4-FFF2-40B4-BE49-F238E27FC236}">
                <a16:creationId xmlns:a16="http://schemas.microsoft.com/office/drawing/2014/main" id="{8EEEB93B-A5A8-397E-AC7C-B74D17716634}"/>
              </a:ext>
            </a:extLst>
          </p:cNvPr>
          <p:cNvSpPr/>
          <p:nvPr/>
        </p:nvSpPr>
        <p:spPr>
          <a:xfrm>
            <a:off x="4805743" y="2536388"/>
            <a:ext cx="1901952"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5D666B"/>
                </a:solidFill>
                <a:latin typeface="Aptos Display" pitchFamily="34" charset="0"/>
                <a:ea typeface="Aptos Display" pitchFamily="34" charset="-122"/>
                <a:cs typeface="Aptos Display" pitchFamily="34" charset="-120"/>
              </a:rPr>
              <a:t>SUPERVISORS</a:t>
            </a:r>
            <a:endParaRPr lang="en-US" sz="860" dirty="0"/>
          </a:p>
        </p:txBody>
      </p:sp>
      <p:sp>
        <p:nvSpPr>
          <p:cNvPr id="42" name="Text 22">
            <a:extLst>
              <a:ext uri="{FF2B5EF4-FFF2-40B4-BE49-F238E27FC236}">
                <a16:creationId xmlns:a16="http://schemas.microsoft.com/office/drawing/2014/main" id="{35165A7A-B4F1-4A07-9A34-B2FCD9BEE1F0}"/>
              </a:ext>
            </a:extLst>
          </p:cNvPr>
          <p:cNvSpPr/>
          <p:nvPr/>
        </p:nvSpPr>
        <p:spPr>
          <a:xfrm>
            <a:off x="4805743" y="4111657"/>
            <a:ext cx="1901952"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5D666B"/>
                </a:solidFill>
                <a:latin typeface="Aptos Display" pitchFamily="34" charset="0"/>
                <a:ea typeface="Aptos Display" pitchFamily="34" charset="-122"/>
                <a:cs typeface="Aptos Display" pitchFamily="34" charset="-120"/>
              </a:rPr>
              <a:t>COLLABORATION</a:t>
            </a:r>
            <a:endParaRPr lang="en-US" sz="860" dirty="0"/>
          </a:p>
        </p:txBody>
      </p:sp>
      <p:sp>
        <p:nvSpPr>
          <p:cNvPr id="44" name="Text 23">
            <a:extLst>
              <a:ext uri="{FF2B5EF4-FFF2-40B4-BE49-F238E27FC236}">
                <a16:creationId xmlns:a16="http://schemas.microsoft.com/office/drawing/2014/main" id="{90366148-005F-3436-3070-393056345FDE}"/>
              </a:ext>
            </a:extLst>
          </p:cNvPr>
          <p:cNvSpPr/>
          <p:nvPr/>
        </p:nvSpPr>
        <p:spPr>
          <a:xfrm>
            <a:off x="4805743" y="4303681"/>
            <a:ext cx="1901952" cy="182880"/>
          </a:xfrm>
          <a:prstGeom prst="rect">
            <a:avLst/>
          </a:prstGeom>
          <a:noFill/>
          <a:ln/>
        </p:spPr>
        <p:txBody>
          <a:bodyPr wrap="square" lIns="0" tIns="0" rIns="0" bIns="0" rtlCol="0" anchor="t"/>
          <a:lstStyle/>
          <a:p>
            <a:pPr marL="0" indent="0">
              <a:lnSpc>
                <a:spcPct val="100000"/>
              </a:lnSpc>
              <a:buNone/>
            </a:pPr>
            <a:r>
              <a:rPr lang="en-US" sz="900" dirty="0">
                <a:solidFill>
                  <a:srgbClr val="5D666B"/>
                </a:solidFill>
                <a:latin typeface="Aptos Display" pitchFamily="34" charset="0"/>
                <a:ea typeface="Aptos Display" pitchFamily="34" charset="-122"/>
                <a:cs typeface="Aptos Display" pitchFamily="34" charset="-120"/>
              </a:rPr>
              <a:t>Molten Salt companies as Copenhagen Atomics, Seaborg Technologies or Nordic Salt Cycle </a:t>
            </a:r>
            <a:endParaRPr lang="en-US" sz="900" dirty="0"/>
          </a:p>
        </p:txBody>
      </p:sp>
      <p:sp>
        <p:nvSpPr>
          <p:cNvPr id="46" name="Shape 24">
            <a:extLst>
              <a:ext uri="{FF2B5EF4-FFF2-40B4-BE49-F238E27FC236}">
                <a16:creationId xmlns:a16="http://schemas.microsoft.com/office/drawing/2014/main" id="{0D872552-492C-C7F1-452D-B34315090640}"/>
              </a:ext>
            </a:extLst>
          </p:cNvPr>
          <p:cNvSpPr/>
          <p:nvPr/>
        </p:nvSpPr>
        <p:spPr>
          <a:xfrm>
            <a:off x="288607" y="4886396"/>
            <a:ext cx="6426403" cy="0"/>
          </a:xfrm>
          <a:prstGeom prst="line">
            <a:avLst/>
          </a:prstGeom>
          <a:noFill/>
          <a:ln w="10795">
            <a:solidFill>
              <a:srgbClr val="DFE2E3"/>
            </a:solidFill>
            <a:prstDash val="solid"/>
          </a:ln>
        </p:spPr>
        <p:txBody>
          <a:bodyPr/>
          <a:lstStyle/>
          <a:p>
            <a:endParaRPr lang="LID4096"/>
          </a:p>
        </p:txBody>
      </p:sp>
      <p:sp>
        <p:nvSpPr>
          <p:cNvPr id="48" name="Text 25">
            <a:extLst>
              <a:ext uri="{FF2B5EF4-FFF2-40B4-BE49-F238E27FC236}">
                <a16:creationId xmlns:a16="http://schemas.microsoft.com/office/drawing/2014/main" id="{39262F00-58F4-5B78-BEE0-B839F0453811}"/>
              </a:ext>
            </a:extLst>
          </p:cNvPr>
          <p:cNvSpPr/>
          <p:nvPr/>
        </p:nvSpPr>
        <p:spPr>
          <a:xfrm>
            <a:off x="288607" y="5055560"/>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01  /  PROJECT BACKGROUND</a:t>
            </a:r>
            <a:endParaRPr lang="en-US" sz="860" dirty="0"/>
          </a:p>
        </p:txBody>
      </p:sp>
      <p:sp>
        <p:nvSpPr>
          <p:cNvPr id="50" name="Text 26">
            <a:extLst>
              <a:ext uri="{FF2B5EF4-FFF2-40B4-BE49-F238E27FC236}">
                <a16:creationId xmlns:a16="http://schemas.microsoft.com/office/drawing/2014/main" id="{833AACD2-1E02-23FE-950D-0E21E9E42939}"/>
              </a:ext>
            </a:extLst>
          </p:cNvPr>
          <p:cNvSpPr/>
          <p:nvPr/>
        </p:nvSpPr>
        <p:spPr>
          <a:xfrm>
            <a:off x="288607" y="5288732"/>
            <a:ext cx="6426403" cy="1197864"/>
          </a:xfrm>
          <a:prstGeom prst="rect">
            <a:avLst/>
          </a:prstGeom>
          <a:noFill/>
          <a:ln/>
        </p:spPr>
        <p:txBody>
          <a:bodyPr wrap="square" lIns="0" tIns="0" rIns="0" bIns="0" rtlCol="0" anchor="t"/>
          <a:lstStyle/>
          <a:p>
            <a:pPr algn="just"/>
            <a:r>
              <a:rPr lang="da-DK" sz="1000" dirty="0"/>
              <a:t>The </a:t>
            </a:r>
            <a:r>
              <a:rPr lang="da-DK" sz="1000" dirty="0" err="1"/>
              <a:t>focus</a:t>
            </a:r>
            <a:r>
              <a:rPr lang="da-DK" sz="1000" dirty="0"/>
              <a:t> of </a:t>
            </a:r>
            <a:r>
              <a:rPr lang="da-DK" sz="1000" dirty="0" err="1"/>
              <a:t>this</a:t>
            </a:r>
            <a:r>
              <a:rPr lang="da-DK" sz="1000" dirty="0"/>
              <a:t> </a:t>
            </a:r>
            <a:r>
              <a:rPr lang="da-DK" sz="1000" dirty="0" err="1"/>
              <a:t>project</a:t>
            </a:r>
            <a:r>
              <a:rPr lang="da-DK" sz="1000" dirty="0"/>
              <a:t> is an </a:t>
            </a:r>
            <a:r>
              <a:rPr lang="da-DK" sz="1000" dirty="0" err="1"/>
              <a:t>investigation</a:t>
            </a:r>
            <a:r>
              <a:rPr lang="da-DK" sz="1000" dirty="0"/>
              <a:t> of stress </a:t>
            </a:r>
            <a:r>
              <a:rPr lang="da-DK" sz="1000" dirty="0" err="1"/>
              <a:t>corrosion</a:t>
            </a:r>
            <a:r>
              <a:rPr lang="da-DK" sz="1000" dirty="0"/>
              <a:t> cracking (SCC) in </a:t>
            </a:r>
            <a:r>
              <a:rPr lang="da-DK" sz="1000" dirty="0" err="1"/>
              <a:t>nickel</a:t>
            </a:r>
            <a:r>
              <a:rPr lang="da-DK" sz="1000" dirty="0"/>
              <a:t> </a:t>
            </a:r>
            <a:r>
              <a:rPr lang="da-DK" sz="1000" dirty="0" err="1"/>
              <a:t>welds</a:t>
            </a:r>
            <a:r>
              <a:rPr lang="da-DK" sz="1000" dirty="0"/>
              <a:t> and in the heat-</a:t>
            </a:r>
            <a:r>
              <a:rPr lang="da-DK" sz="1000" dirty="0" err="1"/>
              <a:t>affected</a:t>
            </a:r>
            <a:r>
              <a:rPr lang="da-DK" sz="1000" dirty="0"/>
              <a:t> zone (HAZ) </a:t>
            </a:r>
            <a:r>
              <a:rPr lang="da-DK" sz="1000" dirty="0" err="1"/>
              <a:t>around</a:t>
            </a:r>
            <a:r>
              <a:rPr lang="da-DK" sz="1000" dirty="0"/>
              <a:t> the </a:t>
            </a:r>
            <a:r>
              <a:rPr lang="da-DK" sz="1000" dirty="0" err="1"/>
              <a:t>welds</a:t>
            </a:r>
            <a:r>
              <a:rPr lang="da-DK" sz="1000" dirty="0"/>
              <a:t> . Industry </a:t>
            </a:r>
            <a:r>
              <a:rPr lang="da-DK" sz="1000" dirty="0" err="1"/>
              <a:t>applications</a:t>
            </a:r>
            <a:r>
              <a:rPr lang="da-DK" sz="1000" dirty="0"/>
              <a:t> </a:t>
            </a:r>
            <a:r>
              <a:rPr lang="da-DK" sz="1000" dirty="0" err="1"/>
              <a:t>such</a:t>
            </a:r>
            <a:r>
              <a:rPr lang="da-DK" sz="1000" dirty="0"/>
              <a:t> as </a:t>
            </a:r>
            <a:r>
              <a:rPr lang="da-DK" sz="1000" dirty="0" err="1"/>
              <a:t>next</a:t>
            </a:r>
            <a:r>
              <a:rPr lang="da-DK" sz="1000" dirty="0"/>
              <a:t>-generation </a:t>
            </a:r>
            <a:r>
              <a:rPr lang="da-DK" sz="1000" dirty="0" err="1"/>
              <a:t>molten</a:t>
            </a:r>
            <a:r>
              <a:rPr lang="da-DK" sz="1000" dirty="0"/>
              <a:t> salt-</a:t>
            </a:r>
            <a:r>
              <a:rPr lang="da-DK" sz="1000" dirty="0" err="1"/>
              <a:t>moderated</a:t>
            </a:r>
            <a:r>
              <a:rPr lang="da-DK" sz="1000" dirty="0"/>
              <a:t> </a:t>
            </a:r>
            <a:r>
              <a:rPr lang="da-DK" sz="1000" dirty="0" err="1"/>
              <a:t>nuclear</a:t>
            </a:r>
            <a:r>
              <a:rPr lang="da-DK" sz="1000" dirty="0"/>
              <a:t> power </a:t>
            </a:r>
            <a:r>
              <a:rPr lang="da-DK" sz="1000" dirty="0" err="1"/>
              <a:t>plants</a:t>
            </a:r>
            <a:r>
              <a:rPr lang="da-DK" sz="1000" dirty="0"/>
              <a:t> and </a:t>
            </a:r>
            <a:r>
              <a:rPr lang="da-DK" sz="1000" dirty="0" err="1"/>
              <a:t>molten</a:t>
            </a:r>
            <a:r>
              <a:rPr lang="da-DK" sz="1000" dirty="0"/>
              <a:t> salt </a:t>
            </a:r>
            <a:r>
              <a:rPr lang="da-DK" sz="1000" dirty="0" err="1"/>
              <a:t>thermal</a:t>
            </a:r>
            <a:r>
              <a:rPr lang="da-DK" sz="1000" dirty="0"/>
              <a:t> </a:t>
            </a:r>
            <a:r>
              <a:rPr lang="da-DK" sz="1000" dirty="0" err="1"/>
              <a:t>energy</a:t>
            </a:r>
            <a:r>
              <a:rPr lang="da-DK" sz="1000" dirty="0"/>
              <a:t> </a:t>
            </a:r>
            <a:r>
              <a:rPr lang="da-DK" sz="1000" dirty="0" err="1"/>
              <a:t>storage</a:t>
            </a:r>
            <a:r>
              <a:rPr lang="da-DK" sz="1000" dirty="0"/>
              <a:t> systems </a:t>
            </a:r>
            <a:r>
              <a:rPr lang="da-DK" sz="1000" dirty="0" err="1"/>
              <a:t>are</a:t>
            </a:r>
            <a:r>
              <a:rPr lang="da-DK" sz="1000" dirty="0"/>
              <a:t> </a:t>
            </a:r>
            <a:r>
              <a:rPr lang="da-DK" sz="1000" dirty="0" err="1"/>
              <a:t>highly</a:t>
            </a:r>
            <a:r>
              <a:rPr lang="da-DK" sz="1000" dirty="0"/>
              <a:t> </a:t>
            </a:r>
            <a:r>
              <a:rPr lang="da-DK" sz="1000" dirty="0" err="1"/>
              <a:t>corrosive</a:t>
            </a:r>
            <a:r>
              <a:rPr lang="da-DK" sz="1000" dirty="0"/>
              <a:t> </a:t>
            </a:r>
            <a:r>
              <a:rPr lang="en-US" sz="1000" dirty="0"/>
              <a:t>environments relying on Ni-Cr-Fe alloys for tubes and tanks.</a:t>
            </a:r>
          </a:p>
        </p:txBody>
      </p:sp>
      <p:sp>
        <p:nvSpPr>
          <p:cNvPr id="52" name="Text 27">
            <a:extLst>
              <a:ext uri="{FF2B5EF4-FFF2-40B4-BE49-F238E27FC236}">
                <a16:creationId xmlns:a16="http://schemas.microsoft.com/office/drawing/2014/main" id="{CC0C9BAD-54C9-3DD8-C5B8-E669FD70FEB4}"/>
              </a:ext>
            </a:extLst>
          </p:cNvPr>
          <p:cNvSpPr/>
          <p:nvPr/>
        </p:nvSpPr>
        <p:spPr>
          <a:xfrm>
            <a:off x="288607" y="6134552"/>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02  /  PROJECT AIM</a:t>
            </a:r>
            <a:endParaRPr lang="en-US" sz="860" dirty="0"/>
          </a:p>
        </p:txBody>
      </p:sp>
      <p:sp>
        <p:nvSpPr>
          <p:cNvPr id="54" name="Text 28">
            <a:extLst>
              <a:ext uri="{FF2B5EF4-FFF2-40B4-BE49-F238E27FC236}">
                <a16:creationId xmlns:a16="http://schemas.microsoft.com/office/drawing/2014/main" id="{CEFA119A-3470-08AD-03BF-5AB397792DC5}"/>
              </a:ext>
            </a:extLst>
          </p:cNvPr>
          <p:cNvSpPr/>
          <p:nvPr/>
        </p:nvSpPr>
        <p:spPr>
          <a:xfrm>
            <a:off x="288607" y="6367724"/>
            <a:ext cx="6426403" cy="438912"/>
          </a:xfrm>
          <a:prstGeom prst="rect">
            <a:avLst/>
          </a:prstGeom>
          <a:noFill/>
          <a:ln/>
        </p:spPr>
        <p:txBody>
          <a:bodyPr wrap="square" lIns="0" tIns="0" rIns="0" bIns="0" rtlCol="0" anchor="t"/>
          <a:lstStyle/>
          <a:p>
            <a:pPr algn="just"/>
            <a:r>
              <a:rPr lang="en-US" sz="1000" dirty="0"/>
              <a:t>Welded areas are known weak spots where residual stresses can build up leading to SCC. SCC can occur suddenly and without warning leading to a catastrophic failure. The project is highly experimental but will also require the student to apply known knowledge from literature to find a viable solution to the challenges.  </a:t>
            </a:r>
          </a:p>
        </p:txBody>
      </p:sp>
      <p:sp>
        <p:nvSpPr>
          <p:cNvPr id="56" name="Text 29">
            <a:extLst>
              <a:ext uri="{FF2B5EF4-FFF2-40B4-BE49-F238E27FC236}">
                <a16:creationId xmlns:a16="http://schemas.microsoft.com/office/drawing/2014/main" id="{C476F251-4CAC-114F-3B61-F78375F9B101}"/>
              </a:ext>
            </a:extLst>
          </p:cNvPr>
          <p:cNvSpPr/>
          <p:nvPr/>
        </p:nvSpPr>
        <p:spPr>
          <a:xfrm>
            <a:off x="321624" y="7510294"/>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03  /  PROJECT ACTIVITIES</a:t>
            </a:r>
            <a:endParaRPr lang="en-US" sz="860" dirty="0"/>
          </a:p>
        </p:txBody>
      </p:sp>
      <p:sp>
        <p:nvSpPr>
          <p:cNvPr id="58" name="Text 30">
            <a:extLst>
              <a:ext uri="{FF2B5EF4-FFF2-40B4-BE49-F238E27FC236}">
                <a16:creationId xmlns:a16="http://schemas.microsoft.com/office/drawing/2014/main" id="{10F96F40-F008-9184-E725-DF0F7CB56BD8}"/>
              </a:ext>
            </a:extLst>
          </p:cNvPr>
          <p:cNvSpPr/>
          <p:nvPr/>
        </p:nvSpPr>
        <p:spPr>
          <a:xfrm>
            <a:off x="320611" y="7674885"/>
            <a:ext cx="6398971" cy="219456"/>
          </a:xfrm>
          <a:prstGeom prst="rect">
            <a:avLst/>
          </a:prstGeom>
          <a:noFill/>
          <a:ln/>
        </p:spPr>
        <p:txBody>
          <a:bodyPr wrap="square" lIns="0" tIns="0" rIns="0" bIns="0" rtlCol="0" anchor="t"/>
          <a:lstStyle/>
          <a:p>
            <a:pPr algn="just"/>
            <a:r>
              <a:rPr lang="en-US" sz="1000" dirty="0"/>
              <a:t>The experimental part could include:</a:t>
            </a:r>
          </a:p>
          <a:p>
            <a:pPr marL="171450" indent="-171450" algn="just">
              <a:buFont typeface="Arial" panose="020B0604020202020204" pitchFamily="34" charset="0"/>
              <a:buChar char="•"/>
            </a:pPr>
            <a:r>
              <a:rPr lang="en-US" sz="1000" dirty="0"/>
              <a:t>Corrosion of welded Ni-Cr-Fe tubes and coupons in NaOH.</a:t>
            </a:r>
          </a:p>
          <a:p>
            <a:pPr marL="171450" indent="-171450" algn="just">
              <a:buFont typeface="Arial" panose="020B0604020202020204" pitchFamily="34" charset="0"/>
              <a:buChar char="•"/>
            </a:pPr>
            <a:r>
              <a:rPr lang="en-US" sz="1000" dirty="0"/>
              <a:t>Developing a heat treatment for the Ni-welds using both furnaces and heat wrapping.</a:t>
            </a:r>
          </a:p>
          <a:p>
            <a:pPr marL="171450" indent="-171450" algn="just">
              <a:buFont typeface="Arial" panose="020B0604020202020204" pitchFamily="34" charset="0"/>
              <a:buChar char="•"/>
            </a:pPr>
            <a:r>
              <a:rPr lang="en-US" sz="1000" dirty="0"/>
              <a:t>Evaluation of the developed heat treatment and on the necessity of a heat treatment.</a:t>
            </a:r>
          </a:p>
          <a:p>
            <a:pPr marL="171450" indent="-171450" algn="just">
              <a:buFont typeface="Arial" panose="020B0604020202020204" pitchFamily="34" charset="0"/>
              <a:buChar char="•"/>
            </a:pPr>
            <a:r>
              <a:rPr lang="en-US" sz="1000" dirty="0"/>
              <a:t>Characterization of the welds and the HAZ using; LOM, XRD, SEM, EDS, and micro-hardness. </a:t>
            </a:r>
          </a:p>
        </p:txBody>
      </p:sp>
      <p:sp>
        <p:nvSpPr>
          <p:cNvPr id="68" name="Text 35">
            <a:extLst>
              <a:ext uri="{FF2B5EF4-FFF2-40B4-BE49-F238E27FC236}">
                <a16:creationId xmlns:a16="http://schemas.microsoft.com/office/drawing/2014/main" id="{A2F86D8B-091E-CF7F-A633-2C8DE5423C89}"/>
              </a:ext>
            </a:extLst>
          </p:cNvPr>
          <p:cNvSpPr/>
          <p:nvPr/>
        </p:nvSpPr>
        <p:spPr>
          <a:xfrm>
            <a:off x="288607" y="8583620"/>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04  /  PRACTICAL NOTES</a:t>
            </a:r>
            <a:endParaRPr lang="en-US" sz="860" dirty="0"/>
          </a:p>
        </p:txBody>
      </p:sp>
      <p:sp>
        <p:nvSpPr>
          <p:cNvPr id="70" name="Text 36">
            <a:extLst>
              <a:ext uri="{FF2B5EF4-FFF2-40B4-BE49-F238E27FC236}">
                <a16:creationId xmlns:a16="http://schemas.microsoft.com/office/drawing/2014/main" id="{531739C4-9737-88BF-B7DD-16A427719522}"/>
              </a:ext>
            </a:extLst>
          </p:cNvPr>
          <p:cNvSpPr/>
          <p:nvPr/>
        </p:nvSpPr>
        <p:spPr>
          <a:xfrm>
            <a:off x="321624" y="8817456"/>
            <a:ext cx="6426403" cy="438912"/>
          </a:xfrm>
          <a:prstGeom prst="rect">
            <a:avLst/>
          </a:prstGeom>
          <a:noFill/>
          <a:ln/>
        </p:spPr>
        <p:txBody>
          <a:bodyPr wrap="square" lIns="0" tIns="0" rIns="0" bIns="0" rtlCol="0" anchor="t"/>
          <a:lstStyle/>
          <a:p>
            <a:pPr>
              <a:lnSpc>
                <a:spcPct val="102000"/>
              </a:lnSpc>
            </a:pPr>
            <a:r>
              <a:rPr lang="en-US" sz="1000" dirty="0"/>
              <a:t>The exact topic and nature of the project will be specified in a discussion with the students who are interested.</a:t>
            </a:r>
          </a:p>
          <a:p>
            <a:pPr marL="0" indent="0">
              <a:lnSpc>
                <a:spcPct val="102000"/>
              </a:lnSpc>
              <a:buNone/>
            </a:pPr>
            <a:endParaRPr lang="en-US" sz="975" dirty="0"/>
          </a:p>
        </p:txBody>
      </p:sp>
      <p:sp>
        <p:nvSpPr>
          <p:cNvPr id="72" name="Shape 38">
            <a:extLst>
              <a:ext uri="{FF2B5EF4-FFF2-40B4-BE49-F238E27FC236}">
                <a16:creationId xmlns:a16="http://schemas.microsoft.com/office/drawing/2014/main" id="{58770286-67C6-4130-DC02-9D8C33AA3A8E}"/>
              </a:ext>
            </a:extLst>
          </p:cNvPr>
          <p:cNvSpPr/>
          <p:nvPr/>
        </p:nvSpPr>
        <p:spPr>
          <a:xfrm>
            <a:off x="288607" y="9482018"/>
            <a:ext cx="6426403" cy="0"/>
          </a:xfrm>
          <a:prstGeom prst="line">
            <a:avLst/>
          </a:prstGeom>
          <a:noFill/>
          <a:ln w="10160">
            <a:solidFill>
              <a:srgbClr val="DFE2E3"/>
            </a:solidFill>
            <a:prstDash val="solid"/>
          </a:ln>
        </p:spPr>
        <p:txBody>
          <a:bodyPr/>
          <a:lstStyle/>
          <a:p>
            <a:endParaRPr lang="LID4096"/>
          </a:p>
        </p:txBody>
      </p:sp>
      <p:sp>
        <p:nvSpPr>
          <p:cNvPr id="74" name="Text 39">
            <a:extLst>
              <a:ext uri="{FF2B5EF4-FFF2-40B4-BE49-F238E27FC236}">
                <a16:creationId xmlns:a16="http://schemas.microsoft.com/office/drawing/2014/main" id="{FD7F51DB-4D39-9183-A306-358A7EF80614}"/>
              </a:ext>
            </a:extLst>
          </p:cNvPr>
          <p:cNvSpPr/>
          <p:nvPr/>
        </p:nvSpPr>
        <p:spPr>
          <a:xfrm>
            <a:off x="288607" y="9555170"/>
            <a:ext cx="4480560" cy="137160"/>
          </a:xfrm>
          <a:prstGeom prst="rect">
            <a:avLst/>
          </a:prstGeom>
          <a:noFill/>
          <a:ln/>
        </p:spPr>
        <p:txBody>
          <a:bodyPr wrap="square" lIns="0" tIns="0" rIns="0" bIns="0" rtlCol="0" anchor="t"/>
          <a:lstStyle/>
          <a:p>
            <a:pPr marL="0" indent="0">
              <a:lnSpc>
                <a:spcPct val="100000"/>
              </a:lnSpc>
              <a:buNone/>
            </a:pPr>
            <a:r>
              <a:rPr lang="en-US" sz="715" kern="0" spc="60" dirty="0">
                <a:solidFill>
                  <a:srgbClr val="5D666B"/>
                </a:solidFill>
                <a:latin typeface="Aptos Display" pitchFamily="34" charset="0"/>
                <a:ea typeface="Aptos Display" pitchFamily="34" charset="-122"/>
                <a:cs typeface="Aptos Display" pitchFamily="34" charset="-120"/>
              </a:rPr>
              <a:t>DTU CONSTRUCT  /  MATERIALS AND SURFACE ENGINEERING</a:t>
            </a:r>
            <a:endParaRPr lang="en-US" sz="715" dirty="0"/>
          </a:p>
        </p:txBody>
      </p:sp>
      <p:sp>
        <p:nvSpPr>
          <p:cNvPr id="5" name="TextBox 4">
            <a:extLst>
              <a:ext uri="{FF2B5EF4-FFF2-40B4-BE49-F238E27FC236}">
                <a16:creationId xmlns:a16="http://schemas.microsoft.com/office/drawing/2014/main" id="{BB709082-E2F1-31A8-EC39-55D53DAAA337}"/>
              </a:ext>
            </a:extLst>
          </p:cNvPr>
          <p:cNvSpPr txBox="1"/>
          <p:nvPr/>
        </p:nvSpPr>
        <p:spPr>
          <a:xfrm>
            <a:off x="4746308" y="2814182"/>
            <a:ext cx="3458496" cy="1200329"/>
          </a:xfrm>
          <a:prstGeom prst="rect">
            <a:avLst/>
          </a:prstGeom>
          <a:noFill/>
        </p:spPr>
        <p:txBody>
          <a:bodyPr wrap="square">
            <a:spAutoFit/>
          </a:bodyPr>
          <a:lstStyle/>
          <a:p>
            <a:r>
              <a:rPr lang="en-US" sz="1200" dirty="0"/>
              <a:t>Morten S. Jellesen</a:t>
            </a:r>
          </a:p>
          <a:p>
            <a:r>
              <a:rPr lang="en-US" sz="1200" dirty="0">
                <a:hlinkClick r:id="rId3">
                  <a:extLst>
                    <a:ext uri="{A12FA001-AC4F-418D-AE19-62706E023703}">
                      <ahyp:hlinkClr xmlns:ahyp="http://schemas.microsoft.com/office/drawing/2018/hyperlinkcolor" val="tx"/>
                    </a:ext>
                  </a:extLst>
                </a:hlinkClick>
              </a:rPr>
              <a:t>msje@dtu.dk</a:t>
            </a:r>
            <a:r>
              <a:rPr lang="en-US" sz="1200" dirty="0"/>
              <a:t>,</a:t>
            </a:r>
          </a:p>
          <a:p>
            <a:r>
              <a:rPr lang="en-US" sz="1200" dirty="0">
                <a:solidFill>
                  <a:schemeClr val="tx1"/>
                </a:solidFill>
              </a:rPr>
              <a:t>John Hald</a:t>
            </a:r>
          </a:p>
          <a:p>
            <a:r>
              <a:rPr lang="en-US" sz="1200" dirty="0">
                <a:solidFill>
                  <a:schemeClr val="tx1"/>
                </a:solidFill>
                <a:hlinkClick r:id="rId4">
                  <a:extLst>
                    <a:ext uri="{A12FA001-AC4F-418D-AE19-62706E023703}">
                      <ahyp:hlinkClr xmlns:ahyp="http://schemas.microsoft.com/office/drawing/2018/hyperlinkcolor" val="tx"/>
                    </a:ext>
                  </a:extLst>
                </a:hlinkClick>
              </a:rPr>
              <a:t>jhald@dtu.dk</a:t>
            </a:r>
            <a:r>
              <a:rPr lang="en-US" sz="1200" dirty="0">
                <a:solidFill>
                  <a:schemeClr val="tx1"/>
                </a:solidFill>
              </a:rPr>
              <a:t>,</a:t>
            </a:r>
          </a:p>
          <a:p>
            <a:r>
              <a:rPr lang="en-US" sz="1200" dirty="0">
                <a:solidFill>
                  <a:schemeClr val="tx1"/>
                </a:solidFill>
              </a:rPr>
              <a:t>Birgitte Stoffersen</a:t>
            </a:r>
          </a:p>
          <a:p>
            <a:r>
              <a:rPr lang="en-US" sz="1200" dirty="0">
                <a:solidFill>
                  <a:schemeClr val="tx1"/>
                </a:solidFill>
                <a:hlinkClick r:id="rId5">
                  <a:extLst>
                    <a:ext uri="{A12FA001-AC4F-418D-AE19-62706E023703}">
                      <ahyp:hlinkClr xmlns:ahyp="http://schemas.microsoft.com/office/drawing/2018/hyperlinkcolor" val="tx"/>
                    </a:ext>
                  </a:extLst>
                </a:hlinkClick>
              </a:rPr>
              <a:t>birst@dtu.dk</a:t>
            </a:r>
            <a:r>
              <a:rPr lang="en-US" sz="1200" dirty="0">
                <a:solidFill>
                  <a:schemeClr val="tx1"/>
                </a:solidFill>
              </a:rPr>
              <a:t>,</a:t>
            </a:r>
          </a:p>
        </p:txBody>
      </p:sp>
      <p:pic>
        <p:nvPicPr>
          <p:cNvPr id="2" name="Content Placeholder 6" descr="A close up of a crack&#10;&#10;Description automatically generated with low confidence">
            <a:extLst>
              <a:ext uri="{FF2B5EF4-FFF2-40B4-BE49-F238E27FC236}">
                <a16:creationId xmlns:a16="http://schemas.microsoft.com/office/drawing/2014/main" id="{69C69611-E0E1-FBEB-6D2E-EED55F71AAFF}"/>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b="9664"/>
          <a:stretch/>
        </p:blipFill>
        <p:spPr>
          <a:xfrm>
            <a:off x="182309" y="2439159"/>
            <a:ext cx="4563999" cy="2283851"/>
          </a:xfrm>
          <a:prstGeom prst="rect">
            <a:avLst/>
          </a:prstGeom>
        </p:spPr>
      </p:pic>
    </p:spTree>
    <p:extLst>
      <p:ext uri="{BB962C8B-B14F-4D97-AF65-F5344CB8AC3E}">
        <p14:creationId xmlns:p14="http://schemas.microsoft.com/office/powerpoint/2010/main" val="177846192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241</TotalTime>
  <Words>881</Words>
  <Application>Microsoft Office PowerPoint</Application>
  <PresentationFormat>A4 Paper (210x297 mm)</PresentationFormat>
  <Paragraphs>84</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Aptos</vt:lpstr>
      <vt:lpstr>Aptos Display</vt:lpstr>
      <vt:lpstr>Arial</vt:lpstr>
      <vt:lpstr>Office Theme</vt:lpstr>
      <vt:lpstr>PowerPoint Presentation</vt:lpstr>
      <vt:lpstr>PowerPoint Presentation</vt:lpstr>
      <vt:lpstr>PowerPoint Presentation</vt:lpstr>
    </vt:vector>
  </TitlesOfParts>
  <Company>TECHNICAL UNIVERSITY OF DENMARK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Masoud Hasany</dc:creator>
  <cp:lastModifiedBy>Masoud Hasany</cp:lastModifiedBy>
  <cp:revision>5</cp:revision>
  <cp:lastPrinted>2026-10-09T11:17:07Z</cp:lastPrinted>
  <dcterms:created xsi:type="dcterms:W3CDTF">2026-10-09T11:09:38Z</dcterms:created>
  <dcterms:modified xsi:type="dcterms:W3CDTF">2026-10-27T08:53:03Z</dcterms:modified>
</cp:coreProperties>
</file>