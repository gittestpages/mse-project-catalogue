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60" r:id="rId2"/>
    <p:sldId id="261" r:id="rId3"/>
  </p:sldIdLst>
  <p:sldSz cx="6858000" cy="9906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D651E8-89E1-4E67-84FB-216ED0ACF08E}" v="3" dt="2026-10-09T15:00:27.3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64" autoAdjust="0"/>
    <p:restoredTop sz="94660"/>
  </p:normalViewPr>
  <p:slideViewPr>
    <p:cSldViewPr snapToGrid="0">
      <p:cViewPr>
        <p:scale>
          <a:sx n="100" d="100"/>
          <a:sy n="100" d="100"/>
        </p:scale>
        <p:origin x="2964"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oud Hasany" userId="6cc17645-04cb-4c82-981d-5cca772a98bc" providerId="ADAL" clId="{3354FD60-1CDF-477F-A3E7-7DDB38CA4C74}"/>
    <pc:docChg chg="addSld delSld modSld">
      <pc:chgData name="Masoud Hasany" userId="6cc17645-04cb-4c82-981d-5cca772a98bc" providerId="ADAL" clId="{3354FD60-1CDF-477F-A3E7-7DDB38CA4C74}" dt="2026-10-09T15:00:11.873" v="18" actId="767"/>
      <pc:docMkLst>
        <pc:docMk/>
      </pc:docMkLst>
      <pc:sldChg chg="addSp modSp mod">
        <pc:chgData name="Masoud Hasany" userId="6cc17645-04cb-4c82-981d-5cca772a98bc" providerId="ADAL" clId="{3354FD60-1CDF-477F-A3E7-7DDB38CA4C74}" dt="2026-10-09T15:00:11.873" v="18" actId="767"/>
        <pc:sldMkLst>
          <pc:docMk/>
          <pc:sldMk cId="2236149848" sldId="256"/>
        </pc:sldMkLst>
        <pc:spChg chg="add mod">
          <ac:chgData name="Masoud Hasany" userId="6cc17645-04cb-4c82-981d-5cca772a98bc" providerId="ADAL" clId="{3354FD60-1CDF-477F-A3E7-7DDB38CA4C74}" dt="2026-10-09T15:00:11.873" v="18" actId="767"/>
          <ac:spMkLst>
            <pc:docMk/>
            <pc:sldMk cId="2236149848" sldId="256"/>
            <ac:spMk id="2" creationId="{559CB724-70E0-3D19-54FB-93905C3E7E59}"/>
          </ac:spMkLst>
        </pc:spChg>
        <pc:spChg chg="mod">
          <ac:chgData name="Masoud Hasany" userId="6cc17645-04cb-4c82-981d-5cca772a98bc" providerId="ADAL" clId="{3354FD60-1CDF-477F-A3E7-7DDB38CA4C74}" dt="2026-10-09T14:56:41.313" v="17" actId="1035"/>
          <ac:spMkLst>
            <pc:docMk/>
            <pc:sldMk cId="2236149848" sldId="256"/>
            <ac:spMk id="20" creationId="{BF93D45E-B774-456A-8A91-E3FB6CC60F32}"/>
          </ac:spMkLst>
        </pc:spChg>
        <pc:spChg chg="mod">
          <ac:chgData name="Masoud Hasany" userId="6cc17645-04cb-4c82-981d-5cca772a98bc" providerId="ADAL" clId="{3354FD60-1CDF-477F-A3E7-7DDB38CA4C74}" dt="2026-10-09T14:56:41.313" v="17" actId="1035"/>
          <ac:spMkLst>
            <pc:docMk/>
            <pc:sldMk cId="2236149848" sldId="256"/>
            <ac:spMk id="28" creationId="{DDA6AD76-253A-BDEE-D80F-CF8C578343F2}"/>
          </ac:spMkLst>
        </pc:spChg>
        <pc:spChg chg="mod">
          <ac:chgData name="Masoud Hasany" userId="6cc17645-04cb-4c82-981d-5cca772a98bc" providerId="ADAL" clId="{3354FD60-1CDF-477F-A3E7-7DDB38CA4C74}" dt="2026-10-09T14:56:41.313" v="17" actId="1035"/>
          <ac:spMkLst>
            <pc:docMk/>
            <pc:sldMk cId="2236149848" sldId="256"/>
            <ac:spMk id="32" creationId="{975C2CB1-0286-2F6B-9B19-5CBCCDBC47F2}"/>
          </ac:spMkLst>
        </pc:spChg>
        <pc:spChg chg="mod">
          <ac:chgData name="Masoud Hasany" userId="6cc17645-04cb-4c82-981d-5cca772a98bc" providerId="ADAL" clId="{3354FD60-1CDF-477F-A3E7-7DDB38CA4C74}" dt="2026-10-09T14:56:41.313" v="17" actId="1035"/>
          <ac:spMkLst>
            <pc:docMk/>
            <pc:sldMk cId="2236149848" sldId="256"/>
            <ac:spMk id="34" creationId="{8E706A9F-BDF4-6E34-2BC8-528A2E4C7162}"/>
          </ac:spMkLst>
        </pc:spChg>
        <pc:spChg chg="mod">
          <ac:chgData name="Masoud Hasany" userId="6cc17645-04cb-4c82-981d-5cca772a98bc" providerId="ADAL" clId="{3354FD60-1CDF-477F-A3E7-7DDB38CA4C74}" dt="2026-10-09T14:56:41.313" v="17" actId="1035"/>
          <ac:spMkLst>
            <pc:docMk/>
            <pc:sldMk cId="2236149848" sldId="256"/>
            <ac:spMk id="36" creationId="{279E3988-0483-A929-2165-3D05E003F6C6}"/>
          </ac:spMkLst>
        </pc:spChg>
        <pc:spChg chg="mod">
          <ac:chgData name="Masoud Hasany" userId="6cc17645-04cb-4c82-981d-5cca772a98bc" providerId="ADAL" clId="{3354FD60-1CDF-477F-A3E7-7DDB38CA4C74}" dt="2026-10-09T14:56:41.313" v="17" actId="1035"/>
          <ac:spMkLst>
            <pc:docMk/>
            <pc:sldMk cId="2236149848" sldId="256"/>
            <ac:spMk id="38" creationId="{A5E5AC3B-9018-8067-D6FD-F9121BA39AC6}"/>
          </ac:spMkLst>
        </pc:spChg>
        <pc:spChg chg="mod">
          <ac:chgData name="Masoud Hasany" userId="6cc17645-04cb-4c82-981d-5cca772a98bc" providerId="ADAL" clId="{3354FD60-1CDF-477F-A3E7-7DDB38CA4C74}" dt="2026-10-09T14:56:41.313" v="17" actId="1035"/>
          <ac:spMkLst>
            <pc:docMk/>
            <pc:sldMk cId="2236149848" sldId="256"/>
            <ac:spMk id="46" creationId="{741B9529-EDF4-0277-9517-AD77B4EC7EFA}"/>
          </ac:spMkLst>
        </pc:spChg>
        <pc:spChg chg="mod">
          <ac:chgData name="Masoud Hasany" userId="6cc17645-04cb-4c82-981d-5cca772a98bc" providerId="ADAL" clId="{3354FD60-1CDF-477F-A3E7-7DDB38CA4C74}" dt="2026-10-09T14:56:41.313" v="17" actId="1035"/>
          <ac:spMkLst>
            <pc:docMk/>
            <pc:sldMk cId="2236149848" sldId="256"/>
            <ac:spMk id="52" creationId="{E1F4C334-2223-19ED-44AB-9671AA39A52B}"/>
          </ac:spMkLst>
        </pc:spChg>
        <pc:spChg chg="mod">
          <ac:chgData name="Masoud Hasany" userId="6cc17645-04cb-4c82-981d-5cca772a98bc" providerId="ADAL" clId="{3354FD60-1CDF-477F-A3E7-7DDB38CA4C74}" dt="2026-10-09T14:56:13.626" v="2" actId="1076"/>
          <ac:spMkLst>
            <pc:docMk/>
            <pc:sldMk cId="2236149848" sldId="256"/>
            <ac:spMk id="54" creationId="{3B32DA2F-B6E5-BD0C-B0E2-8DB758B29FE0}"/>
          </ac:spMkLst>
        </pc:spChg>
        <pc:spChg chg="mod">
          <ac:chgData name="Masoud Hasany" userId="6cc17645-04cb-4c82-981d-5cca772a98bc" providerId="ADAL" clId="{3354FD60-1CDF-477F-A3E7-7DDB38CA4C74}" dt="2026-10-09T14:56:41.313" v="17" actId="1035"/>
          <ac:spMkLst>
            <pc:docMk/>
            <pc:sldMk cId="2236149848" sldId="256"/>
            <ac:spMk id="56" creationId="{B6524C55-32C1-1701-39AF-30B8513D5859}"/>
          </ac:spMkLst>
        </pc:spChg>
        <pc:spChg chg="mod">
          <ac:chgData name="Masoud Hasany" userId="6cc17645-04cb-4c82-981d-5cca772a98bc" providerId="ADAL" clId="{3354FD60-1CDF-477F-A3E7-7DDB38CA4C74}" dt="2026-10-09T14:56:19.594" v="3" actId="1076"/>
          <ac:spMkLst>
            <pc:docMk/>
            <pc:sldMk cId="2236149848" sldId="256"/>
            <ac:spMk id="58" creationId="{E52291FE-67CB-49F0-597C-9F48EC893D25}"/>
          </ac:spMkLst>
        </pc:spChg>
        <pc:spChg chg="mod">
          <ac:chgData name="Masoud Hasany" userId="6cc17645-04cb-4c82-981d-5cca772a98bc" providerId="ADAL" clId="{3354FD60-1CDF-477F-A3E7-7DDB38CA4C74}" dt="2026-10-09T14:56:19.594" v="3" actId="1076"/>
          <ac:spMkLst>
            <pc:docMk/>
            <pc:sldMk cId="2236149848" sldId="256"/>
            <ac:spMk id="60" creationId="{21731E05-B059-A90E-C87B-2E6FFD0794F0}"/>
          </ac:spMkLst>
        </pc:spChg>
        <pc:spChg chg="mod">
          <ac:chgData name="Masoud Hasany" userId="6cc17645-04cb-4c82-981d-5cca772a98bc" providerId="ADAL" clId="{3354FD60-1CDF-477F-A3E7-7DDB38CA4C74}" dt="2026-10-09T14:56:19.594" v="3" actId="1076"/>
          <ac:spMkLst>
            <pc:docMk/>
            <pc:sldMk cId="2236149848" sldId="256"/>
            <ac:spMk id="62" creationId="{11812E9B-5850-E1D8-90D9-FAD3FEC017D7}"/>
          </ac:spMkLst>
        </pc:spChg>
        <pc:spChg chg="mod">
          <ac:chgData name="Masoud Hasany" userId="6cc17645-04cb-4c82-981d-5cca772a98bc" providerId="ADAL" clId="{3354FD60-1CDF-477F-A3E7-7DDB38CA4C74}" dt="2026-10-09T14:56:41.313" v="17" actId="1035"/>
          <ac:spMkLst>
            <pc:docMk/>
            <pc:sldMk cId="2236149848" sldId="256"/>
            <ac:spMk id="70" creationId="{A368D0A1-E117-25EE-605D-20388D61C90D}"/>
          </ac:spMkLst>
        </pc:spChg>
      </pc:sldChg>
      <pc:sldChg chg="add del">
        <pc:chgData name="Masoud Hasany" userId="6cc17645-04cb-4c82-981d-5cca772a98bc" providerId="ADAL" clId="{3354FD60-1CDF-477F-A3E7-7DDB38CA4C74}" dt="2026-10-09T11:20:35.852" v="1" actId="47"/>
        <pc:sldMkLst>
          <pc:docMk/>
          <pc:sldMk cId="4271125815"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C5A8F6C-B07C-452E-B339-02239878CD78}" type="datetimeFigureOut">
              <a:rPr lang="en-US" smtClean="0"/>
              <a:t>10/27/2026</a:t>
            </a:fld>
            <a:endParaRPr lang="en-US"/>
          </a:p>
        </p:txBody>
      </p:sp>
      <p:sp>
        <p:nvSpPr>
          <p:cNvPr id="4" name="Slide Image Placeholder 3"/>
          <p:cNvSpPr>
            <a:spLocks noGrp="1" noRot="1" noChangeAspect="1"/>
          </p:cNvSpPr>
          <p:nvPr>
            <p:ph type="sldImg" idx="2"/>
          </p:nvPr>
        </p:nvSpPr>
        <p:spPr>
          <a:xfrm>
            <a:off x="2239963" y="1241425"/>
            <a:ext cx="23177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4A641D6A-0069-447C-9CC0-570BB150D784}" type="slidenum">
              <a:rPr lang="en-US" smtClean="0"/>
              <a:t>‹#›</a:t>
            </a:fld>
            <a:endParaRPr lang="en-US"/>
          </a:p>
        </p:txBody>
      </p:sp>
    </p:spTree>
    <p:extLst>
      <p:ext uri="{BB962C8B-B14F-4D97-AF65-F5344CB8AC3E}">
        <p14:creationId xmlns:p14="http://schemas.microsoft.com/office/powerpoint/2010/main" val="2186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7949EE-9881-4002-A5D2-5C603941A9E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62854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AD393A-51C8-4873-AB5B-33A9CA72457B}"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007937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ED32DC-3138-49D5-A762-35EF2E7B5708}"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1474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4DCFC-A56F-426C-B9EF-CD0CDC7D69F1}"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4855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4E70D6-12C6-4DE5-9A5D-29B6EE417C39}" type="datetime1">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3604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E3A64-FA3B-4E33-B42D-2315F535535C}" type="datetime1">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551148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DA539-685E-4880-A468-8EF8C4AD42F8}" type="datetime1">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48863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88FD366-2480-4FDC-A6F7-D357B93DAA4F}"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39536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C470449-18DB-4FF7-8D7E-CF4A040C7D57}" type="datetime1">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1535732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6D735C-9495-42D3-9A57-B69F6B441082}"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2039328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F4679-FE80-435C-9BF4-7126CA01D8FE}" type="datetime1">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4066D-384D-4BE1-BDC2-82BCC33558DD}" type="slidenum">
              <a:rPr lang="en-US" smtClean="0"/>
              <a:t>‹#›</a:t>
            </a:fld>
            <a:endParaRPr lang="en-US"/>
          </a:p>
        </p:txBody>
      </p:sp>
    </p:spTree>
    <p:extLst>
      <p:ext uri="{BB962C8B-B14F-4D97-AF65-F5344CB8AC3E}">
        <p14:creationId xmlns:p14="http://schemas.microsoft.com/office/powerpoint/2010/main" val="3994105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43F121EA-D16B-4B7B-A7AE-6CA1296CE191}" type="datetime1">
              <a:rPr lang="en-US" smtClean="0"/>
              <a:t>10/27/2026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F934066D-384D-4BE1-BDC2-82BCC33558DD}" type="slidenum">
              <a:rPr lang="en-US" smtClean="0"/>
              <a:t>‹#›</a:t>
            </a:fld>
            <a:endParaRPr lang="en-US"/>
          </a:p>
        </p:txBody>
      </p:sp>
    </p:spTree>
    <p:extLst>
      <p:ext uri="{BB962C8B-B14F-4D97-AF65-F5344CB8AC3E}">
        <p14:creationId xmlns:p14="http://schemas.microsoft.com/office/powerpoint/2010/main" val="3595107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EE6C5-ADE7-BA68-4733-D5E0784D844C}"/>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1</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89BF93BE-C274-0D15-669E-1FA3EF5814EB}"/>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5EAF69B7-3F7F-6E8A-4099-7209EA4CC33C}"/>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2E01AA62-8C62-3F02-7C3D-4A0D26C3A066}"/>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9483A475-12DC-7037-9FE4-BCB956416E5B}"/>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B5BFAC40-3074-95A1-6062-557C2EC8A10B}"/>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F9F2F617-4FE4-3AFB-5BE6-447724F14CFF}"/>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a:t>
            </a:r>
            <a:endParaRPr lang="en-US" sz="860" dirty="0"/>
          </a:p>
        </p:txBody>
      </p:sp>
      <p:sp>
        <p:nvSpPr>
          <p:cNvPr id="18" name="Text 6">
            <a:extLst>
              <a:ext uri="{FF2B5EF4-FFF2-40B4-BE49-F238E27FC236}">
                <a16:creationId xmlns:a16="http://schemas.microsoft.com/office/drawing/2014/main" id="{6F0B72D1-F35C-ED87-929B-81DB04BC902C}"/>
              </a:ext>
            </a:extLst>
          </p:cNvPr>
          <p:cNvSpPr/>
          <p:nvPr/>
        </p:nvSpPr>
        <p:spPr>
          <a:xfrm>
            <a:off x="288607" y="1526738"/>
            <a:ext cx="6426403" cy="905256"/>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Thermoresponsive Photopolymer Resins for 4D Volumetric Additive Manufacturing</a:t>
            </a:r>
            <a:endParaRPr lang="en-US" sz="2000" dirty="0"/>
          </a:p>
        </p:txBody>
      </p:sp>
      <p:sp>
        <p:nvSpPr>
          <p:cNvPr id="24" name="Text 13">
            <a:extLst>
              <a:ext uri="{FF2B5EF4-FFF2-40B4-BE49-F238E27FC236}">
                <a16:creationId xmlns:a16="http://schemas.microsoft.com/office/drawing/2014/main" id="{92D05183-68B0-0CD1-9862-417A2C8C76EA}"/>
              </a:ext>
            </a:extLst>
          </p:cNvPr>
          <p:cNvSpPr/>
          <p:nvPr/>
        </p:nvSpPr>
        <p:spPr>
          <a:xfrm>
            <a:off x="288607" y="4644080"/>
            <a:ext cx="4297680" cy="128016"/>
          </a:xfrm>
          <a:prstGeom prst="rect">
            <a:avLst/>
          </a:prstGeom>
          <a:noFill/>
          <a:ln/>
        </p:spPr>
        <p:txBody>
          <a:bodyPr wrap="square" lIns="0" tIns="0" rIns="0" bIns="0" rtlCol="0" anchor="t"/>
          <a:lstStyle/>
          <a:p>
            <a:pPr marL="0" indent="0">
              <a:lnSpc>
                <a:spcPct val="100000"/>
              </a:lnSpc>
              <a:buNone/>
            </a:pPr>
            <a:r>
              <a:rPr lang="en-US" sz="685" kern="0" spc="45" dirty="0">
                <a:solidFill>
                  <a:srgbClr val="5D666B"/>
                </a:solidFill>
                <a:latin typeface="Aptos" pitchFamily="34" charset="0"/>
                <a:ea typeface="Aptos" pitchFamily="34" charset="-122"/>
                <a:cs typeface="Aptos" pitchFamily="34" charset="-120"/>
              </a:rPr>
              <a:t>Concept: VAM-printed PNIPAM soft gripper closing above its LCST</a:t>
            </a:r>
            <a:endParaRPr lang="en-US" sz="685" dirty="0"/>
          </a:p>
        </p:txBody>
      </p:sp>
      <p:sp>
        <p:nvSpPr>
          <p:cNvPr id="26" name="Shape 14">
            <a:extLst>
              <a:ext uri="{FF2B5EF4-FFF2-40B4-BE49-F238E27FC236}">
                <a16:creationId xmlns:a16="http://schemas.microsoft.com/office/drawing/2014/main" id="{AA36B306-337C-04B4-9B92-70B043FEE96D}"/>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DDA6AD76-253A-BDEE-D80F-CF8C578343F2}"/>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47A99FCE-4503-0221-BA93-784430A6BB52}"/>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Masoud Hasany</a:t>
            </a:r>
            <a:endParaRPr lang="en-US" sz="950" dirty="0"/>
          </a:p>
        </p:txBody>
      </p:sp>
      <p:sp>
        <p:nvSpPr>
          <p:cNvPr id="32" name="Text 17">
            <a:extLst>
              <a:ext uri="{FF2B5EF4-FFF2-40B4-BE49-F238E27FC236}">
                <a16:creationId xmlns:a16="http://schemas.microsoft.com/office/drawing/2014/main" id="{975C2CB1-0286-2F6B-9B19-5CBCCDBC47F2}"/>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[mahas@dtu.dk]</a:t>
            </a:r>
            <a:endParaRPr lang="en-US" sz="830" dirty="0"/>
          </a:p>
        </p:txBody>
      </p:sp>
      <p:sp>
        <p:nvSpPr>
          <p:cNvPr id="34" name="Text 18">
            <a:extLst>
              <a:ext uri="{FF2B5EF4-FFF2-40B4-BE49-F238E27FC236}">
                <a16:creationId xmlns:a16="http://schemas.microsoft.com/office/drawing/2014/main" id="{8E706A9F-BDF4-6E34-2BC8-528A2E4C7162}"/>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Mehdi Mehrali</a:t>
            </a:r>
            <a:endParaRPr lang="en-US" sz="950" dirty="0"/>
          </a:p>
        </p:txBody>
      </p:sp>
      <p:sp>
        <p:nvSpPr>
          <p:cNvPr id="36" name="Text 19">
            <a:extLst>
              <a:ext uri="{FF2B5EF4-FFF2-40B4-BE49-F238E27FC236}">
                <a16:creationId xmlns:a16="http://schemas.microsoft.com/office/drawing/2014/main" id="{279E3988-0483-A929-2165-3D05E003F6C6}"/>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[meme@dtu.dk]</a:t>
            </a:r>
            <a:endParaRPr lang="en-US" sz="830" dirty="0"/>
          </a:p>
        </p:txBody>
      </p:sp>
      <p:sp>
        <p:nvSpPr>
          <p:cNvPr id="38" name="Text 20">
            <a:extLst>
              <a:ext uri="{FF2B5EF4-FFF2-40B4-BE49-F238E27FC236}">
                <a16:creationId xmlns:a16="http://schemas.microsoft.com/office/drawing/2014/main" id="{A5E5AC3B-9018-8067-D6FD-F9121BA39AC6}"/>
              </a:ext>
            </a:extLst>
          </p:cNvPr>
          <p:cNvSpPr/>
          <p:nvPr/>
        </p:nvSpPr>
        <p:spPr>
          <a:xfrm>
            <a:off x="4805743" y="4201549"/>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Aminul Islam</a:t>
            </a:r>
            <a:endParaRPr lang="en-US" sz="950" dirty="0"/>
          </a:p>
        </p:txBody>
      </p:sp>
      <p:sp>
        <p:nvSpPr>
          <p:cNvPr id="40" name="Text 21">
            <a:extLst>
              <a:ext uri="{FF2B5EF4-FFF2-40B4-BE49-F238E27FC236}">
                <a16:creationId xmlns:a16="http://schemas.microsoft.com/office/drawing/2014/main" id="{92D5B7D3-1F85-AAC8-9480-C346534FA12A}"/>
              </a:ext>
            </a:extLst>
          </p:cNvPr>
          <p:cNvSpPr/>
          <p:nvPr/>
        </p:nvSpPr>
        <p:spPr>
          <a:xfrm>
            <a:off x="4805743" y="4411861"/>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[mais@dtu.dk]</a:t>
            </a:r>
            <a:endParaRPr lang="en-US" sz="830" dirty="0"/>
          </a:p>
        </p:txBody>
      </p:sp>
      <p:sp>
        <p:nvSpPr>
          <p:cNvPr id="42" name="Text 22">
            <a:extLst>
              <a:ext uri="{FF2B5EF4-FFF2-40B4-BE49-F238E27FC236}">
                <a16:creationId xmlns:a16="http://schemas.microsoft.com/office/drawing/2014/main" id="{1DF1104B-1700-DC4D-5689-1F91FE7F43E6}"/>
              </a:ext>
            </a:extLst>
          </p:cNvPr>
          <p:cNvSpPr/>
          <p:nvPr/>
        </p:nvSpPr>
        <p:spPr>
          <a:xfrm>
            <a:off x="4805743" y="4020954"/>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6" name="Shape 24">
            <a:extLst>
              <a:ext uri="{FF2B5EF4-FFF2-40B4-BE49-F238E27FC236}">
                <a16:creationId xmlns:a16="http://schemas.microsoft.com/office/drawing/2014/main" id="{741B9529-EDF4-0277-9517-AD77B4EC7EFA}"/>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550D7A41-D8A4-84EE-5510-72BFA808AFF9}"/>
              </a:ext>
            </a:extLst>
          </p:cNvPr>
          <p:cNvSpPr/>
          <p:nvPr/>
        </p:nvSpPr>
        <p:spPr>
          <a:xfrm>
            <a:off x="288607" y="493582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11FE43-43A1-EFCB-29F2-49F1913B15C4}"/>
              </a:ext>
            </a:extLst>
          </p:cNvPr>
          <p:cNvSpPr/>
          <p:nvPr/>
        </p:nvSpPr>
        <p:spPr>
          <a:xfrm>
            <a:off x="288607" y="5057958"/>
            <a:ext cx="6426403" cy="781149"/>
          </a:xfrm>
          <a:prstGeom prst="rect">
            <a:avLst/>
          </a:prstGeom>
          <a:noFill/>
          <a:ln/>
        </p:spPr>
        <p:txBody>
          <a:bodyPr wrap="square" lIns="0" tIns="0" rIns="0" bIns="0" rtlCol="0" anchor="t"/>
          <a:lstStyle/>
          <a:p>
            <a:pPr marL="0" indent="0" algn="just">
              <a:lnSpc>
                <a:spcPct val="104000"/>
              </a:lnSpc>
              <a:buNone/>
            </a:pPr>
            <a:r>
              <a:rPr lang="en-US" sz="990" dirty="0">
                <a:solidFill>
                  <a:srgbClr val="5D666B"/>
                </a:solidFill>
                <a:latin typeface="Aptos" pitchFamily="34" charset="0"/>
                <a:ea typeface="Aptos" pitchFamily="34" charset="-122"/>
                <a:cs typeface="Aptos" pitchFamily="34" charset="-120"/>
              </a:rPr>
              <a:t>4D printing creates three-dimensional objects that change their shape or dimensions in response to an external stimulus, such as temperature. Poly(N-isopropylacrylamide) (PNIPAM) hydrogels are suitable candidates because they release water and shrink when heated above their thermal transition, and absorb water and swell again when cooled. Volumetric additive manufacturing (VAM) offers a route to printing these materials by curing selected regions within a resin volume using projected light. However, the resin must allow light to penetrate the full printing volume and gel under controlled exposure. Developing a formulation that meets these printing requirements while retaining reversible </a:t>
            </a:r>
            <a:r>
              <a:rPr lang="en-US" sz="990" dirty="0" err="1">
                <a:solidFill>
                  <a:srgbClr val="5D666B"/>
                </a:solidFill>
                <a:latin typeface="Aptos" pitchFamily="34" charset="0"/>
                <a:ea typeface="Aptos" pitchFamily="34" charset="-122"/>
                <a:cs typeface="Aptos" pitchFamily="34" charset="-120"/>
              </a:rPr>
              <a:t>thermoresponsive</a:t>
            </a:r>
            <a:r>
              <a:rPr lang="en-US" sz="990" dirty="0">
                <a:solidFill>
                  <a:srgbClr val="5D666B"/>
                </a:solidFill>
                <a:latin typeface="Aptos" pitchFamily="34" charset="0"/>
                <a:ea typeface="Aptos" pitchFamily="34" charset="-122"/>
                <a:cs typeface="Aptos" pitchFamily="34" charset="-120"/>
              </a:rPr>
              <a:t> </a:t>
            </a:r>
            <a:r>
              <a:rPr lang="en-US" sz="990" dirty="0" err="1">
                <a:solidFill>
                  <a:srgbClr val="5D666B"/>
                </a:solidFill>
                <a:latin typeface="Aptos" pitchFamily="34" charset="0"/>
                <a:ea typeface="Aptos" pitchFamily="34" charset="-122"/>
                <a:cs typeface="Aptos" pitchFamily="34" charset="-120"/>
              </a:rPr>
              <a:t>behaviour</a:t>
            </a:r>
            <a:r>
              <a:rPr lang="en-US" sz="990" dirty="0">
                <a:solidFill>
                  <a:srgbClr val="5D666B"/>
                </a:solidFill>
                <a:latin typeface="Aptos" pitchFamily="34" charset="0"/>
                <a:ea typeface="Aptos" pitchFamily="34" charset="-122"/>
                <a:cs typeface="Aptos" pitchFamily="34" charset="-120"/>
              </a:rPr>
              <a:t> after crosslinking is the central challenge of this project.</a:t>
            </a:r>
            <a:endParaRPr lang="en-US" sz="990" dirty="0"/>
          </a:p>
        </p:txBody>
      </p:sp>
      <p:sp>
        <p:nvSpPr>
          <p:cNvPr id="52" name="Text 27">
            <a:extLst>
              <a:ext uri="{FF2B5EF4-FFF2-40B4-BE49-F238E27FC236}">
                <a16:creationId xmlns:a16="http://schemas.microsoft.com/office/drawing/2014/main" id="{E1F4C334-2223-19ED-44AB-9671AA39A52B}"/>
              </a:ext>
            </a:extLst>
          </p:cNvPr>
          <p:cNvSpPr/>
          <p:nvPr/>
        </p:nvSpPr>
        <p:spPr>
          <a:xfrm>
            <a:off x="288607" y="622782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3B32DA2F-B6E5-BD0C-B0E2-8DB758B29FE0}"/>
              </a:ext>
            </a:extLst>
          </p:cNvPr>
          <p:cNvSpPr/>
          <p:nvPr/>
        </p:nvSpPr>
        <p:spPr>
          <a:xfrm>
            <a:off x="288607" y="6416542"/>
            <a:ext cx="6426403" cy="438912"/>
          </a:xfrm>
          <a:prstGeom prst="rect">
            <a:avLst/>
          </a:prstGeom>
          <a:noFill/>
          <a:ln/>
        </p:spPr>
        <p:txBody>
          <a:bodyPr wrap="square" lIns="0" tIns="0" rIns="0" bIns="0" rtlCol="0" anchor="t"/>
          <a:lstStyle/>
          <a:p>
            <a:pPr marL="0" indent="0" algn="just">
              <a:lnSpc>
                <a:spcPct val="103000"/>
              </a:lnSpc>
              <a:buNone/>
            </a:pPr>
            <a:r>
              <a:rPr lang="en-US" sz="1000" dirty="0">
                <a:solidFill>
                  <a:srgbClr val="5D666B"/>
                </a:solidFill>
                <a:latin typeface="Aptos" pitchFamily="34" charset="0"/>
                <a:ea typeface="Aptos" pitchFamily="34" charset="-122"/>
                <a:cs typeface="Aptos" pitchFamily="34" charset="-120"/>
              </a:rPr>
              <a:t>The project aims to develop and validate a PNIPAM-based photopolymer resin for printing </a:t>
            </a:r>
            <a:r>
              <a:rPr lang="en-US" sz="1000" dirty="0" err="1">
                <a:solidFill>
                  <a:srgbClr val="5D666B"/>
                </a:solidFill>
                <a:latin typeface="Aptos" pitchFamily="34" charset="0"/>
                <a:ea typeface="Aptos" pitchFamily="34" charset="-122"/>
                <a:cs typeface="Aptos" pitchFamily="34" charset="-120"/>
              </a:rPr>
              <a:t>thermoresponsive</a:t>
            </a:r>
            <a:r>
              <a:rPr lang="en-US" sz="1000" dirty="0">
                <a:solidFill>
                  <a:srgbClr val="5D666B"/>
                </a:solidFill>
                <a:latin typeface="Aptos" pitchFamily="34" charset="0"/>
                <a:ea typeface="Aptos" pitchFamily="34" charset="-122"/>
                <a:cs typeface="Aptos" pitchFamily="34" charset="-120"/>
              </a:rPr>
              <a:t> hydrogel structures using VAM. The formulation should combine sufficient optical transparency, suitable gelation kinetics, and a thermal transition within the 25–40 °C range after crosslinking. The project will establish suitable printing conditions and assess how accurately the printed structures reproduce their intended geometry. It will then determine whether the printed hydrogels retain reversible swelling and shrinkage over repeated heating and cooling cycles. </a:t>
            </a:r>
            <a:endParaRPr lang="en-US" sz="1000" dirty="0"/>
          </a:p>
        </p:txBody>
      </p:sp>
      <p:sp>
        <p:nvSpPr>
          <p:cNvPr id="56" name="Text 29">
            <a:extLst>
              <a:ext uri="{FF2B5EF4-FFF2-40B4-BE49-F238E27FC236}">
                <a16:creationId xmlns:a16="http://schemas.microsoft.com/office/drawing/2014/main" id="{B6524C55-32C1-1701-39AF-30B8513D5859}"/>
              </a:ext>
            </a:extLst>
          </p:cNvPr>
          <p:cNvSpPr/>
          <p:nvPr/>
        </p:nvSpPr>
        <p:spPr>
          <a:xfrm>
            <a:off x="288607" y="7269269"/>
            <a:ext cx="6426403" cy="203200"/>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E52291FE-67CB-49F0-597C-9F48EC893D25}"/>
              </a:ext>
            </a:extLst>
          </p:cNvPr>
          <p:cNvSpPr/>
          <p:nvPr/>
        </p:nvSpPr>
        <p:spPr>
          <a:xfrm>
            <a:off x="306895" y="7500112"/>
            <a:ext cx="6398971" cy="1219200"/>
          </a:xfrm>
          <a:prstGeom prst="rect">
            <a:avLst/>
          </a:prstGeom>
          <a:noFill/>
          <a:ln/>
        </p:spPr>
        <p:txBody>
          <a:bodyPr wrap="square" lIns="0" tIns="0" rIns="0" bIns="0" rtlCol="0" anchor="t"/>
          <a:lstStyle/>
          <a:p>
            <a:pPr>
              <a:lnSpc>
                <a:spcPct val="106000"/>
              </a:lnSpc>
              <a:buSzPct val="100000"/>
            </a:pPr>
            <a:r>
              <a:rPr lang="en-US" sz="975" dirty="0">
                <a:solidFill>
                  <a:srgbClr val="1F2326"/>
                </a:solidFill>
                <a:latin typeface="Aptos" pitchFamily="34" charset="0"/>
                <a:ea typeface="Aptos" pitchFamily="34" charset="-122"/>
                <a:cs typeface="Aptos" pitchFamily="34" charset="-120"/>
              </a:rPr>
              <a:t>Month 1 · Set-up: </a:t>
            </a:r>
            <a:r>
              <a:rPr lang="en-US" sz="975" dirty="0">
                <a:solidFill>
                  <a:srgbClr val="5D666B"/>
                </a:solidFill>
                <a:latin typeface="Aptos" pitchFamily="34" charset="0"/>
                <a:ea typeface="Aptos" pitchFamily="34" charset="-122"/>
                <a:cs typeface="Aptos" pitchFamily="34" charset="-120"/>
              </a:rPr>
              <a:t>review PNIPAM photoresins and VAM literature; lab safety and VAM printer induction</a:t>
            </a:r>
          </a:p>
          <a:p>
            <a:pPr>
              <a:lnSpc>
                <a:spcPct val="106000"/>
              </a:lnSpc>
              <a:spcBef>
                <a:spcPts val="250"/>
              </a:spcBef>
              <a:buSzPct val="100000"/>
            </a:pPr>
            <a:r>
              <a:rPr lang="en-US" sz="975" dirty="0">
                <a:solidFill>
                  <a:srgbClr val="1F2326"/>
                </a:solidFill>
                <a:latin typeface="Aptos" pitchFamily="34" charset="0"/>
                <a:ea typeface="Aptos" pitchFamily="34" charset="-122"/>
                <a:cs typeface="Aptos" pitchFamily="34" charset="-120"/>
              </a:rPr>
              <a:t>Months 1–2 · Formulation: </a:t>
            </a:r>
            <a:r>
              <a:rPr lang="en-US" sz="975" dirty="0">
                <a:solidFill>
                  <a:srgbClr val="5D666B"/>
                </a:solidFill>
                <a:latin typeface="Aptos" pitchFamily="34" charset="0"/>
                <a:ea typeface="Aptos" pitchFamily="34" charset="-122"/>
                <a:cs typeface="Aptos" pitchFamily="34" charset="-120"/>
              </a:rPr>
              <a:t>screen two PNIPAM resin strategies; tune photoinitiator and TEMPO inhibitor levels</a:t>
            </a:r>
          </a:p>
          <a:p>
            <a:pPr>
              <a:lnSpc>
                <a:spcPct val="106000"/>
              </a:lnSpc>
              <a:spcBef>
                <a:spcPts val="250"/>
              </a:spcBef>
              <a:buSzPct val="100000"/>
            </a:pPr>
            <a:r>
              <a:rPr lang="en-US" sz="975" dirty="0">
                <a:solidFill>
                  <a:srgbClr val="1F2326"/>
                </a:solidFill>
                <a:latin typeface="Aptos" pitchFamily="34" charset="0"/>
                <a:ea typeface="Aptos" pitchFamily="34" charset="-122"/>
                <a:cs typeface="Aptos" pitchFamily="34" charset="-120"/>
              </a:rPr>
              <a:t>Month 2 · Resin characterisation: </a:t>
            </a:r>
            <a:r>
              <a:rPr lang="en-US" sz="975" dirty="0">
                <a:solidFill>
                  <a:srgbClr val="5D666B"/>
                </a:solidFill>
                <a:latin typeface="Aptos" pitchFamily="34" charset="0"/>
                <a:ea typeface="Aptos" pitchFamily="34" charset="-122"/>
                <a:cs typeface="Aptos" pitchFamily="34" charset="-120"/>
              </a:rPr>
              <a:t>optical clarity by UV-Vis, LCST by DSC, gel-point kinetics by photo-rheometry</a:t>
            </a:r>
          </a:p>
          <a:p>
            <a:pPr>
              <a:lnSpc>
                <a:spcPct val="106000"/>
              </a:lnSpc>
              <a:spcBef>
                <a:spcPts val="250"/>
              </a:spcBef>
              <a:buSzPct val="100000"/>
            </a:pPr>
            <a:r>
              <a:rPr lang="en-US" sz="975" dirty="0">
                <a:solidFill>
                  <a:srgbClr val="1F2326"/>
                </a:solidFill>
                <a:latin typeface="Aptos" pitchFamily="34" charset="0"/>
                <a:ea typeface="Aptos" pitchFamily="34" charset="-122"/>
                <a:cs typeface="Aptos" pitchFamily="34" charset="-120"/>
              </a:rPr>
              <a:t>Months 3–4 · VAM printing: </a:t>
            </a:r>
            <a:r>
              <a:rPr lang="en-US" sz="975" dirty="0">
                <a:solidFill>
                  <a:srgbClr val="5D666B"/>
                </a:solidFill>
                <a:latin typeface="Aptos" pitchFamily="34" charset="0"/>
                <a:ea typeface="Aptos" pitchFamily="34" charset="-122"/>
                <a:cs typeface="Aptos" pitchFamily="34" charset="-120"/>
              </a:rPr>
              <a:t>calibrate light dose; print test geometries; verify print fidelity by micro-CT</a:t>
            </a:r>
          </a:p>
          <a:p>
            <a:pPr>
              <a:lnSpc>
                <a:spcPct val="106000"/>
              </a:lnSpc>
              <a:spcBef>
                <a:spcPts val="250"/>
              </a:spcBef>
              <a:buSzPct val="100000"/>
            </a:pPr>
            <a:r>
              <a:rPr lang="en-US" sz="975" dirty="0">
                <a:solidFill>
                  <a:srgbClr val="1F2326"/>
                </a:solidFill>
                <a:latin typeface="Aptos" pitchFamily="34" charset="0"/>
                <a:ea typeface="Aptos" pitchFamily="34" charset="-122"/>
                <a:cs typeface="Aptos" pitchFamily="34" charset="-120"/>
              </a:rPr>
              <a:t>Months 4–5 · 4D response: </a:t>
            </a:r>
            <a:r>
              <a:rPr lang="en-US" sz="975" dirty="0">
                <a:solidFill>
                  <a:srgbClr val="5D666B"/>
                </a:solidFill>
                <a:latin typeface="Aptos" pitchFamily="34" charset="0"/>
                <a:ea typeface="Aptos" pitchFamily="34" charset="-122"/>
                <a:cs typeface="Aptos" pitchFamily="34" charset="-120"/>
              </a:rPr>
              <a:t>swelling by gravimetry and DIC over 25–40 °C cycles; print a soft-gripper demonstrator</a:t>
            </a:r>
          </a:p>
          <a:p>
            <a:pPr>
              <a:lnSpc>
                <a:spcPct val="106000"/>
              </a:lnSpc>
              <a:spcBef>
                <a:spcPts val="250"/>
              </a:spcBef>
              <a:buSzPct val="100000"/>
            </a:pPr>
            <a:r>
              <a:rPr lang="en-US" sz="975" dirty="0">
                <a:solidFill>
                  <a:srgbClr val="1F2326"/>
                </a:solidFill>
                <a:latin typeface="Aptos" pitchFamily="34" charset="0"/>
                <a:ea typeface="Aptos" pitchFamily="34" charset="-122"/>
                <a:cs typeface="Aptos" pitchFamily="34" charset="-120"/>
              </a:rPr>
              <a:t>Month 5 · Reporting: </a:t>
            </a:r>
            <a:r>
              <a:rPr lang="en-US" sz="975" dirty="0">
                <a:solidFill>
                  <a:srgbClr val="5D666B"/>
                </a:solidFill>
                <a:latin typeface="Aptos" pitchFamily="34" charset="0"/>
                <a:ea typeface="Aptos" pitchFamily="34" charset="-122"/>
                <a:cs typeface="Aptos" pitchFamily="34" charset="-120"/>
              </a:rPr>
              <a:t>thesis write-up, documented data set and final presentation to the group</a:t>
            </a:r>
          </a:p>
        </p:txBody>
      </p:sp>
      <p:sp>
        <p:nvSpPr>
          <p:cNvPr id="68" name="Text 35">
            <a:extLst>
              <a:ext uri="{FF2B5EF4-FFF2-40B4-BE49-F238E27FC236}">
                <a16:creationId xmlns:a16="http://schemas.microsoft.com/office/drawing/2014/main" id="{2F7D2E65-2E3D-DD1B-98AF-16E5BD6564A6}"/>
              </a:ext>
            </a:extLst>
          </p:cNvPr>
          <p:cNvSpPr/>
          <p:nvPr/>
        </p:nvSpPr>
        <p:spPr>
          <a:xfrm>
            <a:off x="288607" y="8699500"/>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368D0A1-E117-25EE-605D-20388D61C90D}"/>
              </a:ext>
            </a:extLst>
          </p:cNvPr>
          <p:cNvSpPr/>
          <p:nvPr/>
        </p:nvSpPr>
        <p:spPr>
          <a:xfrm>
            <a:off x="288607" y="8940800"/>
            <a:ext cx="6426403" cy="438912"/>
          </a:xfrm>
          <a:prstGeom prst="rect">
            <a:avLst/>
          </a:prstGeom>
          <a:noFill/>
          <a:ln/>
        </p:spPr>
        <p:txBody>
          <a:bodyPr wrap="square" lIns="0" tIns="0" rIns="0" bIns="0" rtlCol="0" anchor="t"/>
          <a:lstStyle/>
          <a:p>
            <a:pPr marL="0" indent="0">
              <a:lnSpc>
                <a:spcPct val="102000"/>
              </a:lnSpc>
              <a:buNone/>
            </a:pPr>
            <a:r>
              <a:rPr lang="en-US" sz="975" dirty="0">
                <a:solidFill>
                  <a:srgbClr val="5D666B"/>
                </a:solidFill>
                <a:latin typeface="Aptos" pitchFamily="34" charset="0"/>
                <a:ea typeface="Aptos" pitchFamily="34" charset="-122"/>
                <a:cs typeface="Aptos" pitchFamily="34" charset="-120"/>
              </a:rPr>
              <a:t>Experimental MSc project combining polymer formulation, additive manufacturing, and hydrogel characterization. An interest in polymer chemistry and laboratory work is required.</a:t>
            </a:r>
            <a:endParaRPr lang="en-US" sz="975" dirty="0"/>
          </a:p>
        </p:txBody>
      </p:sp>
      <p:sp>
        <p:nvSpPr>
          <p:cNvPr id="72" name="Shape 38">
            <a:extLst>
              <a:ext uri="{FF2B5EF4-FFF2-40B4-BE49-F238E27FC236}">
                <a16:creationId xmlns:a16="http://schemas.microsoft.com/office/drawing/2014/main" id="{081F88CA-2AEC-F488-1189-D6324DB0A884}"/>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7D6E5BF1-5B95-826E-7C58-11E988F22D6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3" name="Picture 2">
            <a:extLst>
              <a:ext uri="{FF2B5EF4-FFF2-40B4-BE49-F238E27FC236}">
                <a16:creationId xmlns:a16="http://schemas.microsoft.com/office/drawing/2014/main" id="{8CD4142E-90B8-916B-2652-C08467D18097}"/>
              </a:ext>
            </a:extLst>
          </p:cNvPr>
          <p:cNvPicPr>
            <a:picLocks noChangeAspect="1"/>
          </p:cNvPicPr>
          <p:nvPr/>
        </p:nvPicPr>
        <p:blipFill>
          <a:blip r:embed="rId3"/>
          <a:srcRect t="16214"/>
          <a:stretch>
            <a:fillRect/>
          </a:stretch>
        </p:blipFill>
        <p:spPr>
          <a:xfrm>
            <a:off x="270321" y="2862416"/>
            <a:ext cx="4297680" cy="1439981"/>
          </a:xfrm>
          <a:prstGeom prst="rect">
            <a:avLst/>
          </a:prstGeom>
        </p:spPr>
      </p:pic>
    </p:spTree>
    <p:extLst>
      <p:ext uri="{BB962C8B-B14F-4D97-AF65-F5344CB8AC3E}">
        <p14:creationId xmlns:p14="http://schemas.microsoft.com/office/powerpoint/2010/main" val="958165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01AB2-BDE7-FDEA-21C7-E95D54A63E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199070-493B-5BAE-24DE-9D26C858FBB3}"/>
              </a:ext>
            </a:extLst>
          </p:cNvPr>
          <p:cNvSpPr>
            <a:spLocks noGrp="1"/>
          </p:cNvSpPr>
          <p:nvPr>
            <p:ph type="sldNum" sz="quarter" idx="12"/>
          </p:nvPr>
        </p:nvSpPr>
        <p:spPr>
          <a:xfrm>
            <a:off x="4989080" y="9329519"/>
            <a:ext cx="1543050" cy="527403"/>
          </a:xfrm>
        </p:spPr>
        <p:txBody>
          <a:bodyPr/>
          <a:lstStyle/>
          <a:p>
            <a:fld id="{F934066D-384D-4BE1-BDC2-82BCC33558DD}" type="slidenum">
              <a:rPr lang="en-US" sz="800" b="1" smtClean="0">
                <a:solidFill>
                  <a:srgbClr val="C00000"/>
                </a:solidFill>
                <a:latin typeface="+mj-lt"/>
              </a:rPr>
              <a:t>2</a:t>
            </a:fld>
            <a:endParaRPr lang="en-US" sz="800" b="1" dirty="0">
              <a:solidFill>
                <a:srgbClr val="C00000"/>
              </a:solidFill>
              <a:latin typeface="+mj-lt"/>
            </a:endParaRPr>
          </a:p>
        </p:txBody>
      </p:sp>
      <p:sp>
        <p:nvSpPr>
          <p:cNvPr id="6" name="Shape 1">
            <a:extLst>
              <a:ext uri="{FF2B5EF4-FFF2-40B4-BE49-F238E27FC236}">
                <a16:creationId xmlns:a16="http://schemas.microsoft.com/office/drawing/2014/main" id="{6B58B55E-EFBC-8442-E513-82DF374F41D4}"/>
              </a:ext>
            </a:extLst>
          </p:cNvPr>
          <p:cNvSpPr/>
          <p:nvPr/>
        </p:nvSpPr>
        <p:spPr>
          <a:xfrm>
            <a:off x="288607" y="292298"/>
            <a:ext cx="32004" cy="393192"/>
          </a:xfrm>
          <a:prstGeom prst="rect">
            <a:avLst/>
          </a:prstGeom>
          <a:solidFill>
            <a:srgbClr val="A30018"/>
          </a:solidFill>
          <a:ln w="12700">
            <a:solidFill>
              <a:srgbClr val="A30018">
                <a:alpha val="0"/>
              </a:srgbClr>
            </a:solidFill>
            <a:prstDash val="solid"/>
          </a:ln>
        </p:spPr>
        <p:txBody>
          <a:bodyPr/>
          <a:lstStyle/>
          <a:p>
            <a:endParaRPr lang="LID4096"/>
          </a:p>
        </p:txBody>
      </p:sp>
      <p:sp>
        <p:nvSpPr>
          <p:cNvPr id="8" name="Text 2">
            <a:extLst>
              <a:ext uri="{FF2B5EF4-FFF2-40B4-BE49-F238E27FC236}">
                <a16:creationId xmlns:a16="http://schemas.microsoft.com/office/drawing/2014/main" id="{E460A670-934A-20DB-F268-395671FDB693}"/>
              </a:ext>
            </a:extLst>
          </p:cNvPr>
          <p:cNvSpPr/>
          <p:nvPr/>
        </p:nvSpPr>
        <p:spPr>
          <a:xfrm>
            <a:off x="444055" y="278582"/>
            <a:ext cx="5166360" cy="210312"/>
          </a:xfrm>
          <a:prstGeom prst="rect">
            <a:avLst/>
          </a:prstGeom>
          <a:noFill/>
          <a:ln/>
        </p:spPr>
        <p:txBody>
          <a:bodyPr wrap="square" lIns="0" tIns="0" rIns="0" bIns="0" rtlCol="0" anchor="t"/>
          <a:lstStyle/>
          <a:p>
            <a:pPr marL="0" indent="0">
              <a:lnSpc>
                <a:spcPct val="100000"/>
              </a:lnSpc>
              <a:buNone/>
            </a:pPr>
            <a:r>
              <a:rPr lang="en-US" sz="1100" b="1" kern="0" spc="20" dirty="0">
                <a:solidFill>
                  <a:srgbClr val="22282D"/>
                </a:solidFill>
                <a:latin typeface="Aptos Display" pitchFamily="34" charset="0"/>
                <a:ea typeface="Aptos Display" pitchFamily="34" charset="-122"/>
                <a:cs typeface="Aptos Display" pitchFamily="34" charset="-120"/>
              </a:rPr>
              <a:t>MATERIALS AND SURFACE ENGINEERING</a:t>
            </a:r>
            <a:endParaRPr lang="en-US" sz="1100" dirty="0"/>
          </a:p>
        </p:txBody>
      </p:sp>
      <p:sp>
        <p:nvSpPr>
          <p:cNvPr id="10" name="Text 3">
            <a:extLst>
              <a:ext uri="{FF2B5EF4-FFF2-40B4-BE49-F238E27FC236}">
                <a16:creationId xmlns:a16="http://schemas.microsoft.com/office/drawing/2014/main" id="{9B16291C-608B-0A19-58E6-CD467A4AAF05}"/>
              </a:ext>
            </a:extLst>
          </p:cNvPr>
          <p:cNvSpPr/>
          <p:nvPr/>
        </p:nvSpPr>
        <p:spPr>
          <a:xfrm>
            <a:off x="444055" y="516326"/>
            <a:ext cx="5212080" cy="173736"/>
          </a:xfrm>
          <a:prstGeom prst="rect">
            <a:avLst/>
          </a:prstGeom>
          <a:noFill/>
          <a:ln/>
        </p:spPr>
        <p:txBody>
          <a:bodyPr wrap="square" lIns="0" tIns="0" rIns="0" bIns="0" rtlCol="0" anchor="t"/>
          <a:lstStyle/>
          <a:p>
            <a:pPr marL="0" indent="0">
              <a:lnSpc>
                <a:spcPct val="100000"/>
              </a:lnSpc>
              <a:buNone/>
            </a:pPr>
            <a:r>
              <a:rPr lang="en-US" sz="1400" kern="0" spc="55" dirty="0">
                <a:solidFill>
                  <a:srgbClr val="5D666B"/>
                </a:solidFill>
                <a:latin typeface="Aptos" pitchFamily="34" charset="0"/>
                <a:ea typeface="Aptos" pitchFamily="34" charset="-122"/>
                <a:cs typeface="Aptos" pitchFamily="34" charset="-120"/>
              </a:rPr>
              <a:t>DEPARTMENT OF CIVIL AND MECHANICAL ENGINEERING</a:t>
            </a:r>
            <a:endParaRPr lang="en-US" sz="1400" dirty="0"/>
          </a:p>
        </p:txBody>
      </p:sp>
      <p:pic>
        <p:nvPicPr>
          <p:cNvPr id="12" name="Image 0" descr="/mnt/data/dtu_logo.png">
            <a:extLst>
              <a:ext uri="{FF2B5EF4-FFF2-40B4-BE49-F238E27FC236}">
                <a16:creationId xmlns:a16="http://schemas.microsoft.com/office/drawing/2014/main" id="{786890FE-8AE7-59BF-2617-8E2C3FE71300}"/>
              </a:ext>
            </a:extLst>
          </p:cNvPr>
          <p:cNvPicPr>
            <a:picLocks noChangeAspect="1"/>
          </p:cNvPicPr>
          <p:nvPr/>
        </p:nvPicPr>
        <p:blipFill>
          <a:blip r:embed="rId2"/>
          <a:stretch>
            <a:fillRect/>
          </a:stretch>
        </p:blipFill>
        <p:spPr>
          <a:xfrm>
            <a:off x="6223063" y="197200"/>
            <a:ext cx="429768" cy="601675"/>
          </a:xfrm>
          <a:prstGeom prst="rect">
            <a:avLst/>
          </a:prstGeom>
        </p:spPr>
      </p:pic>
      <p:sp>
        <p:nvSpPr>
          <p:cNvPr id="14" name="Shape 4">
            <a:extLst>
              <a:ext uri="{FF2B5EF4-FFF2-40B4-BE49-F238E27FC236}">
                <a16:creationId xmlns:a16="http://schemas.microsoft.com/office/drawing/2014/main" id="{2B239903-00D4-1DD5-597B-9956E2C7B5E3}"/>
              </a:ext>
            </a:extLst>
          </p:cNvPr>
          <p:cNvSpPr/>
          <p:nvPr/>
        </p:nvSpPr>
        <p:spPr>
          <a:xfrm>
            <a:off x="288607" y="936950"/>
            <a:ext cx="6426403" cy="0"/>
          </a:xfrm>
          <a:prstGeom prst="line">
            <a:avLst/>
          </a:prstGeom>
          <a:noFill/>
          <a:ln w="19050">
            <a:solidFill>
              <a:srgbClr val="A30018"/>
            </a:solidFill>
            <a:prstDash val="solid"/>
          </a:ln>
        </p:spPr>
        <p:txBody>
          <a:bodyPr/>
          <a:lstStyle/>
          <a:p>
            <a:endParaRPr lang="LID4096"/>
          </a:p>
        </p:txBody>
      </p:sp>
      <p:sp>
        <p:nvSpPr>
          <p:cNvPr id="16" name="Text 5">
            <a:extLst>
              <a:ext uri="{FF2B5EF4-FFF2-40B4-BE49-F238E27FC236}">
                <a16:creationId xmlns:a16="http://schemas.microsoft.com/office/drawing/2014/main" id="{7F52436A-1E63-4C9F-D276-2497D02F40BE}"/>
              </a:ext>
            </a:extLst>
          </p:cNvPr>
          <p:cNvSpPr/>
          <p:nvPr/>
        </p:nvSpPr>
        <p:spPr>
          <a:xfrm>
            <a:off x="288607" y="1224986"/>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PROJECT LEVEL: Master</a:t>
            </a:r>
            <a:endParaRPr lang="en-US" sz="860" dirty="0"/>
          </a:p>
        </p:txBody>
      </p:sp>
      <p:sp>
        <p:nvSpPr>
          <p:cNvPr id="18" name="Text 6">
            <a:extLst>
              <a:ext uri="{FF2B5EF4-FFF2-40B4-BE49-F238E27FC236}">
                <a16:creationId xmlns:a16="http://schemas.microsoft.com/office/drawing/2014/main" id="{B20E961B-A2DE-81D1-BE84-363FA8326737}"/>
              </a:ext>
            </a:extLst>
          </p:cNvPr>
          <p:cNvSpPr/>
          <p:nvPr/>
        </p:nvSpPr>
        <p:spPr>
          <a:xfrm>
            <a:off x="288607" y="1526738"/>
            <a:ext cx="6426403" cy="631508"/>
          </a:xfrm>
          <a:prstGeom prst="rect">
            <a:avLst/>
          </a:prstGeom>
          <a:noFill/>
          <a:ln/>
        </p:spPr>
        <p:txBody>
          <a:bodyPr wrap="square" lIns="0" tIns="0" rIns="0" bIns="0" rtlCol="0" anchor="t"/>
          <a:lstStyle/>
          <a:p>
            <a:pPr marL="0" indent="0">
              <a:lnSpc>
                <a:spcPct val="95000"/>
              </a:lnSpc>
              <a:buNone/>
            </a:pPr>
            <a:r>
              <a:rPr lang="en-US" sz="2000" b="1" dirty="0">
                <a:solidFill>
                  <a:srgbClr val="22282D"/>
                </a:solidFill>
                <a:latin typeface="Aptos Display" pitchFamily="34" charset="0"/>
                <a:ea typeface="Aptos Display" pitchFamily="34" charset="-122"/>
                <a:cs typeface="Aptos Display" pitchFamily="34" charset="-120"/>
              </a:rPr>
              <a:t>Calcium-Phosphate Ceramic Scaffolds from Volumetrically Printed Hydrogel Templates</a:t>
            </a:r>
            <a:endParaRPr lang="en-US" sz="2000" dirty="0"/>
          </a:p>
        </p:txBody>
      </p:sp>
      <p:sp>
        <p:nvSpPr>
          <p:cNvPr id="24" name="Text 13">
            <a:extLst>
              <a:ext uri="{FF2B5EF4-FFF2-40B4-BE49-F238E27FC236}">
                <a16:creationId xmlns:a16="http://schemas.microsoft.com/office/drawing/2014/main" id="{96088B85-1CA9-9707-E40D-4A13A18CA126}"/>
              </a:ext>
            </a:extLst>
          </p:cNvPr>
          <p:cNvSpPr/>
          <p:nvPr/>
        </p:nvSpPr>
        <p:spPr>
          <a:xfrm>
            <a:off x="288607" y="4568130"/>
            <a:ext cx="4297680" cy="128016"/>
          </a:xfrm>
          <a:prstGeom prst="rect">
            <a:avLst/>
          </a:prstGeom>
          <a:noFill/>
          <a:ln/>
        </p:spPr>
        <p:txBody>
          <a:bodyPr wrap="square" lIns="0" tIns="0" rIns="0" bIns="0" rtlCol="0" anchor="t"/>
          <a:lstStyle/>
          <a:p>
            <a:pPr marL="0" indent="0">
              <a:lnSpc>
                <a:spcPct val="100000"/>
              </a:lnSpc>
              <a:buNone/>
            </a:pPr>
            <a:r>
              <a:rPr lang="en-US" sz="685" kern="0" spc="45" dirty="0">
                <a:solidFill>
                  <a:srgbClr val="5D666B"/>
                </a:solidFill>
                <a:latin typeface="Aptos" pitchFamily="34" charset="0"/>
                <a:ea typeface="Aptos" pitchFamily="34" charset="-122"/>
                <a:cs typeface="Aptos" pitchFamily="34" charset="-120"/>
              </a:rPr>
              <a:t>Proposed fabrication of porous calcium-phosphate ceramic scaffolds through volumetric hydrogel printing, repeated </a:t>
            </a:r>
            <a:r>
              <a:rPr lang="en-US" sz="685" kern="0" spc="45" dirty="0" err="1">
                <a:solidFill>
                  <a:srgbClr val="5D666B"/>
                </a:solidFill>
                <a:latin typeface="Aptos" pitchFamily="34" charset="0"/>
                <a:ea typeface="Aptos" pitchFamily="34" charset="-122"/>
                <a:cs typeface="Aptos" pitchFamily="34" charset="-120"/>
              </a:rPr>
              <a:t>mineralisation</a:t>
            </a:r>
            <a:r>
              <a:rPr lang="en-US" sz="685" kern="0" spc="45" dirty="0">
                <a:solidFill>
                  <a:srgbClr val="5D666B"/>
                </a:solidFill>
                <a:latin typeface="Aptos" pitchFamily="34" charset="0"/>
                <a:ea typeface="Aptos" pitchFamily="34" charset="-122"/>
                <a:cs typeface="Aptos" pitchFamily="34" charset="-120"/>
              </a:rPr>
              <a:t>, and thermal conversion.</a:t>
            </a:r>
            <a:endParaRPr lang="en-US" sz="685" dirty="0"/>
          </a:p>
        </p:txBody>
      </p:sp>
      <p:sp>
        <p:nvSpPr>
          <p:cNvPr id="26" name="Shape 14">
            <a:extLst>
              <a:ext uri="{FF2B5EF4-FFF2-40B4-BE49-F238E27FC236}">
                <a16:creationId xmlns:a16="http://schemas.microsoft.com/office/drawing/2014/main" id="{5063E20D-478C-E1BC-B31C-2E241313A30A}"/>
              </a:ext>
            </a:extLst>
          </p:cNvPr>
          <p:cNvSpPr/>
          <p:nvPr/>
        </p:nvSpPr>
        <p:spPr>
          <a:xfrm>
            <a:off x="4686871" y="2499812"/>
            <a:ext cx="0" cy="2112264"/>
          </a:xfrm>
          <a:prstGeom prst="line">
            <a:avLst/>
          </a:prstGeom>
          <a:noFill/>
          <a:ln w="12700">
            <a:solidFill>
              <a:srgbClr val="DFE2E3"/>
            </a:solidFill>
            <a:prstDash val="solid"/>
          </a:ln>
        </p:spPr>
        <p:txBody>
          <a:bodyPr/>
          <a:lstStyle/>
          <a:p>
            <a:endParaRPr lang="LID4096"/>
          </a:p>
        </p:txBody>
      </p:sp>
      <p:sp>
        <p:nvSpPr>
          <p:cNvPr id="28" name="Text 15">
            <a:extLst>
              <a:ext uri="{FF2B5EF4-FFF2-40B4-BE49-F238E27FC236}">
                <a16:creationId xmlns:a16="http://schemas.microsoft.com/office/drawing/2014/main" id="{5E62978B-C4AA-3F32-1E8B-6F474A5CDCFE}"/>
              </a:ext>
            </a:extLst>
          </p:cNvPr>
          <p:cNvSpPr/>
          <p:nvPr/>
        </p:nvSpPr>
        <p:spPr>
          <a:xfrm>
            <a:off x="4805743" y="2536388"/>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SUPERVISORS</a:t>
            </a:r>
            <a:endParaRPr lang="en-US" sz="860" dirty="0"/>
          </a:p>
        </p:txBody>
      </p:sp>
      <p:sp>
        <p:nvSpPr>
          <p:cNvPr id="30" name="Text 16">
            <a:extLst>
              <a:ext uri="{FF2B5EF4-FFF2-40B4-BE49-F238E27FC236}">
                <a16:creationId xmlns:a16="http://schemas.microsoft.com/office/drawing/2014/main" id="{8832B4B5-AB8C-F0E8-5EF8-B07D1B592FBD}"/>
              </a:ext>
            </a:extLst>
          </p:cNvPr>
          <p:cNvSpPr/>
          <p:nvPr/>
        </p:nvSpPr>
        <p:spPr>
          <a:xfrm>
            <a:off x="4805743" y="2810708"/>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Masoud Hasany</a:t>
            </a:r>
            <a:endParaRPr lang="en-US" sz="950" dirty="0"/>
          </a:p>
        </p:txBody>
      </p:sp>
      <p:sp>
        <p:nvSpPr>
          <p:cNvPr id="32" name="Text 17">
            <a:extLst>
              <a:ext uri="{FF2B5EF4-FFF2-40B4-BE49-F238E27FC236}">
                <a16:creationId xmlns:a16="http://schemas.microsoft.com/office/drawing/2014/main" id="{FD51A6B9-DB81-42D0-EDBF-EDDE6D764226}"/>
              </a:ext>
            </a:extLst>
          </p:cNvPr>
          <p:cNvSpPr/>
          <p:nvPr/>
        </p:nvSpPr>
        <p:spPr>
          <a:xfrm>
            <a:off x="4805743" y="3021020"/>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[mahas@dtu.dk]</a:t>
            </a:r>
            <a:endParaRPr lang="en-US" sz="830" dirty="0"/>
          </a:p>
        </p:txBody>
      </p:sp>
      <p:sp>
        <p:nvSpPr>
          <p:cNvPr id="34" name="Text 18">
            <a:extLst>
              <a:ext uri="{FF2B5EF4-FFF2-40B4-BE49-F238E27FC236}">
                <a16:creationId xmlns:a16="http://schemas.microsoft.com/office/drawing/2014/main" id="{09A98D09-B2AA-24D7-A2A5-02036C113492}"/>
              </a:ext>
            </a:extLst>
          </p:cNvPr>
          <p:cNvSpPr/>
          <p:nvPr/>
        </p:nvSpPr>
        <p:spPr>
          <a:xfrm>
            <a:off x="4805743" y="3304484"/>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Mehdi Mehrali</a:t>
            </a:r>
            <a:endParaRPr lang="en-US" sz="950" dirty="0"/>
          </a:p>
        </p:txBody>
      </p:sp>
      <p:sp>
        <p:nvSpPr>
          <p:cNvPr id="36" name="Text 19">
            <a:extLst>
              <a:ext uri="{FF2B5EF4-FFF2-40B4-BE49-F238E27FC236}">
                <a16:creationId xmlns:a16="http://schemas.microsoft.com/office/drawing/2014/main" id="{C6026BF6-863E-C9A5-FF45-52E87BF0D305}"/>
              </a:ext>
            </a:extLst>
          </p:cNvPr>
          <p:cNvSpPr/>
          <p:nvPr/>
        </p:nvSpPr>
        <p:spPr>
          <a:xfrm>
            <a:off x="4805743" y="3514796"/>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[meme@dtu.dk]</a:t>
            </a:r>
            <a:endParaRPr lang="en-US" sz="830" dirty="0"/>
          </a:p>
        </p:txBody>
      </p:sp>
      <p:sp>
        <p:nvSpPr>
          <p:cNvPr id="38" name="Text 20">
            <a:extLst>
              <a:ext uri="{FF2B5EF4-FFF2-40B4-BE49-F238E27FC236}">
                <a16:creationId xmlns:a16="http://schemas.microsoft.com/office/drawing/2014/main" id="{901FFF5B-68A4-5185-BF47-6C05E80D5945}"/>
              </a:ext>
            </a:extLst>
          </p:cNvPr>
          <p:cNvSpPr/>
          <p:nvPr/>
        </p:nvSpPr>
        <p:spPr>
          <a:xfrm>
            <a:off x="4805743" y="4201549"/>
            <a:ext cx="1901952" cy="201168"/>
          </a:xfrm>
          <a:prstGeom prst="rect">
            <a:avLst/>
          </a:prstGeom>
          <a:noFill/>
          <a:ln/>
        </p:spPr>
        <p:txBody>
          <a:bodyPr wrap="square" lIns="0" tIns="0" rIns="0" bIns="0" rtlCol="0" anchor="t"/>
          <a:lstStyle/>
          <a:p>
            <a:pPr marL="0" indent="0">
              <a:lnSpc>
                <a:spcPct val="100000"/>
              </a:lnSpc>
              <a:buNone/>
            </a:pPr>
            <a:r>
              <a:rPr lang="en-US" sz="950" b="1" dirty="0">
                <a:solidFill>
                  <a:srgbClr val="5D666B"/>
                </a:solidFill>
                <a:latin typeface="Aptos Display" pitchFamily="34" charset="0"/>
                <a:ea typeface="Aptos Display" pitchFamily="34" charset="-122"/>
                <a:cs typeface="Aptos Display" pitchFamily="34" charset="-120"/>
              </a:rPr>
              <a:t>Aminul Islam</a:t>
            </a:r>
            <a:endParaRPr lang="en-US" sz="950" dirty="0"/>
          </a:p>
        </p:txBody>
      </p:sp>
      <p:sp>
        <p:nvSpPr>
          <p:cNvPr id="40" name="Text 21">
            <a:extLst>
              <a:ext uri="{FF2B5EF4-FFF2-40B4-BE49-F238E27FC236}">
                <a16:creationId xmlns:a16="http://schemas.microsoft.com/office/drawing/2014/main" id="{4961FD47-F457-50EC-5B28-E8F9AF2D44CA}"/>
              </a:ext>
            </a:extLst>
          </p:cNvPr>
          <p:cNvSpPr/>
          <p:nvPr/>
        </p:nvSpPr>
        <p:spPr>
          <a:xfrm>
            <a:off x="4805743" y="4411861"/>
            <a:ext cx="1901952" cy="164592"/>
          </a:xfrm>
          <a:prstGeom prst="rect">
            <a:avLst/>
          </a:prstGeom>
          <a:noFill/>
          <a:ln/>
        </p:spPr>
        <p:txBody>
          <a:bodyPr wrap="square" lIns="0" tIns="0" rIns="0" bIns="0" rtlCol="0" anchor="t"/>
          <a:lstStyle/>
          <a:p>
            <a:pPr marL="0" indent="0">
              <a:lnSpc>
                <a:spcPct val="100000"/>
              </a:lnSpc>
              <a:buNone/>
            </a:pPr>
            <a:r>
              <a:rPr lang="en-US" sz="830" dirty="0">
                <a:solidFill>
                  <a:srgbClr val="A30018"/>
                </a:solidFill>
                <a:latin typeface="Aptos" pitchFamily="34" charset="0"/>
                <a:ea typeface="Aptos" pitchFamily="34" charset="-122"/>
                <a:cs typeface="Aptos" pitchFamily="34" charset="-120"/>
              </a:rPr>
              <a:t>[mais@dtu.dk]</a:t>
            </a:r>
            <a:endParaRPr lang="en-US" sz="830" dirty="0"/>
          </a:p>
        </p:txBody>
      </p:sp>
      <p:sp>
        <p:nvSpPr>
          <p:cNvPr id="42" name="Text 22">
            <a:extLst>
              <a:ext uri="{FF2B5EF4-FFF2-40B4-BE49-F238E27FC236}">
                <a16:creationId xmlns:a16="http://schemas.microsoft.com/office/drawing/2014/main" id="{9A1D1C19-FD9B-1C6B-DC61-CAA1B8FE17AF}"/>
              </a:ext>
            </a:extLst>
          </p:cNvPr>
          <p:cNvSpPr/>
          <p:nvPr/>
        </p:nvSpPr>
        <p:spPr>
          <a:xfrm>
            <a:off x="4805743" y="4020954"/>
            <a:ext cx="1901952"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5D666B"/>
                </a:solidFill>
                <a:latin typeface="Aptos Display" pitchFamily="34" charset="0"/>
                <a:ea typeface="Aptos Display" pitchFamily="34" charset="-122"/>
                <a:cs typeface="Aptos Display" pitchFamily="34" charset="-120"/>
              </a:rPr>
              <a:t>COLLABORATION</a:t>
            </a:r>
            <a:endParaRPr lang="en-US" sz="860" dirty="0"/>
          </a:p>
        </p:txBody>
      </p:sp>
      <p:sp>
        <p:nvSpPr>
          <p:cNvPr id="46" name="Shape 24">
            <a:extLst>
              <a:ext uri="{FF2B5EF4-FFF2-40B4-BE49-F238E27FC236}">
                <a16:creationId xmlns:a16="http://schemas.microsoft.com/office/drawing/2014/main" id="{F9FF58E4-9FF7-A858-240A-9BDF8AC2FF30}"/>
              </a:ext>
            </a:extLst>
          </p:cNvPr>
          <p:cNvSpPr/>
          <p:nvPr/>
        </p:nvSpPr>
        <p:spPr>
          <a:xfrm>
            <a:off x="288607" y="4886396"/>
            <a:ext cx="6426403" cy="0"/>
          </a:xfrm>
          <a:prstGeom prst="line">
            <a:avLst/>
          </a:prstGeom>
          <a:noFill/>
          <a:ln w="10795">
            <a:solidFill>
              <a:srgbClr val="DFE2E3"/>
            </a:solidFill>
            <a:prstDash val="solid"/>
          </a:ln>
        </p:spPr>
        <p:txBody>
          <a:bodyPr/>
          <a:lstStyle/>
          <a:p>
            <a:endParaRPr lang="LID4096"/>
          </a:p>
        </p:txBody>
      </p:sp>
      <p:sp>
        <p:nvSpPr>
          <p:cNvPr id="48" name="Text 25">
            <a:extLst>
              <a:ext uri="{FF2B5EF4-FFF2-40B4-BE49-F238E27FC236}">
                <a16:creationId xmlns:a16="http://schemas.microsoft.com/office/drawing/2014/main" id="{7FF3EC1C-0EF3-B070-B06A-0F38D63C5018}"/>
              </a:ext>
            </a:extLst>
          </p:cNvPr>
          <p:cNvSpPr/>
          <p:nvPr/>
        </p:nvSpPr>
        <p:spPr>
          <a:xfrm>
            <a:off x="288607" y="493582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01  /  PROJECT BACKGROUND</a:t>
            </a:r>
            <a:endParaRPr lang="en-US" sz="860" dirty="0"/>
          </a:p>
        </p:txBody>
      </p:sp>
      <p:sp>
        <p:nvSpPr>
          <p:cNvPr id="50" name="Text 26">
            <a:extLst>
              <a:ext uri="{FF2B5EF4-FFF2-40B4-BE49-F238E27FC236}">
                <a16:creationId xmlns:a16="http://schemas.microsoft.com/office/drawing/2014/main" id="{DF9CA9F7-5C5C-7DB6-445B-20DD079452B3}"/>
              </a:ext>
            </a:extLst>
          </p:cNvPr>
          <p:cNvSpPr/>
          <p:nvPr/>
        </p:nvSpPr>
        <p:spPr>
          <a:xfrm>
            <a:off x="288607" y="5077008"/>
            <a:ext cx="6426403" cy="781149"/>
          </a:xfrm>
          <a:prstGeom prst="rect">
            <a:avLst/>
          </a:prstGeom>
          <a:noFill/>
          <a:ln/>
        </p:spPr>
        <p:txBody>
          <a:bodyPr wrap="square" lIns="0" tIns="0" rIns="0" bIns="0" rtlCol="0" anchor="t"/>
          <a:lstStyle/>
          <a:p>
            <a:pPr marL="0" indent="0" algn="just">
              <a:lnSpc>
                <a:spcPct val="104000"/>
              </a:lnSpc>
              <a:buNone/>
            </a:pPr>
            <a:r>
              <a:rPr lang="en-US" sz="990" dirty="0">
                <a:solidFill>
                  <a:srgbClr val="5D666B"/>
                </a:solidFill>
                <a:latin typeface="Aptos" pitchFamily="34" charset="0"/>
                <a:ea typeface="Aptos" pitchFamily="34" charset="-122"/>
                <a:cs typeface="Aptos" pitchFamily="34" charset="-120"/>
              </a:rPr>
              <a:t>Calcium-phosphate ceramics resemble the mineral component of bone and are widely investigated as scaffolds for bone regeneration. Their performance depends on both material composition and architecture, including pore connectivity, strut dimensions, and defects introduced during fabrication. Producing complex, interconnected structures while maintaining sufficient mechanical integrity remains a challenge. Volumetric additive manufacturing (VAM) enables rapid fabrication of three-dimensional structures within a photosensitive resin. However, incorporating ceramic particles directly into the resin can cause light scattering, restricting the achievable inorganic loading and printing accuracy. An alternative is to print a transparent hydrogel template first and introduce the inorganic material afterward.</a:t>
            </a:r>
            <a:endParaRPr lang="en-US" sz="990" dirty="0"/>
          </a:p>
        </p:txBody>
      </p:sp>
      <p:sp>
        <p:nvSpPr>
          <p:cNvPr id="52" name="Text 27">
            <a:extLst>
              <a:ext uri="{FF2B5EF4-FFF2-40B4-BE49-F238E27FC236}">
                <a16:creationId xmlns:a16="http://schemas.microsoft.com/office/drawing/2014/main" id="{9F938830-BCE0-A038-B356-76F25DDBC54C}"/>
              </a:ext>
            </a:extLst>
          </p:cNvPr>
          <p:cNvSpPr/>
          <p:nvPr/>
        </p:nvSpPr>
        <p:spPr>
          <a:xfrm>
            <a:off x="288607" y="6336383"/>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02  /  PROJECT AIM</a:t>
            </a:r>
            <a:endParaRPr lang="en-US" sz="860" dirty="0"/>
          </a:p>
        </p:txBody>
      </p:sp>
      <p:sp>
        <p:nvSpPr>
          <p:cNvPr id="54" name="Text 28">
            <a:extLst>
              <a:ext uri="{FF2B5EF4-FFF2-40B4-BE49-F238E27FC236}">
                <a16:creationId xmlns:a16="http://schemas.microsoft.com/office/drawing/2014/main" id="{017FBE00-AAE8-72F7-C82E-DA965F49F5C3}"/>
              </a:ext>
            </a:extLst>
          </p:cNvPr>
          <p:cNvSpPr/>
          <p:nvPr/>
        </p:nvSpPr>
        <p:spPr>
          <a:xfrm>
            <a:off x="288607" y="6525098"/>
            <a:ext cx="6426403" cy="872707"/>
          </a:xfrm>
          <a:prstGeom prst="rect">
            <a:avLst/>
          </a:prstGeom>
          <a:noFill/>
          <a:ln/>
        </p:spPr>
        <p:txBody>
          <a:bodyPr wrap="square" lIns="0" tIns="0" rIns="0" bIns="0" rtlCol="0" anchor="t"/>
          <a:lstStyle/>
          <a:p>
            <a:pPr algn="just">
              <a:lnSpc>
                <a:spcPct val="103000"/>
              </a:lnSpc>
            </a:pPr>
            <a:r>
              <a:rPr lang="en-US" sz="1000" dirty="0">
                <a:solidFill>
                  <a:srgbClr val="5D666B"/>
                </a:solidFill>
                <a:latin typeface="Aptos" pitchFamily="34" charset="0"/>
                <a:ea typeface="Aptos" pitchFamily="34" charset="-122"/>
                <a:cs typeface="Aptos" pitchFamily="34" charset="-120"/>
              </a:rPr>
              <a:t>This project explores repeated calcium-phosphate mineralization of VAM-printed hydrogel templates, followed by polymer removal and thermal consolidation. The central challenge is to form a sufficiently continuous mineral network throughout the template so that the resulting ceramic retains its architecture. The work will investigate how hydrogel composition and mineralization conditions influence this conversion. The intended outcome is a processing–structure–property relationship that identifies conditions suitable for producing ceramic scaffolds with preserved interconnected pores and reproducible mechanical properties. The materials will be developed as candidates for future bone-regeneration applications.</a:t>
            </a:r>
            <a:endParaRPr lang="en-US" sz="1000" dirty="0"/>
          </a:p>
        </p:txBody>
      </p:sp>
      <p:sp>
        <p:nvSpPr>
          <p:cNvPr id="56" name="Text 29">
            <a:extLst>
              <a:ext uri="{FF2B5EF4-FFF2-40B4-BE49-F238E27FC236}">
                <a16:creationId xmlns:a16="http://schemas.microsoft.com/office/drawing/2014/main" id="{748D41C8-0A74-D4C4-5625-D0841BB53D61}"/>
              </a:ext>
            </a:extLst>
          </p:cNvPr>
          <p:cNvSpPr/>
          <p:nvPr/>
        </p:nvSpPr>
        <p:spPr>
          <a:xfrm>
            <a:off x="288607" y="7692296"/>
            <a:ext cx="6426403" cy="203200"/>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03  /  PROJECT ACTIVITIES</a:t>
            </a:r>
            <a:endParaRPr lang="en-US" sz="860" dirty="0"/>
          </a:p>
        </p:txBody>
      </p:sp>
      <p:sp>
        <p:nvSpPr>
          <p:cNvPr id="58" name="Text 30">
            <a:extLst>
              <a:ext uri="{FF2B5EF4-FFF2-40B4-BE49-F238E27FC236}">
                <a16:creationId xmlns:a16="http://schemas.microsoft.com/office/drawing/2014/main" id="{ACACB55D-14ED-F5F6-C740-9364E1457C72}"/>
              </a:ext>
            </a:extLst>
          </p:cNvPr>
          <p:cNvSpPr/>
          <p:nvPr/>
        </p:nvSpPr>
        <p:spPr>
          <a:xfrm>
            <a:off x="306895" y="7845390"/>
            <a:ext cx="6633655" cy="1008643"/>
          </a:xfrm>
          <a:prstGeom prst="rect">
            <a:avLst/>
          </a:prstGeom>
          <a:noFill/>
          <a:ln/>
        </p:spPr>
        <p:txBody>
          <a:bodyPr wrap="square" lIns="0" tIns="0" rIns="0" bIns="0" rtlCol="0" anchor="t"/>
          <a:lstStyle/>
          <a:p>
            <a:pPr>
              <a:lnSpc>
                <a:spcPct val="106000"/>
              </a:lnSpc>
              <a:buSzPct val="100000"/>
            </a:pPr>
            <a:r>
              <a:rPr lang="en-US" sz="1000" dirty="0">
                <a:solidFill>
                  <a:srgbClr val="5D666B"/>
                </a:solidFill>
                <a:latin typeface="Aptos" pitchFamily="34" charset="0"/>
              </a:rPr>
              <a:t>Month 1 · Review hydrogel </a:t>
            </a:r>
            <a:r>
              <a:rPr lang="en-US" sz="1000" dirty="0" err="1">
                <a:solidFill>
                  <a:srgbClr val="5D666B"/>
                </a:solidFill>
                <a:latin typeface="Aptos" pitchFamily="34" charset="0"/>
              </a:rPr>
              <a:t>mineralisation</a:t>
            </a:r>
            <a:r>
              <a:rPr lang="en-US" sz="1000" dirty="0">
                <a:solidFill>
                  <a:srgbClr val="5D666B"/>
                </a:solidFill>
                <a:latin typeface="Aptos" pitchFamily="34" charset="0"/>
              </a:rPr>
              <a:t>, calcium-phosphate ceramics and VAM literature; lab safety and printer</a:t>
            </a:r>
          </a:p>
          <a:p>
            <a:pPr>
              <a:lnSpc>
                <a:spcPct val="106000"/>
              </a:lnSpc>
              <a:buSzPct val="100000"/>
            </a:pPr>
            <a:r>
              <a:rPr lang="en-US" sz="1000" dirty="0">
                <a:solidFill>
                  <a:srgbClr val="5D666B"/>
                </a:solidFill>
                <a:latin typeface="Aptos" pitchFamily="34" charset="0"/>
              </a:rPr>
              <a:t>Months 1–2 · Prepare hydrogel specimens, screen repeated calcium-loading and phosphate-exposure cycles</a:t>
            </a:r>
          </a:p>
          <a:p>
            <a:pPr>
              <a:lnSpc>
                <a:spcPct val="106000"/>
              </a:lnSpc>
              <a:buSzPct val="100000"/>
            </a:pPr>
            <a:r>
              <a:rPr lang="en-US" sz="1000" dirty="0">
                <a:solidFill>
                  <a:srgbClr val="5D666B"/>
                </a:solidFill>
                <a:latin typeface="Aptos" pitchFamily="34" charset="0"/>
              </a:rPr>
              <a:t>Months 3–4 · VAM-print porous lattices, refine </a:t>
            </a:r>
            <a:r>
              <a:rPr lang="en-US" sz="1000" dirty="0" err="1">
                <a:solidFill>
                  <a:srgbClr val="5D666B"/>
                </a:solidFill>
                <a:latin typeface="Aptos" pitchFamily="34" charset="0"/>
              </a:rPr>
              <a:t>mineralisation</a:t>
            </a:r>
            <a:endParaRPr lang="en-US" sz="1000" dirty="0">
              <a:solidFill>
                <a:srgbClr val="5D666B"/>
              </a:solidFill>
              <a:latin typeface="Aptos" pitchFamily="34" charset="0"/>
            </a:endParaRPr>
          </a:p>
          <a:p>
            <a:pPr>
              <a:lnSpc>
                <a:spcPct val="106000"/>
              </a:lnSpc>
              <a:buSzPct val="100000"/>
            </a:pPr>
            <a:r>
              <a:rPr lang="en-US" sz="1000" dirty="0">
                <a:solidFill>
                  <a:srgbClr val="5D666B"/>
                </a:solidFill>
                <a:latin typeface="Aptos" pitchFamily="34" charset="0"/>
              </a:rPr>
              <a:t>Months 4–5 · Measure dimensional shrinkage and compression properties; assess pore connectivity and defects by micro-CT and microscopy</a:t>
            </a:r>
          </a:p>
          <a:p>
            <a:pPr>
              <a:lnSpc>
                <a:spcPct val="106000"/>
              </a:lnSpc>
              <a:buSzPct val="100000"/>
            </a:pPr>
            <a:r>
              <a:rPr lang="en-US" sz="1000" dirty="0">
                <a:solidFill>
                  <a:srgbClr val="5D666B"/>
                </a:solidFill>
                <a:latin typeface="Aptos" pitchFamily="34" charset="0"/>
              </a:rPr>
              <a:t>Month 5 · Thesis write-up, documented data set and final presentation to the group</a:t>
            </a:r>
          </a:p>
        </p:txBody>
      </p:sp>
      <p:sp>
        <p:nvSpPr>
          <p:cNvPr id="68" name="Text 35">
            <a:extLst>
              <a:ext uri="{FF2B5EF4-FFF2-40B4-BE49-F238E27FC236}">
                <a16:creationId xmlns:a16="http://schemas.microsoft.com/office/drawing/2014/main" id="{4A4DBDF1-3D3C-7FB6-AA3B-6A6322DB9BFC}"/>
              </a:ext>
            </a:extLst>
          </p:cNvPr>
          <p:cNvSpPr/>
          <p:nvPr/>
        </p:nvSpPr>
        <p:spPr>
          <a:xfrm>
            <a:off x="288607" y="8883037"/>
            <a:ext cx="6426403" cy="201168"/>
          </a:xfrm>
          <a:prstGeom prst="rect">
            <a:avLst/>
          </a:prstGeom>
          <a:noFill/>
          <a:ln/>
        </p:spPr>
        <p:txBody>
          <a:bodyPr wrap="square" lIns="0" tIns="0" rIns="0" bIns="0" rtlCol="0" anchor="t"/>
          <a:lstStyle/>
          <a:p>
            <a:pPr marL="0" indent="0">
              <a:lnSpc>
                <a:spcPct val="100000"/>
              </a:lnSpc>
              <a:buNone/>
            </a:pPr>
            <a:r>
              <a:rPr lang="en-US" sz="860" b="1" kern="0" spc="120" dirty="0">
                <a:solidFill>
                  <a:srgbClr val="A30018"/>
                </a:solidFill>
                <a:latin typeface="Aptos Display" pitchFamily="34" charset="0"/>
                <a:ea typeface="Aptos Display" pitchFamily="34" charset="-122"/>
                <a:cs typeface="Aptos Display" pitchFamily="34" charset="-120"/>
              </a:rPr>
              <a:t>04  /  PRACTICAL NOTES</a:t>
            </a:r>
            <a:endParaRPr lang="en-US" sz="860" dirty="0"/>
          </a:p>
        </p:txBody>
      </p:sp>
      <p:sp>
        <p:nvSpPr>
          <p:cNvPr id="70" name="Text 36">
            <a:extLst>
              <a:ext uri="{FF2B5EF4-FFF2-40B4-BE49-F238E27FC236}">
                <a16:creationId xmlns:a16="http://schemas.microsoft.com/office/drawing/2014/main" id="{A27994C0-D98D-8842-1AAD-1A1DA6A32240}"/>
              </a:ext>
            </a:extLst>
          </p:cNvPr>
          <p:cNvSpPr/>
          <p:nvPr/>
        </p:nvSpPr>
        <p:spPr>
          <a:xfrm>
            <a:off x="288607" y="9043106"/>
            <a:ext cx="6426403" cy="438912"/>
          </a:xfrm>
          <a:prstGeom prst="rect">
            <a:avLst/>
          </a:prstGeom>
          <a:noFill/>
          <a:ln/>
        </p:spPr>
        <p:txBody>
          <a:bodyPr wrap="square" lIns="0" tIns="0" rIns="0" bIns="0" rtlCol="0" anchor="t"/>
          <a:lstStyle/>
          <a:p>
            <a:pPr>
              <a:lnSpc>
                <a:spcPct val="102000"/>
              </a:lnSpc>
            </a:pPr>
            <a:r>
              <a:rPr lang="en-US" sz="975" dirty="0">
                <a:solidFill>
                  <a:srgbClr val="5D666B"/>
                </a:solidFill>
                <a:latin typeface="Aptos" pitchFamily="34" charset="0"/>
                <a:ea typeface="Aptos" pitchFamily="34" charset="-122"/>
                <a:cs typeface="Aptos" pitchFamily="34" charset="-120"/>
              </a:rPr>
              <a:t>Experimental MSc project combining polymer formulation, additive manufacturing, and </a:t>
            </a:r>
            <a:r>
              <a:rPr lang="en-US" sz="975" dirty="0"/>
              <a:t>biomedical engineering</a:t>
            </a:r>
            <a:r>
              <a:rPr lang="en-US" sz="975" dirty="0">
                <a:solidFill>
                  <a:srgbClr val="5D666B"/>
                </a:solidFill>
                <a:latin typeface="Aptos" pitchFamily="34" charset="0"/>
                <a:ea typeface="Aptos" pitchFamily="34" charset="-122"/>
                <a:cs typeface="Aptos" pitchFamily="34" charset="-120"/>
              </a:rPr>
              <a:t>. An interest in polymer chemistry and laboratory work is required.</a:t>
            </a:r>
          </a:p>
        </p:txBody>
      </p:sp>
      <p:sp>
        <p:nvSpPr>
          <p:cNvPr id="72" name="Shape 38">
            <a:extLst>
              <a:ext uri="{FF2B5EF4-FFF2-40B4-BE49-F238E27FC236}">
                <a16:creationId xmlns:a16="http://schemas.microsoft.com/office/drawing/2014/main" id="{9D860B67-268D-120C-4FA5-5CAEC7374809}"/>
              </a:ext>
            </a:extLst>
          </p:cNvPr>
          <p:cNvSpPr/>
          <p:nvPr/>
        </p:nvSpPr>
        <p:spPr>
          <a:xfrm>
            <a:off x="288607" y="9482018"/>
            <a:ext cx="6426403" cy="0"/>
          </a:xfrm>
          <a:prstGeom prst="line">
            <a:avLst/>
          </a:prstGeom>
          <a:noFill/>
          <a:ln w="10160">
            <a:solidFill>
              <a:srgbClr val="DFE2E3"/>
            </a:solidFill>
            <a:prstDash val="solid"/>
          </a:ln>
        </p:spPr>
        <p:txBody>
          <a:bodyPr/>
          <a:lstStyle/>
          <a:p>
            <a:endParaRPr lang="LID4096"/>
          </a:p>
        </p:txBody>
      </p:sp>
      <p:sp>
        <p:nvSpPr>
          <p:cNvPr id="74" name="Text 39">
            <a:extLst>
              <a:ext uri="{FF2B5EF4-FFF2-40B4-BE49-F238E27FC236}">
                <a16:creationId xmlns:a16="http://schemas.microsoft.com/office/drawing/2014/main" id="{37AEFC9E-1F63-D560-3DF6-10B4720F7314}"/>
              </a:ext>
            </a:extLst>
          </p:cNvPr>
          <p:cNvSpPr/>
          <p:nvPr/>
        </p:nvSpPr>
        <p:spPr>
          <a:xfrm>
            <a:off x="288607" y="9555170"/>
            <a:ext cx="4480560" cy="137160"/>
          </a:xfrm>
          <a:prstGeom prst="rect">
            <a:avLst/>
          </a:prstGeom>
          <a:noFill/>
          <a:ln/>
        </p:spPr>
        <p:txBody>
          <a:bodyPr wrap="square" lIns="0" tIns="0" rIns="0" bIns="0" rtlCol="0" anchor="t"/>
          <a:lstStyle/>
          <a:p>
            <a:pPr marL="0" indent="0">
              <a:lnSpc>
                <a:spcPct val="100000"/>
              </a:lnSpc>
              <a:buNone/>
            </a:pPr>
            <a:r>
              <a:rPr lang="en-US" sz="715" kern="0" spc="60" dirty="0">
                <a:solidFill>
                  <a:srgbClr val="5D666B"/>
                </a:solidFill>
                <a:latin typeface="Aptos Display" pitchFamily="34" charset="0"/>
                <a:ea typeface="Aptos Display" pitchFamily="34" charset="-122"/>
                <a:cs typeface="Aptos Display" pitchFamily="34" charset="-120"/>
              </a:rPr>
              <a:t>DTU CONSTRUCT  /  MATERIALS AND SURFACE ENGINEERING</a:t>
            </a:r>
            <a:endParaRPr lang="en-US" sz="715" dirty="0"/>
          </a:p>
        </p:txBody>
      </p:sp>
      <p:pic>
        <p:nvPicPr>
          <p:cNvPr id="9" name="Picture 8">
            <a:extLst>
              <a:ext uri="{FF2B5EF4-FFF2-40B4-BE49-F238E27FC236}">
                <a16:creationId xmlns:a16="http://schemas.microsoft.com/office/drawing/2014/main" id="{DC8D54D9-8FD3-1283-FFA8-334A2F301877}"/>
              </a:ext>
            </a:extLst>
          </p:cNvPr>
          <p:cNvPicPr>
            <a:picLocks noChangeAspect="1"/>
          </p:cNvPicPr>
          <p:nvPr/>
        </p:nvPicPr>
        <p:blipFill>
          <a:blip r:embed="rId3"/>
          <a:srcRect t="18135"/>
          <a:stretch>
            <a:fillRect/>
          </a:stretch>
        </p:blipFill>
        <p:spPr>
          <a:xfrm>
            <a:off x="200173" y="2511898"/>
            <a:ext cx="4474548" cy="2061591"/>
          </a:xfrm>
          <a:prstGeom prst="rect">
            <a:avLst/>
          </a:prstGeom>
        </p:spPr>
      </p:pic>
    </p:spTree>
    <p:extLst>
      <p:ext uri="{BB962C8B-B14F-4D97-AF65-F5344CB8AC3E}">
        <p14:creationId xmlns:p14="http://schemas.microsoft.com/office/powerpoint/2010/main" val="33997597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C886267-4387-4BCF-8C7B-6E6A2E9CAD4C}">
  <we:reference id="wa200010725" version="1.0.0.1" store="en-US" storeType="OMEX"/>
  <we:alternateReferences>
    <we:reference id="WA200010725" version="1.0.0.1" store="WA200010725" storeType="OMEX"/>
  </we:alternateReferences>
  <we:properties>
    <we:property name="claude.fileId" value="&quot;fe9485bc-d042-4b99-98ad-9b0a4dc45c9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1345</TotalTime>
  <Words>826</Words>
  <Application>Microsoft Office PowerPoint</Application>
  <PresentationFormat>A4 Paper (210x297 mm)</PresentationFormat>
  <Paragraphs>55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TECHNICAL UNIVERSITY OF DENMARK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Masoud Hasany</dc:creator>
  <cp:lastModifiedBy>Masoud Hasany</cp:lastModifiedBy>
  <cp:revision>7</cp:revision>
  <cp:lastPrinted>2026-10-09T11:17:07Z</cp:lastPrinted>
  <dcterms:created xsi:type="dcterms:W3CDTF">2026-10-09T11:09:38Z</dcterms:created>
  <dcterms:modified xsi:type="dcterms:W3CDTF">2026-10-27T11:07:54Z</dcterms:modified>
</cp:coreProperties>
</file>