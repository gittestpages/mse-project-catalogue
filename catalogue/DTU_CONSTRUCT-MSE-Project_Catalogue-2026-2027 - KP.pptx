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257" r:id="rId2"/>
    <p:sldId id="259" r:id="rId3"/>
    <p:sldId id="258" r:id="rId4"/>
    <p:sldId id="256" r:id="rId5"/>
    <p:sldId id="261" r:id="rId6"/>
  </p:sldIdLst>
  <p:sldSz cx="6858000" cy="9906000" type="A4"/>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64" autoAdjust="0"/>
    <p:restoredTop sz="94660"/>
  </p:normalViewPr>
  <p:slideViewPr>
    <p:cSldViewPr snapToGrid="0">
      <p:cViewPr>
        <p:scale>
          <a:sx n="220" d="100"/>
          <a:sy n="220" d="100"/>
        </p:scale>
        <p:origin x="378" y="-56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CC5A8F6C-B07C-452E-B339-02239878CD78}" type="datetimeFigureOut">
              <a:rPr lang="en-US" smtClean="0"/>
              <a:t>10/26/2026</a:t>
            </a:fld>
            <a:endParaRPr lang="en-US"/>
          </a:p>
        </p:txBody>
      </p:sp>
      <p:sp>
        <p:nvSpPr>
          <p:cNvPr id="4" name="Slide Image Placeholder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4A641D6A-0069-447C-9CC0-570BB150D784}" type="slidenum">
              <a:rPr lang="en-US" smtClean="0"/>
              <a:t>‹#›</a:t>
            </a:fld>
            <a:endParaRPr lang="en-US"/>
          </a:p>
        </p:txBody>
      </p:sp>
    </p:spTree>
    <p:extLst>
      <p:ext uri="{BB962C8B-B14F-4D97-AF65-F5344CB8AC3E}">
        <p14:creationId xmlns:p14="http://schemas.microsoft.com/office/powerpoint/2010/main" val="2186060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7949EE-9881-4002-A5D2-5C603941A9EE}" type="datetime1">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3628540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AD393A-51C8-4873-AB5B-33A9CA72457B}" type="datetime1">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1007937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ED32DC-3138-49D5-A762-35EF2E7B5708}" type="datetime1">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2031474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34DCFC-A56F-426C-B9EF-CD0CDC7D69F1}" type="datetime1">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2485527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4E70D6-12C6-4DE5-9A5D-29B6EE417C39}" type="datetime1">
              <a:rPr lang="en-US" smtClean="0"/>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3360494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40E3A64-FA3B-4E33-B42D-2315F535535C}" type="datetime1">
              <a:rPr lang="en-US" smtClean="0"/>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2551148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8DA539-685E-4880-A468-8EF8C4AD42F8}" type="datetime1">
              <a:rPr lang="en-US"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1488637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F88FD366-2480-4FDC-A6F7-D357B93DAA4F}" type="datetime1">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1395363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C470449-18DB-4FF7-8D7E-CF4A040C7D57}" type="datetime1">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1535732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6D735C-9495-42D3-9A57-B69F6B441082}" type="datetime1">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2039328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9F4679-FE80-435C-9BF4-7126CA01D8FE}" type="datetime1">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3994105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43F121EA-D16B-4B7B-A7AE-6CA1296CE191}" type="datetime1">
              <a:rPr lang="en-US" smtClean="0"/>
              <a:t>10/26/2026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F934066D-384D-4BE1-BDC2-82BCC33558DD}" type="slidenum">
              <a:rPr lang="en-US" smtClean="0"/>
              <a:t>‹#›</a:t>
            </a:fld>
            <a:endParaRPr lang="en-US"/>
          </a:p>
        </p:txBody>
      </p:sp>
    </p:spTree>
    <p:extLst>
      <p:ext uri="{BB962C8B-B14F-4D97-AF65-F5344CB8AC3E}">
        <p14:creationId xmlns:p14="http://schemas.microsoft.com/office/powerpoint/2010/main" val="35951072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8.emf"/><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E3D5A-8EB3-9AAB-32F4-F07A0359ADF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FCA498B-BB79-34EC-2617-F74847B7B10A}"/>
              </a:ext>
            </a:extLst>
          </p:cNvPr>
          <p:cNvSpPr>
            <a:spLocks noGrp="1"/>
          </p:cNvSpPr>
          <p:nvPr>
            <p:ph type="sldNum" sz="quarter" idx="12"/>
          </p:nvPr>
        </p:nvSpPr>
        <p:spPr>
          <a:xfrm>
            <a:off x="4989080" y="9329519"/>
            <a:ext cx="1543050" cy="527403"/>
          </a:xfrm>
        </p:spPr>
        <p:txBody>
          <a:bodyPr/>
          <a:lstStyle/>
          <a:p>
            <a:fld id="{F934066D-384D-4BE1-BDC2-82BCC33558DD}" type="slidenum">
              <a:rPr lang="en-US" sz="800" b="1" smtClean="0">
                <a:solidFill>
                  <a:srgbClr val="C00000"/>
                </a:solidFill>
                <a:latin typeface="+mj-lt"/>
              </a:rPr>
              <a:t>1</a:t>
            </a:fld>
            <a:endParaRPr lang="en-US" sz="800" b="1" dirty="0">
              <a:solidFill>
                <a:srgbClr val="C00000"/>
              </a:solidFill>
              <a:latin typeface="+mj-lt"/>
            </a:endParaRPr>
          </a:p>
        </p:txBody>
      </p:sp>
      <p:sp>
        <p:nvSpPr>
          <p:cNvPr id="6" name="Shape 1">
            <a:extLst>
              <a:ext uri="{FF2B5EF4-FFF2-40B4-BE49-F238E27FC236}">
                <a16:creationId xmlns:a16="http://schemas.microsoft.com/office/drawing/2014/main" id="{E61A0E0B-C715-867C-A57B-22FDAB0A71E5}"/>
              </a:ext>
            </a:extLst>
          </p:cNvPr>
          <p:cNvSpPr/>
          <p:nvPr/>
        </p:nvSpPr>
        <p:spPr>
          <a:xfrm>
            <a:off x="288607" y="292298"/>
            <a:ext cx="32004" cy="393192"/>
          </a:xfrm>
          <a:prstGeom prst="rect">
            <a:avLst/>
          </a:prstGeom>
          <a:solidFill>
            <a:srgbClr val="A30018"/>
          </a:solidFill>
          <a:ln w="12700">
            <a:solidFill>
              <a:srgbClr val="A30018">
                <a:alpha val="0"/>
              </a:srgbClr>
            </a:solidFill>
            <a:prstDash val="solid"/>
          </a:ln>
        </p:spPr>
        <p:txBody>
          <a:bodyPr/>
          <a:lstStyle/>
          <a:p>
            <a:endParaRPr lang="LID4096"/>
          </a:p>
        </p:txBody>
      </p:sp>
      <p:sp>
        <p:nvSpPr>
          <p:cNvPr id="8" name="Text 2">
            <a:extLst>
              <a:ext uri="{FF2B5EF4-FFF2-40B4-BE49-F238E27FC236}">
                <a16:creationId xmlns:a16="http://schemas.microsoft.com/office/drawing/2014/main" id="{713AC2C7-2280-76B7-ED43-90CBF9AEB391}"/>
              </a:ext>
            </a:extLst>
          </p:cNvPr>
          <p:cNvSpPr/>
          <p:nvPr/>
        </p:nvSpPr>
        <p:spPr>
          <a:xfrm>
            <a:off x="444055" y="278582"/>
            <a:ext cx="5166360" cy="210312"/>
          </a:xfrm>
          <a:prstGeom prst="rect">
            <a:avLst/>
          </a:prstGeom>
          <a:noFill/>
          <a:ln/>
        </p:spPr>
        <p:txBody>
          <a:bodyPr wrap="square" lIns="0" tIns="0" rIns="0" bIns="0" rtlCol="0" anchor="t"/>
          <a:lstStyle/>
          <a:p>
            <a:pPr marL="0" indent="0">
              <a:lnSpc>
                <a:spcPct val="100000"/>
              </a:lnSpc>
              <a:buNone/>
            </a:pPr>
            <a:r>
              <a:rPr lang="en-US" sz="1100" b="1" kern="0" spc="20" dirty="0">
                <a:solidFill>
                  <a:srgbClr val="22282D"/>
                </a:solidFill>
                <a:latin typeface="Aptos Display" pitchFamily="34" charset="0"/>
                <a:ea typeface="Aptos Display" pitchFamily="34" charset="-122"/>
                <a:cs typeface="Aptos Display" pitchFamily="34" charset="-120"/>
              </a:rPr>
              <a:t>MATERIALS AND SURFACE ENGINEERING</a:t>
            </a:r>
            <a:endParaRPr lang="en-US" sz="1100" dirty="0"/>
          </a:p>
        </p:txBody>
      </p:sp>
      <p:sp>
        <p:nvSpPr>
          <p:cNvPr id="10" name="Text 3">
            <a:extLst>
              <a:ext uri="{FF2B5EF4-FFF2-40B4-BE49-F238E27FC236}">
                <a16:creationId xmlns:a16="http://schemas.microsoft.com/office/drawing/2014/main" id="{4D09D094-4AC3-45FF-4EB9-25686DAF423A}"/>
              </a:ext>
            </a:extLst>
          </p:cNvPr>
          <p:cNvSpPr/>
          <p:nvPr/>
        </p:nvSpPr>
        <p:spPr>
          <a:xfrm>
            <a:off x="444055" y="516326"/>
            <a:ext cx="5212080" cy="173736"/>
          </a:xfrm>
          <a:prstGeom prst="rect">
            <a:avLst/>
          </a:prstGeom>
          <a:noFill/>
          <a:ln/>
        </p:spPr>
        <p:txBody>
          <a:bodyPr wrap="square" lIns="0" tIns="0" rIns="0" bIns="0" rtlCol="0" anchor="t"/>
          <a:lstStyle/>
          <a:p>
            <a:pPr marL="0" indent="0">
              <a:lnSpc>
                <a:spcPct val="100000"/>
              </a:lnSpc>
              <a:buNone/>
            </a:pPr>
            <a:r>
              <a:rPr lang="en-US" sz="1400" kern="0" spc="55" dirty="0">
                <a:solidFill>
                  <a:srgbClr val="5D666B"/>
                </a:solidFill>
                <a:latin typeface="Aptos" pitchFamily="34" charset="0"/>
                <a:ea typeface="Aptos" pitchFamily="34" charset="-122"/>
                <a:cs typeface="Aptos" pitchFamily="34" charset="-120"/>
              </a:rPr>
              <a:t>DEPARTMENT OF CIVIL AND MECHANICAL ENGINEERING</a:t>
            </a:r>
            <a:endParaRPr lang="en-US" sz="1400" dirty="0"/>
          </a:p>
        </p:txBody>
      </p:sp>
      <p:pic>
        <p:nvPicPr>
          <p:cNvPr id="12" name="Image 0" descr="/mnt/data/dtu_logo.png">
            <a:extLst>
              <a:ext uri="{FF2B5EF4-FFF2-40B4-BE49-F238E27FC236}">
                <a16:creationId xmlns:a16="http://schemas.microsoft.com/office/drawing/2014/main" id="{2EF5B105-AD2B-0DFE-E38E-A7A240221B26}"/>
              </a:ext>
            </a:extLst>
          </p:cNvPr>
          <p:cNvPicPr>
            <a:picLocks noChangeAspect="1"/>
          </p:cNvPicPr>
          <p:nvPr/>
        </p:nvPicPr>
        <p:blipFill>
          <a:blip r:embed="rId2"/>
          <a:stretch>
            <a:fillRect/>
          </a:stretch>
        </p:blipFill>
        <p:spPr>
          <a:xfrm>
            <a:off x="6223063" y="197200"/>
            <a:ext cx="429768" cy="601675"/>
          </a:xfrm>
          <a:prstGeom prst="rect">
            <a:avLst/>
          </a:prstGeom>
        </p:spPr>
      </p:pic>
      <p:sp>
        <p:nvSpPr>
          <p:cNvPr id="14" name="Shape 4">
            <a:extLst>
              <a:ext uri="{FF2B5EF4-FFF2-40B4-BE49-F238E27FC236}">
                <a16:creationId xmlns:a16="http://schemas.microsoft.com/office/drawing/2014/main" id="{6DCF4CD1-3F8C-0298-AC2F-3A4AA543FB84}"/>
              </a:ext>
            </a:extLst>
          </p:cNvPr>
          <p:cNvSpPr/>
          <p:nvPr/>
        </p:nvSpPr>
        <p:spPr>
          <a:xfrm>
            <a:off x="288607" y="936950"/>
            <a:ext cx="6426403" cy="0"/>
          </a:xfrm>
          <a:prstGeom prst="line">
            <a:avLst/>
          </a:prstGeom>
          <a:noFill/>
          <a:ln w="19050">
            <a:solidFill>
              <a:srgbClr val="A30018"/>
            </a:solidFill>
            <a:prstDash val="solid"/>
          </a:ln>
        </p:spPr>
        <p:txBody>
          <a:bodyPr/>
          <a:lstStyle/>
          <a:p>
            <a:endParaRPr lang="LID4096"/>
          </a:p>
        </p:txBody>
      </p:sp>
      <p:sp>
        <p:nvSpPr>
          <p:cNvPr id="16" name="Text 5">
            <a:extLst>
              <a:ext uri="{FF2B5EF4-FFF2-40B4-BE49-F238E27FC236}">
                <a16:creationId xmlns:a16="http://schemas.microsoft.com/office/drawing/2014/main" id="{634641AA-B5AF-9829-D6F3-7253CBAC7D14}"/>
              </a:ext>
            </a:extLst>
          </p:cNvPr>
          <p:cNvSpPr/>
          <p:nvPr/>
        </p:nvSpPr>
        <p:spPr>
          <a:xfrm>
            <a:off x="302581" y="1067887"/>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PROJECT LEVEL: MSc project, BSc project or special course</a:t>
            </a:r>
            <a:endParaRPr lang="en-US" sz="860" dirty="0"/>
          </a:p>
        </p:txBody>
      </p:sp>
      <p:sp>
        <p:nvSpPr>
          <p:cNvPr id="18" name="Text 6">
            <a:extLst>
              <a:ext uri="{FF2B5EF4-FFF2-40B4-BE49-F238E27FC236}">
                <a16:creationId xmlns:a16="http://schemas.microsoft.com/office/drawing/2014/main" id="{0069C59E-B5B7-060A-B61C-ADEC8DF1A813}"/>
              </a:ext>
            </a:extLst>
          </p:cNvPr>
          <p:cNvSpPr/>
          <p:nvPr/>
        </p:nvSpPr>
        <p:spPr>
          <a:xfrm>
            <a:off x="302581" y="1345063"/>
            <a:ext cx="6426403" cy="905256"/>
          </a:xfrm>
          <a:prstGeom prst="rect">
            <a:avLst/>
          </a:prstGeom>
          <a:noFill/>
          <a:ln/>
        </p:spPr>
        <p:txBody>
          <a:bodyPr wrap="square" lIns="0" tIns="0" rIns="0" bIns="0" rtlCol="0" anchor="t"/>
          <a:lstStyle/>
          <a:p>
            <a:pPr marL="0" indent="0">
              <a:lnSpc>
                <a:spcPct val="95000"/>
              </a:lnSpc>
              <a:buNone/>
            </a:pPr>
            <a:r>
              <a:rPr lang="en-US" sz="2000" b="1" dirty="0">
                <a:solidFill>
                  <a:srgbClr val="22282D"/>
                </a:solidFill>
                <a:latin typeface="Aptos Display" pitchFamily="34" charset="0"/>
                <a:ea typeface="Aptos Display" pitchFamily="34" charset="-122"/>
                <a:cs typeface="Aptos Display" pitchFamily="34" charset="-120"/>
              </a:rPr>
              <a:t>From Metal Powder to Electrical Grids</a:t>
            </a:r>
          </a:p>
          <a:p>
            <a:pPr marL="0" indent="0">
              <a:lnSpc>
                <a:spcPct val="95000"/>
              </a:lnSpc>
              <a:buNone/>
            </a:pPr>
            <a:r>
              <a:rPr lang="en-US" sz="1600" b="1" dirty="0">
                <a:solidFill>
                  <a:srgbClr val="22282D"/>
                </a:solidFill>
                <a:latin typeface="Aptos Display" pitchFamily="34" charset="0"/>
                <a:ea typeface="Aptos Display" pitchFamily="34" charset="-122"/>
                <a:cs typeface="Aptos Display" pitchFamily="34" charset="-120"/>
              </a:rPr>
              <a:t>Developing functional cold-spray coatings and quantitative methods </a:t>
            </a:r>
          </a:p>
          <a:p>
            <a:pPr marL="0" indent="0">
              <a:lnSpc>
                <a:spcPct val="95000"/>
              </a:lnSpc>
              <a:buNone/>
            </a:pPr>
            <a:r>
              <a:rPr lang="en-US" sz="1600" b="1" dirty="0">
                <a:solidFill>
                  <a:srgbClr val="22282D"/>
                </a:solidFill>
                <a:latin typeface="Aptos Display" pitchFamily="34" charset="0"/>
                <a:ea typeface="Aptos Display" pitchFamily="34" charset="-122"/>
                <a:cs typeface="Aptos Display" pitchFamily="34" charset="-120"/>
              </a:rPr>
              <a:t>for powder blends</a:t>
            </a:r>
          </a:p>
          <a:p>
            <a:pPr marL="0" indent="0">
              <a:lnSpc>
                <a:spcPct val="95000"/>
              </a:lnSpc>
              <a:buNone/>
            </a:pPr>
            <a:endParaRPr lang="en-US" sz="2000" b="1" dirty="0">
              <a:solidFill>
                <a:srgbClr val="22282D"/>
              </a:solidFill>
              <a:latin typeface="Aptos Display" pitchFamily="34" charset="0"/>
              <a:ea typeface="Aptos Display" pitchFamily="34" charset="-122"/>
              <a:cs typeface="Aptos Display" pitchFamily="34" charset="-120"/>
            </a:endParaRPr>
          </a:p>
        </p:txBody>
      </p:sp>
      <p:sp>
        <p:nvSpPr>
          <p:cNvPr id="26" name="Shape 14">
            <a:extLst>
              <a:ext uri="{FF2B5EF4-FFF2-40B4-BE49-F238E27FC236}">
                <a16:creationId xmlns:a16="http://schemas.microsoft.com/office/drawing/2014/main" id="{CA21B0A4-89C3-21EA-7BE1-67123AA9DBB6}"/>
              </a:ext>
            </a:extLst>
          </p:cNvPr>
          <p:cNvSpPr/>
          <p:nvPr/>
        </p:nvSpPr>
        <p:spPr>
          <a:xfrm>
            <a:off x="4623932" y="2059932"/>
            <a:ext cx="0" cy="2112264"/>
          </a:xfrm>
          <a:prstGeom prst="line">
            <a:avLst/>
          </a:prstGeom>
          <a:noFill/>
          <a:ln w="12700">
            <a:solidFill>
              <a:srgbClr val="DFE2E3"/>
            </a:solidFill>
            <a:prstDash val="solid"/>
          </a:ln>
        </p:spPr>
        <p:txBody>
          <a:bodyPr/>
          <a:lstStyle/>
          <a:p>
            <a:endParaRPr lang="LID4096"/>
          </a:p>
        </p:txBody>
      </p:sp>
      <p:sp>
        <p:nvSpPr>
          <p:cNvPr id="28" name="Text 15">
            <a:extLst>
              <a:ext uri="{FF2B5EF4-FFF2-40B4-BE49-F238E27FC236}">
                <a16:creationId xmlns:a16="http://schemas.microsoft.com/office/drawing/2014/main" id="{3090494B-0A3C-4DA5-E4CA-5C5EA57D6B38}"/>
              </a:ext>
            </a:extLst>
          </p:cNvPr>
          <p:cNvSpPr/>
          <p:nvPr/>
        </p:nvSpPr>
        <p:spPr>
          <a:xfrm>
            <a:off x="4813058" y="2229758"/>
            <a:ext cx="1901952" cy="201168"/>
          </a:xfrm>
          <a:prstGeom prst="rect">
            <a:avLst/>
          </a:prstGeom>
          <a:noFill/>
          <a:ln/>
        </p:spPr>
        <p:txBody>
          <a:bodyPr wrap="square" lIns="0" tIns="0" rIns="0" bIns="0" rtlCol="0" anchor="t"/>
          <a:lstStyle/>
          <a:p>
            <a:pPr marL="0" indent="0">
              <a:lnSpc>
                <a:spcPct val="100000"/>
              </a:lnSpc>
              <a:buNone/>
            </a:pPr>
            <a:r>
              <a:rPr lang="en-US" sz="1050" b="1" kern="0" spc="120" dirty="0">
                <a:solidFill>
                  <a:srgbClr val="5D666B"/>
                </a:solidFill>
                <a:latin typeface="Aptos Display" pitchFamily="34" charset="0"/>
                <a:ea typeface="Aptos Display" pitchFamily="34" charset="-122"/>
                <a:cs typeface="Aptos Display" pitchFamily="34" charset="-120"/>
              </a:rPr>
              <a:t>SUPERVISORS</a:t>
            </a:r>
            <a:endParaRPr lang="en-US" sz="1050" dirty="0"/>
          </a:p>
        </p:txBody>
      </p:sp>
      <p:sp>
        <p:nvSpPr>
          <p:cNvPr id="30" name="Text 16">
            <a:extLst>
              <a:ext uri="{FF2B5EF4-FFF2-40B4-BE49-F238E27FC236}">
                <a16:creationId xmlns:a16="http://schemas.microsoft.com/office/drawing/2014/main" id="{44D5BB07-761F-0307-9B0B-4A6801A436CC}"/>
              </a:ext>
            </a:extLst>
          </p:cNvPr>
          <p:cNvSpPr/>
          <p:nvPr/>
        </p:nvSpPr>
        <p:spPr>
          <a:xfrm>
            <a:off x="4813058" y="2504078"/>
            <a:ext cx="1901952" cy="201168"/>
          </a:xfrm>
          <a:prstGeom prst="rect">
            <a:avLst/>
          </a:prstGeom>
          <a:noFill/>
          <a:ln/>
        </p:spPr>
        <p:txBody>
          <a:bodyPr wrap="square" lIns="0" tIns="0" rIns="0" bIns="0" rtlCol="0" anchor="t"/>
          <a:lstStyle/>
          <a:p>
            <a:pPr marL="0" indent="0">
              <a:lnSpc>
                <a:spcPct val="100000"/>
              </a:lnSpc>
              <a:buNone/>
            </a:pPr>
            <a:r>
              <a:rPr lang="en-US" sz="1050" dirty="0"/>
              <a:t>Karen Pantleon</a:t>
            </a:r>
          </a:p>
        </p:txBody>
      </p:sp>
      <p:sp>
        <p:nvSpPr>
          <p:cNvPr id="32" name="Text 17">
            <a:extLst>
              <a:ext uri="{FF2B5EF4-FFF2-40B4-BE49-F238E27FC236}">
                <a16:creationId xmlns:a16="http://schemas.microsoft.com/office/drawing/2014/main" id="{8491966B-1BFA-6E3F-E51C-863D11244BC3}"/>
              </a:ext>
            </a:extLst>
          </p:cNvPr>
          <p:cNvSpPr/>
          <p:nvPr/>
        </p:nvSpPr>
        <p:spPr>
          <a:xfrm>
            <a:off x="4813058" y="2714390"/>
            <a:ext cx="1901952" cy="164592"/>
          </a:xfrm>
          <a:prstGeom prst="rect">
            <a:avLst/>
          </a:prstGeom>
          <a:noFill/>
          <a:ln/>
        </p:spPr>
        <p:txBody>
          <a:bodyPr wrap="square" lIns="0" tIns="0" rIns="0" bIns="0" rtlCol="0" anchor="t"/>
          <a:lstStyle/>
          <a:p>
            <a:pPr marL="0" indent="0">
              <a:lnSpc>
                <a:spcPct val="100000"/>
              </a:lnSpc>
              <a:buNone/>
            </a:pPr>
            <a:r>
              <a:rPr lang="en-US" sz="1050" dirty="0">
                <a:solidFill>
                  <a:srgbClr val="A30018"/>
                </a:solidFill>
                <a:latin typeface="Aptos" pitchFamily="34" charset="0"/>
              </a:rPr>
              <a:t>kapa@dtu.dk</a:t>
            </a:r>
            <a:endParaRPr lang="en-US" sz="1050" dirty="0"/>
          </a:p>
        </p:txBody>
      </p:sp>
      <p:sp>
        <p:nvSpPr>
          <p:cNvPr id="34" name="Text 18">
            <a:extLst>
              <a:ext uri="{FF2B5EF4-FFF2-40B4-BE49-F238E27FC236}">
                <a16:creationId xmlns:a16="http://schemas.microsoft.com/office/drawing/2014/main" id="{6F4F1430-56D1-425F-B6A3-05872B876443}"/>
              </a:ext>
            </a:extLst>
          </p:cNvPr>
          <p:cNvSpPr/>
          <p:nvPr/>
        </p:nvSpPr>
        <p:spPr>
          <a:xfrm>
            <a:off x="4813058" y="2997854"/>
            <a:ext cx="1901952" cy="201168"/>
          </a:xfrm>
          <a:prstGeom prst="rect">
            <a:avLst/>
          </a:prstGeom>
          <a:noFill/>
          <a:ln/>
        </p:spPr>
        <p:txBody>
          <a:bodyPr wrap="square" lIns="0" tIns="0" rIns="0" bIns="0" rtlCol="0" anchor="t"/>
          <a:lstStyle/>
          <a:p>
            <a:pPr marL="0" indent="0">
              <a:lnSpc>
                <a:spcPct val="100000"/>
              </a:lnSpc>
              <a:buNone/>
            </a:pPr>
            <a:r>
              <a:rPr lang="fr-FR" sz="1050" dirty="0">
                <a:latin typeface="Aptos Display" pitchFamily="34" charset="0"/>
                <a:ea typeface="Aptos Display" pitchFamily="34" charset="-122"/>
                <a:cs typeface="Aptos Display" pitchFamily="34" charset="-120"/>
              </a:rPr>
              <a:t>Louis Cavichiolo</a:t>
            </a:r>
            <a:endParaRPr lang="en-US" sz="1050" dirty="0"/>
          </a:p>
        </p:txBody>
      </p:sp>
      <p:sp>
        <p:nvSpPr>
          <p:cNvPr id="36" name="Text 19">
            <a:extLst>
              <a:ext uri="{FF2B5EF4-FFF2-40B4-BE49-F238E27FC236}">
                <a16:creationId xmlns:a16="http://schemas.microsoft.com/office/drawing/2014/main" id="{B3493CEE-3A9E-C807-25F2-FF89920CEC72}"/>
              </a:ext>
            </a:extLst>
          </p:cNvPr>
          <p:cNvSpPr/>
          <p:nvPr/>
        </p:nvSpPr>
        <p:spPr>
          <a:xfrm>
            <a:off x="4813058" y="3208166"/>
            <a:ext cx="1901952" cy="164592"/>
          </a:xfrm>
          <a:prstGeom prst="rect">
            <a:avLst/>
          </a:prstGeom>
          <a:noFill/>
          <a:ln/>
        </p:spPr>
        <p:txBody>
          <a:bodyPr wrap="square" lIns="0" tIns="0" rIns="0" bIns="0" rtlCol="0" anchor="t"/>
          <a:lstStyle/>
          <a:p>
            <a:pPr marL="0" indent="0">
              <a:lnSpc>
                <a:spcPct val="100000"/>
              </a:lnSpc>
              <a:buNone/>
            </a:pPr>
            <a:r>
              <a:rPr lang="en-US" sz="1050" dirty="0">
                <a:solidFill>
                  <a:srgbClr val="A30018"/>
                </a:solidFill>
                <a:latin typeface="Aptos" pitchFamily="34" charset="0"/>
                <a:ea typeface="Aptos" pitchFamily="34" charset="-122"/>
                <a:cs typeface="Aptos" pitchFamily="34" charset="-120"/>
              </a:rPr>
              <a:t>LC@relibond.com</a:t>
            </a:r>
          </a:p>
        </p:txBody>
      </p:sp>
      <p:sp>
        <p:nvSpPr>
          <p:cNvPr id="42" name="Text 22">
            <a:extLst>
              <a:ext uri="{FF2B5EF4-FFF2-40B4-BE49-F238E27FC236}">
                <a16:creationId xmlns:a16="http://schemas.microsoft.com/office/drawing/2014/main" id="{E2652C6F-A89B-4D88-DA66-19C9F6567F54}"/>
              </a:ext>
            </a:extLst>
          </p:cNvPr>
          <p:cNvSpPr/>
          <p:nvPr/>
        </p:nvSpPr>
        <p:spPr>
          <a:xfrm>
            <a:off x="4811229" y="3587642"/>
            <a:ext cx="1901952" cy="201168"/>
          </a:xfrm>
          <a:prstGeom prst="rect">
            <a:avLst/>
          </a:prstGeom>
          <a:noFill/>
          <a:ln/>
        </p:spPr>
        <p:txBody>
          <a:bodyPr wrap="square" lIns="0" tIns="0" rIns="0" bIns="0" rtlCol="0" anchor="t"/>
          <a:lstStyle/>
          <a:p>
            <a:pPr marL="0" indent="0">
              <a:lnSpc>
                <a:spcPct val="100000"/>
              </a:lnSpc>
              <a:buNone/>
            </a:pPr>
            <a:r>
              <a:rPr lang="en-US" sz="1050" b="1" kern="0" spc="120" dirty="0">
                <a:solidFill>
                  <a:srgbClr val="5D666B"/>
                </a:solidFill>
                <a:latin typeface="Aptos Display" pitchFamily="34" charset="0"/>
                <a:ea typeface="Aptos Display" pitchFamily="34" charset="-122"/>
                <a:cs typeface="Aptos Display" pitchFamily="34" charset="-120"/>
              </a:rPr>
              <a:t>COLLABORATION</a:t>
            </a:r>
            <a:endParaRPr lang="en-US" sz="1050" dirty="0"/>
          </a:p>
        </p:txBody>
      </p:sp>
      <p:sp>
        <p:nvSpPr>
          <p:cNvPr id="44" name="Text 23">
            <a:extLst>
              <a:ext uri="{FF2B5EF4-FFF2-40B4-BE49-F238E27FC236}">
                <a16:creationId xmlns:a16="http://schemas.microsoft.com/office/drawing/2014/main" id="{9525F5A5-FDEA-479A-21C2-45C025C25EDA}"/>
              </a:ext>
            </a:extLst>
          </p:cNvPr>
          <p:cNvSpPr/>
          <p:nvPr/>
        </p:nvSpPr>
        <p:spPr>
          <a:xfrm>
            <a:off x="4811229" y="3779666"/>
            <a:ext cx="1901952" cy="182880"/>
          </a:xfrm>
          <a:prstGeom prst="rect">
            <a:avLst/>
          </a:prstGeom>
          <a:noFill/>
          <a:ln/>
        </p:spPr>
        <p:txBody>
          <a:bodyPr wrap="square" lIns="0" tIns="0" rIns="0" bIns="0" rtlCol="0" anchor="t"/>
          <a:lstStyle/>
          <a:p>
            <a:pPr marL="0" indent="0">
              <a:lnSpc>
                <a:spcPct val="100000"/>
              </a:lnSpc>
              <a:buNone/>
            </a:pPr>
            <a:r>
              <a:rPr lang="en-US" sz="1050" dirty="0">
                <a:latin typeface="Aptos Display" pitchFamily="34" charset="0"/>
                <a:ea typeface="Aptos Display" pitchFamily="34" charset="-122"/>
                <a:cs typeface="Aptos Display" pitchFamily="34" charset="-120"/>
              </a:rPr>
              <a:t>Company </a:t>
            </a:r>
            <a:r>
              <a:rPr lang="en-US" sz="1050" dirty="0" err="1">
                <a:latin typeface="Aptos Display" pitchFamily="34" charset="0"/>
                <a:ea typeface="Aptos Display" pitchFamily="34" charset="-122"/>
                <a:cs typeface="Aptos Display" pitchFamily="34" charset="-120"/>
              </a:rPr>
              <a:t>ReliBond</a:t>
            </a:r>
            <a:r>
              <a:rPr lang="en-US" sz="1050" dirty="0">
                <a:latin typeface="Aptos Display" pitchFamily="34" charset="0"/>
                <a:ea typeface="Aptos Display" pitchFamily="34" charset="-122"/>
                <a:cs typeface="Aptos Display" pitchFamily="34" charset="-120"/>
              </a:rPr>
              <a:t> ApS</a:t>
            </a:r>
            <a:endParaRPr lang="en-US" sz="1050" dirty="0"/>
          </a:p>
        </p:txBody>
      </p:sp>
      <p:sp>
        <p:nvSpPr>
          <p:cNvPr id="46" name="Shape 24">
            <a:extLst>
              <a:ext uri="{FF2B5EF4-FFF2-40B4-BE49-F238E27FC236}">
                <a16:creationId xmlns:a16="http://schemas.microsoft.com/office/drawing/2014/main" id="{8F67CA1A-CE41-8B06-7544-C63BE9DD0640}"/>
              </a:ext>
            </a:extLst>
          </p:cNvPr>
          <p:cNvSpPr/>
          <p:nvPr/>
        </p:nvSpPr>
        <p:spPr>
          <a:xfrm>
            <a:off x="314594" y="4172196"/>
            <a:ext cx="6426403" cy="0"/>
          </a:xfrm>
          <a:prstGeom prst="line">
            <a:avLst/>
          </a:prstGeom>
          <a:noFill/>
          <a:ln w="10795">
            <a:solidFill>
              <a:srgbClr val="DFE2E3"/>
            </a:solidFill>
            <a:prstDash val="solid"/>
          </a:ln>
        </p:spPr>
        <p:txBody>
          <a:bodyPr/>
          <a:lstStyle/>
          <a:p>
            <a:endParaRPr lang="LID4096"/>
          </a:p>
        </p:txBody>
      </p:sp>
      <p:sp>
        <p:nvSpPr>
          <p:cNvPr id="48" name="Text 25">
            <a:extLst>
              <a:ext uri="{FF2B5EF4-FFF2-40B4-BE49-F238E27FC236}">
                <a16:creationId xmlns:a16="http://schemas.microsoft.com/office/drawing/2014/main" id="{4D55E3EC-F0F5-0FC9-C41F-D7249BE5CD8D}"/>
              </a:ext>
            </a:extLst>
          </p:cNvPr>
          <p:cNvSpPr/>
          <p:nvPr/>
        </p:nvSpPr>
        <p:spPr>
          <a:xfrm>
            <a:off x="331458" y="4203267"/>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PROJECT BACKGROUND</a:t>
            </a:r>
            <a:endParaRPr lang="en-US" sz="860" dirty="0"/>
          </a:p>
        </p:txBody>
      </p:sp>
      <p:sp>
        <p:nvSpPr>
          <p:cNvPr id="50" name="Text 26">
            <a:extLst>
              <a:ext uri="{FF2B5EF4-FFF2-40B4-BE49-F238E27FC236}">
                <a16:creationId xmlns:a16="http://schemas.microsoft.com/office/drawing/2014/main" id="{750963F9-6E5B-1398-69B6-5AE74A39C645}"/>
              </a:ext>
            </a:extLst>
          </p:cNvPr>
          <p:cNvSpPr/>
          <p:nvPr/>
        </p:nvSpPr>
        <p:spPr>
          <a:xfrm>
            <a:off x="331459" y="4361001"/>
            <a:ext cx="6426403" cy="1197864"/>
          </a:xfrm>
          <a:prstGeom prst="rect">
            <a:avLst/>
          </a:prstGeom>
          <a:noFill/>
          <a:ln/>
        </p:spPr>
        <p:txBody>
          <a:bodyPr wrap="square" lIns="0" tIns="0" rIns="0" bIns="0" rtlCol="0" anchor="t"/>
          <a:lstStyle/>
          <a:p>
            <a:pPr marL="0" indent="0">
              <a:lnSpc>
                <a:spcPct val="104000"/>
              </a:lnSpc>
              <a:buNone/>
            </a:pPr>
            <a:r>
              <a:rPr lang="en-US" sz="990" dirty="0">
                <a:latin typeface="Aptos" pitchFamily="34" charset="0"/>
                <a:ea typeface="Aptos" pitchFamily="34" charset="-122"/>
                <a:cs typeface="Aptos" pitchFamily="34" charset="-120"/>
              </a:rPr>
              <a:t>Green energy transition depends on expanding high-capacity electricity grids, including underground and submarine cables connecting offshore renewables to land. Larger conductors enable greater power transmission, but joining them reliably in the field presents a critical installation challenge. </a:t>
            </a:r>
          </a:p>
          <a:p>
            <a:pPr marL="0" indent="0">
              <a:lnSpc>
                <a:spcPct val="104000"/>
              </a:lnSpc>
              <a:buNone/>
            </a:pPr>
            <a:r>
              <a:rPr lang="en-US" sz="990" b="1" dirty="0" err="1">
                <a:latin typeface="Aptos" pitchFamily="34" charset="0"/>
                <a:ea typeface="Aptos" pitchFamily="34" charset="-122"/>
                <a:cs typeface="Aptos" pitchFamily="34" charset="-120"/>
              </a:rPr>
              <a:t>ReliBond’s</a:t>
            </a:r>
            <a:r>
              <a:rPr lang="en-US" sz="990" b="1" dirty="0">
                <a:latin typeface="Aptos" pitchFamily="34" charset="0"/>
                <a:ea typeface="Aptos" pitchFamily="34" charset="-122"/>
                <a:cs typeface="Aptos" pitchFamily="34" charset="-120"/>
              </a:rPr>
              <a:t> </a:t>
            </a:r>
            <a:r>
              <a:rPr lang="en-US" sz="990" b="1" dirty="0" err="1">
                <a:latin typeface="Aptos" pitchFamily="34" charset="0"/>
                <a:ea typeface="Aptos" pitchFamily="34" charset="-122"/>
                <a:cs typeface="Aptos" pitchFamily="34" charset="-120"/>
              </a:rPr>
              <a:t>AlCuCon</a:t>
            </a:r>
            <a:r>
              <a:rPr lang="en-US" sz="990" b="1" dirty="0">
                <a:latin typeface="Aptos" pitchFamily="34" charset="0"/>
                <a:ea typeface="Aptos" pitchFamily="34" charset="-122"/>
                <a:cs typeface="Aptos" pitchFamily="34" charset="-120"/>
              </a:rPr>
              <a:t> </a:t>
            </a:r>
            <a:r>
              <a:rPr lang="en-US" sz="990" dirty="0">
                <a:latin typeface="Aptos" pitchFamily="34" charset="0"/>
                <a:ea typeface="Aptos" pitchFamily="34" charset="-122"/>
                <a:cs typeface="Aptos" pitchFamily="34" charset="-120"/>
              </a:rPr>
              <a:t>connector technology provides fast, reproducible connections across conductor materials and designs. It also supports the transition from copper to more abundant aluminum. Functional cold-spray coatings are central to this technology, and their performance starts with the powder. </a:t>
            </a:r>
          </a:p>
          <a:p>
            <a:pPr marL="0" indent="0">
              <a:lnSpc>
                <a:spcPct val="104000"/>
              </a:lnSpc>
              <a:buNone/>
            </a:pPr>
            <a:r>
              <a:rPr lang="en-US" sz="990" b="1" dirty="0" err="1">
                <a:latin typeface="Aptos" pitchFamily="34" charset="0"/>
                <a:ea typeface="Aptos" pitchFamily="34" charset="-122"/>
                <a:cs typeface="Aptos" pitchFamily="34" charset="-120"/>
              </a:rPr>
              <a:t>ReliBond</a:t>
            </a:r>
            <a:r>
              <a:rPr lang="en-US" sz="990" dirty="0">
                <a:latin typeface="Aptos" pitchFamily="34" charset="0"/>
                <a:ea typeface="Aptos" pitchFamily="34" charset="-122"/>
                <a:cs typeface="Aptos" pitchFamily="34" charset="-120"/>
              </a:rPr>
              <a:t> has developed a portable cold-spray platform and established most process parameters.</a:t>
            </a:r>
          </a:p>
        </p:txBody>
      </p:sp>
      <p:sp>
        <p:nvSpPr>
          <p:cNvPr id="52" name="Text 27">
            <a:extLst>
              <a:ext uri="{FF2B5EF4-FFF2-40B4-BE49-F238E27FC236}">
                <a16:creationId xmlns:a16="http://schemas.microsoft.com/office/drawing/2014/main" id="{9FA08396-4957-A195-B584-CBF4C0354EFE}"/>
              </a:ext>
            </a:extLst>
          </p:cNvPr>
          <p:cNvSpPr/>
          <p:nvPr/>
        </p:nvSpPr>
        <p:spPr>
          <a:xfrm>
            <a:off x="313430" y="5570783"/>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PROJECT AIM</a:t>
            </a:r>
            <a:endParaRPr lang="en-US" sz="860" dirty="0"/>
          </a:p>
        </p:txBody>
      </p:sp>
      <p:sp>
        <p:nvSpPr>
          <p:cNvPr id="54" name="Text 28">
            <a:extLst>
              <a:ext uri="{FF2B5EF4-FFF2-40B4-BE49-F238E27FC236}">
                <a16:creationId xmlns:a16="http://schemas.microsoft.com/office/drawing/2014/main" id="{21480B1E-1BD2-9758-3B1C-86A1FD953069}"/>
              </a:ext>
            </a:extLst>
          </p:cNvPr>
          <p:cNvSpPr/>
          <p:nvPr/>
        </p:nvSpPr>
        <p:spPr>
          <a:xfrm>
            <a:off x="313429" y="5719373"/>
            <a:ext cx="6426403" cy="438912"/>
          </a:xfrm>
          <a:prstGeom prst="rect">
            <a:avLst/>
          </a:prstGeom>
          <a:noFill/>
          <a:ln/>
        </p:spPr>
        <p:txBody>
          <a:bodyPr wrap="square" lIns="0" tIns="0" rIns="0" bIns="0" rtlCol="0" anchor="t"/>
          <a:lstStyle/>
          <a:p>
            <a:pPr marL="0" indent="0">
              <a:lnSpc>
                <a:spcPct val="103000"/>
              </a:lnSpc>
              <a:buNone/>
            </a:pPr>
            <a:r>
              <a:rPr lang="en-US" sz="1000" dirty="0">
                <a:latin typeface="Aptos" pitchFamily="34" charset="0"/>
                <a:ea typeface="Aptos" pitchFamily="34" charset="-122"/>
                <a:cs typeface="Aptos" pitchFamily="34" charset="-120"/>
              </a:rPr>
              <a:t>Developing functional </a:t>
            </a:r>
            <a:r>
              <a:rPr lang="en-US" sz="1000" b="1" dirty="0">
                <a:latin typeface="Aptos" pitchFamily="34" charset="0"/>
                <a:ea typeface="Aptos" pitchFamily="34" charset="-122"/>
                <a:cs typeface="Aptos" pitchFamily="34" charset="-120"/>
              </a:rPr>
              <a:t>cold-spray coatings </a:t>
            </a:r>
            <a:r>
              <a:rPr lang="en-US" sz="1000" dirty="0">
                <a:latin typeface="Aptos" pitchFamily="34" charset="0"/>
                <a:ea typeface="Aptos" pitchFamily="34" charset="-122"/>
                <a:cs typeface="Aptos" pitchFamily="34" charset="-120"/>
              </a:rPr>
              <a:t>and quantitative methods for powder blends:</a:t>
            </a:r>
          </a:p>
          <a:p>
            <a:pPr marL="0" indent="0">
              <a:lnSpc>
                <a:spcPct val="103000"/>
              </a:lnSpc>
              <a:buNone/>
            </a:pPr>
            <a:r>
              <a:rPr lang="en-US" sz="1000" dirty="0">
                <a:latin typeface="Aptos" pitchFamily="34" charset="0"/>
                <a:ea typeface="Aptos" pitchFamily="34" charset="-122"/>
                <a:cs typeface="Aptos" pitchFamily="34" charset="-120"/>
              </a:rPr>
              <a:t>You will refine Al-, Cu- and Ag-based powder blends with selected filler materials (e.g., Al</a:t>
            </a:r>
            <a:r>
              <a:rPr lang="en-US" sz="1000" baseline="-25000" dirty="0">
                <a:latin typeface="Aptos" pitchFamily="34" charset="0"/>
                <a:ea typeface="Aptos" pitchFamily="34" charset="-122"/>
                <a:cs typeface="Aptos" pitchFamily="34" charset="-120"/>
              </a:rPr>
              <a:t>2</a:t>
            </a:r>
            <a:r>
              <a:rPr lang="en-US" sz="1000" dirty="0">
                <a:latin typeface="Aptos" pitchFamily="34" charset="0"/>
                <a:ea typeface="Aptos" pitchFamily="34" charset="-122"/>
                <a:cs typeface="Aptos" pitchFamily="34" charset="-120"/>
              </a:rPr>
              <a:t>O</a:t>
            </a:r>
            <a:r>
              <a:rPr lang="en-US" sz="1000" baseline="-25000" dirty="0">
                <a:latin typeface="Aptos" pitchFamily="34" charset="0"/>
                <a:ea typeface="Aptos" pitchFamily="34" charset="-122"/>
                <a:cs typeface="Aptos" pitchFamily="34" charset="-120"/>
              </a:rPr>
              <a:t>3</a:t>
            </a:r>
            <a:r>
              <a:rPr lang="en-US" sz="1000" dirty="0">
                <a:latin typeface="Aptos" pitchFamily="34" charset="0"/>
                <a:ea typeface="Aptos" pitchFamily="34" charset="-122"/>
                <a:cs typeface="Aptos" pitchFamily="34" charset="-120"/>
              </a:rPr>
              <a:t>), linking composition and homogeneity to coating quality, storage stability and controllable powder flow. </a:t>
            </a:r>
          </a:p>
          <a:p>
            <a:pPr marL="0" indent="0">
              <a:lnSpc>
                <a:spcPct val="103000"/>
              </a:lnSpc>
              <a:buNone/>
            </a:pPr>
            <a:r>
              <a:rPr lang="en-US" sz="1000" dirty="0">
                <a:latin typeface="Aptos" pitchFamily="34" charset="0"/>
                <a:ea typeface="Aptos" pitchFamily="34" charset="-122"/>
                <a:cs typeface="Aptos" pitchFamily="34" charset="-120"/>
              </a:rPr>
              <a:t>Shape the experimental strategy with DTU and </a:t>
            </a:r>
            <a:r>
              <a:rPr lang="en-US" sz="1000" dirty="0" err="1">
                <a:latin typeface="Aptos" pitchFamily="34" charset="0"/>
                <a:ea typeface="Aptos" pitchFamily="34" charset="-122"/>
                <a:cs typeface="Aptos" pitchFamily="34" charset="-120"/>
              </a:rPr>
              <a:t>ReliBond</a:t>
            </a:r>
            <a:r>
              <a:rPr lang="en-US" sz="1000" dirty="0">
                <a:latin typeface="Aptos" pitchFamily="34" charset="0"/>
                <a:ea typeface="Aptos" pitchFamily="34" charset="-122"/>
                <a:cs typeface="Aptos" pitchFamily="34" charset="-120"/>
              </a:rPr>
              <a:t>. </a:t>
            </a:r>
          </a:p>
          <a:p>
            <a:pPr marL="0" indent="0">
              <a:lnSpc>
                <a:spcPct val="103000"/>
              </a:lnSpc>
              <a:buNone/>
            </a:pPr>
            <a:endParaRPr lang="en-US" sz="1000" dirty="0">
              <a:latin typeface="Aptos" pitchFamily="34" charset="0"/>
              <a:ea typeface="Aptos" pitchFamily="34" charset="-122"/>
              <a:cs typeface="Aptos" pitchFamily="34" charset="-120"/>
            </a:endParaRPr>
          </a:p>
        </p:txBody>
      </p:sp>
      <p:sp>
        <p:nvSpPr>
          <p:cNvPr id="56" name="Text 29">
            <a:extLst>
              <a:ext uri="{FF2B5EF4-FFF2-40B4-BE49-F238E27FC236}">
                <a16:creationId xmlns:a16="http://schemas.microsoft.com/office/drawing/2014/main" id="{F4F59002-6972-788B-BCB1-FF4338EBB6EE}"/>
              </a:ext>
            </a:extLst>
          </p:cNvPr>
          <p:cNvSpPr/>
          <p:nvPr/>
        </p:nvSpPr>
        <p:spPr>
          <a:xfrm>
            <a:off x="302581" y="6492913"/>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PROJECT ACTIVITIES </a:t>
            </a:r>
            <a:r>
              <a:rPr lang="en-US" sz="860" kern="0" spc="120" dirty="0">
                <a:solidFill>
                  <a:srgbClr val="A30018"/>
                </a:solidFill>
                <a:latin typeface="Aptos Display" pitchFamily="34" charset="0"/>
                <a:ea typeface="Aptos Display" pitchFamily="34" charset="-122"/>
                <a:cs typeface="Aptos Display" pitchFamily="34" charset="-120"/>
              </a:rPr>
              <a:t>(details to be adapted to the type of project and students’ background)</a:t>
            </a:r>
            <a:endParaRPr lang="en-US" sz="860" dirty="0"/>
          </a:p>
        </p:txBody>
      </p:sp>
      <p:sp>
        <p:nvSpPr>
          <p:cNvPr id="58" name="Text 30">
            <a:extLst>
              <a:ext uri="{FF2B5EF4-FFF2-40B4-BE49-F238E27FC236}">
                <a16:creationId xmlns:a16="http://schemas.microsoft.com/office/drawing/2014/main" id="{E427E9FE-1E5F-0AD9-59F1-66D55D7E5E88}"/>
              </a:ext>
            </a:extLst>
          </p:cNvPr>
          <p:cNvSpPr/>
          <p:nvPr/>
        </p:nvSpPr>
        <p:spPr>
          <a:xfrm>
            <a:off x="319165" y="6676434"/>
            <a:ext cx="6398971" cy="2339268"/>
          </a:xfrm>
          <a:prstGeom prst="rect">
            <a:avLst/>
          </a:prstGeom>
          <a:noFill/>
          <a:ln/>
        </p:spPr>
        <p:txBody>
          <a:bodyPr wrap="square" lIns="0" tIns="0" rIns="0" bIns="0" rtlCol="0" anchor="t"/>
          <a:lstStyle/>
          <a:p>
            <a:pPr marL="139700" indent="-139700">
              <a:lnSpc>
                <a:spcPct val="106000"/>
              </a:lnSpc>
              <a:buSzPct val="100000"/>
              <a:buFontTx/>
              <a:buChar char="•"/>
            </a:pPr>
            <a:r>
              <a:rPr lang="da-DK" sz="1000" b="1" dirty="0">
                <a:solidFill>
                  <a:srgbClr val="202D36"/>
                </a:solidFill>
                <a:ea typeface="Arial"/>
                <a:cs typeface="Arial"/>
              </a:rPr>
              <a:t>Design and test blends: </a:t>
            </a:r>
          </a:p>
          <a:p>
            <a:pPr>
              <a:lnSpc>
                <a:spcPct val="106000"/>
              </a:lnSpc>
              <a:buSzPct val="100000"/>
            </a:pPr>
            <a:r>
              <a:rPr lang="da-DK" sz="1000" b="1" dirty="0">
                <a:solidFill>
                  <a:srgbClr val="202D36"/>
                </a:solidFill>
                <a:ea typeface="Arial"/>
                <a:cs typeface="Arial"/>
              </a:rPr>
              <a:t>     </a:t>
            </a:r>
            <a:r>
              <a:rPr lang="en-US" sz="1000" dirty="0">
                <a:solidFill>
                  <a:srgbClr val="202D36"/>
                </a:solidFill>
                <a:ea typeface="Arial"/>
                <a:cs typeface="Arial"/>
              </a:rPr>
              <a:t>Select fillers and composition ranges using literature and experiments. </a:t>
            </a:r>
          </a:p>
          <a:p>
            <a:pPr>
              <a:lnSpc>
                <a:spcPct val="106000"/>
              </a:lnSpc>
              <a:buSzPct val="100000"/>
            </a:pPr>
            <a:r>
              <a:rPr lang="en-US" sz="1000" dirty="0">
                <a:solidFill>
                  <a:srgbClr val="202D36"/>
                </a:solidFill>
                <a:ea typeface="Arial"/>
                <a:cs typeface="Arial"/>
              </a:rPr>
              <a:t>     Produce coatings and </a:t>
            </a:r>
            <a:r>
              <a:rPr lang="en-US" sz="1000" dirty="0" err="1">
                <a:solidFill>
                  <a:srgbClr val="202D36"/>
                </a:solidFill>
                <a:ea typeface="Arial"/>
                <a:cs typeface="Arial"/>
              </a:rPr>
              <a:t>characterise</a:t>
            </a:r>
            <a:r>
              <a:rPr lang="en-US" sz="1000" dirty="0">
                <a:solidFill>
                  <a:srgbClr val="202D36"/>
                </a:solidFill>
                <a:ea typeface="Arial"/>
                <a:cs typeface="Arial"/>
              </a:rPr>
              <a:t> their quality and functional properties.</a:t>
            </a:r>
          </a:p>
          <a:p>
            <a:pPr>
              <a:lnSpc>
                <a:spcPct val="106000"/>
              </a:lnSpc>
              <a:buSzPct val="100000"/>
            </a:pPr>
            <a:endParaRPr lang="en-US" sz="300" dirty="0">
              <a:solidFill>
                <a:srgbClr val="202D36"/>
              </a:solidFill>
              <a:ea typeface="Arial"/>
              <a:cs typeface="Arial"/>
            </a:endParaRPr>
          </a:p>
          <a:p>
            <a:pPr marL="139700" indent="-139700">
              <a:lnSpc>
                <a:spcPct val="106000"/>
              </a:lnSpc>
              <a:buSzPct val="100000"/>
              <a:buFontTx/>
              <a:buChar char="•"/>
            </a:pPr>
            <a:r>
              <a:rPr lang="da-DK" sz="1000" b="1" dirty="0" err="1">
                <a:solidFill>
                  <a:srgbClr val="202D36"/>
                </a:solidFill>
                <a:ea typeface="Arial"/>
                <a:cs typeface="Arial"/>
              </a:rPr>
              <a:t>Develop</a:t>
            </a:r>
            <a:r>
              <a:rPr lang="da-DK" sz="1000" b="1" dirty="0">
                <a:solidFill>
                  <a:srgbClr val="202D36"/>
                </a:solidFill>
                <a:ea typeface="Arial"/>
                <a:cs typeface="Arial"/>
              </a:rPr>
              <a:t> </a:t>
            </a:r>
            <a:r>
              <a:rPr lang="da-DK" sz="1000" b="1" dirty="0" err="1">
                <a:solidFill>
                  <a:srgbClr val="202D36"/>
                </a:solidFill>
                <a:ea typeface="Arial"/>
                <a:cs typeface="Arial"/>
              </a:rPr>
              <a:t>quantitative</a:t>
            </a:r>
            <a:r>
              <a:rPr lang="da-DK" sz="1000" b="1" dirty="0">
                <a:solidFill>
                  <a:srgbClr val="202D36"/>
                </a:solidFill>
                <a:ea typeface="Arial"/>
                <a:cs typeface="Arial"/>
              </a:rPr>
              <a:t> </a:t>
            </a:r>
            <a:r>
              <a:rPr lang="da-DK" sz="1000" b="1" dirty="0" err="1">
                <a:solidFill>
                  <a:srgbClr val="202D36"/>
                </a:solidFill>
                <a:ea typeface="Arial"/>
                <a:cs typeface="Arial"/>
              </a:rPr>
              <a:t>methods</a:t>
            </a:r>
            <a:r>
              <a:rPr lang="da-DK" sz="1000" b="1" dirty="0">
                <a:solidFill>
                  <a:srgbClr val="202D36"/>
                </a:solidFill>
                <a:ea typeface="Arial"/>
                <a:cs typeface="Arial"/>
              </a:rPr>
              <a:t>: </a:t>
            </a:r>
          </a:p>
          <a:p>
            <a:pPr>
              <a:lnSpc>
                <a:spcPct val="106000"/>
              </a:lnSpc>
              <a:buSzPct val="100000"/>
            </a:pPr>
            <a:r>
              <a:rPr lang="da-DK" sz="1000" b="1" dirty="0">
                <a:solidFill>
                  <a:srgbClr val="202D36"/>
                </a:solidFill>
                <a:ea typeface="Arial"/>
                <a:cs typeface="Arial"/>
              </a:rPr>
              <a:t>     </a:t>
            </a:r>
            <a:r>
              <a:rPr lang="en-US" sz="1000" dirty="0">
                <a:solidFill>
                  <a:srgbClr val="202D36"/>
                </a:solidFill>
                <a:ea typeface="Arial"/>
                <a:cs typeface="Arial"/>
              </a:rPr>
              <a:t>Explore methods of materials characterization )e.g. XRD, XRF, ICP-OES, </a:t>
            </a:r>
            <a:r>
              <a:rPr lang="en-US" sz="1000" dirty="0" err="1">
                <a:solidFill>
                  <a:srgbClr val="202D36"/>
                </a:solidFill>
                <a:ea typeface="Arial"/>
                <a:cs typeface="Arial"/>
              </a:rPr>
              <a:t>gasometric</a:t>
            </a:r>
            <a:r>
              <a:rPr lang="en-US" sz="1000" dirty="0">
                <a:solidFill>
                  <a:srgbClr val="202D36"/>
                </a:solidFill>
                <a:ea typeface="Arial"/>
                <a:cs typeface="Arial"/>
              </a:rPr>
              <a:t> analysis, …). </a:t>
            </a:r>
          </a:p>
          <a:p>
            <a:pPr>
              <a:lnSpc>
                <a:spcPct val="106000"/>
              </a:lnSpc>
              <a:buSzPct val="100000"/>
            </a:pPr>
            <a:r>
              <a:rPr lang="en-US" sz="1000" dirty="0">
                <a:solidFill>
                  <a:srgbClr val="202D36"/>
                </a:solidFill>
                <a:ea typeface="Arial"/>
                <a:cs typeface="Arial"/>
              </a:rPr>
              <a:t>     Develop sample preparation, calibration and measurement procedures.</a:t>
            </a:r>
            <a:r>
              <a:rPr lang="en-US" sz="1000" b="1" dirty="0">
                <a:solidFill>
                  <a:srgbClr val="202D36"/>
                </a:solidFill>
                <a:ea typeface="Arial"/>
                <a:cs typeface="Arial"/>
              </a:rPr>
              <a:t> </a:t>
            </a:r>
          </a:p>
          <a:p>
            <a:pPr marL="139700" indent="-139700">
              <a:lnSpc>
                <a:spcPct val="106000"/>
              </a:lnSpc>
              <a:buSzPct val="100000"/>
              <a:buFontTx/>
              <a:buChar char="•"/>
            </a:pPr>
            <a:endParaRPr lang="en-US" sz="300" b="1" dirty="0">
              <a:solidFill>
                <a:srgbClr val="202D36"/>
              </a:solidFill>
              <a:ea typeface="Arial"/>
              <a:cs typeface="Arial"/>
            </a:endParaRPr>
          </a:p>
          <a:p>
            <a:pPr marL="139700" indent="-139700">
              <a:lnSpc>
                <a:spcPct val="106000"/>
              </a:lnSpc>
              <a:buSzPct val="100000"/>
              <a:buFontTx/>
              <a:buChar char="•"/>
            </a:pPr>
            <a:r>
              <a:rPr lang="en-US" sz="1000" b="1" dirty="0">
                <a:solidFill>
                  <a:srgbClr val="202D36"/>
                </a:solidFill>
                <a:ea typeface="Arial"/>
                <a:cs typeface="Arial"/>
              </a:rPr>
              <a:t>Validate accuracy and mixing endpoints: </a:t>
            </a:r>
          </a:p>
          <a:p>
            <a:pPr>
              <a:lnSpc>
                <a:spcPct val="106000"/>
              </a:lnSpc>
              <a:buSzPct val="100000"/>
            </a:pPr>
            <a:r>
              <a:rPr lang="en-US" sz="1000" b="1" dirty="0">
                <a:solidFill>
                  <a:srgbClr val="202D36"/>
                </a:solidFill>
                <a:ea typeface="Arial"/>
                <a:cs typeface="Arial"/>
              </a:rPr>
              <a:t>     </a:t>
            </a:r>
            <a:r>
              <a:rPr lang="en-US" sz="1000" dirty="0">
                <a:solidFill>
                  <a:srgbClr val="202D36"/>
                </a:solidFill>
                <a:ea typeface="Arial"/>
                <a:cs typeface="Arial"/>
              </a:rPr>
              <a:t>Use reference blends and representative sampling to quantify uncertainty, distinguish blend variability and </a:t>
            </a:r>
          </a:p>
          <a:p>
            <a:pPr>
              <a:lnSpc>
                <a:spcPct val="106000"/>
              </a:lnSpc>
              <a:buSzPct val="100000"/>
            </a:pPr>
            <a:r>
              <a:rPr lang="en-US" sz="1000" dirty="0">
                <a:solidFill>
                  <a:srgbClr val="202D36"/>
                </a:solidFill>
                <a:ea typeface="Arial"/>
                <a:cs typeface="Arial"/>
              </a:rPr>
              <a:t>     determine sufficient mixing times.</a:t>
            </a:r>
            <a:r>
              <a:rPr lang="da-DK" sz="1000" b="1" dirty="0">
                <a:solidFill>
                  <a:srgbClr val="202D36"/>
                </a:solidFill>
                <a:ea typeface="Arial"/>
                <a:cs typeface="Arial"/>
              </a:rPr>
              <a:t> </a:t>
            </a:r>
          </a:p>
          <a:p>
            <a:pPr marL="139700" indent="-139700">
              <a:lnSpc>
                <a:spcPct val="106000"/>
              </a:lnSpc>
              <a:buSzPct val="100000"/>
              <a:buFontTx/>
              <a:buChar char="•"/>
            </a:pPr>
            <a:endParaRPr lang="da-DK" sz="300" dirty="0">
              <a:solidFill>
                <a:srgbClr val="202D36"/>
              </a:solidFill>
              <a:ea typeface="Arial"/>
              <a:cs typeface="Arial"/>
            </a:endParaRPr>
          </a:p>
          <a:p>
            <a:pPr marL="139700" indent="-139700">
              <a:lnSpc>
                <a:spcPct val="106000"/>
              </a:lnSpc>
              <a:buSzPct val="100000"/>
              <a:buFontTx/>
              <a:buChar char="•"/>
            </a:pPr>
            <a:r>
              <a:rPr lang="da-DK" sz="1000" b="1" dirty="0">
                <a:solidFill>
                  <a:srgbClr val="202D36"/>
                </a:solidFill>
                <a:ea typeface="Arial"/>
                <a:cs typeface="Arial"/>
              </a:rPr>
              <a:t>Connect </a:t>
            </a:r>
            <a:r>
              <a:rPr lang="da-DK" sz="1000" b="1" dirty="0" err="1">
                <a:solidFill>
                  <a:srgbClr val="202D36"/>
                </a:solidFill>
                <a:ea typeface="Arial"/>
                <a:cs typeface="Arial"/>
              </a:rPr>
              <a:t>formulation</a:t>
            </a:r>
            <a:r>
              <a:rPr lang="da-DK" sz="1000" b="1" dirty="0">
                <a:solidFill>
                  <a:srgbClr val="202D36"/>
                </a:solidFill>
                <a:ea typeface="Arial"/>
                <a:cs typeface="Arial"/>
              </a:rPr>
              <a:t> to performance: </a:t>
            </a:r>
          </a:p>
          <a:p>
            <a:pPr>
              <a:lnSpc>
                <a:spcPct val="106000"/>
              </a:lnSpc>
              <a:buSzPct val="100000"/>
            </a:pPr>
            <a:r>
              <a:rPr lang="da-DK" sz="1000" b="1" dirty="0">
                <a:solidFill>
                  <a:srgbClr val="202D36"/>
                </a:solidFill>
                <a:ea typeface="Arial"/>
                <a:cs typeface="Arial"/>
              </a:rPr>
              <a:t>     </a:t>
            </a:r>
            <a:r>
              <a:rPr lang="en-US" sz="1000" dirty="0">
                <a:solidFill>
                  <a:srgbClr val="202D36"/>
                </a:solidFill>
                <a:ea typeface="Arial"/>
                <a:cs typeface="Arial"/>
              </a:rPr>
              <a:t>Recommend promising blends and preparation procedures, considering segregation, storage, flowability and</a:t>
            </a:r>
          </a:p>
          <a:p>
            <a:pPr>
              <a:lnSpc>
                <a:spcPct val="106000"/>
              </a:lnSpc>
              <a:buSzPct val="100000"/>
            </a:pPr>
            <a:r>
              <a:rPr lang="en-US" sz="1000" dirty="0">
                <a:solidFill>
                  <a:srgbClr val="202D36"/>
                </a:solidFill>
                <a:ea typeface="Arial"/>
                <a:cs typeface="Arial"/>
              </a:rPr>
              <a:t>     equipment costs for industrial transfer.</a:t>
            </a:r>
          </a:p>
          <a:p>
            <a:pPr>
              <a:lnSpc>
                <a:spcPct val="106000"/>
              </a:lnSpc>
              <a:buSzPct val="100000"/>
            </a:pPr>
            <a:endParaRPr lang="en-US" sz="300" dirty="0">
              <a:solidFill>
                <a:srgbClr val="202D36"/>
              </a:solidFill>
              <a:latin typeface="Aptos" pitchFamily="34" charset="0"/>
              <a:ea typeface="Aptos" pitchFamily="34" charset="-122"/>
              <a:cs typeface="Arial"/>
            </a:endParaRPr>
          </a:p>
          <a:p>
            <a:pPr>
              <a:lnSpc>
                <a:spcPct val="106000"/>
              </a:lnSpc>
              <a:buSzPct val="100000"/>
            </a:pPr>
            <a:r>
              <a:rPr lang="en-US" sz="1000" dirty="0">
                <a:latin typeface="Aptos" pitchFamily="34" charset="0"/>
                <a:ea typeface="Aptos" pitchFamily="34" charset="-122"/>
                <a:cs typeface="Aptos" pitchFamily="34" charset="-120"/>
              </a:rPr>
              <a:t> Work alongside </a:t>
            </a:r>
            <a:r>
              <a:rPr lang="en-US" sz="1000" dirty="0" err="1">
                <a:latin typeface="Aptos" pitchFamily="34" charset="0"/>
                <a:ea typeface="Aptos" pitchFamily="34" charset="-122"/>
                <a:cs typeface="Aptos" pitchFamily="34" charset="-120"/>
              </a:rPr>
              <a:t>ReliBond’s</a:t>
            </a:r>
            <a:r>
              <a:rPr lang="en-US" sz="1000" dirty="0">
                <a:latin typeface="Aptos" pitchFamily="34" charset="0"/>
                <a:ea typeface="Aptos" pitchFamily="34" charset="-122"/>
                <a:cs typeface="Aptos" pitchFamily="34" charset="-120"/>
              </a:rPr>
              <a:t> team, with access to an office workspace and relevant experimental equipment. </a:t>
            </a:r>
            <a:endParaRPr lang="en-US" sz="1000" dirty="0">
              <a:solidFill>
                <a:srgbClr val="202D36"/>
              </a:solidFill>
              <a:ea typeface="Arial"/>
              <a:cs typeface="Arial"/>
            </a:endParaRPr>
          </a:p>
          <a:p>
            <a:pPr marL="139700" indent="-139700">
              <a:lnSpc>
                <a:spcPct val="106000"/>
              </a:lnSpc>
              <a:buSzPct val="100000"/>
              <a:buFontTx/>
              <a:buChar char="•"/>
            </a:pPr>
            <a:endParaRPr lang="en-US" sz="1000" dirty="0">
              <a:solidFill>
                <a:srgbClr val="202D36"/>
              </a:solidFill>
              <a:ea typeface="Arial"/>
              <a:cs typeface="Arial"/>
            </a:endParaRPr>
          </a:p>
          <a:p>
            <a:pPr marL="139700" indent="-139700">
              <a:lnSpc>
                <a:spcPct val="106000"/>
              </a:lnSpc>
              <a:buSzPct val="100000"/>
              <a:buFontTx/>
              <a:buChar char="•"/>
            </a:pPr>
            <a:endParaRPr lang="da-DK" sz="1000" b="1" dirty="0">
              <a:solidFill>
                <a:srgbClr val="202D36"/>
              </a:solidFill>
              <a:ea typeface="Arial"/>
              <a:cs typeface="Arial"/>
            </a:endParaRPr>
          </a:p>
          <a:p>
            <a:pPr marL="139700" indent="-139700">
              <a:lnSpc>
                <a:spcPct val="106000"/>
              </a:lnSpc>
              <a:buSzPct val="100000"/>
              <a:buFontTx/>
              <a:buChar char="•"/>
            </a:pPr>
            <a:endParaRPr lang="en-US" sz="1000" dirty="0">
              <a:solidFill>
                <a:srgbClr val="202D36"/>
              </a:solidFill>
              <a:ea typeface="Arial"/>
              <a:cs typeface="Arial"/>
            </a:endParaRPr>
          </a:p>
          <a:p>
            <a:pPr marL="139700" indent="-139700">
              <a:lnSpc>
                <a:spcPct val="106000"/>
              </a:lnSpc>
              <a:buSzPct val="100000"/>
              <a:buFontTx/>
              <a:buChar char="•"/>
            </a:pPr>
            <a:endParaRPr lang="en-US" sz="975" dirty="0"/>
          </a:p>
        </p:txBody>
      </p:sp>
      <p:sp>
        <p:nvSpPr>
          <p:cNvPr id="68" name="Text 35">
            <a:extLst>
              <a:ext uri="{FF2B5EF4-FFF2-40B4-BE49-F238E27FC236}">
                <a16:creationId xmlns:a16="http://schemas.microsoft.com/office/drawing/2014/main" id="{03C4A91C-74EB-E638-5ED5-5ED6C0DC7D97}"/>
              </a:ext>
            </a:extLst>
          </p:cNvPr>
          <p:cNvSpPr/>
          <p:nvPr/>
        </p:nvSpPr>
        <p:spPr>
          <a:xfrm>
            <a:off x="344510" y="9084254"/>
            <a:ext cx="6426403" cy="539496"/>
          </a:xfrm>
          <a:prstGeom prst="rect">
            <a:avLst/>
          </a:prstGeom>
          <a:noFill/>
          <a:ln/>
        </p:spPr>
        <p:txBody>
          <a:bodyPr wrap="square" lIns="0" tIns="0" rIns="0" bIns="0" rtlCol="0" anchor="t"/>
          <a:lstStyle/>
          <a:p>
            <a:pPr>
              <a:lnSpc>
                <a:spcPct val="106000"/>
              </a:lnSpc>
              <a:buSzPct val="100000"/>
            </a:pPr>
            <a:r>
              <a:rPr lang="en-US" sz="860" b="1" kern="0" spc="120" dirty="0">
                <a:solidFill>
                  <a:srgbClr val="A30018"/>
                </a:solidFill>
                <a:latin typeface="Aptos Display" pitchFamily="34" charset="0"/>
                <a:ea typeface="Aptos Display" pitchFamily="34" charset="-122"/>
                <a:cs typeface="Aptos Display" pitchFamily="34" charset="-120"/>
              </a:rPr>
              <a:t>PRACTICAL NOTES</a:t>
            </a:r>
            <a:endParaRPr lang="da-DK" sz="900" b="1" dirty="0">
              <a:solidFill>
                <a:srgbClr val="202D36"/>
              </a:solidFill>
              <a:ea typeface="Arial"/>
              <a:cs typeface="Arial"/>
            </a:endParaRPr>
          </a:p>
          <a:p>
            <a:pPr>
              <a:buSzPct val="100000"/>
            </a:pPr>
            <a:r>
              <a:rPr lang="en-US" sz="1000" dirty="0">
                <a:solidFill>
                  <a:srgbClr val="202D36"/>
                </a:solidFill>
                <a:ea typeface="Arial"/>
                <a:cs typeface="Arial"/>
              </a:rPr>
              <a:t>The overall idea can be subdivided into several projects and, concerning content and time frame, be adapted to the students’ education and schedule.</a:t>
            </a:r>
          </a:p>
          <a:p>
            <a:pPr marL="0" indent="0">
              <a:lnSpc>
                <a:spcPct val="100000"/>
              </a:lnSpc>
              <a:buNone/>
            </a:pPr>
            <a:endParaRPr lang="en-US" sz="860" dirty="0"/>
          </a:p>
        </p:txBody>
      </p:sp>
      <p:sp>
        <p:nvSpPr>
          <p:cNvPr id="70" name="Text 36">
            <a:extLst>
              <a:ext uri="{FF2B5EF4-FFF2-40B4-BE49-F238E27FC236}">
                <a16:creationId xmlns:a16="http://schemas.microsoft.com/office/drawing/2014/main" id="{B6964593-2D36-7579-68A1-E77EA2DE2EF0}"/>
              </a:ext>
            </a:extLst>
          </p:cNvPr>
          <p:cNvSpPr/>
          <p:nvPr/>
        </p:nvSpPr>
        <p:spPr>
          <a:xfrm>
            <a:off x="314594" y="8713328"/>
            <a:ext cx="6426403" cy="438912"/>
          </a:xfrm>
          <a:prstGeom prst="rect">
            <a:avLst/>
          </a:prstGeom>
          <a:noFill/>
          <a:ln/>
        </p:spPr>
        <p:txBody>
          <a:bodyPr wrap="square" lIns="0" tIns="0" rIns="0" bIns="0" rtlCol="0" anchor="t"/>
          <a:lstStyle/>
          <a:p>
            <a:pPr marL="0" indent="0">
              <a:lnSpc>
                <a:spcPct val="102000"/>
              </a:lnSpc>
              <a:buNone/>
            </a:pPr>
            <a:endParaRPr lang="en-US" sz="975" dirty="0"/>
          </a:p>
        </p:txBody>
      </p:sp>
      <p:sp>
        <p:nvSpPr>
          <p:cNvPr id="72" name="Shape 38">
            <a:extLst>
              <a:ext uri="{FF2B5EF4-FFF2-40B4-BE49-F238E27FC236}">
                <a16:creationId xmlns:a16="http://schemas.microsoft.com/office/drawing/2014/main" id="{0074F0AD-4F66-FB55-33DB-322D7347A9BA}"/>
              </a:ext>
            </a:extLst>
          </p:cNvPr>
          <p:cNvSpPr/>
          <p:nvPr/>
        </p:nvSpPr>
        <p:spPr>
          <a:xfrm>
            <a:off x="286778" y="9551282"/>
            <a:ext cx="6426403" cy="0"/>
          </a:xfrm>
          <a:prstGeom prst="line">
            <a:avLst/>
          </a:prstGeom>
          <a:noFill/>
          <a:ln w="10160">
            <a:solidFill>
              <a:srgbClr val="DFE2E3"/>
            </a:solidFill>
            <a:prstDash val="solid"/>
          </a:ln>
        </p:spPr>
        <p:txBody>
          <a:bodyPr/>
          <a:lstStyle/>
          <a:p>
            <a:endParaRPr lang="LID4096"/>
          </a:p>
        </p:txBody>
      </p:sp>
      <p:sp>
        <p:nvSpPr>
          <p:cNvPr id="74" name="Text 39">
            <a:extLst>
              <a:ext uri="{FF2B5EF4-FFF2-40B4-BE49-F238E27FC236}">
                <a16:creationId xmlns:a16="http://schemas.microsoft.com/office/drawing/2014/main" id="{C8538EA3-3073-E314-C105-67D22F3BC956}"/>
              </a:ext>
            </a:extLst>
          </p:cNvPr>
          <p:cNvSpPr/>
          <p:nvPr/>
        </p:nvSpPr>
        <p:spPr>
          <a:xfrm>
            <a:off x="288607" y="9555170"/>
            <a:ext cx="4480560" cy="137160"/>
          </a:xfrm>
          <a:prstGeom prst="rect">
            <a:avLst/>
          </a:prstGeom>
          <a:noFill/>
          <a:ln/>
        </p:spPr>
        <p:txBody>
          <a:bodyPr wrap="square" lIns="0" tIns="0" rIns="0" bIns="0" rtlCol="0" anchor="t"/>
          <a:lstStyle/>
          <a:p>
            <a:pPr marL="0" indent="0">
              <a:lnSpc>
                <a:spcPct val="100000"/>
              </a:lnSpc>
              <a:buNone/>
            </a:pPr>
            <a:r>
              <a:rPr lang="en-US" sz="715" kern="0" spc="60" dirty="0">
                <a:solidFill>
                  <a:srgbClr val="5D666B"/>
                </a:solidFill>
                <a:latin typeface="Aptos Display" pitchFamily="34" charset="0"/>
                <a:ea typeface="Aptos Display" pitchFamily="34" charset="-122"/>
                <a:cs typeface="Aptos Display" pitchFamily="34" charset="-120"/>
              </a:rPr>
              <a:t>DTU CONSTRUCT  /  MATERIALS AND SURFACE ENGINEERING</a:t>
            </a:r>
            <a:endParaRPr lang="en-US" sz="715" dirty="0"/>
          </a:p>
        </p:txBody>
      </p:sp>
      <p:pic>
        <p:nvPicPr>
          <p:cNvPr id="3" name="Picture 2">
            <a:extLst>
              <a:ext uri="{FF2B5EF4-FFF2-40B4-BE49-F238E27FC236}">
                <a16:creationId xmlns:a16="http://schemas.microsoft.com/office/drawing/2014/main" id="{857868A6-25E7-8F7F-DF60-2D5319E2BF49}"/>
              </a:ext>
            </a:extLst>
          </p:cNvPr>
          <p:cNvPicPr>
            <a:picLocks noChangeAspect="1"/>
          </p:cNvPicPr>
          <p:nvPr/>
        </p:nvPicPr>
        <p:blipFill>
          <a:blip r:embed="rId3"/>
          <a:stretch/>
        </p:blipFill>
        <p:spPr>
          <a:xfrm>
            <a:off x="344510" y="2204599"/>
            <a:ext cx="1267040" cy="911465"/>
          </a:xfrm>
          <a:prstGeom prst="rect">
            <a:avLst/>
          </a:prstGeom>
        </p:spPr>
      </p:pic>
      <p:pic>
        <p:nvPicPr>
          <p:cNvPr id="7" name="Picture 6">
            <a:extLst>
              <a:ext uri="{FF2B5EF4-FFF2-40B4-BE49-F238E27FC236}">
                <a16:creationId xmlns:a16="http://schemas.microsoft.com/office/drawing/2014/main" id="{44BDE3D3-52B0-D046-C0F9-BD17533BA7FF}"/>
              </a:ext>
            </a:extLst>
          </p:cNvPr>
          <p:cNvPicPr>
            <a:picLocks noChangeAspect="1"/>
          </p:cNvPicPr>
          <p:nvPr/>
        </p:nvPicPr>
        <p:blipFill>
          <a:blip r:embed="rId4"/>
          <a:stretch/>
        </p:blipFill>
        <p:spPr>
          <a:xfrm>
            <a:off x="344510" y="3130148"/>
            <a:ext cx="1267040" cy="876042"/>
          </a:xfrm>
          <a:prstGeom prst="rect">
            <a:avLst/>
          </a:prstGeom>
        </p:spPr>
      </p:pic>
      <p:pic>
        <p:nvPicPr>
          <p:cNvPr id="11" name="Picture 10">
            <a:extLst>
              <a:ext uri="{FF2B5EF4-FFF2-40B4-BE49-F238E27FC236}">
                <a16:creationId xmlns:a16="http://schemas.microsoft.com/office/drawing/2014/main" id="{4F085484-73B2-847A-DA4E-141276C89C44}"/>
              </a:ext>
            </a:extLst>
          </p:cNvPr>
          <p:cNvPicPr>
            <a:picLocks noChangeAspect="1"/>
          </p:cNvPicPr>
          <p:nvPr/>
        </p:nvPicPr>
        <p:blipFill>
          <a:blip r:embed="rId5"/>
          <a:stretch/>
        </p:blipFill>
        <p:spPr>
          <a:xfrm>
            <a:off x="2093020" y="3166193"/>
            <a:ext cx="1823839" cy="900434"/>
          </a:xfrm>
          <a:prstGeom prst="rect">
            <a:avLst/>
          </a:prstGeom>
        </p:spPr>
      </p:pic>
      <p:pic>
        <p:nvPicPr>
          <p:cNvPr id="15" name="Picture 14">
            <a:extLst>
              <a:ext uri="{FF2B5EF4-FFF2-40B4-BE49-F238E27FC236}">
                <a16:creationId xmlns:a16="http://schemas.microsoft.com/office/drawing/2014/main" id="{7A8F7C1F-6EA6-007C-364A-F96191D57C46}"/>
              </a:ext>
            </a:extLst>
          </p:cNvPr>
          <p:cNvPicPr>
            <a:picLocks noChangeAspect="1"/>
          </p:cNvPicPr>
          <p:nvPr/>
        </p:nvPicPr>
        <p:blipFill>
          <a:blip r:embed="rId6"/>
          <a:stretch/>
        </p:blipFill>
        <p:spPr>
          <a:xfrm>
            <a:off x="3037229" y="2195874"/>
            <a:ext cx="1278662" cy="956310"/>
          </a:xfrm>
          <a:prstGeom prst="rect">
            <a:avLst/>
          </a:prstGeom>
        </p:spPr>
      </p:pic>
      <p:pic>
        <p:nvPicPr>
          <p:cNvPr id="19" name="Picture 18">
            <a:extLst>
              <a:ext uri="{FF2B5EF4-FFF2-40B4-BE49-F238E27FC236}">
                <a16:creationId xmlns:a16="http://schemas.microsoft.com/office/drawing/2014/main" id="{A2566B91-EDD8-C556-8493-E679D82C30FF}"/>
              </a:ext>
            </a:extLst>
          </p:cNvPr>
          <p:cNvPicPr>
            <a:picLocks noChangeAspect="1"/>
          </p:cNvPicPr>
          <p:nvPr/>
        </p:nvPicPr>
        <p:blipFill>
          <a:blip r:embed="rId7"/>
          <a:srcRect t="6043" b="4597"/>
          <a:stretch>
            <a:fillRect/>
          </a:stretch>
        </p:blipFill>
        <p:spPr>
          <a:xfrm>
            <a:off x="1718476" y="2216240"/>
            <a:ext cx="1168748" cy="956309"/>
          </a:xfrm>
          <a:prstGeom prst="rect">
            <a:avLst/>
          </a:prstGeom>
        </p:spPr>
      </p:pic>
      <p:sp>
        <p:nvSpPr>
          <p:cNvPr id="27" name="Design and test blends">
            <a:extLst>
              <a:ext uri="{FF2B5EF4-FFF2-40B4-BE49-F238E27FC236}">
                <a16:creationId xmlns:a16="http://schemas.microsoft.com/office/drawing/2014/main" id="{36AE8ABB-0AD1-038B-0124-47D55F0E0FD4}"/>
              </a:ext>
            </a:extLst>
          </p:cNvPr>
          <p:cNvSpPr>
            <a:spLocks noGrp="1"/>
          </p:cNvSpPr>
          <p:nvPr/>
        </p:nvSpPr>
        <p:spPr>
          <a:xfrm>
            <a:off x="2370513" y="6309712"/>
            <a:ext cx="4253057" cy="195776"/>
          </a:xfrm>
          <a:prstGeom prst="rect">
            <a:avLst/>
          </a:prstGeom>
          <a:noFill/>
          <a:ln w="0">
            <a:noFill/>
          </a:ln>
        </p:spPr>
        <p:txBody>
          <a:bodyPr>
            <a:noAutofit/>
          </a:bodyPr>
          <a:lstStyle/>
          <a:p>
            <a:pPr>
              <a:defRPr sz="1575" b="1">
                <a:solidFill>
                  <a:srgbClr val="202D36"/>
                </a:solidFill>
                <a:latin typeface="Arial"/>
                <a:ea typeface="Arial"/>
                <a:cs typeface="Arial"/>
              </a:defRPr>
            </a:pPr>
            <a:endParaRPr sz="1100" b="1" dirty="0">
              <a:solidFill>
                <a:srgbClr val="202D36"/>
              </a:solidFill>
              <a:latin typeface="Arial"/>
              <a:ea typeface="Arial"/>
              <a:cs typeface="Arial"/>
            </a:endParaRPr>
          </a:p>
        </p:txBody>
      </p:sp>
      <p:sp>
        <p:nvSpPr>
          <p:cNvPr id="31" name="Design and test blends text">
            <a:extLst>
              <a:ext uri="{FF2B5EF4-FFF2-40B4-BE49-F238E27FC236}">
                <a16:creationId xmlns:a16="http://schemas.microsoft.com/office/drawing/2014/main" id="{F2BE5B4B-C198-CD46-D710-1A48CFF8FEC0}"/>
              </a:ext>
            </a:extLst>
          </p:cNvPr>
          <p:cNvSpPr>
            <a:spLocks noGrp="1"/>
          </p:cNvSpPr>
          <p:nvPr/>
        </p:nvSpPr>
        <p:spPr>
          <a:xfrm>
            <a:off x="2370513" y="6518990"/>
            <a:ext cx="4253057" cy="560323"/>
          </a:xfrm>
          <a:prstGeom prst="rect">
            <a:avLst/>
          </a:prstGeom>
          <a:noFill/>
          <a:ln w="0">
            <a:noFill/>
          </a:ln>
        </p:spPr>
        <p:txBody>
          <a:bodyPr>
            <a:noAutofit/>
          </a:bodyPr>
          <a:lstStyle/>
          <a:p>
            <a:pPr algn="just">
              <a:defRPr sz="1500" b="0">
                <a:solidFill>
                  <a:srgbClr val="202D36"/>
                </a:solidFill>
                <a:latin typeface="Arial"/>
                <a:ea typeface="Arial"/>
                <a:cs typeface="Arial"/>
              </a:defRPr>
            </a:pPr>
            <a:endParaRPr sz="1050" dirty="0">
              <a:solidFill>
                <a:srgbClr val="202D36"/>
              </a:solidFill>
              <a:latin typeface="Arial"/>
              <a:ea typeface="Arial"/>
              <a:cs typeface="Arial"/>
            </a:endParaRPr>
          </a:p>
        </p:txBody>
      </p:sp>
      <p:sp>
        <p:nvSpPr>
          <p:cNvPr id="35" name="Develop quantitative methods">
            <a:extLst>
              <a:ext uri="{FF2B5EF4-FFF2-40B4-BE49-F238E27FC236}">
                <a16:creationId xmlns:a16="http://schemas.microsoft.com/office/drawing/2014/main" id="{BD21E2F3-8B34-0C89-5043-3AAAD253242F}"/>
              </a:ext>
            </a:extLst>
          </p:cNvPr>
          <p:cNvSpPr>
            <a:spLocks noGrp="1"/>
          </p:cNvSpPr>
          <p:nvPr/>
        </p:nvSpPr>
        <p:spPr>
          <a:xfrm>
            <a:off x="2370513" y="7113067"/>
            <a:ext cx="4253057" cy="195776"/>
          </a:xfrm>
          <a:prstGeom prst="rect">
            <a:avLst/>
          </a:prstGeom>
          <a:noFill/>
          <a:ln w="0">
            <a:noFill/>
          </a:ln>
        </p:spPr>
        <p:txBody>
          <a:bodyPr>
            <a:noAutofit/>
          </a:bodyPr>
          <a:lstStyle/>
          <a:p>
            <a:pPr>
              <a:defRPr sz="1575" b="1">
                <a:solidFill>
                  <a:srgbClr val="202D36"/>
                </a:solidFill>
                <a:latin typeface="Arial"/>
                <a:ea typeface="Arial"/>
                <a:cs typeface="Arial"/>
              </a:defRPr>
            </a:pPr>
            <a:endParaRPr sz="1100" b="1" dirty="0">
              <a:solidFill>
                <a:srgbClr val="202D36"/>
              </a:solidFill>
              <a:latin typeface="Arial"/>
              <a:ea typeface="Arial"/>
              <a:cs typeface="Arial"/>
            </a:endParaRPr>
          </a:p>
        </p:txBody>
      </p:sp>
      <p:sp>
        <p:nvSpPr>
          <p:cNvPr id="39" name="Develop quantitative methods text">
            <a:extLst>
              <a:ext uri="{FF2B5EF4-FFF2-40B4-BE49-F238E27FC236}">
                <a16:creationId xmlns:a16="http://schemas.microsoft.com/office/drawing/2014/main" id="{E31EDEEB-0098-835F-1A68-D65E605E579B}"/>
              </a:ext>
            </a:extLst>
          </p:cNvPr>
          <p:cNvSpPr>
            <a:spLocks noGrp="1"/>
          </p:cNvSpPr>
          <p:nvPr/>
        </p:nvSpPr>
        <p:spPr>
          <a:xfrm>
            <a:off x="2370513" y="7322345"/>
            <a:ext cx="4253057" cy="560323"/>
          </a:xfrm>
          <a:prstGeom prst="rect">
            <a:avLst/>
          </a:prstGeom>
          <a:noFill/>
          <a:ln w="0">
            <a:noFill/>
          </a:ln>
        </p:spPr>
        <p:txBody>
          <a:bodyPr>
            <a:noAutofit/>
          </a:bodyPr>
          <a:lstStyle/>
          <a:p>
            <a:pPr algn="just">
              <a:defRPr sz="1500" b="0">
                <a:solidFill>
                  <a:srgbClr val="202D36"/>
                </a:solidFill>
                <a:latin typeface="Arial"/>
                <a:ea typeface="Arial"/>
                <a:cs typeface="Arial"/>
              </a:defRPr>
            </a:pPr>
            <a:endParaRPr sz="1050" dirty="0">
              <a:solidFill>
                <a:srgbClr val="202D36"/>
              </a:solidFill>
              <a:latin typeface="Arial"/>
              <a:ea typeface="Arial"/>
              <a:cs typeface="Arial"/>
            </a:endParaRPr>
          </a:p>
        </p:txBody>
      </p:sp>
      <p:sp>
        <p:nvSpPr>
          <p:cNvPr id="43" name="Validate accuracy and mixing endpoints">
            <a:extLst>
              <a:ext uri="{FF2B5EF4-FFF2-40B4-BE49-F238E27FC236}">
                <a16:creationId xmlns:a16="http://schemas.microsoft.com/office/drawing/2014/main" id="{267B21C9-8DE7-C06F-2386-18B08D79AA3C}"/>
              </a:ext>
            </a:extLst>
          </p:cNvPr>
          <p:cNvSpPr>
            <a:spLocks noGrp="1"/>
          </p:cNvSpPr>
          <p:nvPr/>
        </p:nvSpPr>
        <p:spPr>
          <a:xfrm>
            <a:off x="2370513" y="7916422"/>
            <a:ext cx="4253057" cy="195776"/>
          </a:xfrm>
          <a:prstGeom prst="rect">
            <a:avLst/>
          </a:prstGeom>
          <a:noFill/>
          <a:ln w="0">
            <a:noFill/>
          </a:ln>
        </p:spPr>
        <p:txBody>
          <a:bodyPr>
            <a:noAutofit/>
          </a:bodyPr>
          <a:lstStyle/>
          <a:p>
            <a:pPr>
              <a:defRPr sz="1575" b="1">
                <a:solidFill>
                  <a:srgbClr val="202D36"/>
                </a:solidFill>
                <a:latin typeface="Arial"/>
                <a:ea typeface="Arial"/>
                <a:cs typeface="Arial"/>
              </a:defRPr>
            </a:pPr>
            <a:endParaRPr sz="1100" b="1" dirty="0">
              <a:solidFill>
                <a:srgbClr val="202D36"/>
              </a:solidFill>
              <a:latin typeface="Arial"/>
              <a:ea typeface="Arial"/>
              <a:cs typeface="Arial"/>
            </a:endParaRPr>
          </a:p>
        </p:txBody>
      </p:sp>
      <p:sp>
        <p:nvSpPr>
          <p:cNvPr id="47" name="Validate accuracy and mixing endpoints text">
            <a:extLst>
              <a:ext uri="{FF2B5EF4-FFF2-40B4-BE49-F238E27FC236}">
                <a16:creationId xmlns:a16="http://schemas.microsoft.com/office/drawing/2014/main" id="{F14DCD42-251D-0BDB-E44C-AAEFCEDC4598}"/>
              </a:ext>
            </a:extLst>
          </p:cNvPr>
          <p:cNvSpPr>
            <a:spLocks noGrp="1"/>
          </p:cNvSpPr>
          <p:nvPr/>
        </p:nvSpPr>
        <p:spPr>
          <a:xfrm>
            <a:off x="2370513" y="8125700"/>
            <a:ext cx="4253057" cy="560323"/>
          </a:xfrm>
          <a:prstGeom prst="rect">
            <a:avLst/>
          </a:prstGeom>
          <a:noFill/>
          <a:ln w="0">
            <a:noFill/>
          </a:ln>
        </p:spPr>
        <p:txBody>
          <a:bodyPr>
            <a:noAutofit/>
          </a:bodyPr>
          <a:lstStyle/>
          <a:p>
            <a:pPr algn="just">
              <a:defRPr sz="1500" b="0">
                <a:solidFill>
                  <a:srgbClr val="202D36"/>
                </a:solidFill>
                <a:latin typeface="Arial"/>
                <a:ea typeface="Arial"/>
                <a:cs typeface="Arial"/>
              </a:defRPr>
            </a:pPr>
            <a:endParaRPr sz="1050" dirty="0">
              <a:solidFill>
                <a:srgbClr val="202D36"/>
              </a:solidFill>
              <a:latin typeface="Arial"/>
              <a:ea typeface="Arial"/>
              <a:cs typeface="Arial"/>
            </a:endParaRPr>
          </a:p>
        </p:txBody>
      </p:sp>
      <p:sp>
        <p:nvSpPr>
          <p:cNvPr id="51" name="Connect formulation to performance">
            <a:extLst>
              <a:ext uri="{FF2B5EF4-FFF2-40B4-BE49-F238E27FC236}">
                <a16:creationId xmlns:a16="http://schemas.microsoft.com/office/drawing/2014/main" id="{E30838B6-CDCE-048C-FEF2-FACE2B389BF1}"/>
              </a:ext>
            </a:extLst>
          </p:cNvPr>
          <p:cNvSpPr>
            <a:spLocks noGrp="1"/>
          </p:cNvSpPr>
          <p:nvPr/>
        </p:nvSpPr>
        <p:spPr>
          <a:xfrm>
            <a:off x="2370513" y="8719778"/>
            <a:ext cx="4253057" cy="195776"/>
          </a:xfrm>
          <a:prstGeom prst="rect">
            <a:avLst/>
          </a:prstGeom>
          <a:noFill/>
          <a:ln w="0">
            <a:noFill/>
          </a:ln>
        </p:spPr>
        <p:txBody>
          <a:bodyPr>
            <a:noAutofit/>
          </a:bodyPr>
          <a:lstStyle/>
          <a:p>
            <a:pPr>
              <a:defRPr sz="1575" b="1">
                <a:solidFill>
                  <a:srgbClr val="202D36"/>
                </a:solidFill>
                <a:latin typeface="Arial"/>
                <a:ea typeface="Arial"/>
                <a:cs typeface="Arial"/>
              </a:defRPr>
            </a:pPr>
            <a:endParaRPr sz="1100" b="1" dirty="0">
              <a:solidFill>
                <a:srgbClr val="202D36"/>
              </a:solidFill>
              <a:latin typeface="Arial"/>
              <a:ea typeface="Arial"/>
              <a:cs typeface="Arial"/>
            </a:endParaRPr>
          </a:p>
        </p:txBody>
      </p:sp>
      <p:sp>
        <p:nvSpPr>
          <p:cNvPr id="55" name="Connect formulation to performance text">
            <a:extLst>
              <a:ext uri="{FF2B5EF4-FFF2-40B4-BE49-F238E27FC236}">
                <a16:creationId xmlns:a16="http://schemas.microsoft.com/office/drawing/2014/main" id="{E14A4A38-1727-709E-5FD6-C2569525124D}"/>
              </a:ext>
            </a:extLst>
          </p:cNvPr>
          <p:cNvSpPr>
            <a:spLocks noGrp="1"/>
          </p:cNvSpPr>
          <p:nvPr/>
        </p:nvSpPr>
        <p:spPr>
          <a:xfrm>
            <a:off x="2399774" y="7998190"/>
            <a:ext cx="4253057" cy="560323"/>
          </a:xfrm>
          <a:prstGeom prst="rect">
            <a:avLst/>
          </a:prstGeom>
          <a:noFill/>
          <a:ln w="0">
            <a:noFill/>
          </a:ln>
        </p:spPr>
        <p:txBody>
          <a:bodyPr>
            <a:noAutofit/>
          </a:bodyPr>
          <a:lstStyle/>
          <a:p>
            <a:pPr algn="just">
              <a:defRPr sz="1500" b="0">
                <a:solidFill>
                  <a:srgbClr val="202D36"/>
                </a:solidFill>
                <a:latin typeface="Arial"/>
                <a:ea typeface="Arial"/>
                <a:cs typeface="Arial"/>
              </a:defRPr>
            </a:pPr>
            <a:endParaRPr sz="1050" dirty="0">
              <a:solidFill>
                <a:srgbClr val="202D36"/>
              </a:solidFill>
              <a:latin typeface="Arial"/>
              <a:ea typeface="Arial"/>
              <a:cs typeface="Arial"/>
            </a:endParaRPr>
          </a:p>
        </p:txBody>
      </p:sp>
    </p:spTree>
    <p:extLst>
      <p:ext uri="{BB962C8B-B14F-4D97-AF65-F5344CB8AC3E}">
        <p14:creationId xmlns:p14="http://schemas.microsoft.com/office/powerpoint/2010/main" val="414367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35443-9008-297E-656E-C682A68FD71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7EC3A09-618C-5FA1-F8BE-73AB4C038D2C}"/>
              </a:ext>
            </a:extLst>
          </p:cNvPr>
          <p:cNvSpPr>
            <a:spLocks noGrp="1"/>
          </p:cNvSpPr>
          <p:nvPr>
            <p:ph type="sldNum" sz="quarter" idx="12"/>
          </p:nvPr>
        </p:nvSpPr>
        <p:spPr>
          <a:xfrm>
            <a:off x="4989080" y="9329519"/>
            <a:ext cx="1543050" cy="527403"/>
          </a:xfrm>
        </p:spPr>
        <p:txBody>
          <a:bodyPr/>
          <a:lstStyle/>
          <a:p>
            <a:fld id="{F934066D-384D-4BE1-BDC2-82BCC33558DD}" type="slidenum">
              <a:rPr lang="en-US" sz="800" b="1" smtClean="0">
                <a:solidFill>
                  <a:srgbClr val="C00000"/>
                </a:solidFill>
                <a:latin typeface="+mj-lt"/>
              </a:rPr>
              <a:t>2</a:t>
            </a:fld>
            <a:endParaRPr lang="en-US" sz="800" b="1" dirty="0">
              <a:solidFill>
                <a:srgbClr val="C00000"/>
              </a:solidFill>
              <a:latin typeface="+mj-lt"/>
            </a:endParaRPr>
          </a:p>
        </p:txBody>
      </p:sp>
      <p:sp>
        <p:nvSpPr>
          <p:cNvPr id="6" name="Shape 1">
            <a:extLst>
              <a:ext uri="{FF2B5EF4-FFF2-40B4-BE49-F238E27FC236}">
                <a16:creationId xmlns:a16="http://schemas.microsoft.com/office/drawing/2014/main" id="{F81246C0-4A85-1884-02A0-4CF65761999F}"/>
              </a:ext>
            </a:extLst>
          </p:cNvPr>
          <p:cNvSpPr/>
          <p:nvPr/>
        </p:nvSpPr>
        <p:spPr>
          <a:xfrm>
            <a:off x="288607" y="292298"/>
            <a:ext cx="32004" cy="393192"/>
          </a:xfrm>
          <a:prstGeom prst="rect">
            <a:avLst/>
          </a:prstGeom>
          <a:solidFill>
            <a:srgbClr val="A30018"/>
          </a:solidFill>
          <a:ln w="12700">
            <a:solidFill>
              <a:srgbClr val="A30018">
                <a:alpha val="0"/>
              </a:srgbClr>
            </a:solidFill>
            <a:prstDash val="solid"/>
          </a:ln>
        </p:spPr>
        <p:txBody>
          <a:bodyPr/>
          <a:lstStyle/>
          <a:p>
            <a:endParaRPr lang="LID4096"/>
          </a:p>
        </p:txBody>
      </p:sp>
      <p:sp>
        <p:nvSpPr>
          <p:cNvPr id="8" name="Text 2">
            <a:extLst>
              <a:ext uri="{FF2B5EF4-FFF2-40B4-BE49-F238E27FC236}">
                <a16:creationId xmlns:a16="http://schemas.microsoft.com/office/drawing/2014/main" id="{C7DFBEE8-339C-956E-E985-1400EE287197}"/>
              </a:ext>
            </a:extLst>
          </p:cNvPr>
          <p:cNvSpPr/>
          <p:nvPr/>
        </p:nvSpPr>
        <p:spPr>
          <a:xfrm>
            <a:off x="444055" y="278582"/>
            <a:ext cx="5166360" cy="210312"/>
          </a:xfrm>
          <a:prstGeom prst="rect">
            <a:avLst/>
          </a:prstGeom>
          <a:noFill/>
          <a:ln/>
        </p:spPr>
        <p:txBody>
          <a:bodyPr wrap="square" lIns="0" tIns="0" rIns="0" bIns="0" rtlCol="0" anchor="t"/>
          <a:lstStyle/>
          <a:p>
            <a:pPr marL="0" indent="0">
              <a:lnSpc>
                <a:spcPct val="100000"/>
              </a:lnSpc>
              <a:buNone/>
            </a:pPr>
            <a:r>
              <a:rPr lang="en-US" sz="1100" b="1" kern="0" spc="20" dirty="0">
                <a:solidFill>
                  <a:srgbClr val="22282D"/>
                </a:solidFill>
                <a:latin typeface="Aptos Display" pitchFamily="34" charset="0"/>
                <a:ea typeface="Aptos Display" pitchFamily="34" charset="-122"/>
                <a:cs typeface="Aptos Display" pitchFamily="34" charset="-120"/>
              </a:rPr>
              <a:t>MATERIALS AND SURFACE ENGINEERING</a:t>
            </a:r>
            <a:endParaRPr lang="en-US" sz="1100" dirty="0"/>
          </a:p>
        </p:txBody>
      </p:sp>
      <p:sp>
        <p:nvSpPr>
          <p:cNvPr id="10" name="Text 3">
            <a:extLst>
              <a:ext uri="{FF2B5EF4-FFF2-40B4-BE49-F238E27FC236}">
                <a16:creationId xmlns:a16="http://schemas.microsoft.com/office/drawing/2014/main" id="{3623E933-5272-973D-B045-9FF62221423F}"/>
              </a:ext>
            </a:extLst>
          </p:cNvPr>
          <p:cNvSpPr/>
          <p:nvPr/>
        </p:nvSpPr>
        <p:spPr>
          <a:xfrm>
            <a:off x="444055" y="516326"/>
            <a:ext cx="5212080" cy="173736"/>
          </a:xfrm>
          <a:prstGeom prst="rect">
            <a:avLst/>
          </a:prstGeom>
          <a:noFill/>
          <a:ln/>
        </p:spPr>
        <p:txBody>
          <a:bodyPr wrap="square" lIns="0" tIns="0" rIns="0" bIns="0" rtlCol="0" anchor="t"/>
          <a:lstStyle/>
          <a:p>
            <a:pPr marL="0" indent="0">
              <a:lnSpc>
                <a:spcPct val="100000"/>
              </a:lnSpc>
              <a:buNone/>
            </a:pPr>
            <a:r>
              <a:rPr lang="en-US" sz="1400" kern="0" spc="55" dirty="0">
                <a:solidFill>
                  <a:srgbClr val="5D666B"/>
                </a:solidFill>
                <a:latin typeface="Aptos" pitchFamily="34" charset="0"/>
                <a:ea typeface="Aptos" pitchFamily="34" charset="-122"/>
                <a:cs typeface="Aptos" pitchFamily="34" charset="-120"/>
              </a:rPr>
              <a:t>DEPARTMENT OF CIVIL AND MECHANICAL ENGINEERING</a:t>
            </a:r>
            <a:endParaRPr lang="en-US" sz="1400" dirty="0"/>
          </a:p>
        </p:txBody>
      </p:sp>
      <p:pic>
        <p:nvPicPr>
          <p:cNvPr id="12" name="Image 0" descr="/mnt/data/dtu_logo.png">
            <a:extLst>
              <a:ext uri="{FF2B5EF4-FFF2-40B4-BE49-F238E27FC236}">
                <a16:creationId xmlns:a16="http://schemas.microsoft.com/office/drawing/2014/main" id="{EA67859E-5147-F6C5-C52F-E6A5C3B9C103}"/>
              </a:ext>
            </a:extLst>
          </p:cNvPr>
          <p:cNvPicPr>
            <a:picLocks noChangeAspect="1"/>
          </p:cNvPicPr>
          <p:nvPr/>
        </p:nvPicPr>
        <p:blipFill>
          <a:blip r:embed="rId2"/>
          <a:stretch>
            <a:fillRect/>
          </a:stretch>
        </p:blipFill>
        <p:spPr>
          <a:xfrm>
            <a:off x="6223063" y="197200"/>
            <a:ext cx="429768" cy="601675"/>
          </a:xfrm>
          <a:prstGeom prst="rect">
            <a:avLst/>
          </a:prstGeom>
        </p:spPr>
      </p:pic>
      <p:sp>
        <p:nvSpPr>
          <p:cNvPr id="14" name="Shape 4">
            <a:extLst>
              <a:ext uri="{FF2B5EF4-FFF2-40B4-BE49-F238E27FC236}">
                <a16:creationId xmlns:a16="http://schemas.microsoft.com/office/drawing/2014/main" id="{4349CC3D-B946-44AF-4D61-6DE884F96A72}"/>
              </a:ext>
            </a:extLst>
          </p:cNvPr>
          <p:cNvSpPr/>
          <p:nvPr/>
        </p:nvSpPr>
        <p:spPr>
          <a:xfrm>
            <a:off x="288607" y="936950"/>
            <a:ext cx="6426403" cy="0"/>
          </a:xfrm>
          <a:prstGeom prst="line">
            <a:avLst/>
          </a:prstGeom>
          <a:noFill/>
          <a:ln w="19050">
            <a:solidFill>
              <a:srgbClr val="A30018"/>
            </a:solidFill>
            <a:prstDash val="solid"/>
          </a:ln>
        </p:spPr>
        <p:txBody>
          <a:bodyPr/>
          <a:lstStyle/>
          <a:p>
            <a:endParaRPr lang="LID4096"/>
          </a:p>
        </p:txBody>
      </p:sp>
      <p:sp>
        <p:nvSpPr>
          <p:cNvPr id="16" name="Text 5">
            <a:extLst>
              <a:ext uri="{FF2B5EF4-FFF2-40B4-BE49-F238E27FC236}">
                <a16:creationId xmlns:a16="http://schemas.microsoft.com/office/drawing/2014/main" id="{C5DFEA59-7482-9CB1-AC00-C11CFDB32F7C}"/>
              </a:ext>
            </a:extLst>
          </p:cNvPr>
          <p:cNvSpPr/>
          <p:nvPr/>
        </p:nvSpPr>
        <p:spPr>
          <a:xfrm>
            <a:off x="302581" y="1067887"/>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PROJECT LEVEL: MSc project or special course</a:t>
            </a:r>
            <a:endParaRPr lang="en-US" sz="860" dirty="0"/>
          </a:p>
        </p:txBody>
      </p:sp>
      <p:sp>
        <p:nvSpPr>
          <p:cNvPr id="18" name="Text 6">
            <a:extLst>
              <a:ext uri="{FF2B5EF4-FFF2-40B4-BE49-F238E27FC236}">
                <a16:creationId xmlns:a16="http://schemas.microsoft.com/office/drawing/2014/main" id="{F2BE27D9-D9C6-39A1-44EA-EC818C38D6C6}"/>
              </a:ext>
            </a:extLst>
          </p:cNvPr>
          <p:cNvSpPr/>
          <p:nvPr/>
        </p:nvSpPr>
        <p:spPr>
          <a:xfrm>
            <a:off x="302581" y="1345063"/>
            <a:ext cx="6426403" cy="905256"/>
          </a:xfrm>
          <a:prstGeom prst="rect">
            <a:avLst/>
          </a:prstGeom>
          <a:noFill/>
          <a:ln/>
        </p:spPr>
        <p:txBody>
          <a:bodyPr wrap="square" lIns="0" tIns="0" rIns="0" bIns="0" rtlCol="0" anchor="t"/>
          <a:lstStyle/>
          <a:p>
            <a:pPr marL="0" indent="0">
              <a:lnSpc>
                <a:spcPct val="95000"/>
              </a:lnSpc>
              <a:buNone/>
            </a:pPr>
            <a:r>
              <a:rPr lang="en-US" sz="2000" b="1" dirty="0">
                <a:solidFill>
                  <a:srgbClr val="22282D"/>
                </a:solidFill>
                <a:latin typeface="Aptos Display" pitchFamily="34" charset="0"/>
                <a:ea typeface="Aptos Display" pitchFamily="34" charset="-122"/>
                <a:cs typeface="Aptos Display" pitchFamily="34" charset="-120"/>
              </a:rPr>
              <a:t>From waste to value: Electrochemical metal recovery</a:t>
            </a:r>
            <a:endParaRPr lang="en-US" sz="1600" b="1" dirty="0">
              <a:solidFill>
                <a:srgbClr val="22282D"/>
              </a:solidFill>
              <a:latin typeface="Aptos Display" pitchFamily="34" charset="0"/>
              <a:ea typeface="Aptos Display" pitchFamily="34" charset="-122"/>
              <a:cs typeface="Aptos Display" pitchFamily="34" charset="-120"/>
            </a:endParaRPr>
          </a:p>
          <a:p>
            <a:pPr marL="0" indent="0">
              <a:lnSpc>
                <a:spcPct val="95000"/>
              </a:lnSpc>
              <a:buNone/>
            </a:pPr>
            <a:endParaRPr lang="en-US" sz="2000" b="1" dirty="0">
              <a:solidFill>
                <a:srgbClr val="22282D"/>
              </a:solidFill>
              <a:latin typeface="Aptos Display" pitchFamily="34" charset="0"/>
              <a:ea typeface="Aptos Display" pitchFamily="34" charset="-122"/>
              <a:cs typeface="Aptos Display" pitchFamily="34" charset="-120"/>
            </a:endParaRPr>
          </a:p>
        </p:txBody>
      </p:sp>
      <p:sp>
        <p:nvSpPr>
          <p:cNvPr id="26" name="Shape 14">
            <a:extLst>
              <a:ext uri="{FF2B5EF4-FFF2-40B4-BE49-F238E27FC236}">
                <a16:creationId xmlns:a16="http://schemas.microsoft.com/office/drawing/2014/main" id="{0176FF55-D357-24FA-2117-41E7401FD5A5}"/>
              </a:ext>
            </a:extLst>
          </p:cNvPr>
          <p:cNvSpPr/>
          <p:nvPr/>
        </p:nvSpPr>
        <p:spPr>
          <a:xfrm>
            <a:off x="4623932" y="2059932"/>
            <a:ext cx="0" cy="2112264"/>
          </a:xfrm>
          <a:prstGeom prst="line">
            <a:avLst/>
          </a:prstGeom>
          <a:noFill/>
          <a:ln w="12700">
            <a:solidFill>
              <a:srgbClr val="DFE2E3"/>
            </a:solidFill>
            <a:prstDash val="solid"/>
          </a:ln>
        </p:spPr>
        <p:txBody>
          <a:bodyPr/>
          <a:lstStyle/>
          <a:p>
            <a:endParaRPr lang="LID4096"/>
          </a:p>
        </p:txBody>
      </p:sp>
      <p:sp>
        <p:nvSpPr>
          <p:cNvPr id="28" name="Text 15">
            <a:extLst>
              <a:ext uri="{FF2B5EF4-FFF2-40B4-BE49-F238E27FC236}">
                <a16:creationId xmlns:a16="http://schemas.microsoft.com/office/drawing/2014/main" id="{62E8ECCD-C870-A721-576C-DBE4DF699212}"/>
              </a:ext>
            </a:extLst>
          </p:cNvPr>
          <p:cNvSpPr/>
          <p:nvPr/>
        </p:nvSpPr>
        <p:spPr>
          <a:xfrm>
            <a:off x="4813058" y="2075377"/>
            <a:ext cx="1901952" cy="201168"/>
          </a:xfrm>
          <a:prstGeom prst="rect">
            <a:avLst/>
          </a:prstGeom>
          <a:noFill/>
          <a:ln/>
        </p:spPr>
        <p:txBody>
          <a:bodyPr wrap="square" lIns="0" tIns="0" rIns="0" bIns="0" rtlCol="0" anchor="t"/>
          <a:lstStyle/>
          <a:p>
            <a:pPr marL="0" indent="0">
              <a:lnSpc>
                <a:spcPct val="100000"/>
              </a:lnSpc>
              <a:buNone/>
            </a:pPr>
            <a:r>
              <a:rPr lang="en-US" sz="1050" b="1" kern="0" spc="120" dirty="0">
                <a:solidFill>
                  <a:srgbClr val="5D666B"/>
                </a:solidFill>
                <a:latin typeface="Aptos Display" pitchFamily="34" charset="0"/>
                <a:ea typeface="Aptos Display" pitchFamily="34" charset="-122"/>
                <a:cs typeface="Aptos Display" pitchFamily="34" charset="-120"/>
              </a:rPr>
              <a:t>SUPERVISORS</a:t>
            </a:r>
            <a:endParaRPr lang="en-US" sz="1050" dirty="0"/>
          </a:p>
        </p:txBody>
      </p:sp>
      <p:sp>
        <p:nvSpPr>
          <p:cNvPr id="30" name="Text 16">
            <a:extLst>
              <a:ext uri="{FF2B5EF4-FFF2-40B4-BE49-F238E27FC236}">
                <a16:creationId xmlns:a16="http://schemas.microsoft.com/office/drawing/2014/main" id="{ACAF1A14-078D-2547-C328-6C668418012E}"/>
              </a:ext>
            </a:extLst>
          </p:cNvPr>
          <p:cNvSpPr/>
          <p:nvPr/>
        </p:nvSpPr>
        <p:spPr>
          <a:xfrm>
            <a:off x="4813058" y="2349697"/>
            <a:ext cx="1901952" cy="201168"/>
          </a:xfrm>
          <a:prstGeom prst="rect">
            <a:avLst/>
          </a:prstGeom>
          <a:noFill/>
          <a:ln/>
        </p:spPr>
        <p:txBody>
          <a:bodyPr wrap="square" lIns="0" tIns="0" rIns="0" bIns="0" rtlCol="0" anchor="t"/>
          <a:lstStyle/>
          <a:p>
            <a:pPr marL="0" indent="0">
              <a:lnSpc>
                <a:spcPct val="100000"/>
              </a:lnSpc>
              <a:buNone/>
            </a:pPr>
            <a:r>
              <a:rPr lang="en-US" sz="1050" dirty="0"/>
              <a:t>Karen Pantleon</a:t>
            </a:r>
          </a:p>
        </p:txBody>
      </p:sp>
      <p:sp>
        <p:nvSpPr>
          <p:cNvPr id="32" name="Text 17">
            <a:extLst>
              <a:ext uri="{FF2B5EF4-FFF2-40B4-BE49-F238E27FC236}">
                <a16:creationId xmlns:a16="http://schemas.microsoft.com/office/drawing/2014/main" id="{30CA2678-A1F5-5000-D8A7-8DEF98181954}"/>
              </a:ext>
            </a:extLst>
          </p:cNvPr>
          <p:cNvSpPr/>
          <p:nvPr/>
        </p:nvSpPr>
        <p:spPr>
          <a:xfrm>
            <a:off x="4813058" y="2560009"/>
            <a:ext cx="1901952" cy="164592"/>
          </a:xfrm>
          <a:prstGeom prst="rect">
            <a:avLst/>
          </a:prstGeom>
          <a:noFill/>
          <a:ln/>
        </p:spPr>
        <p:txBody>
          <a:bodyPr wrap="square" lIns="0" tIns="0" rIns="0" bIns="0" rtlCol="0" anchor="t"/>
          <a:lstStyle/>
          <a:p>
            <a:pPr marL="0" indent="0">
              <a:lnSpc>
                <a:spcPct val="100000"/>
              </a:lnSpc>
              <a:buNone/>
            </a:pPr>
            <a:r>
              <a:rPr lang="en-US" sz="1050" dirty="0">
                <a:solidFill>
                  <a:srgbClr val="A30018"/>
                </a:solidFill>
                <a:latin typeface="Aptos" pitchFamily="34" charset="0"/>
              </a:rPr>
              <a:t>kapa@dtu.dk</a:t>
            </a:r>
            <a:endParaRPr lang="en-US" sz="1050" dirty="0"/>
          </a:p>
        </p:txBody>
      </p:sp>
      <p:sp>
        <p:nvSpPr>
          <p:cNvPr id="34" name="Text 18">
            <a:extLst>
              <a:ext uri="{FF2B5EF4-FFF2-40B4-BE49-F238E27FC236}">
                <a16:creationId xmlns:a16="http://schemas.microsoft.com/office/drawing/2014/main" id="{DE2F5524-4619-4EF7-35F7-BE6CB93352A3}"/>
              </a:ext>
            </a:extLst>
          </p:cNvPr>
          <p:cNvSpPr/>
          <p:nvPr/>
        </p:nvSpPr>
        <p:spPr>
          <a:xfrm>
            <a:off x="4813058" y="2843473"/>
            <a:ext cx="1901952" cy="201168"/>
          </a:xfrm>
          <a:prstGeom prst="rect">
            <a:avLst/>
          </a:prstGeom>
          <a:noFill/>
          <a:ln/>
        </p:spPr>
        <p:txBody>
          <a:bodyPr wrap="square" lIns="0" tIns="0" rIns="0" bIns="0" rtlCol="0" anchor="t"/>
          <a:lstStyle/>
          <a:p>
            <a:pPr marL="0" indent="0">
              <a:lnSpc>
                <a:spcPct val="100000"/>
              </a:lnSpc>
              <a:buNone/>
            </a:pPr>
            <a:r>
              <a:rPr lang="it-IT" sz="1050" dirty="0">
                <a:latin typeface="Aptos Display" pitchFamily="34" charset="0"/>
                <a:ea typeface="Aptos Display" pitchFamily="34" charset="-122"/>
                <a:cs typeface="Aptos Display" pitchFamily="34" charset="-120"/>
              </a:rPr>
              <a:t>Mattia Saccoccio</a:t>
            </a:r>
            <a:endParaRPr lang="en-US" sz="1050" dirty="0"/>
          </a:p>
        </p:txBody>
      </p:sp>
      <p:sp>
        <p:nvSpPr>
          <p:cNvPr id="36" name="Text 19">
            <a:extLst>
              <a:ext uri="{FF2B5EF4-FFF2-40B4-BE49-F238E27FC236}">
                <a16:creationId xmlns:a16="http://schemas.microsoft.com/office/drawing/2014/main" id="{A487A996-092A-C10E-9894-4089B1303F31}"/>
              </a:ext>
            </a:extLst>
          </p:cNvPr>
          <p:cNvSpPr/>
          <p:nvPr/>
        </p:nvSpPr>
        <p:spPr>
          <a:xfrm>
            <a:off x="4813058" y="3053785"/>
            <a:ext cx="1901952" cy="164592"/>
          </a:xfrm>
          <a:prstGeom prst="rect">
            <a:avLst/>
          </a:prstGeom>
          <a:noFill/>
          <a:ln/>
        </p:spPr>
        <p:txBody>
          <a:bodyPr wrap="square" lIns="0" tIns="0" rIns="0" bIns="0" rtlCol="0" anchor="t"/>
          <a:lstStyle/>
          <a:p>
            <a:pPr marL="0" indent="0">
              <a:lnSpc>
                <a:spcPct val="100000"/>
              </a:lnSpc>
              <a:buNone/>
            </a:pPr>
            <a:r>
              <a:rPr lang="en-US" sz="1050" dirty="0">
                <a:solidFill>
                  <a:srgbClr val="A30018"/>
                </a:solidFill>
                <a:latin typeface="Aptos" pitchFamily="34" charset="0"/>
                <a:ea typeface="Aptos" pitchFamily="34" charset="-122"/>
                <a:cs typeface="Aptos" pitchFamily="34" charset="-120"/>
              </a:rPr>
              <a:t> ms@nitrovolt.com</a:t>
            </a:r>
          </a:p>
        </p:txBody>
      </p:sp>
      <p:sp>
        <p:nvSpPr>
          <p:cNvPr id="42" name="Text 22">
            <a:extLst>
              <a:ext uri="{FF2B5EF4-FFF2-40B4-BE49-F238E27FC236}">
                <a16:creationId xmlns:a16="http://schemas.microsoft.com/office/drawing/2014/main" id="{8EDCDC8A-B1E0-0808-AE6E-3D5361E0B564}"/>
              </a:ext>
            </a:extLst>
          </p:cNvPr>
          <p:cNvSpPr/>
          <p:nvPr/>
        </p:nvSpPr>
        <p:spPr>
          <a:xfrm>
            <a:off x="4811229" y="3433261"/>
            <a:ext cx="1901952" cy="201168"/>
          </a:xfrm>
          <a:prstGeom prst="rect">
            <a:avLst/>
          </a:prstGeom>
          <a:noFill/>
          <a:ln/>
        </p:spPr>
        <p:txBody>
          <a:bodyPr wrap="square" lIns="0" tIns="0" rIns="0" bIns="0" rtlCol="0" anchor="t"/>
          <a:lstStyle/>
          <a:p>
            <a:pPr marL="0" indent="0">
              <a:lnSpc>
                <a:spcPct val="100000"/>
              </a:lnSpc>
              <a:buNone/>
            </a:pPr>
            <a:r>
              <a:rPr lang="en-US" sz="1050" b="1" kern="0" spc="120" dirty="0">
                <a:solidFill>
                  <a:srgbClr val="5D666B"/>
                </a:solidFill>
                <a:latin typeface="Aptos Display" pitchFamily="34" charset="0"/>
                <a:ea typeface="Aptos Display" pitchFamily="34" charset="-122"/>
                <a:cs typeface="Aptos Display" pitchFamily="34" charset="-120"/>
              </a:rPr>
              <a:t>COLLABORATION</a:t>
            </a:r>
            <a:endParaRPr lang="en-US" sz="1050" dirty="0"/>
          </a:p>
        </p:txBody>
      </p:sp>
      <p:sp>
        <p:nvSpPr>
          <p:cNvPr id="44" name="Text 23">
            <a:extLst>
              <a:ext uri="{FF2B5EF4-FFF2-40B4-BE49-F238E27FC236}">
                <a16:creationId xmlns:a16="http://schemas.microsoft.com/office/drawing/2014/main" id="{BCF74DB9-BF2E-8F3D-B68D-AB3DDDDE04B8}"/>
              </a:ext>
            </a:extLst>
          </p:cNvPr>
          <p:cNvSpPr/>
          <p:nvPr/>
        </p:nvSpPr>
        <p:spPr>
          <a:xfrm>
            <a:off x="4811229" y="3625285"/>
            <a:ext cx="1901952" cy="182880"/>
          </a:xfrm>
          <a:prstGeom prst="rect">
            <a:avLst/>
          </a:prstGeom>
          <a:noFill/>
          <a:ln/>
        </p:spPr>
        <p:txBody>
          <a:bodyPr wrap="square" lIns="0" tIns="0" rIns="0" bIns="0" rtlCol="0" anchor="t"/>
          <a:lstStyle/>
          <a:p>
            <a:pPr marL="0" indent="0">
              <a:lnSpc>
                <a:spcPct val="100000"/>
              </a:lnSpc>
              <a:buNone/>
            </a:pPr>
            <a:r>
              <a:rPr lang="en-US" sz="1050" dirty="0" err="1">
                <a:latin typeface="Aptos Display" pitchFamily="34" charset="0"/>
                <a:ea typeface="Aptos Display" pitchFamily="34" charset="-122"/>
                <a:cs typeface="Aptos Display" pitchFamily="34" charset="-120"/>
              </a:rPr>
              <a:t>NitroVolt</a:t>
            </a:r>
            <a:r>
              <a:rPr lang="en-US" sz="1050" dirty="0">
                <a:latin typeface="Aptos Display" pitchFamily="34" charset="0"/>
                <a:ea typeface="Aptos Display" pitchFamily="34" charset="-122"/>
                <a:cs typeface="Aptos Display" pitchFamily="34" charset="-120"/>
              </a:rPr>
              <a:t> ApS, Søborg</a:t>
            </a:r>
            <a:endParaRPr lang="en-US" sz="1050" dirty="0"/>
          </a:p>
        </p:txBody>
      </p:sp>
      <p:sp>
        <p:nvSpPr>
          <p:cNvPr id="46" name="Shape 24">
            <a:extLst>
              <a:ext uri="{FF2B5EF4-FFF2-40B4-BE49-F238E27FC236}">
                <a16:creationId xmlns:a16="http://schemas.microsoft.com/office/drawing/2014/main" id="{DE1D544E-7586-F802-C030-1FE4DE1B3A7E}"/>
              </a:ext>
            </a:extLst>
          </p:cNvPr>
          <p:cNvSpPr/>
          <p:nvPr/>
        </p:nvSpPr>
        <p:spPr>
          <a:xfrm>
            <a:off x="314594" y="4172196"/>
            <a:ext cx="6426403" cy="0"/>
          </a:xfrm>
          <a:prstGeom prst="line">
            <a:avLst/>
          </a:prstGeom>
          <a:noFill/>
          <a:ln w="10795">
            <a:solidFill>
              <a:srgbClr val="DFE2E3"/>
            </a:solidFill>
            <a:prstDash val="solid"/>
          </a:ln>
        </p:spPr>
        <p:txBody>
          <a:bodyPr/>
          <a:lstStyle/>
          <a:p>
            <a:endParaRPr lang="LID4096"/>
          </a:p>
        </p:txBody>
      </p:sp>
      <p:sp>
        <p:nvSpPr>
          <p:cNvPr id="48" name="Text 25">
            <a:extLst>
              <a:ext uri="{FF2B5EF4-FFF2-40B4-BE49-F238E27FC236}">
                <a16:creationId xmlns:a16="http://schemas.microsoft.com/office/drawing/2014/main" id="{1F58343B-9885-DCB1-3D78-C1FE1A197CED}"/>
              </a:ext>
            </a:extLst>
          </p:cNvPr>
          <p:cNvSpPr/>
          <p:nvPr/>
        </p:nvSpPr>
        <p:spPr>
          <a:xfrm>
            <a:off x="357757" y="4036494"/>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PROJECT BACKGROUND</a:t>
            </a:r>
            <a:endParaRPr lang="en-US" sz="860" dirty="0"/>
          </a:p>
        </p:txBody>
      </p:sp>
      <p:sp>
        <p:nvSpPr>
          <p:cNvPr id="50" name="Text 26">
            <a:extLst>
              <a:ext uri="{FF2B5EF4-FFF2-40B4-BE49-F238E27FC236}">
                <a16:creationId xmlns:a16="http://schemas.microsoft.com/office/drawing/2014/main" id="{83AF4F6A-6CCD-642F-048E-CD105855FE0E}"/>
              </a:ext>
            </a:extLst>
          </p:cNvPr>
          <p:cNvSpPr/>
          <p:nvPr/>
        </p:nvSpPr>
        <p:spPr>
          <a:xfrm>
            <a:off x="357758" y="4194228"/>
            <a:ext cx="6426403" cy="1197864"/>
          </a:xfrm>
          <a:prstGeom prst="rect">
            <a:avLst/>
          </a:prstGeom>
          <a:noFill/>
          <a:ln/>
        </p:spPr>
        <p:txBody>
          <a:bodyPr wrap="square" lIns="0" tIns="0" rIns="0" bIns="0" rtlCol="0" anchor="t"/>
          <a:lstStyle/>
          <a:p>
            <a:pPr marL="0" indent="0">
              <a:lnSpc>
                <a:spcPct val="104000"/>
              </a:lnSpc>
              <a:buNone/>
            </a:pPr>
            <a:r>
              <a:rPr lang="en-US" sz="990" b="1" dirty="0" err="1">
                <a:latin typeface="Aptos" pitchFamily="34" charset="0"/>
                <a:ea typeface="Aptos" pitchFamily="34" charset="-122"/>
                <a:cs typeface="Aptos" pitchFamily="34" charset="-120"/>
              </a:rPr>
              <a:t>NitroVolt</a:t>
            </a:r>
            <a:r>
              <a:rPr lang="en-US" sz="990" dirty="0">
                <a:latin typeface="Aptos" pitchFamily="34" charset="0"/>
                <a:ea typeface="Aptos" pitchFamily="34" charset="-122"/>
                <a:cs typeface="Aptos" pitchFamily="34" charset="-120"/>
              </a:rPr>
              <a:t> is an electrochemical company, spun out of DTU, that develops and scales electrochemical processes for industrial applications. As part of its continued growth, it is broadening its technology platform into new application areas, including the recovery of metals from industrial waste and side-streams whose metal content is currently unrecovered and unvalued. By extracting these metals, the process keeps valuable resources in the loop, supporting a more circular economy.</a:t>
            </a:r>
          </a:p>
          <a:p>
            <a:pPr marL="0" indent="0">
              <a:lnSpc>
                <a:spcPct val="104000"/>
              </a:lnSpc>
              <a:buNone/>
            </a:pPr>
            <a:r>
              <a:rPr lang="en-US" sz="990" dirty="0">
                <a:latin typeface="Aptos" pitchFamily="34" charset="0"/>
                <a:ea typeface="Aptos" pitchFamily="34" charset="-122"/>
                <a:cs typeface="Aptos" pitchFamily="34" charset="-120"/>
              </a:rPr>
              <a:t>The collaboration combines DTU's expertise in electrochemistry, materials characterization and process modelling with </a:t>
            </a:r>
            <a:r>
              <a:rPr lang="en-US" sz="990" dirty="0" err="1">
                <a:latin typeface="Aptos" pitchFamily="34" charset="0"/>
                <a:ea typeface="Aptos" pitchFamily="34" charset="-122"/>
                <a:cs typeface="Aptos" pitchFamily="34" charset="-120"/>
              </a:rPr>
              <a:t>NitroVolt's</a:t>
            </a:r>
            <a:r>
              <a:rPr lang="en-US" sz="990" dirty="0">
                <a:latin typeface="Aptos" pitchFamily="34" charset="0"/>
                <a:ea typeface="Aptos" pitchFamily="34" charset="-122"/>
                <a:cs typeface="Aptos" pitchFamily="34" charset="-120"/>
              </a:rPr>
              <a:t> industrial electrochemistry lab and hands-on scale-up experience, giving the student exposure to both academic </a:t>
            </a:r>
            <a:r>
              <a:rPr lang="en-US" sz="990" dirty="0" err="1">
                <a:latin typeface="Aptos" pitchFamily="34" charset="0"/>
                <a:ea typeface="Aptos" pitchFamily="34" charset="-122"/>
                <a:cs typeface="Aptos" pitchFamily="34" charset="-120"/>
              </a:rPr>
              <a:t>rigour</a:t>
            </a:r>
            <a:r>
              <a:rPr lang="en-US" sz="990" dirty="0">
                <a:latin typeface="Aptos" pitchFamily="34" charset="0"/>
                <a:ea typeface="Aptos" pitchFamily="34" charset="-122"/>
                <a:cs typeface="Aptos" pitchFamily="34" charset="-120"/>
              </a:rPr>
              <a:t> and industrial relevance.</a:t>
            </a:r>
          </a:p>
        </p:txBody>
      </p:sp>
      <p:sp>
        <p:nvSpPr>
          <p:cNvPr id="52" name="Text 27">
            <a:extLst>
              <a:ext uri="{FF2B5EF4-FFF2-40B4-BE49-F238E27FC236}">
                <a16:creationId xmlns:a16="http://schemas.microsoft.com/office/drawing/2014/main" id="{8FAFEB36-963D-BD92-715D-4170F1C9F248}"/>
              </a:ext>
            </a:extLst>
          </p:cNvPr>
          <p:cNvSpPr/>
          <p:nvPr/>
        </p:nvSpPr>
        <p:spPr>
          <a:xfrm>
            <a:off x="340894" y="5563038"/>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PROJECT AIM</a:t>
            </a:r>
            <a:endParaRPr lang="en-US" sz="860" dirty="0"/>
          </a:p>
        </p:txBody>
      </p:sp>
      <p:sp>
        <p:nvSpPr>
          <p:cNvPr id="54" name="Text 28">
            <a:extLst>
              <a:ext uri="{FF2B5EF4-FFF2-40B4-BE49-F238E27FC236}">
                <a16:creationId xmlns:a16="http://schemas.microsoft.com/office/drawing/2014/main" id="{363BB6F1-C97A-5D20-43A2-9DE4373E3FD0}"/>
              </a:ext>
            </a:extLst>
          </p:cNvPr>
          <p:cNvSpPr/>
          <p:nvPr/>
        </p:nvSpPr>
        <p:spPr>
          <a:xfrm>
            <a:off x="340893" y="5711627"/>
            <a:ext cx="6426403" cy="611737"/>
          </a:xfrm>
          <a:prstGeom prst="rect">
            <a:avLst/>
          </a:prstGeom>
          <a:noFill/>
          <a:ln/>
        </p:spPr>
        <p:txBody>
          <a:bodyPr wrap="square" lIns="0" tIns="0" rIns="0" bIns="0" rtlCol="0" anchor="t"/>
          <a:lstStyle/>
          <a:p>
            <a:pPr marL="0" indent="0">
              <a:lnSpc>
                <a:spcPct val="103000"/>
              </a:lnSpc>
              <a:buNone/>
            </a:pPr>
            <a:r>
              <a:rPr lang="en-US" sz="1000" dirty="0">
                <a:latin typeface="Aptos" pitchFamily="34" charset="0"/>
                <a:ea typeface="Aptos" pitchFamily="34" charset="-122"/>
                <a:cs typeface="Aptos" pitchFamily="34" charset="-120"/>
              </a:rPr>
              <a:t>The student(s) will contribute to the development of electrochemical metal recovery processes, working on a well-defined sub-problem that fits students’ interests and background. The exact scope is defined together with the student and the supervisors at project start, and can range from fully experimental to fully computational, or a combination of both.</a:t>
            </a:r>
          </a:p>
        </p:txBody>
      </p:sp>
      <p:sp>
        <p:nvSpPr>
          <p:cNvPr id="56" name="Text 29">
            <a:extLst>
              <a:ext uri="{FF2B5EF4-FFF2-40B4-BE49-F238E27FC236}">
                <a16:creationId xmlns:a16="http://schemas.microsoft.com/office/drawing/2014/main" id="{99584795-9F93-E183-9B37-EB523B204F68}"/>
              </a:ext>
            </a:extLst>
          </p:cNvPr>
          <p:cNvSpPr/>
          <p:nvPr/>
        </p:nvSpPr>
        <p:spPr>
          <a:xfrm>
            <a:off x="340893" y="6494282"/>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PROJECT ACTIVITIES </a:t>
            </a:r>
            <a:r>
              <a:rPr lang="en-US" sz="860" kern="0" spc="120" dirty="0">
                <a:solidFill>
                  <a:srgbClr val="A30018"/>
                </a:solidFill>
                <a:latin typeface="Aptos Display" pitchFamily="34" charset="0"/>
                <a:ea typeface="Aptos Display" pitchFamily="34" charset="-122"/>
                <a:cs typeface="Aptos Display" pitchFamily="34" charset="-120"/>
              </a:rPr>
              <a:t>(details to be adapted to the type of project and students’ background)</a:t>
            </a:r>
            <a:endParaRPr lang="en-US" sz="860" dirty="0"/>
          </a:p>
        </p:txBody>
      </p:sp>
      <p:sp>
        <p:nvSpPr>
          <p:cNvPr id="58" name="Text 30">
            <a:extLst>
              <a:ext uri="{FF2B5EF4-FFF2-40B4-BE49-F238E27FC236}">
                <a16:creationId xmlns:a16="http://schemas.microsoft.com/office/drawing/2014/main" id="{F711B8FC-6448-7CE5-2E54-E59970B3E3E3}"/>
              </a:ext>
            </a:extLst>
          </p:cNvPr>
          <p:cNvSpPr/>
          <p:nvPr/>
        </p:nvSpPr>
        <p:spPr>
          <a:xfrm>
            <a:off x="357477" y="6677803"/>
            <a:ext cx="6398971" cy="2334476"/>
          </a:xfrm>
          <a:prstGeom prst="rect">
            <a:avLst/>
          </a:prstGeom>
          <a:noFill/>
          <a:ln/>
        </p:spPr>
        <p:txBody>
          <a:bodyPr wrap="square" lIns="0" tIns="0" rIns="0" bIns="0" rtlCol="0" anchor="t"/>
          <a:lstStyle/>
          <a:p>
            <a:pPr algn="just">
              <a:spcAft>
                <a:spcPts val="500"/>
              </a:spcAft>
              <a:buNone/>
            </a:pPr>
            <a:r>
              <a:rPr lang="en-US" sz="1000" dirty="0">
                <a:solidFill>
                  <a:srgbClr val="222222"/>
                </a:solidFill>
                <a:effectLst/>
                <a:latin typeface="Aptos" panose="020B0004020202020204" pitchFamily="34" charset="0"/>
                <a:ea typeface="Times New Roman" panose="02020603050405020304" pitchFamily="18" charset="0"/>
              </a:rPr>
              <a:t>The project can be formulated around one or a combination of the following topics:</a:t>
            </a:r>
            <a:endParaRPr lang="da-DK" sz="1000" dirty="0">
              <a:effectLst/>
              <a:latin typeface="Aptos" panose="020B0004020202020204" pitchFamily="34" charset="0"/>
              <a:ea typeface="Times New Roman" panose="02020603050405020304" pitchFamily="18" charset="0"/>
            </a:endParaRPr>
          </a:p>
          <a:p>
            <a:pPr marL="88900" lvl="0" indent="-88900" algn="just">
              <a:spcAft>
                <a:spcPts val="300"/>
              </a:spcAft>
              <a:buFont typeface="Arial" panose="020B0604020202020204" pitchFamily="34" charset="0"/>
              <a:buChar char="•"/>
            </a:pPr>
            <a:r>
              <a:rPr lang="en-US" sz="1000" b="1" dirty="0">
                <a:solidFill>
                  <a:srgbClr val="222222"/>
                </a:solidFill>
                <a:effectLst/>
                <a:latin typeface="Aptos" panose="020B0004020202020204" pitchFamily="34" charset="0"/>
                <a:ea typeface="Times New Roman" panose="02020603050405020304" pitchFamily="18" charset="0"/>
              </a:rPr>
              <a:t>Feedstock characterization – </a:t>
            </a:r>
            <a:r>
              <a:rPr lang="en-US" sz="1000" dirty="0">
                <a:solidFill>
                  <a:srgbClr val="222222"/>
                </a:solidFill>
                <a:effectLst/>
                <a:latin typeface="Aptos" panose="020B0004020202020204" pitchFamily="34" charset="0"/>
                <a:ea typeface="Times New Roman" panose="02020603050405020304" pitchFamily="18" charset="0"/>
              </a:rPr>
              <a:t>sampling and characterizing industrial side-streams (composition, metal content, impurities) to assess their suitability for electrochemical and/or hydrometallurgical metal recovery.</a:t>
            </a:r>
            <a:endParaRPr lang="da-DK" sz="1000" dirty="0">
              <a:effectLst/>
              <a:latin typeface="Aptos" panose="020B0004020202020204" pitchFamily="34" charset="0"/>
              <a:ea typeface="Times New Roman" panose="02020603050405020304" pitchFamily="18" charset="0"/>
            </a:endParaRPr>
          </a:p>
          <a:p>
            <a:pPr marL="88900" lvl="0" indent="-88900" algn="just">
              <a:spcAft>
                <a:spcPts val="300"/>
              </a:spcAft>
              <a:buFont typeface="Arial" panose="020B0604020202020204" pitchFamily="34" charset="0"/>
              <a:buChar char="•"/>
            </a:pPr>
            <a:r>
              <a:rPr lang="en-US" sz="1000" b="1" dirty="0">
                <a:solidFill>
                  <a:srgbClr val="222222"/>
                </a:solidFill>
                <a:effectLst/>
                <a:latin typeface="Aptos" panose="020B0004020202020204" pitchFamily="34" charset="0"/>
                <a:ea typeface="Times New Roman" panose="02020603050405020304" pitchFamily="18" charset="0"/>
              </a:rPr>
              <a:t>Process design and optimization – </a:t>
            </a:r>
            <a:r>
              <a:rPr lang="en-US" sz="1000" dirty="0">
                <a:solidFill>
                  <a:srgbClr val="222222"/>
                </a:solidFill>
                <a:effectLst/>
                <a:latin typeface="Aptos" panose="020B0004020202020204" pitchFamily="34" charset="0"/>
                <a:ea typeface="Times New Roman" panose="02020603050405020304" pitchFamily="18" charset="0"/>
              </a:rPr>
              <a:t>designing, running and optimizing electrochemical recovery experiments (e.g. electrodeposition, electrooxidation/electroreduction) at bench or beaker scale, including electrode, electrolyte and operating-window selection.</a:t>
            </a:r>
            <a:endParaRPr lang="da-DK" sz="1000" dirty="0">
              <a:effectLst/>
              <a:latin typeface="Aptos" panose="020B0004020202020204" pitchFamily="34" charset="0"/>
              <a:ea typeface="Times New Roman" panose="02020603050405020304" pitchFamily="18" charset="0"/>
            </a:endParaRPr>
          </a:p>
          <a:p>
            <a:pPr marL="88900" lvl="0" indent="-88900" algn="just">
              <a:spcAft>
                <a:spcPts val="300"/>
              </a:spcAft>
              <a:buFont typeface="Arial" panose="020B0604020202020204" pitchFamily="34" charset="0"/>
              <a:buChar char="•"/>
            </a:pPr>
            <a:r>
              <a:rPr lang="en-US" sz="1000" b="1" dirty="0">
                <a:solidFill>
                  <a:srgbClr val="222222"/>
                </a:solidFill>
                <a:effectLst/>
                <a:latin typeface="Aptos" panose="020B0004020202020204" pitchFamily="34" charset="0"/>
                <a:ea typeface="Times New Roman" panose="02020603050405020304" pitchFamily="18" charset="0"/>
              </a:rPr>
              <a:t>Physics-informed digital twin modelling – </a:t>
            </a:r>
            <a:r>
              <a:rPr lang="en-US" sz="1000" dirty="0">
                <a:solidFill>
                  <a:srgbClr val="222222"/>
                </a:solidFill>
                <a:effectLst/>
                <a:latin typeface="Aptos" panose="020B0004020202020204" pitchFamily="34" charset="0"/>
                <a:ea typeface="Times New Roman" panose="02020603050405020304" pitchFamily="18" charset="0"/>
              </a:rPr>
              <a:t>developing or validating process models (e.g. 1D electrochemical bath models) against experimental data, to support process understanding, design and scale-up decisions.</a:t>
            </a:r>
            <a:endParaRPr lang="da-DK" sz="1000" dirty="0">
              <a:effectLst/>
              <a:latin typeface="Aptos" panose="020B0004020202020204" pitchFamily="34" charset="0"/>
              <a:ea typeface="Times New Roman" panose="02020603050405020304" pitchFamily="18" charset="0"/>
            </a:endParaRPr>
          </a:p>
          <a:p>
            <a:pPr marL="88900" lvl="0" indent="-88900" algn="just">
              <a:spcAft>
                <a:spcPts val="300"/>
              </a:spcAft>
              <a:buFont typeface="Arial" panose="020B0604020202020204" pitchFamily="34" charset="0"/>
              <a:buChar char="•"/>
            </a:pPr>
            <a:r>
              <a:rPr lang="en-US" sz="1000" b="1" dirty="0">
                <a:solidFill>
                  <a:srgbClr val="222222"/>
                </a:solidFill>
                <a:effectLst/>
                <a:latin typeface="Aptos" panose="020B0004020202020204" pitchFamily="34" charset="0"/>
                <a:ea typeface="Times New Roman" panose="02020603050405020304" pitchFamily="18" charset="0"/>
              </a:rPr>
              <a:t>Combined experimental/modelling work – </a:t>
            </a:r>
            <a:r>
              <a:rPr lang="en-US" sz="1000" dirty="0">
                <a:solidFill>
                  <a:srgbClr val="222222"/>
                </a:solidFill>
                <a:effectLst/>
                <a:latin typeface="Aptos" panose="020B0004020202020204" pitchFamily="34" charset="0"/>
                <a:ea typeface="Times New Roman" panose="02020603050405020304" pitchFamily="18" charset="0"/>
              </a:rPr>
              <a:t>linking laboratory data to model development or validation, building methodologies that can be reused across chemistries and waste streams.</a:t>
            </a:r>
          </a:p>
          <a:p>
            <a:pPr lvl="0" algn="just">
              <a:spcAft>
                <a:spcPts val="300"/>
              </a:spcAft>
            </a:pPr>
            <a:r>
              <a:rPr lang="en-US" sz="1000" dirty="0">
                <a:solidFill>
                  <a:srgbClr val="222222"/>
                </a:solidFill>
                <a:latin typeface="Aptos" panose="020B0004020202020204" pitchFamily="34" charset="0"/>
                <a:ea typeface="Times New Roman" panose="02020603050405020304" pitchFamily="18" charset="0"/>
              </a:rPr>
              <a:t>T</a:t>
            </a:r>
            <a:r>
              <a:rPr lang="en-US" sz="1000" dirty="0">
                <a:solidFill>
                  <a:srgbClr val="222222"/>
                </a:solidFill>
                <a:effectLst/>
                <a:latin typeface="Aptos" panose="020B0004020202020204" pitchFamily="34" charset="0"/>
                <a:ea typeface="Times New Roman" panose="02020603050405020304" pitchFamily="18" charset="0"/>
              </a:rPr>
              <a:t>he project can be based mostly at DTU, mostly at </a:t>
            </a:r>
            <a:r>
              <a:rPr lang="en-US" sz="1000" dirty="0" err="1">
                <a:solidFill>
                  <a:srgbClr val="222222"/>
                </a:solidFill>
                <a:effectLst/>
                <a:latin typeface="Aptos" panose="020B0004020202020204" pitchFamily="34" charset="0"/>
                <a:ea typeface="Times New Roman" panose="02020603050405020304" pitchFamily="18" charset="0"/>
              </a:rPr>
              <a:t>NitroVolt</a:t>
            </a:r>
            <a:r>
              <a:rPr lang="en-US" sz="1000" dirty="0">
                <a:solidFill>
                  <a:srgbClr val="222222"/>
                </a:solidFill>
                <a:effectLst/>
                <a:latin typeface="Aptos" panose="020B0004020202020204" pitchFamily="34" charset="0"/>
                <a:ea typeface="Times New Roman" panose="02020603050405020304" pitchFamily="18" charset="0"/>
              </a:rPr>
              <a:t>, or split between the two, depending on the chosen direction and the facilities required.</a:t>
            </a:r>
          </a:p>
          <a:p>
            <a:pPr lvl="0" algn="just">
              <a:spcAft>
                <a:spcPts val="300"/>
              </a:spcAft>
            </a:pPr>
            <a:endParaRPr lang="en-US" sz="1000" dirty="0">
              <a:solidFill>
                <a:srgbClr val="222222"/>
              </a:solidFill>
              <a:effectLst/>
              <a:latin typeface="Aptos" panose="020B0004020202020204" pitchFamily="34" charset="0"/>
              <a:ea typeface="Times New Roman" panose="02020603050405020304" pitchFamily="18" charset="0"/>
            </a:endParaRPr>
          </a:p>
          <a:p>
            <a:pPr lvl="0" algn="just">
              <a:spcAft>
                <a:spcPts val="300"/>
              </a:spcAft>
            </a:pPr>
            <a:endParaRPr lang="da-DK" sz="1000" dirty="0">
              <a:solidFill>
                <a:srgbClr val="222222"/>
              </a:solidFill>
              <a:latin typeface="Aptos" panose="020B0004020202020204" pitchFamily="34" charset="0"/>
              <a:ea typeface="Times New Roman" panose="02020603050405020304" pitchFamily="18" charset="0"/>
            </a:endParaRPr>
          </a:p>
          <a:p>
            <a:pPr lvl="0" algn="just">
              <a:spcAft>
                <a:spcPts val="300"/>
              </a:spcAft>
            </a:pPr>
            <a:endParaRPr lang="en-US" sz="1000" dirty="0">
              <a:solidFill>
                <a:srgbClr val="222222"/>
              </a:solidFill>
              <a:latin typeface="Aptos" panose="020B0004020202020204" pitchFamily="34" charset="0"/>
              <a:ea typeface="Times New Roman" panose="02020603050405020304" pitchFamily="18" charset="0"/>
            </a:endParaRPr>
          </a:p>
        </p:txBody>
      </p:sp>
      <p:sp>
        <p:nvSpPr>
          <p:cNvPr id="68" name="Text 35">
            <a:extLst>
              <a:ext uri="{FF2B5EF4-FFF2-40B4-BE49-F238E27FC236}">
                <a16:creationId xmlns:a16="http://schemas.microsoft.com/office/drawing/2014/main" id="{9AF72FF3-A2F6-6E57-E9DD-BA444713C7E2}"/>
              </a:ext>
            </a:extLst>
          </p:cNvPr>
          <p:cNvSpPr/>
          <p:nvPr/>
        </p:nvSpPr>
        <p:spPr>
          <a:xfrm>
            <a:off x="340893" y="8893982"/>
            <a:ext cx="6426403" cy="539496"/>
          </a:xfrm>
          <a:prstGeom prst="rect">
            <a:avLst/>
          </a:prstGeom>
          <a:noFill/>
          <a:ln/>
        </p:spPr>
        <p:txBody>
          <a:bodyPr wrap="square" lIns="0" tIns="0" rIns="0" bIns="0" rtlCol="0" anchor="t"/>
          <a:lstStyle/>
          <a:p>
            <a:pPr>
              <a:lnSpc>
                <a:spcPct val="106000"/>
              </a:lnSpc>
              <a:buSzPct val="100000"/>
            </a:pPr>
            <a:r>
              <a:rPr lang="en-US" sz="860" b="1" kern="0" spc="120" dirty="0">
                <a:solidFill>
                  <a:srgbClr val="A30018"/>
                </a:solidFill>
                <a:latin typeface="Aptos Display" pitchFamily="34" charset="0"/>
                <a:ea typeface="Aptos Display" pitchFamily="34" charset="-122"/>
                <a:cs typeface="Aptos Display" pitchFamily="34" charset="-120"/>
              </a:rPr>
              <a:t>PRACTICAL NOTES</a:t>
            </a:r>
            <a:endParaRPr lang="da-DK" sz="900" b="1" dirty="0">
              <a:solidFill>
                <a:srgbClr val="202D36"/>
              </a:solidFill>
              <a:ea typeface="Arial"/>
              <a:cs typeface="Arial"/>
            </a:endParaRPr>
          </a:p>
          <a:p>
            <a:r>
              <a:rPr lang="en-US" sz="900" dirty="0">
                <a:solidFill>
                  <a:srgbClr val="222222"/>
                </a:solidFill>
                <a:latin typeface="Aptos" panose="020B0004020202020204" pitchFamily="34" charset="0"/>
                <a:ea typeface="Times New Roman" panose="02020603050405020304" pitchFamily="18" charset="0"/>
              </a:rPr>
              <a:t>We are looking for curious and ambitious students who want to develop sustainable solutions and are motivated to work at the interface between experimental science and industrial process development. A background or interest in chemistry, materials science, chemical/mechanical engineering, electrochemistry or process modelling is welcomed.</a:t>
            </a:r>
            <a:endParaRPr lang="en-US" sz="900" dirty="0">
              <a:latin typeface="Aptos" panose="020B0004020202020204" pitchFamily="34" charset="0"/>
            </a:endParaRPr>
          </a:p>
          <a:p>
            <a:pPr marL="0" indent="0">
              <a:lnSpc>
                <a:spcPct val="100000"/>
              </a:lnSpc>
              <a:buNone/>
            </a:pPr>
            <a:endParaRPr lang="en-US" sz="860" dirty="0"/>
          </a:p>
        </p:txBody>
      </p:sp>
      <p:sp>
        <p:nvSpPr>
          <p:cNvPr id="70" name="Text 36">
            <a:extLst>
              <a:ext uri="{FF2B5EF4-FFF2-40B4-BE49-F238E27FC236}">
                <a16:creationId xmlns:a16="http://schemas.microsoft.com/office/drawing/2014/main" id="{3CC7BDC3-265A-1785-A236-FAA9B3763DE3}"/>
              </a:ext>
            </a:extLst>
          </p:cNvPr>
          <p:cNvSpPr/>
          <p:nvPr/>
        </p:nvSpPr>
        <p:spPr>
          <a:xfrm>
            <a:off x="314594" y="8713328"/>
            <a:ext cx="6426403" cy="438912"/>
          </a:xfrm>
          <a:prstGeom prst="rect">
            <a:avLst/>
          </a:prstGeom>
          <a:noFill/>
          <a:ln/>
        </p:spPr>
        <p:txBody>
          <a:bodyPr wrap="square" lIns="0" tIns="0" rIns="0" bIns="0" rtlCol="0" anchor="t"/>
          <a:lstStyle/>
          <a:p>
            <a:pPr marL="0" indent="0">
              <a:lnSpc>
                <a:spcPct val="102000"/>
              </a:lnSpc>
              <a:buNone/>
            </a:pPr>
            <a:endParaRPr lang="en-US" sz="975" dirty="0"/>
          </a:p>
        </p:txBody>
      </p:sp>
      <p:sp>
        <p:nvSpPr>
          <p:cNvPr id="72" name="Shape 38">
            <a:extLst>
              <a:ext uri="{FF2B5EF4-FFF2-40B4-BE49-F238E27FC236}">
                <a16:creationId xmlns:a16="http://schemas.microsoft.com/office/drawing/2014/main" id="{CCDD4868-02DA-1D24-1FED-D6DCCB0A25C5}"/>
              </a:ext>
            </a:extLst>
          </p:cNvPr>
          <p:cNvSpPr/>
          <p:nvPr/>
        </p:nvSpPr>
        <p:spPr>
          <a:xfrm>
            <a:off x="286778" y="9551282"/>
            <a:ext cx="6426403" cy="0"/>
          </a:xfrm>
          <a:prstGeom prst="line">
            <a:avLst/>
          </a:prstGeom>
          <a:noFill/>
          <a:ln w="10160">
            <a:solidFill>
              <a:srgbClr val="DFE2E3"/>
            </a:solidFill>
            <a:prstDash val="solid"/>
          </a:ln>
        </p:spPr>
        <p:txBody>
          <a:bodyPr/>
          <a:lstStyle/>
          <a:p>
            <a:endParaRPr lang="LID4096"/>
          </a:p>
        </p:txBody>
      </p:sp>
      <p:sp>
        <p:nvSpPr>
          <p:cNvPr id="74" name="Text 39">
            <a:extLst>
              <a:ext uri="{FF2B5EF4-FFF2-40B4-BE49-F238E27FC236}">
                <a16:creationId xmlns:a16="http://schemas.microsoft.com/office/drawing/2014/main" id="{CBC5F282-BB1A-EB76-FF60-48820A10087B}"/>
              </a:ext>
            </a:extLst>
          </p:cNvPr>
          <p:cNvSpPr/>
          <p:nvPr/>
        </p:nvSpPr>
        <p:spPr>
          <a:xfrm>
            <a:off x="288607" y="9555170"/>
            <a:ext cx="4480560" cy="137160"/>
          </a:xfrm>
          <a:prstGeom prst="rect">
            <a:avLst/>
          </a:prstGeom>
          <a:noFill/>
          <a:ln/>
        </p:spPr>
        <p:txBody>
          <a:bodyPr wrap="square" lIns="0" tIns="0" rIns="0" bIns="0" rtlCol="0" anchor="t"/>
          <a:lstStyle/>
          <a:p>
            <a:pPr marL="0" indent="0">
              <a:lnSpc>
                <a:spcPct val="100000"/>
              </a:lnSpc>
              <a:buNone/>
            </a:pPr>
            <a:r>
              <a:rPr lang="en-US" sz="715" kern="0" spc="60" dirty="0">
                <a:solidFill>
                  <a:srgbClr val="5D666B"/>
                </a:solidFill>
                <a:latin typeface="Aptos Display" pitchFamily="34" charset="0"/>
                <a:ea typeface="Aptos Display" pitchFamily="34" charset="-122"/>
                <a:cs typeface="Aptos Display" pitchFamily="34" charset="-120"/>
              </a:rPr>
              <a:t>DTU CONSTRUCT  /  MATERIALS AND SURFACE ENGINEERING</a:t>
            </a:r>
            <a:endParaRPr lang="en-US" sz="715" dirty="0"/>
          </a:p>
        </p:txBody>
      </p:sp>
      <p:sp>
        <p:nvSpPr>
          <p:cNvPr id="27" name="Design and test blends">
            <a:extLst>
              <a:ext uri="{FF2B5EF4-FFF2-40B4-BE49-F238E27FC236}">
                <a16:creationId xmlns:a16="http://schemas.microsoft.com/office/drawing/2014/main" id="{DA907542-C3EF-4EDC-6FD4-FA8EFA64C7B8}"/>
              </a:ext>
            </a:extLst>
          </p:cNvPr>
          <p:cNvSpPr>
            <a:spLocks noGrp="1"/>
          </p:cNvSpPr>
          <p:nvPr/>
        </p:nvSpPr>
        <p:spPr>
          <a:xfrm>
            <a:off x="2370513" y="6309712"/>
            <a:ext cx="4253057" cy="195776"/>
          </a:xfrm>
          <a:prstGeom prst="rect">
            <a:avLst/>
          </a:prstGeom>
          <a:noFill/>
          <a:ln w="0">
            <a:noFill/>
          </a:ln>
        </p:spPr>
        <p:txBody>
          <a:bodyPr>
            <a:noAutofit/>
          </a:bodyPr>
          <a:lstStyle/>
          <a:p>
            <a:pPr>
              <a:defRPr sz="1575" b="1">
                <a:solidFill>
                  <a:srgbClr val="202D36"/>
                </a:solidFill>
                <a:latin typeface="Arial"/>
                <a:ea typeface="Arial"/>
                <a:cs typeface="Arial"/>
              </a:defRPr>
            </a:pPr>
            <a:endParaRPr sz="1100" b="1" dirty="0">
              <a:solidFill>
                <a:srgbClr val="202D36"/>
              </a:solidFill>
              <a:latin typeface="Arial"/>
              <a:ea typeface="Arial"/>
              <a:cs typeface="Arial"/>
            </a:endParaRPr>
          </a:p>
        </p:txBody>
      </p:sp>
      <p:sp>
        <p:nvSpPr>
          <p:cNvPr id="31" name="Design and test blends text">
            <a:extLst>
              <a:ext uri="{FF2B5EF4-FFF2-40B4-BE49-F238E27FC236}">
                <a16:creationId xmlns:a16="http://schemas.microsoft.com/office/drawing/2014/main" id="{254AE2B0-4BB4-C0C9-B59B-4F0E5CA8CE39}"/>
              </a:ext>
            </a:extLst>
          </p:cNvPr>
          <p:cNvSpPr>
            <a:spLocks noGrp="1"/>
          </p:cNvSpPr>
          <p:nvPr/>
        </p:nvSpPr>
        <p:spPr>
          <a:xfrm>
            <a:off x="2370513" y="6518990"/>
            <a:ext cx="4253057" cy="560323"/>
          </a:xfrm>
          <a:prstGeom prst="rect">
            <a:avLst/>
          </a:prstGeom>
          <a:noFill/>
          <a:ln w="0">
            <a:noFill/>
          </a:ln>
        </p:spPr>
        <p:txBody>
          <a:bodyPr>
            <a:noAutofit/>
          </a:bodyPr>
          <a:lstStyle/>
          <a:p>
            <a:pPr algn="just">
              <a:defRPr sz="1500" b="0">
                <a:solidFill>
                  <a:srgbClr val="202D36"/>
                </a:solidFill>
                <a:latin typeface="Arial"/>
                <a:ea typeface="Arial"/>
                <a:cs typeface="Arial"/>
              </a:defRPr>
            </a:pPr>
            <a:endParaRPr sz="1050" dirty="0">
              <a:solidFill>
                <a:srgbClr val="202D36"/>
              </a:solidFill>
              <a:latin typeface="Arial"/>
              <a:ea typeface="Arial"/>
              <a:cs typeface="Arial"/>
            </a:endParaRPr>
          </a:p>
        </p:txBody>
      </p:sp>
      <p:sp>
        <p:nvSpPr>
          <p:cNvPr id="35" name="Develop quantitative methods">
            <a:extLst>
              <a:ext uri="{FF2B5EF4-FFF2-40B4-BE49-F238E27FC236}">
                <a16:creationId xmlns:a16="http://schemas.microsoft.com/office/drawing/2014/main" id="{7149F793-6B11-D31E-1B47-066F6E7874F9}"/>
              </a:ext>
            </a:extLst>
          </p:cNvPr>
          <p:cNvSpPr>
            <a:spLocks noGrp="1"/>
          </p:cNvSpPr>
          <p:nvPr/>
        </p:nvSpPr>
        <p:spPr>
          <a:xfrm>
            <a:off x="2370513" y="7113067"/>
            <a:ext cx="4253057" cy="195776"/>
          </a:xfrm>
          <a:prstGeom prst="rect">
            <a:avLst/>
          </a:prstGeom>
          <a:noFill/>
          <a:ln w="0">
            <a:noFill/>
          </a:ln>
        </p:spPr>
        <p:txBody>
          <a:bodyPr>
            <a:noAutofit/>
          </a:bodyPr>
          <a:lstStyle/>
          <a:p>
            <a:pPr>
              <a:defRPr sz="1575" b="1">
                <a:solidFill>
                  <a:srgbClr val="202D36"/>
                </a:solidFill>
                <a:latin typeface="Arial"/>
                <a:ea typeface="Arial"/>
                <a:cs typeface="Arial"/>
              </a:defRPr>
            </a:pPr>
            <a:endParaRPr sz="1100" b="1" dirty="0">
              <a:solidFill>
                <a:srgbClr val="202D36"/>
              </a:solidFill>
              <a:latin typeface="Arial"/>
              <a:ea typeface="Arial"/>
              <a:cs typeface="Arial"/>
            </a:endParaRPr>
          </a:p>
        </p:txBody>
      </p:sp>
      <p:sp>
        <p:nvSpPr>
          <p:cNvPr id="39" name="Develop quantitative methods text">
            <a:extLst>
              <a:ext uri="{FF2B5EF4-FFF2-40B4-BE49-F238E27FC236}">
                <a16:creationId xmlns:a16="http://schemas.microsoft.com/office/drawing/2014/main" id="{96488C25-A5E0-9E3E-5908-A376D0325EF6}"/>
              </a:ext>
            </a:extLst>
          </p:cNvPr>
          <p:cNvSpPr>
            <a:spLocks noGrp="1"/>
          </p:cNvSpPr>
          <p:nvPr/>
        </p:nvSpPr>
        <p:spPr>
          <a:xfrm>
            <a:off x="2370513" y="7322345"/>
            <a:ext cx="4253057" cy="560323"/>
          </a:xfrm>
          <a:prstGeom prst="rect">
            <a:avLst/>
          </a:prstGeom>
          <a:noFill/>
          <a:ln w="0">
            <a:noFill/>
          </a:ln>
        </p:spPr>
        <p:txBody>
          <a:bodyPr>
            <a:noAutofit/>
          </a:bodyPr>
          <a:lstStyle/>
          <a:p>
            <a:pPr algn="just">
              <a:defRPr sz="1500" b="0">
                <a:solidFill>
                  <a:srgbClr val="202D36"/>
                </a:solidFill>
                <a:latin typeface="Arial"/>
                <a:ea typeface="Arial"/>
                <a:cs typeface="Arial"/>
              </a:defRPr>
            </a:pPr>
            <a:endParaRPr sz="1050" dirty="0">
              <a:solidFill>
                <a:srgbClr val="202D36"/>
              </a:solidFill>
              <a:latin typeface="Arial"/>
              <a:ea typeface="Arial"/>
              <a:cs typeface="Arial"/>
            </a:endParaRPr>
          </a:p>
        </p:txBody>
      </p:sp>
      <p:sp>
        <p:nvSpPr>
          <p:cNvPr id="43" name="Validate accuracy and mixing endpoints">
            <a:extLst>
              <a:ext uri="{FF2B5EF4-FFF2-40B4-BE49-F238E27FC236}">
                <a16:creationId xmlns:a16="http://schemas.microsoft.com/office/drawing/2014/main" id="{6AE76149-7037-A79A-AA0F-DE6372C346FF}"/>
              </a:ext>
            </a:extLst>
          </p:cNvPr>
          <p:cNvSpPr>
            <a:spLocks noGrp="1"/>
          </p:cNvSpPr>
          <p:nvPr/>
        </p:nvSpPr>
        <p:spPr>
          <a:xfrm>
            <a:off x="2370513" y="7916422"/>
            <a:ext cx="4253057" cy="195776"/>
          </a:xfrm>
          <a:prstGeom prst="rect">
            <a:avLst/>
          </a:prstGeom>
          <a:noFill/>
          <a:ln w="0">
            <a:noFill/>
          </a:ln>
        </p:spPr>
        <p:txBody>
          <a:bodyPr>
            <a:noAutofit/>
          </a:bodyPr>
          <a:lstStyle/>
          <a:p>
            <a:pPr>
              <a:defRPr sz="1575" b="1">
                <a:solidFill>
                  <a:srgbClr val="202D36"/>
                </a:solidFill>
                <a:latin typeface="Arial"/>
                <a:ea typeface="Arial"/>
                <a:cs typeface="Arial"/>
              </a:defRPr>
            </a:pPr>
            <a:endParaRPr sz="1100" b="1" dirty="0">
              <a:solidFill>
                <a:srgbClr val="202D36"/>
              </a:solidFill>
              <a:latin typeface="Arial"/>
              <a:ea typeface="Arial"/>
              <a:cs typeface="Arial"/>
            </a:endParaRPr>
          </a:p>
        </p:txBody>
      </p:sp>
      <p:sp>
        <p:nvSpPr>
          <p:cNvPr id="47" name="Validate accuracy and mixing endpoints text">
            <a:extLst>
              <a:ext uri="{FF2B5EF4-FFF2-40B4-BE49-F238E27FC236}">
                <a16:creationId xmlns:a16="http://schemas.microsoft.com/office/drawing/2014/main" id="{09F818CC-8B7B-5F93-1D96-9F8BC1BB36B4}"/>
              </a:ext>
            </a:extLst>
          </p:cNvPr>
          <p:cNvSpPr>
            <a:spLocks noGrp="1"/>
          </p:cNvSpPr>
          <p:nvPr/>
        </p:nvSpPr>
        <p:spPr>
          <a:xfrm>
            <a:off x="2370513" y="8125700"/>
            <a:ext cx="4253057" cy="560323"/>
          </a:xfrm>
          <a:prstGeom prst="rect">
            <a:avLst/>
          </a:prstGeom>
          <a:noFill/>
          <a:ln w="0">
            <a:noFill/>
          </a:ln>
        </p:spPr>
        <p:txBody>
          <a:bodyPr>
            <a:noAutofit/>
          </a:bodyPr>
          <a:lstStyle/>
          <a:p>
            <a:pPr algn="just">
              <a:defRPr sz="1500" b="0">
                <a:solidFill>
                  <a:srgbClr val="202D36"/>
                </a:solidFill>
                <a:latin typeface="Arial"/>
                <a:ea typeface="Arial"/>
                <a:cs typeface="Arial"/>
              </a:defRPr>
            </a:pPr>
            <a:endParaRPr sz="1050" dirty="0">
              <a:solidFill>
                <a:srgbClr val="202D36"/>
              </a:solidFill>
              <a:latin typeface="Arial"/>
              <a:ea typeface="Arial"/>
              <a:cs typeface="Arial"/>
            </a:endParaRPr>
          </a:p>
        </p:txBody>
      </p:sp>
      <p:sp>
        <p:nvSpPr>
          <p:cNvPr id="51" name="Connect formulation to performance">
            <a:extLst>
              <a:ext uri="{FF2B5EF4-FFF2-40B4-BE49-F238E27FC236}">
                <a16:creationId xmlns:a16="http://schemas.microsoft.com/office/drawing/2014/main" id="{F46736F8-9416-DFC9-2944-E90263B56EED}"/>
              </a:ext>
            </a:extLst>
          </p:cNvPr>
          <p:cNvSpPr>
            <a:spLocks noGrp="1"/>
          </p:cNvSpPr>
          <p:nvPr/>
        </p:nvSpPr>
        <p:spPr>
          <a:xfrm>
            <a:off x="2370513" y="8719778"/>
            <a:ext cx="4253057" cy="195776"/>
          </a:xfrm>
          <a:prstGeom prst="rect">
            <a:avLst/>
          </a:prstGeom>
          <a:noFill/>
          <a:ln w="0">
            <a:noFill/>
          </a:ln>
        </p:spPr>
        <p:txBody>
          <a:bodyPr>
            <a:noAutofit/>
          </a:bodyPr>
          <a:lstStyle/>
          <a:p>
            <a:pPr>
              <a:defRPr sz="1575" b="1">
                <a:solidFill>
                  <a:srgbClr val="202D36"/>
                </a:solidFill>
                <a:latin typeface="Arial"/>
                <a:ea typeface="Arial"/>
                <a:cs typeface="Arial"/>
              </a:defRPr>
            </a:pPr>
            <a:endParaRPr sz="1100" b="1" dirty="0">
              <a:solidFill>
                <a:srgbClr val="202D36"/>
              </a:solidFill>
              <a:latin typeface="Arial"/>
              <a:ea typeface="Arial"/>
              <a:cs typeface="Arial"/>
            </a:endParaRPr>
          </a:p>
        </p:txBody>
      </p:sp>
      <p:sp>
        <p:nvSpPr>
          <p:cNvPr id="55" name="Connect formulation to performance text">
            <a:extLst>
              <a:ext uri="{FF2B5EF4-FFF2-40B4-BE49-F238E27FC236}">
                <a16:creationId xmlns:a16="http://schemas.microsoft.com/office/drawing/2014/main" id="{B4CA8054-8FD0-8236-3459-19A6C356E10F}"/>
              </a:ext>
            </a:extLst>
          </p:cNvPr>
          <p:cNvSpPr>
            <a:spLocks noGrp="1"/>
          </p:cNvSpPr>
          <p:nvPr/>
        </p:nvSpPr>
        <p:spPr>
          <a:xfrm>
            <a:off x="2399774" y="7998190"/>
            <a:ext cx="4253057" cy="560323"/>
          </a:xfrm>
          <a:prstGeom prst="rect">
            <a:avLst/>
          </a:prstGeom>
          <a:noFill/>
          <a:ln w="0">
            <a:noFill/>
          </a:ln>
        </p:spPr>
        <p:txBody>
          <a:bodyPr>
            <a:noAutofit/>
          </a:bodyPr>
          <a:lstStyle/>
          <a:p>
            <a:pPr algn="just">
              <a:defRPr sz="1500" b="0">
                <a:solidFill>
                  <a:srgbClr val="202D36"/>
                </a:solidFill>
                <a:latin typeface="Arial"/>
                <a:ea typeface="Arial"/>
                <a:cs typeface="Arial"/>
              </a:defRPr>
            </a:pPr>
            <a:endParaRPr sz="1050" dirty="0">
              <a:solidFill>
                <a:srgbClr val="202D36"/>
              </a:solidFill>
              <a:latin typeface="Arial"/>
              <a:ea typeface="Arial"/>
              <a:cs typeface="Arial"/>
            </a:endParaRPr>
          </a:p>
        </p:txBody>
      </p:sp>
      <p:pic>
        <p:nvPicPr>
          <p:cNvPr id="5" name="Picture 4">
            <a:extLst>
              <a:ext uri="{FF2B5EF4-FFF2-40B4-BE49-F238E27FC236}">
                <a16:creationId xmlns:a16="http://schemas.microsoft.com/office/drawing/2014/main" id="{B450FF39-4E74-3139-443F-701BF1ABB95A}"/>
              </a:ext>
            </a:extLst>
          </p:cNvPr>
          <p:cNvPicPr>
            <a:picLocks noChangeAspect="1"/>
          </p:cNvPicPr>
          <p:nvPr/>
        </p:nvPicPr>
        <p:blipFill>
          <a:blip r:embed="rId3"/>
          <a:stretch>
            <a:fillRect/>
          </a:stretch>
        </p:blipFill>
        <p:spPr>
          <a:xfrm>
            <a:off x="615421" y="1745310"/>
            <a:ext cx="3237296" cy="2129383"/>
          </a:xfrm>
          <a:prstGeom prst="rect">
            <a:avLst/>
          </a:prstGeom>
        </p:spPr>
      </p:pic>
    </p:spTree>
    <p:extLst>
      <p:ext uri="{BB962C8B-B14F-4D97-AF65-F5344CB8AC3E}">
        <p14:creationId xmlns:p14="http://schemas.microsoft.com/office/powerpoint/2010/main" val="3594757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DCCCE-68C7-3002-B219-86150478222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C71873D-F94D-0283-FD28-055556AA6F1F}"/>
              </a:ext>
            </a:extLst>
          </p:cNvPr>
          <p:cNvSpPr>
            <a:spLocks noGrp="1"/>
          </p:cNvSpPr>
          <p:nvPr>
            <p:ph type="sldNum" sz="quarter" idx="12"/>
          </p:nvPr>
        </p:nvSpPr>
        <p:spPr>
          <a:xfrm>
            <a:off x="4989080" y="9329519"/>
            <a:ext cx="1543050" cy="527403"/>
          </a:xfrm>
        </p:spPr>
        <p:txBody>
          <a:bodyPr/>
          <a:lstStyle/>
          <a:p>
            <a:fld id="{F934066D-384D-4BE1-BDC2-82BCC33558DD}" type="slidenum">
              <a:rPr lang="en-US" sz="800" b="1" smtClean="0">
                <a:solidFill>
                  <a:srgbClr val="C00000"/>
                </a:solidFill>
                <a:latin typeface="+mj-lt"/>
              </a:rPr>
              <a:t>3</a:t>
            </a:fld>
            <a:endParaRPr lang="en-US" sz="800" b="1" dirty="0">
              <a:solidFill>
                <a:srgbClr val="C00000"/>
              </a:solidFill>
              <a:latin typeface="+mj-lt"/>
            </a:endParaRPr>
          </a:p>
        </p:txBody>
      </p:sp>
      <p:sp>
        <p:nvSpPr>
          <p:cNvPr id="6" name="Shape 1">
            <a:extLst>
              <a:ext uri="{FF2B5EF4-FFF2-40B4-BE49-F238E27FC236}">
                <a16:creationId xmlns:a16="http://schemas.microsoft.com/office/drawing/2014/main" id="{6F087BEF-3F09-7389-6911-7E972E97B631}"/>
              </a:ext>
            </a:extLst>
          </p:cNvPr>
          <p:cNvSpPr/>
          <p:nvPr/>
        </p:nvSpPr>
        <p:spPr>
          <a:xfrm>
            <a:off x="288607" y="292298"/>
            <a:ext cx="32004" cy="393192"/>
          </a:xfrm>
          <a:prstGeom prst="rect">
            <a:avLst/>
          </a:prstGeom>
          <a:solidFill>
            <a:srgbClr val="A30018"/>
          </a:solidFill>
          <a:ln w="12700">
            <a:solidFill>
              <a:srgbClr val="A30018">
                <a:alpha val="0"/>
              </a:srgbClr>
            </a:solidFill>
            <a:prstDash val="solid"/>
          </a:ln>
        </p:spPr>
        <p:txBody>
          <a:bodyPr/>
          <a:lstStyle/>
          <a:p>
            <a:endParaRPr lang="LID4096"/>
          </a:p>
        </p:txBody>
      </p:sp>
      <p:sp>
        <p:nvSpPr>
          <p:cNvPr id="8" name="Text 2">
            <a:extLst>
              <a:ext uri="{FF2B5EF4-FFF2-40B4-BE49-F238E27FC236}">
                <a16:creationId xmlns:a16="http://schemas.microsoft.com/office/drawing/2014/main" id="{A9275548-2598-93D5-B5E8-5E49A95CACA3}"/>
              </a:ext>
            </a:extLst>
          </p:cNvPr>
          <p:cNvSpPr/>
          <p:nvPr/>
        </p:nvSpPr>
        <p:spPr>
          <a:xfrm>
            <a:off x="444055" y="278582"/>
            <a:ext cx="5166360" cy="210312"/>
          </a:xfrm>
          <a:prstGeom prst="rect">
            <a:avLst/>
          </a:prstGeom>
          <a:noFill/>
          <a:ln/>
        </p:spPr>
        <p:txBody>
          <a:bodyPr wrap="square" lIns="0" tIns="0" rIns="0" bIns="0" rtlCol="0" anchor="t"/>
          <a:lstStyle/>
          <a:p>
            <a:pPr marL="0" indent="0">
              <a:lnSpc>
                <a:spcPct val="100000"/>
              </a:lnSpc>
              <a:buNone/>
            </a:pPr>
            <a:r>
              <a:rPr lang="en-US" sz="1100" b="1" kern="0" spc="20" dirty="0">
                <a:solidFill>
                  <a:srgbClr val="22282D"/>
                </a:solidFill>
                <a:latin typeface="Aptos Display" pitchFamily="34" charset="0"/>
                <a:ea typeface="Aptos Display" pitchFamily="34" charset="-122"/>
                <a:cs typeface="Aptos Display" pitchFamily="34" charset="-120"/>
              </a:rPr>
              <a:t>MATERIALS AND SURFACE ENGINEERING</a:t>
            </a:r>
            <a:endParaRPr lang="en-US" sz="1100" dirty="0"/>
          </a:p>
        </p:txBody>
      </p:sp>
      <p:sp>
        <p:nvSpPr>
          <p:cNvPr id="10" name="Text 3">
            <a:extLst>
              <a:ext uri="{FF2B5EF4-FFF2-40B4-BE49-F238E27FC236}">
                <a16:creationId xmlns:a16="http://schemas.microsoft.com/office/drawing/2014/main" id="{412A1EDF-3BBC-337C-5CE6-C3B5EF5C52E6}"/>
              </a:ext>
            </a:extLst>
          </p:cNvPr>
          <p:cNvSpPr/>
          <p:nvPr/>
        </p:nvSpPr>
        <p:spPr>
          <a:xfrm>
            <a:off x="444055" y="516326"/>
            <a:ext cx="5212080" cy="173736"/>
          </a:xfrm>
          <a:prstGeom prst="rect">
            <a:avLst/>
          </a:prstGeom>
          <a:noFill/>
          <a:ln/>
        </p:spPr>
        <p:txBody>
          <a:bodyPr wrap="square" lIns="0" tIns="0" rIns="0" bIns="0" rtlCol="0" anchor="t"/>
          <a:lstStyle/>
          <a:p>
            <a:pPr marL="0" indent="0">
              <a:lnSpc>
                <a:spcPct val="100000"/>
              </a:lnSpc>
              <a:buNone/>
            </a:pPr>
            <a:r>
              <a:rPr lang="en-US" sz="1400" kern="0" spc="55" dirty="0">
                <a:solidFill>
                  <a:srgbClr val="5D666B"/>
                </a:solidFill>
                <a:latin typeface="Aptos" pitchFamily="34" charset="0"/>
                <a:ea typeface="Aptos" pitchFamily="34" charset="-122"/>
                <a:cs typeface="Aptos" pitchFamily="34" charset="-120"/>
              </a:rPr>
              <a:t>DEPARTMENT OF CIVIL AND MECHANICAL ENGINEERING</a:t>
            </a:r>
            <a:endParaRPr lang="en-US" sz="1400" dirty="0"/>
          </a:p>
        </p:txBody>
      </p:sp>
      <p:pic>
        <p:nvPicPr>
          <p:cNvPr id="12" name="Image 0" descr="/mnt/data/dtu_logo.png">
            <a:extLst>
              <a:ext uri="{FF2B5EF4-FFF2-40B4-BE49-F238E27FC236}">
                <a16:creationId xmlns:a16="http://schemas.microsoft.com/office/drawing/2014/main" id="{6D22932A-8EE0-5D85-DD96-95B15C6AA4D7}"/>
              </a:ext>
            </a:extLst>
          </p:cNvPr>
          <p:cNvPicPr>
            <a:picLocks noChangeAspect="1"/>
          </p:cNvPicPr>
          <p:nvPr/>
        </p:nvPicPr>
        <p:blipFill>
          <a:blip r:embed="rId2"/>
          <a:stretch>
            <a:fillRect/>
          </a:stretch>
        </p:blipFill>
        <p:spPr>
          <a:xfrm>
            <a:off x="6223063" y="197200"/>
            <a:ext cx="429768" cy="601675"/>
          </a:xfrm>
          <a:prstGeom prst="rect">
            <a:avLst/>
          </a:prstGeom>
        </p:spPr>
      </p:pic>
      <p:sp>
        <p:nvSpPr>
          <p:cNvPr id="14" name="Shape 4">
            <a:extLst>
              <a:ext uri="{FF2B5EF4-FFF2-40B4-BE49-F238E27FC236}">
                <a16:creationId xmlns:a16="http://schemas.microsoft.com/office/drawing/2014/main" id="{5A09C55B-3EF7-0EA3-A669-07C0CCAF7E9A}"/>
              </a:ext>
            </a:extLst>
          </p:cNvPr>
          <p:cNvSpPr/>
          <p:nvPr/>
        </p:nvSpPr>
        <p:spPr>
          <a:xfrm>
            <a:off x="288607" y="936950"/>
            <a:ext cx="6426403" cy="0"/>
          </a:xfrm>
          <a:prstGeom prst="line">
            <a:avLst/>
          </a:prstGeom>
          <a:noFill/>
          <a:ln w="19050">
            <a:solidFill>
              <a:srgbClr val="A30018"/>
            </a:solidFill>
            <a:prstDash val="solid"/>
          </a:ln>
        </p:spPr>
        <p:txBody>
          <a:bodyPr/>
          <a:lstStyle/>
          <a:p>
            <a:endParaRPr lang="LID4096"/>
          </a:p>
        </p:txBody>
      </p:sp>
      <p:sp>
        <p:nvSpPr>
          <p:cNvPr id="16" name="Text 5">
            <a:extLst>
              <a:ext uri="{FF2B5EF4-FFF2-40B4-BE49-F238E27FC236}">
                <a16:creationId xmlns:a16="http://schemas.microsoft.com/office/drawing/2014/main" id="{284D6847-97C9-987C-845C-44FD1A02E0C5}"/>
              </a:ext>
            </a:extLst>
          </p:cNvPr>
          <p:cNvSpPr/>
          <p:nvPr/>
        </p:nvSpPr>
        <p:spPr>
          <a:xfrm>
            <a:off x="302581" y="1067887"/>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PROJECT LEVEL: MSc project, BSc project, BEng or special course</a:t>
            </a:r>
            <a:endParaRPr lang="en-US" sz="860" dirty="0"/>
          </a:p>
        </p:txBody>
      </p:sp>
      <p:sp>
        <p:nvSpPr>
          <p:cNvPr id="18" name="Text 6">
            <a:extLst>
              <a:ext uri="{FF2B5EF4-FFF2-40B4-BE49-F238E27FC236}">
                <a16:creationId xmlns:a16="http://schemas.microsoft.com/office/drawing/2014/main" id="{B46C3C8A-3116-C9C9-D90D-CF100EBBF888}"/>
              </a:ext>
            </a:extLst>
          </p:cNvPr>
          <p:cNvSpPr/>
          <p:nvPr/>
        </p:nvSpPr>
        <p:spPr>
          <a:xfrm>
            <a:off x="302581" y="1345063"/>
            <a:ext cx="6426403" cy="620160"/>
          </a:xfrm>
          <a:prstGeom prst="rect">
            <a:avLst/>
          </a:prstGeom>
          <a:noFill/>
          <a:ln/>
        </p:spPr>
        <p:txBody>
          <a:bodyPr wrap="square" lIns="0" tIns="0" rIns="0" bIns="0" rtlCol="0" anchor="t"/>
          <a:lstStyle/>
          <a:p>
            <a:pPr>
              <a:lnSpc>
                <a:spcPct val="95000"/>
              </a:lnSpc>
            </a:pPr>
            <a:r>
              <a:rPr lang="en-US" sz="2000" b="1" dirty="0">
                <a:solidFill>
                  <a:srgbClr val="22282D"/>
                </a:solidFill>
                <a:latin typeface="Aptos Display" pitchFamily="34" charset="0"/>
                <a:ea typeface="Aptos Display" pitchFamily="34" charset="-122"/>
                <a:cs typeface="Aptos Display" pitchFamily="34" charset="-120"/>
              </a:rPr>
              <a:t>Sustainable electrodes for hydrogen evolution:</a:t>
            </a:r>
          </a:p>
          <a:p>
            <a:pPr>
              <a:lnSpc>
                <a:spcPct val="95000"/>
              </a:lnSpc>
            </a:pPr>
            <a:r>
              <a:rPr lang="en-US" b="1" dirty="0">
                <a:solidFill>
                  <a:srgbClr val="22282D"/>
                </a:solidFill>
                <a:latin typeface="Aptos Display" pitchFamily="34" charset="0"/>
                <a:ea typeface="Aptos Display" pitchFamily="34" charset="-122"/>
                <a:cs typeface="Aptos Display" pitchFamily="34" charset="-120"/>
              </a:rPr>
              <a:t>from biomass and steel industry waste to hydrogen production</a:t>
            </a:r>
          </a:p>
        </p:txBody>
      </p:sp>
      <p:sp>
        <p:nvSpPr>
          <p:cNvPr id="26" name="Shape 14">
            <a:extLst>
              <a:ext uri="{FF2B5EF4-FFF2-40B4-BE49-F238E27FC236}">
                <a16:creationId xmlns:a16="http://schemas.microsoft.com/office/drawing/2014/main" id="{E6CEC94E-18D5-7F17-9092-D1022DB3510E}"/>
              </a:ext>
            </a:extLst>
          </p:cNvPr>
          <p:cNvSpPr/>
          <p:nvPr/>
        </p:nvSpPr>
        <p:spPr>
          <a:xfrm>
            <a:off x="4623932" y="2059932"/>
            <a:ext cx="0" cy="2112264"/>
          </a:xfrm>
          <a:prstGeom prst="line">
            <a:avLst/>
          </a:prstGeom>
          <a:noFill/>
          <a:ln w="12700">
            <a:solidFill>
              <a:srgbClr val="DFE2E3"/>
            </a:solidFill>
            <a:prstDash val="solid"/>
          </a:ln>
        </p:spPr>
        <p:txBody>
          <a:bodyPr/>
          <a:lstStyle/>
          <a:p>
            <a:endParaRPr lang="LID4096"/>
          </a:p>
        </p:txBody>
      </p:sp>
      <p:sp>
        <p:nvSpPr>
          <p:cNvPr id="28" name="Text 15">
            <a:extLst>
              <a:ext uri="{FF2B5EF4-FFF2-40B4-BE49-F238E27FC236}">
                <a16:creationId xmlns:a16="http://schemas.microsoft.com/office/drawing/2014/main" id="{9F2A990D-C6BF-ACD2-F7DB-5E7F29D98BF1}"/>
              </a:ext>
            </a:extLst>
          </p:cNvPr>
          <p:cNvSpPr/>
          <p:nvPr/>
        </p:nvSpPr>
        <p:spPr>
          <a:xfrm>
            <a:off x="4813058" y="2229758"/>
            <a:ext cx="1901952" cy="201168"/>
          </a:xfrm>
          <a:prstGeom prst="rect">
            <a:avLst/>
          </a:prstGeom>
          <a:noFill/>
          <a:ln/>
        </p:spPr>
        <p:txBody>
          <a:bodyPr wrap="square" lIns="0" tIns="0" rIns="0" bIns="0" rtlCol="0" anchor="t"/>
          <a:lstStyle/>
          <a:p>
            <a:pPr marL="0" indent="0">
              <a:lnSpc>
                <a:spcPct val="100000"/>
              </a:lnSpc>
              <a:buNone/>
            </a:pPr>
            <a:r>
              <a:rPr lang="en-US" sz="1050" b="1" kern="0" spc="120" dirty="0">
                <a:solidFill>
                  <a:srgbClr val="5D666B"/>
                </a:solidFill>
                <a:latin typeface="Aptos Display" pitchFamily="34" charset="0"/>
                <a:ea typeface="Aptos Display" pitchFamily="34" charset="-122"/>
                <a:cs typeface="Aptos Display" pitchFamily="34" charset="-120"/>
              </a:rPr>
              <a:t>SUPERVISOR</a:t>
            </a:r>
            <a:endParaRPr lang="en-US" sz="1050" dirty="0"/>
          </a:p>
        </p:txBody>
      </p:sp>
      <p:sp>
        <p:nvSpPr>
          <p:cNvPr id="30" name="Text 16">
            <a:extLst>
              <a:ext uri="{FF2B5EF4-FFF2-40B4-BE49-F238E27FC236}">
                <a16:creationId xmlns:a16="http://schemas.microsoft.com/office/drawing/2014/main" id="{42FABBF9-7450-B17D-D279-19EBC37F495F}"/>
              </a:ext>
            </a:extLst>
          </p:cNvPr>
          <p:cNvSpPr/>
          <p:nvPr/>
        </p:nvSpPr>
        <p:spPr>
          <a:xfrm>
            <a:off x="4813058" y="2504078"/>
            <a:ext cx="1901952" cy="201168"/>
          </a:xfrm>
          <a:prstGeom prst="rect">
            <a:avLst/>
          </a:prstGeom>
          <a:noFill/>
          <a:ln/>
        </p:spPr>
        <p:txBody>
          <a:bodyPr wrap="square" lIns="0" tIns="0" rIns="0" bIns="0" rtlCol="0" anchor="t"/>
          <a:lstStyle/>
          <a:p>
            <a:pPr marL="0" indent="0">
              <a:lnSpc>
                <a:spcPct val="100000"/>
              </a:lnSpc>
              <a:buNone/>
            </a:pPr>
            <a:r>
              <a:rPr lang="en-US" sz="1050" dirty="0"/>
              <a:t>Karen Pantleon</a:t>
            </a:r>
          </a:p>
        </p:txBody>
      </p:sp>
      <p:sp>
        <p:nvSpPr>
          <p:cNvPr id="32" name="Text 17">
            <a:extLst>
              <a:ext uri="{FF2B5EF4-FFF2-40B4-BE49-F238E27FC236}">
                <a16:creationId xmlns:a16="http://schemas.microsoft.com/office/drawing/2014/main" id="{0D401431-667C-AFA3-E645-BD71DF3DF3A7}"/>
              </a:ext>
            </a:extLst>
          </p:cNvPr>
          <p:cNvSpPr/>
          <p:nvPr/>
        </p:nvSpPr>
        <p:spPr>
          <a:xfrm>
            <a:off x="4813058" y="2714390"/>
            <a:ext cx="1901952" cy="164592"/>
          </a:xfrm>
          <a:prstGeom prst="rect">
            <a:avLst/>
          </a:prstGeom>
          <a:noFill/>
          <a:ln/>
        </p:spPr>
        <p:txBody>
          <a:bodyPr wrap="square" lIns="0" tIns="0" rIns="0" bIns="0" rtlCol="0" anchor="t"/>
          <a:lstStyle/>
          <a:p>
            <a:pPr marL="0" indent="0">
              <a:lnSpc>
                <a:spcPct val="100000"/>
              </a:lnSpc>
              <a:buNone/>
            </a:pPr>
            <a:r>
              <a:rPr lang="en-US" sz="1050" dirty="0">
                <a:solidFill>
                  <a:srgbClr val="A30018"/>
                </a:solidFill>
                <a:latin typeface="Aptos" pitchFamily="34" charset="0"/>
              </a:rPr>
              <a:t>kapa@dtu.dk</a:t>
            </a:r>
            <a:endParaRPr lang="en-US" sz="1050" dirty="0"/>
          </a:p>
        </p:txBody>
      </p:sp>
      <p:sp>
        <p:nvSpPr>
          <p:cNvPr id="42" name="Text 22">
            <a:extLst>
              <a:ext uri="{FF2B5EF4-FFF2-40B4-BE49-F238E27FC236}">
                <a16:creationId xmlns:a16="http://schemas.microsoft.com/office/drawing/2014/main" id="{607C5AB0-81B9-B1FB-1F14-DF474E266AFA}"/>
              </a:ext>
            </a:extLst>
          </p:cNvPr>
          <p:cNvSpPr/>
          <p:nvPr/>
        </p:nvSpPr>
        <p:spPr>
          <a:xfrm>
            <a:off x="4813058" y="3243953"/>
            <a:ext cx="1901952" cy="201168"/>
          </a:xfrm>
          <a:prstGeom prst="rect">
            <a:avLst/>
          </a:prstGeom>
          <a:noFill/>
          <a:ln/>
        </p:spPr>
        <p:txBody>
          <a:bodyPr wrap="square" lIns="0" tIns="0" rIns="0" bIns="0" rtlCol="0" anchor="t"/>
          <a:lstStyle/>
          <a:p>
            <a:pPr marL="0" indent="0">
              <a:lnSpc>
                <a:spcPct val="100000"/>
              </a:lnSpc>
              <a:buNone/>
            </a:pPr>
            <a:r>
              <a:rPr lang="en-US" sz="1050" b="1" kern="0" spc="120" dirty="0">
                <a:solidFill>
                  <a:srgbClr val="5D666B"/>
                </a:solidFill>
                <a:latin typeface="Aptos Display" pitchFamily="34" charset="0"/>
                <a:ea typeface="Aptos Display" pitchFamily="34" charset="-122"/>
                <a:cs typeface="Aptos Display" pitchFamily="34" charset="-120"/>
              </a:rPr>
              <a:t>COLLABORATION</a:t>
            </a:r>
            <a:endParaRPr lang="en-US" sz="1050" dirty="0"/>
          </a:p>
        </p:txBody>
      </p:sp>
      <p:sp>
        <p:nvSpPr>
          <p:cNvPr id="44" name="Text 23">
            <a:extLst>
              <a:ext uri="{FF2B5EF4-FFF2-40B4-BE49-F238E27FC236}">
                <a16:creationId xmlns:a16="http://schemas.microsoft.com/office/drawing/2014/main" id="{305362C2-7162-B049-DA42-5A2E8FB4EC57}"/>
              </a:ext>
            </a:extLst>
          </p:cNvPr>
          <p:cNvSpPr/>
          <p:nvPr/>
        </p:nvSpPr>
        <p:spPr>
          <a:xfrm>
            <a:off x="4813058" y="3435977"/>
            <a:ext cx="1901952" cy="182880"/>
          </a:xfrm>
          <a:prstGeom prst="rect">
            <a:avLst/>
          </a:prstGeom>
          <a:noFill/>
          <a:ln/>
        </p:spPr>
        <p:txBody>
          <a:bodyPr wrap="square" lIns="0" tIns="0" rIns="0" bIns="0" rtlCol="0" anchor="t"/>
          <a:lstStyle/>
          <a:p>
            <a:pPr marL="0" indent="0">
              <a:lnSpc>
                <a:spcPct val="100000"/>
              </a:lnSpc>
              <a:buNone/>
            </a:pPr>
            <a:r>
              <a:rPr lang="en-US" sz="1050" dirty="0">
                <a:latin typeface="Aptos Display" pitchFamily="34" charset="0"/>
                <a:ea typeface="Aptos Display" pitchFamily="34" charset="-122"/>
                <a:cs typeface="Aptos Display" pitchFamily="34" charset="-120"/>
              </a:rPr>
              <a:t>Makerere University, Uganda</a:t>
            </a:r>
            <a:endParaRPr lang="en-US" sz="1050" dirty="0"/>
          </a:p>
        </p:txBody>
      </p:sp>
      <p:sp>
        <p:nvSpPr>
          <p:cNvPr id="46" name="Shape 24">
            <a:extLst>
              <a:ext uri="{FF2B5EF4-FFF2-40B4-BE49-F238E27FC236}">
                <a16:creationId xmlns:a16="http://schemas.microsoft.com/office/drawing/2014/main" id="{EDD50E91-B566-02EC-4295-68B288279666}"/>
              </a:ext>
            </a:extLst>
          </p:cNvPr>
          <p:cNvSpPr/>
          <p:nvPr/>
        </p:nvSpPr>
        <p:spPr>
          <a:xfrm>
            <a:off x="314594" y="4172196"/>
            <a:ext cx="6426403" cy="0"/>
          </a:xfrm>
          <a:prstGeom prst="line">
            <a:avLst/>
          </a:prstGeom>
          <a:noFill/>
          <a:ln w="10795">
            <a:solidFill>
              <a:srgbClr val="DFE2E3"/>
            </a:solidFill>
            <a:prstDash val="solid"/>
          </a:ln>
        </p:spPr>
        <p:txBody>
          <a:bodyPr/>
          <a:lstStyle/>
          <a:p>
            <a:endParaRPr lang="LID4096"/>
          </a:p>
        </p:txBody>
      </p:sp>
      <p:sp>
        <p:nvSpPr>
          <p:cNvPr id="48" name="Text 25">
            <a:extLst>
              <a:ext uri="{FF2B5EF4-FFF2-40B4-BE49-F238E27FC236}">
                <a16:creationId xmlns:a16="http://schemas.microsoft.com/office/drawing/2014/main" id="{199650B7-B8D2-2C10-BA13-66B5317C4D69}"/>
              </a:ext>
            </a:extLst>
          </p:cNvPr>
          <p:cNvSpPr/>
          <p:nvPr/>
        </p:nvSpPr>
        <p:spPr>
          <a:xfrm>
            <a:off x="327644" y="4232904"/>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PROJECT BACKGROUND</a:t>
            </a:r>
            <a:endParaRPr lang="en-US" sz="860" dirty="0"/>
          </a:p>
        </p:txBody>
      </p:sp>
      <p:sp>
        <p:nvSpPr>
          <p:cNvPr id="50" name="Text 26">
            <a:extLst>
              <a:ext uri="{FF2B5EF4-FFF2-40B4-BE49-F238E27FC236}">
                <a16:creationId xmlns:a16="http://schemas.microsoft.com/office/drawing/2014/main" id="{0D32E576-E7D8-C5D7-37AC-DD8169EFD721}"/>
              </a:ext>
            </a:extLst>
          </p:cNvPr>
          <p:cNvSpPr/>
          <p:nvPr/>
        </p:nvSpPr>
        <p:spPr>
          <a:xfrm>
            <a:off x="314594" y="4363156"/>
            <a:ext cx="6426403" cy="1119696"/>
          </a:xfrm>
          <a:prstGeom prst="rect">
            <a:avLst/>
          </a:prstGeom>
          <a:noFill/>
          <a:ln/>
        </p:spPr>
        <p:txBody>
          <a:bodyPr wrap="square" lIns="0" tIns="0" rIns="0" bIns="0" rtlCol="0" anchor="t"/>
          <a:lstStyle/>
          <a:p>
            <a:pPr>
              <a:lnSpc>
                <a:spcPct val="104000"/>
              </a:lnSpc>
            </a:pPr>
            <a:r>
              <a:rPr lang="en-US" sz="990" dirty="0">
                <a:latin typeface="Aptos" pitchFamily="34" charset="0"/>
                <a:ea typeface="Aptos" pitchFamily="34" charset="-122"/>
                <a:cs typeface="Aptos" pitchFamily="34" charset="-120"/>
              </a:rPr>
              <a:t>The development of </a:t>
            </a:r>
            <a:r>
              <a:rPr lang="en-US" sz="990" b="1" dirty="0">
                <a:latin typeface="Aptos" pitchFamily="34" charset="0"/>
                <a:ea typeface="Aptos" pitchFamily="34" charset="-122"/>
                <a:cs typeface="Aptos" pitchFamily="34" charset="-120"/>
              </a:rPr>
              <a:t>sustainable electrodes</a:t>
            </a:r>
            <a:r>
              <a:rPr lang="en-US" sz="990" dirty="0">
                <a:latin typeface="Aptos" pitchFamily="34" charset="0"/>
                <a:ea typeface="Aptos" pitchFamily="34" charset="-122"/>
                <a:cs typeface="Aptos" pitchFamily="34" charset="-120"/>
              </a:rPr>
              <a:t>, e.g. for hydrogen production, relies on the use of abundant, naturally occurring raw materials or waste currently disposed of by landfilling, which (until now) are unused resources. </a:t>
            </a:r>
          </a:p>
          <a:p>
            <a:pPr>
              <a:lnSpc>
                <a:spcPct val="104000"/>
              </a:lnSpc>
            </a:pPr>
            <a:r>
              <a:rPr lang="en-US" sz="990" b="1" dirty="0">
                <a:latin typeface="Aptos" pitchFamily="34" charset="0"/>
                <a:ea typeface="Aptos" pitchFamily="34" charset="-122"/>
                <a:cs typeface="Aptos" pitchFamily="34" charset="-120"/>
              </a:rPr>
              <a:t>Bamboo</a:t>
            </a:r>
            <a:r>
              <a:rPr lang="en-US" sz="990" dirty="0">
                <a:latin typeface="Aptos" pitchFamily="34" charset="0"/>
                <a:ea typeface="Aptos" pitchFamily="34" charset="-122"/>
                <a:cs typeface="Aptos" pitchFamily="34" charset="-120"/>
              </a:rPr>
              <a:t>, a climate resilient and rapidly growing, renewable, natural material, is composed of cellulose, hemicellulose and lignin, which can be decomposed by thermal treatments to form porous carbonaceous materials. </a:t>
            </a:r>
          </a:p>
          <a:p>
            <a:pPr marL="0" indent="0">
              <a:lnSpc>
                <a:spcPct val="104000"/>
              </a:lnSpc>
              <a:buNone/>
            </a:pPr>
            <a:r>
              <a:rPr lang="en-US" sz="990" b="1" dirty="0">
                <a:latin typeface="Aptos" pitchFamily="34" charset="0"/>
                <a:ea typeface="Aptos" pitchFamily="34" charset="-122"/>
                <a:cs typeface="Aptos" pitchFamily="34" charset="-120"/>
              </a:rPr>
              <a:t>Pickling dust</a:t>
            </a:r>
            <a:r>
              <a:rPr lang="en-US" sz="990" dirty="0">
                <a:latin typeface="Aptos" pitchFamily="34" charset="0"/>
                <a:ea typeface="Aptos" pitchFamily="34" charset="-122"/>
                <a:cs typeface="Aptos" pitchFamily="34" charset="-120"/>
              </a:rPr>
              <a:t>, a residue from steel processing industry mainly consisting of iron oxides, can be processed towards the transformation from hematite (Fe</a:t>
            </a:r>
            <a:r>
              <a:rPr lang="en-US" sz="990" baseline="-25000" dirty="0">
                <a:latin typeface="Aptos" pitchFamily="34" charset="0"/>
                <a:ea typeface="Aptos" pitchFamily="34" charset="-122"/>
                <a:cs typeface="Aptos" pitchFamily="34" charset="-120"/>
              </a:rPr>
              <a:t>2</a:t>
            </a:r>
            <a:r>
              <a:rPr lang="en-US" sz="990" dirty="0">
                <a:latin typeface="Aptos" pitchFamily="34" charset="0"/>
                <a:ea typeface="Aptos" pitchFamily="34" charset="-122"/>
                <a:cs typeface="Aptos" pitchFamily="34" charset="-120"/>
              </a:rPr>
              <a:t>O</a:t>
            </a:r>
            <a:r>
              <a:rPr lang="en-US" sz="990" baseline="-25000" dirty="0">
                <a:latin typeface="Aptos" pitchFamily="34" charset="0"/>
                <a:ea typeface="Aptos" pitchFamily="34" charset="-122"/>
                <a:cs typeface="Aptos" pitchFamily="34" charset="-120"/>
              </a:rPr>
              <a:t>3</a:t>
            </a:r>
            <a:r>
              <a:rPr lang="en-US" sz="990" dirty="0">
                <a:latin typeface="Aptos" pitchFamily="34" charset="0"/>
                <a:ea typeface="Aptos" pitchFamily="34" charset="-122"/>
                <a:cs typeface="Aptos" pitchFamily="34" charset="-120"/>
              </a:rPr>
              <a:t>) to magnetite (Fe</a:t>
            </a:r>
            <a:r>
              <a:rPr lang="en-US" sz="990" baseline="-25000" dirty="0">
                <a:latin typeface="Aptos" pitchFamily="34" charset="0"/>
                <a:ea typeface="Aptos" pitchFamily="34" charset="-122"/>
                <a:cs typeface="Aptos" pitchFamily="34" charset="-120"/>
              </a:rPr>
              <a:t>3</a:t>
            </a:r>
            <a:r>
              <a:rPr lang="en-US" sz="990" dirty="0">
                <a:latin typeface="Aptos" pitchFamily="34" charset="0"/>
                <a:ea typeface="Aptos" pitchFamily="34" charset="-122"/>
                <a:cs typeface="Aptos" pitchFamily="34" charset="-120"/>
              </a:rPr>
              <a:t>O</a:t>
            </a:r>
            <a:r>
              <a:rPr lang="en-US" sz="990" baseline="-25000" dirty="0">
                <a:latin typeface="Aptos" pitchFamily="34" charset="0"/>
                <a:ea typeface="Aptos" pitchFamily="34" charset="-122"/>
                <a:cs typeface="Aptos" pitchFamily="34" charset="-120"/>
              </a:rPr>
              <a:t>4</a:t>
            </a:r>
            <a:r>
              <a:rPr lang="en-US" sz="990" dirty="0">
                <a:latin typeface="Aptos" pitchFamily="34" charset="0"/>
                <a:ea typeface="Aptos" pitchFamily="34" charset="-122"/>
                <a:cs typeface="Aptos" pitchFamily="34" charset="-120"/>
              </a:rPr>
              <a:t>) and functionalization to enhance the catalytic activity. </a:t>
            </a:r>
          </a:p>
          <a:p>
            <a:pPr marL="0" indent="0">
              <a:lnSpc>
                <a:spcPct val="104000"/>
              </a:lnSpc>
              <a:buNone/>
            </a:pPr>
            <a:r>
              <a:rPr lang="en-US" sz="990" dirty="0">
                <a:latin typeface="Aptos" pitchFamily="34" charset="0"/>
                <a:ea typeface="Aptos" pitchFamily="34" charset="-122"/>
                <a:cs typeface="Aptos" pitchFamily="34" charset="-120"/>
              </a:rPr>
              <a:t>Bamboo and pickling dust, collected in Uganda, are low-cost resources for producing nano-composite electrodes.   </a:t>
            </a:r>
          </a:p>
        </p:txBody>
      </p:sp>
      <p:sp>
        <p:nvSpPr>
          <p:cNvPr id="52" name="Text 27">
            <a:extLst>
              <a:ext uri="{FF2B5EF4-FFF2-40B4-BE49-F238E27FC236}">
                <a16:creationId xmlns:a16="http://schemas.microsoft.com/office/drawing/2014/main" id="{3EF4B66C-6C09-E8CD-977A-EB71909717AC}"/>
              </a:ext>
            </a:extLst>
          </p:cNvPr>
          <p:cNvSpPr/>
          <p:nvPr/>
        </p:nvSpPr>
        <p:spPr>
          <a:xfrm>
            <a:off x="314595" y="5576681"/>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PROJECT AIM </a:t>
            </a:r>
            <a:r>
              <a:rPr lang="en-US" sz="860" kern="0" spc="120" dirty="0">
                <a:solidFill>
                  <a:srgbClr val="A30018"/>
                </a:solidFill>
                <a:latin typeface="Aptos Display" pitchFamily="34" charset="0"/>
                <a:ea typeface="Aptos Display" pitchFamily="34" charset="-122"/>
                <a:cs typeface="Aptos Display" pitchFamily="34" charset="-120"/>
              </a:rPr>
              <a:t>(or smaller steps towards this final goal)</a:t>
            </a:r>
            <a:endParaRPr lang="en-US" sz="860" dirty="0"/>
          </a:p>
        </p:txBody>
      </p:sp>
      <p:sp>
        <p:nvSpPr>
          <p:cNvPr id="54" name="Text 28">
            <a:extLst>
              <a:ext uri="{FF2B5EF4-FFF2-40B4-BE49-F238E27FC236}">
                <a16:creationId xmlns:a16="http://schemas.microsoft.com/office/drawing/2014/main" id="{FDCCD25B-ECDA-840B-6FF0-036CBA3CB1A6}"/>
              </a:ext>
            </a:extLst>
          </p:cNvPr>
          <p:cNvSpPr/>
          <p:nvPr/>
        </p:nvSpPr>
        <p:spPr>
          <a:xfrm>
            <a:off x="314594" y="5725271"/>
            <a:ext cx="6426403" cy="345020"/>
          </a:xfrm>
          <a:prstGeom prst="rect">
            <a:avLst/>
          </a:prstGeom>
          <a:noFill/>
          <a:ln/>
        </p:spPr>
        <p:txBody>
          <a:bodyPr wrap="square" lIns="0" tIns="0" rIns="0" bIns="0" rtlCol="0" anchor="t"/>
          <a:lstStyle/>
          <a:p>
            <a:pPr marL="0" indent="0">
              <a:lnSpc>
                <a:spcPct val="103000"/>
              </a:lnSpc>
              <a:buNone/>
            </a:pPr>
            <a:r>
              <a:rPr lang="en-US" sz="1000" dirty="0">
                <a:latin typeface="Aptos" pitchFamily="34" charset="0"/>
                <a:ea typeface="Aptos" pitchFamily="34" charset="-122"/>
                <a:cs typeface="Aptos" pitchFamily="34" charset="-120"/>
              </a:rPr>
              <a:t>Prototyping sustainable electrodes based on bamboo-derived carbon and pickling waste by testing various production methods, with focus on later upscaling to industrial production in Uganda.  </a:t>
            </a:r>
          </a:p>
          <a:p>
            <a:pPr marL="0" indent="0">
              <a:lnSpc>
                <a:spcPct val="103000"/>
              </a:lnSpc>
              <a:buNone/>
            </a:pPr>
            <a:endParaRPr lang="en-US" sz="1000" dirty="0">
              <a:latin typeface="Aptos" pitchFamily="34" charset="0"/>
              <a:ea typeface="Aptos" pitchFamily="34" charset="-122"/>
              <a:cs typeface="Aptos" pitchFamily="34" charset="-120"/>
            </a:endParaRPr>
          </a:p>
        </p:txBody>
      </p:sp>
      <p:sp>
        <p:nvSpPr>
          <p:cNvPr id="56" name="Text 29">
            <a:extLst>
              <a:ext uri="{FF2B5EF4-FFF2-40B4-BE49-F238E27FC236}">
                <a16:creationId xmlns:a16="http://schemas.microsoft.com/office/drawing/2014/main" id="{09531134-C3C6-5BEB-9A88-0CBED1A2C3C8}"/>
              </a:ext>
            </a:extLst>
          </p:cNvPr>
          <p:cNvSpPr/>
          <p:nvPr/>
        </p:nvSpPr>
        <p:spPr>
          <a:xfrm>
            <a:off x="314594" y="6233461"/>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PROJECT ACTIVITIES</a:t>
            </a:r>
            <a:endParaRPr lang="en-US" sz="860" dirty="0"/>
          </a:p>
        </p:txBody>
      </p:sp>
      <p:sp>
        <p:nvSpPr>
          <p:cNvPr id="58" name="Text 30">
            <a:extLst>
              <a:ext uri="{FF2B5EF4-FFF2-40B4-BE49-F238E27FC236}">
                <a16:creationId xmlns:a16="http://schemas.microsoft.com/office/drawing/2014/main" id="{C4C1FA89-F7B9-ADE1-9AD4-A6F49D19C656}"/>
              </a:ext>
            </a:extLst>
          </p:cNvPr>
          <p:cNvSpPr/>
          <p:nvPr/>
        </p:nvSpPr>
        <p:spPr>
          <a:xfrm>
            <a:off x="331178" y="6416982"/>
            <a:ext cx="6398971" cy="2505022"/>
          </a:xfrm>
          <a:prstGeom prst="rect">
            <a:avLst/>
          </a:prstGeom>
          <a:noFill/>
          <a:ln/>
        </p:spPr>
        <p:txBody>
          <a:bodyPr wrap="square" lIns="0" tIns="0" rIns="0" bIns="0" rtlCol="0" anchor="t"/>
          <a:lstStyle/>
          <a:p>
            <a:pPr marL="179388" indent="-139700">
              <a:lnSpc>
                <a:spcPct val="106000"/>
              </a:lnSpc>
              <a:buSzPct val="100000"/>
              <a:buFontTx/>
              <a:buChar char="•"/>
            </a:pPr>
            <a:r>
              <a:rPr lang="da-DK" sz="1000" b="1" dirty="0" err="1">
                <a:solidFill>
                  <a:srgbClr val="202D36"/>
                </a:solidFill>
                <a:ea typeface="Arial"/>
                <a:cs typeface="Arial"/>
              </a:rPr>
              <a:t>Investigating</a:t>
            </a:r>
            <a:r>
              <a:rPr lang="da-DK" sz="1000" b="1" dirty="0">
                <a:solidFill>
                  <a:srgbClr val="202D36"/>
                </a:solidFill>
                <a:ea typeface="Arial"/>
                <a:cs typeface="Arial"/>
              </a:rPr>
              <a:t> and </a:t>
            </a:r>
            <a:r>
              <a:rPr lang="da-DK" sz="1000" b="1" dirty="0" err="1">
                <a:solidFill>
                  <a:srgbClr val="202D36"/>
                </a:solidFill>
                <a:ea typeface="Arial"/>
                <a:cs typeface="Arial"/>
              </a:rPr>
              <a:t>optimizing</a:t>
            </a:r>
            <a:r>
              <a:rPr lang="da-DK" sz="1000" b="1" dirty="0">
                <a:solidFill>
                  <a:srgbClr val="202D36"/>
                </a:solidFill>
                <a:ea typeface="Arial"/>
                <a:cs typeface="Arial"/>
              </a:rPr>
              <a:t> </a:t>
            </a:r>
            <a:r>
              <a:rPr lang="da-DK" sz="1000" b="1" dirty="0" err="1">
                <a:solidFill>
                  <a:srgbClr val="202D36"/>
                </a:solidFill>
                <a:ea typeface="Arial"/>
                <a:cs typeface="Arial"/>
              </a:rPr>
              <a:t>bamboo-derived</a:t>
            </a:r>
            <a:r>
              <a:rPr lang="da-DK" sz="1000" b="1" dirty="0">
                <a:solidFill>
                  <a:srgbClr val="202D36"/>
                </a:solidFill>
                <a:ea typeface="Arial"/>
                <a:cs typeface="Arial"/>
              </a:rPr>
              <a:t> </a:t>
            </a:r>
            <a:r>
              <a:rPr lang="da-DK" sz="1000" b="1" dirty="0" err="1">
                <a:solidFill>
                  <a:srgbClr val="202D36"/>
                </a:solidFill>
                <a:ea typeface="Arial"/>
                <a:cs typeface="Arial"/>
              </a:rPr>
              <a:t>carbon</a:t>
            </a:r>
            <a:r>
              <a:rPr lang="da-DK" sz="1000" b="1" dirty="0">
                <a:solidFill>
                  <a:srgbClr val="202D36"/>
                </a:solidFill>
                <a:ea typeface="Arial"/>
                <a:cs typeface="Arial"/>
              </a:rPr>
              <a:t>: </a:t>
            </a:r>
            <a:endParaRPr lang="da-DK" sz="1000" dirty="0">
              <a:solidFill>
                <a:srgbClr val="202D36"/>
              </a:solidFill>
              <a:ea typeface="Arial"/>
              <a:cs typeface="Arial"/>
            </a:endParaRPr>
          </a:p>
          <a:p>
            <a:pPr marL="179388" indent="-139700">
              <a:lnSpc>
                <a:spcPct val="106000"/>
              </a:lnSpc>
              <a:buSzPct val="100000"/>
            </a:pPr>
            <a:r>
              <a:rPr lang="da-DK" sz="1000" dirty="0">
                <a:solidFill>
                  <a:srgbClr val="202D36"/>
                </a:solidFill>
                <a:ea typeface="Arial"/>
                <a:cs typeface="Arial"/>
              </a:rPr>
              <a:t>     </a:t>
            </a:r>
            <a:r>
              <a:rPr lang="da-DK" sz="1000" dirty="0" err="1">
                <a:solidFill>
                  <a:srgbClr val="202D36"/>
                </a:solidFill>
                <a:ea typeface="Arial"/>
                <a:cs typeface="Arial"/>
              </a:rPr>
              <a:t>Phase</a:t>
            </a:r>
            <a:r>
              <a:rPr lang="da-DK" sz="1000" dirty="0">
                <a:solidFill>
                  <a:srgbClr val="202D36"/>
                </a:solidFill>
                <a:ea typeface="Arial"/>
                <a:cs typeface="Arial"/>
              </a:rPr>
              <a:t> </a:t>
            </a:r>
            <a:r>
              <a:rPr lang="da-DK" sz="1000" dirty="0" err="1">
                <a:solidFill>
                  <a:srgbClr val="202D36"/>
                </a:solidFill>
                <a:ea typeface="Arial"/>
                <a:cs typeface="Arial"/>
              </a:rPr>
              <a:t>identification</a:t>
            </a:r>
            <a:r>
              <a:rPr lang="da-DK" sz="1000" dirty="0">
                <a:solidFill>
                  <a:srgbClr val="202D36"/>
                </a:solidFill>
                <a:ea typeface="Arial"/>
                <a:cs typeface="Arial"/>
              </a:rPr>
              <a:t> and </a:t>
            </a:r>
            <a:r>
              <a:rPr lang="da-DK" sz="1000" dirty="0" err="1">
                <a:solidFill>
                  <a:srgbClr val="202D36"/>
                </a:solidFill>
                <a:ea typeface="Arial"/>
                <a:cs typeface="Arial"/>
              </a:rPr>
              <a:t>chemical</a:t>
            </a:r>
            <a:r>
              <a:rPr lang="da-DK" sz="1000" dirty="0">
                <a:solidFill>
                  <a:srgbClr val="202D36"/>
                </a:solidFill>
                <a:ea typeface="Arial"/>
                <a:cs typeface="Arial"/>
              </a:rPr>
              <a:t> </a:t>
            </a:r>
            <a:r>
              <a:rPr lang="da-DK" sz="1000" dirty="0" err="1">
                <a:solidFill>
                  <a:srgbClr val="202D36"/>
                </a:solidFill>
                <a:ea typeface="Arial"/>
                <a:cs typeface="Arial"/>
              </a:rPr>
              <a:t>analysis</a:t>
            </a:r>
            <a:r>
              <a:rPr lang="da-DK" sz="1000" dirty="0">
                <a:solidFill>
                  <a:srgbClr val="202D36"/>
                </a:solidFill>
                <a:ea typeface="Arial"/>
                <a:cs typeface="Arial"/>
              </a:rPr>
              <a:t> of </a:t>
            </a:r>
            <a:r>
              <a:rPr lang="en-US" sz="1000" dirty="0">
                <a:solidFill>
                  <a:srgbClr val="202D36"/>
                </a:solidFill>
                <a:ea typeface="Arial"/>
                <a:cs typeface="Arial"/>
              </a:rPr>
              <a:t>raw and thermally treated bamboo. In particular, the presence of </a:t>
            </a:r>
          </a:p>
          <a:p>
            <a:pPr marL="179388" indent="-139700">
              <a:lnSpc>
                <a:spcPct val="106000"/>
              </a:lnSpc>
              <a:buSzPct val="100000"/>
            </a:pPr>
            <a:r>
              <a:rPr lang="en-US" sz="1000" dirty="0">
                <a:solidFill>
                  <a:srgbClr val="202D36"/>
                </a:solidFill>
                <a:ea typeface="Arial"/>
                <a:cs typeface="Arial"/>
              </a:rPr>
              <a:t>     naturally occurring unorganic phases in raw bamboo and their influence on (electrical, electrochemical) properties and morphology of the processed bamboo-derived carbon are of interest. </a:t>
            </a:r>
          </a:p>
          <a:p>
            <a:pPr marL="179388" indent="-139700">
              <a:lnSpc>
                <a:spcPct val="106000"/>
              </a:lnSpc>
              <a:buSzPct val="100000"/>
            </a:pPr>
            <a:endParaRPr lang="en-US" sz="300" dirty="0">
              <a:solidFill>
                <a:srgbClr val="202D36"/>
              </a:solidFill>
              <a:ea typeface="Arial"/>
              <a:cs typeface="Arial"/>
            </a:endParaRPr>
          </a:p>
          <a:p>
            <a:pPr marL="179388" indent="-139700">
              <a:lnSpc>
                <a:spcPct val="106000"/>
              </a:lnSpc>
              <a:buSzPct val="100000"/>
              <a:buFontTx/>
              <a:buChar char="•"/>
            </a:pPr>
            <a:r>
              <a:rPr lang="da-DK" sz="1000" b="1" dirty="0">
                <a:solidFill>
                  <a:srgbClr val="202D36"/>
                </a:solidFill>
                <a:ea typeface="Arial"/>
                <a:cs typeface="Arial"/>
              </a:rPr>
              <a:t>Measurement of relevant properties: </a:t>
            </a:r>
          </a:p>
          <a:p>
            <a:pPr marL="179388" indent="-139700">
              <a:lnSpc>
                <a:spcPct val="106000"/>
              </a:lnSpc>
              <a:buSzPct val="100000"/>
            </a:pPr>
            <a:r>
              <a:rPr lang="da-DK" sz="1000" b="1" dirty="0">
                <a:solidFill>
                  <a:srgbClr val="202D36"/>
                </a:solidFill>
                <a:ea typeface="Arial"/>
                <a:cs typeface="Arial"/>
              </a:rPr>
              <a:t>     </a:t>
            </a:r>
            <a:r>
              <a:rPr lang="en-US" sz="1000" dirty="0">
                <a:solidFill>
                  <a:srgbClr val="202D36"/>
                </a:solidFill>
                <a:ea typeface="Arial"/>
                <a:cs typeface="Arial"/>
              </a:rPr>
              <a:t> For both parts of the final composite electrode, electrical conductivity and active surface area are highly relevant. </a:t>
            </a:r>
          </a:p>
          <a:p>
            <a:pPr marL="179388" indent="-139700">
              <a:lnSpc>
                <a:spcPct val="106000"/>
              </a:lnSpc>
              <a:buSzPct val="100000"/>
              <a:buFontTx/>
              <a:buChar char="•"/>
            </a:pPr>
            <a:endParaRPr lang="en-US" sz="300" b="1" dirty="0">
              <a:solidFill>
                <a:srgbClr val="202D36"/>
              </a:solidFill>
              <a:ea typeface="Arial"/>
              <a:cs typeface="Arial"/>
            </a:endParaRPr>
          </a:p>
          <a:p>
            <a:pPr marL="179388" indent="-139700">
              <a:lnSpc>
                <a:spcPct val="106000"/>
              </a:lnSpc>
              <a:buSzPct val="100000"/>
              <a:buFontTx/>
              <a:buChar char="•"/>
            </a:pPr>
            <a:r>
              <a:rPr lang="en-US" sz="1000" b="1" dirty="0">
                <a:solidFill>
                  <a:srgbClr val="202D36"/>
                </a:solidFill>
                <a:ea typeface="Arial"/>
                <a:cs typeface="Arial"/>
              </a:rPr>
              <a:t>Optimizing processing routes: </a:t>
            </a:r>
            <a:endParaRPr lang="en-US" sz="1000" dirty="0">
              <a:solidFill>
                <a:srgbClr val="202D36"/>
              </a:solidFill>
              <a:ea typeface="Arial"/>
              <a:cs typeface="Arial"/>
            </a:endParaRPr>
          </a:p>
          <a:p>
            <a:pPr marL="179388" indent="-139700">
              <a:lnSpc>
                <a:spcPct val="106000"/>
              </a:lnSpc>
              <a:buSzPct val="100000"/>
            </a:pPr>
            <a:r>
              <a:rPr lang="en-US" sz="1000" dirty="0">
                <a:solidFill>
                  <a:srgbClr val="202D36"/>
                </a:solidFill>
                <a:ea typeface="Arial"/>
                <a:cs typeface="Arial"/>
              </a:rPr>
              <a:t>      Revealing the relationship between processing parameters (e.g. temperature, time, atmosphere) for the thermal</a:t>
            </a:r>
          </a:p>
          <a:p>
            <a:pPr marL="179388" indent="-139700">
              <a:lnSpc>
                <a:spcPct val="106000"/>
              </a:lnSpc>
              <a:buSzPct val="100000"/>
            </a:pPr>
            <a:r>
              <a:rPr lang="en-US" sz="1000" dirty="0">
                <a:solidFill>
                  <a:srgbClr val="202D36"/>
                </a:solidFill>
                <a:ea typeface="Arial"/>
                <a:cs typeface="Arial"/>
              </a:rPr>
              <a:t>      treatment of both bamboo (carbonization, activation, doping) and pickling dust (phase transformation,</a:t>
            </a:r>
          </a:p>
          <a:p>
            <a:pPr marL="179388" indent="-139700">
              <a:lnSpc>
                <a:spcPct val="106000"/>
              </a:lnSpc>
              <a:buSzPct val="100000"/>
            </a:pPr>
            <a:r>
              <a:rPr lang="en-US" sz="1000" dirty="0">
                <a:solidFill>
                  <a:srgbClr val="202D36"/>
                </a:solidFill>
                <a:ea typeface="Arial"/>
                <a:cs typeface="Arial"/>
              </a:rPr>
              <a:t>      functionalizing). Testing of combined treatments. </a:t>
            </a:r>
            <a:r>
              <a:rPr lang="da-DK" sz="1000" dirty="0">
                <a:solidFill>
                  <a:srgbClr val="202D36"/>
                </a:solidFill>
                <a:ea typeface="Arial"/>
                <a:cs typeface="Arial"/>
              </a:rPr>
              <a:t> </a:t>
            </a:r>
          </a:p>
          <a:p>
            <a:pPr marL="179388" indent="-139700">
              <a:lnSpc>
                <a:spcPct val="106000"/>
              </a:lnSpc>
              <a:buSzPct val="100000"/>
              <a:buFont typeface="Arial" panose="020B0604020202020204" pitchFamily="34" charset="0"/>
              <a:buChar char="•"/>
            </a:pPr>
            <a:r>
              <a:rPr lang="da-DK" sz="1000" b="1" dirty="0" err="1">
                <a:solidFill>
                  <a:srgbClr val="202D36"/>
                </a:solidFill>
                <a:ea typeface="Arial"/>
                <a:cs typeface="Arial"/>
              </a:rPr>
              <a:t>Testing</a:t>
            </a:r>
            <a:r>
              <a:rPr lang="da-DK" sz="1000" b="1" dirty="0">
                <a:solidFill>
                  <a:srgbClr val="202D36"/>
                </a:solidFill>
                <a:ea typeface="Arial"/>
                <a:cs typeface="Arial"/>
              </a:rPr>
              <a:t> and </a:t>
            </a:r>
            <a:r>
              <a:rPr lang="da-DK" sz="1000" b="1" dirty="0" err="1">
                <a:solidFill>
                  <a:srgbClr val="202D36"/>
                </a:solidFill>
                <a:ea typeface="Arial"/>
                <a:cs typeface="Arial"/>
              </a:rPr>
              <a:t>comparing</a:t>
            </a:r>
            <a:r>
              <a:rPr lang="da-DK" sz="1000" b="1" dirty="0">
                <a:solidFill>
                  <a:srgbClr val="202D36"/>
                </a:solidFill>
                <a:ea typeface="Arial"/>
                <a:cs typeface="Arial"/>
              </a:rPr>
              <a:t> </a:t>
            </a:r>
            <a:r>
              <a:rPr lang="da-DK" sz="1000" dirty="0" err="1">
                <a:solidFill>
                  <a:srgbClr val="202D36"/>
                </a:solidFill>
                <a:ea typeface="Arial"/>
                <a:cs typeface="Arial"/>
              </a:rPr>
              <a:t>different</a:t>
            </a:r>
            <a:r>
              <a:rPr lang="da-DK" sz="1000" dirty="0">
                <a:solidFill>
                  <a:srgbClr val="202D36"/>
                </a:solidFill>
                <a:ea typeface="Arial"/>
                <a:cs typeface="Arial"/>
              </a:rPr>
              <a:t> </a:t>
            </a:r>
            <a:r>
              <a:rPr lang="da-DK" sz="1000" dirty="0" err="1">
                <a:solidFill>
                  <a:srgbClr val="202D36"/>
                </a:solidFill>
                <a:ea typeface="Arial"/>
                <a:cs typeface="Arial"/>
              </a:rPr>
              <a:t>methods</a:t>
            </a:r>
            <a:r>
              <a:rPr lang="da-DK" sz="1000" dirty="0">
                <a:solidFill>
                  <a:srgbClr val="202D36"/>
                </a:solidFill>
                <a:ea typeface="Arial"/>
                <a:cs typeface="Arial"/>
              </a:rPr>
              <a:t> of </a:t>
            </a:r>
            <a:r>
              <a:rPr lang="da-DK" sz="1000" dirty="0" err="1">
                <a:solidFill>
                  <a:srgbClr val="202D36"/>
                </a:solidFill>
                <a:ea typeface="Arial"/>
                <a:cs typeface="Arial"/>
              </a:rPr>
              <a:t>combining</a:t>
            </a:r>
            <a:r>
              <a:rPr lang="da-DK" sz="1000" dirty="0">
                <a:solidFill>
                  <a:srgbClr val="202D36"/>
                </a:solidFill>
                <a:ea typeface="Arial"/>
                <a:cs typeface="Arial"/>
              </a:rPr>
              <a:t> </a:t>
            </a:r>
            <a:r>
              <a:rPr lang="da-DK" sz="1000" dirty="0" err="1">
                <a:solidFill>
                  <a:srgbClr val="202D36"/>
                </a:solidFill>
                <a:ea typeface="Arial"/>
                <a:cs typeface="Arial"/>
              </a:rPr>
              <a:t>carbon</a:t>
            </a:r>
            <a:r>
              <a:rPr lang="da-DK" sz="1000" dirty="0">
                <a:solidFill>
                  <a:srgbClr val="202D36"/>
                </a:solidFill>
                <a:ea typeface="Arial"/>
                <a:cs typeface="Arial"/>
              </a:rPr>
              <a:t> and </a:t>
            </a:r>
            <a:r>
              <a:rPr lang="da-DK" sz="1000" dirty="0" err="1">
                <a:solidFill>
                  <a:srgbClr val="202D36"/>
                </a:solidFill>
                <a:ea typeface="Arial"/>
                <a:cs typeface="Arial"/>
              </a:rPr>
              <a:t>iron</a:t>
            </a:r>
            <a:r>
              <a:rPr lang="da-DK" sz="1000" dirty="0">
                <a:solidFill>
                  <a:srgbClr val="202D36"/>
                </a:solidFill>
                <a:ea typeface="Arial"/>
                <a:cs typeface="Arial"/>
              </a:rPr>
              <a:t> </a:t>
            </a:r>
            <a:r>
              <a:rPr lang="da-DK" sz="1000" dirty="0" err="1">
                <a:solidFill>
                  <a:srgbClr val="202D36"/>
                </a:solidFill>
                <a:ea typeface="Arial"/>
                <a:cs typeface="Arial"/>
              </a:rPr>
              <a:t>oxide</a:t>
            </a:r>
            <a:r>
              <a:rPr lang="da-DK" sz="1000" dirty="0">
                <a:solidFill>
                  <a:srgbClr val="202D36"/>
                </a:solidFill>
                <a:ea typeface="Arial"/>
                <a:cs typeface="Arial"/>
              </a:rPr>
              <a:t> to </a:t>
            </a:r>
            <a:r>
              <a:rPr lang="da-DK" sz="1000" dirty="0" err="1">
                <a:solidFill>
                  <a:srgbClr val="202D36"/>
                </a:solidFill>
                <a:ea typeface="Arial"/>
                <a:cs typeface="Arial"/>
              </a:rPr>
              <a:t>produce</a:t>
            </a:r>
            <a:r>
              <a:rPr lang="da-DK" sz="1000" dirty="0">
                <a:solidFill>
                  <a:srgbClr val="202D36"/>
                </a:solidFill>
                <a:ea typeface="Arial"/>
                <a:cs typeface="Arial"/>
              </a:rPr>
              <a:t> </a:t>
            </a:r>
            <a:r>
              <a:rPr lang="da-DK" sz="1000" dirty="0" err="1">
                <a:solidFill>
                  <a:srgbClr val="202D36"/>
                </a:solidFill>
                <a:ea typeface="Arial"/>
                <a:cs typeface="Arial"/>
              </a:rPr>
              <a:t>composites</a:t>
            </a:r>
            <a:r>
              <a:rPr lang="da-DK" sz="1000" dirty="0">
                <a:solidFill>
                  <a:srgbClr val="202D36"/>
                </a:solidFill>
                <a:ea typeface="Arial"/>
                <a:cs typeface="Arial"/>
              </a:rPr>
              <a:t> with </a:t>
            </a:r>
            <a:r>
              <a:rPr lang="da-DK" sz="1000" dirty="0" err="1">
                <a:solidFill>
                  <a:srgbClr val="202D36"/>
                </a:solidFill>
                <a:ea typeface="Arial"/>
                <a:cs typeface="Arial"/>
              </a:rPr>
              <a:t>propeties</a:t>
            </a:r>
            <a:r>
              <a:rPr lang="da-DK" sz="1000" dirty="0">
                <a:solidFill>
                  <a:srgbClr val="202D36"/>
                </a:solidFill>
                <a:ea typeface="Arial"/>
                <a:cs typeface="Arial"/>
              </a:rPr>
              <a:t> </a:t>
            </a:r>
            <a:r>
              <a:rPr lang="da-DK" sz="1000" dirty="0" err="1">
                <a:solidFill>
                  <a:srgbClr val="202D36"/>
                </a:solidFill>
                <a:ea typeface="Arial"/>
                <a:cs typeface="Arial"/>
              </a:rPr>
              <a:t>that</a:t>
            </a:r>
            <a:r>
              <a:rPr lang="da-DK" sz="1000" dirty="0">
                <a:solidFill>
                  <a:srgbClr val="202D36"/>
                </a:solidFill>
                <a:ea typeface="Arial"/>
                <a:cs typeface="Arial"/>
              </a:rPr>
              <a:t> </a:t>
            </a:r>
            <a:r>
              <a:rPr lang="da-DK" sz="1000" dirty="0" err="1">
                <a:solidFill>
                  <a:srgbClr val="202D36"/>
                </a:solidFill>
                <a:ea typeface="Arial"/>
                <a:cs typeface="Arial"/>
              </a:rPr>
              <a:t>are</a:t>
            </a:r>
            <a:r>
              <a:rPr lang="da-DK" sz="1000" dirty="0">
                <a:solidFill>
                  <a:srgbClr val="202D36"/>
                </a:solidFill>
                <a:ea typeface="Arial"/>
                <a:cs typeface="Arial"/>
              </a:rPr>
              <a:t> relevant for </a:t>
            </a:r>
            <a:r>
              <a:rPr lang="da-DK" sz="1000" dirty="0" err="1">
                <a:solidFill>
                  <a:srgbClr val="202D36"/>
                </a:solidFill>
                <a:ea typeface="Arial"/>
                <a:cs typeface="Arial"/>
              </a:rPr>
              <a:t>electrodes</a:t>
            </a:r>
            <a:r>
              <a:rPr lang="da-DK" sz="1000" dirty="0">
                <a:solidFill>
                  <a:srgbClr val="202D36"/>
                </a:solidFill>
                <a:ea typeface="Arial"/>
                <a:cs typeface="Arial"/>
              </a:rPr>
              <a:t>.   </a:t>
            </a:r>
          </a:p>
          <a:p>
            <a:pPr marL="179388" indent="-139700">
              <a:lnSpc>
                <a:spcPct val="106000"/>
              </a:lnSpc>
              <a:buSzPct val="100000"/>
              <a:buFontTx/>
              <a:buChar char="•"/>
            </a:pPr>
            <a:endParaRPr lang="da-DK" sz="300" dirty="0">
              <a:solidFill>
                <a:srgbClr val="202D36"/>
              </a:solidFill>
              <a:ea typeface="Arial"/>
              <a:cs typeface="Arial"/>
            </a:endParaRPr>
          </a:p>
          <a:p>
            <a:pPr>
              <a:lnSpc>
                <a:spcPct val="106000"/>
              </a:lnSpc>
              <a:buSzPct val="100000"/>
            </a:pPr>
            <a:endParaRPr lang="en-US" sz="300" dirty="0">
              <a:solidFill>
                <a:srgbClr val="202D36"/>
              </a:solidFill>
              <a:latin typeface="Aptos" pitchFamily="34" charset="0"/>
              <a:ea typeface="Aptos" pitchFamily="34" charset="-122"/>
              <a:cs typeface="Arial"/>
            </a:endParaRPr>
          </a:p>
          <a:p>
            <a:pPr>
              <a:lnSpc>
                <a:spcPct val="106000"/>
              </a:lnSpc>
              <a:buSzPct val="100000"/>
            </a:pPr>
            <a:r>
              <a:rPr lang="en-US" sz="1000" dirty="0">
                <a:latin typeface="Aptos" pitchFamily="34" charset="0"/>
                <a:ea typeface="Aptos" pitchFamily="34" charset="-122"/>
                <a:cs typeface="Aptos" pitchFamily="34" charset="-120"/>
              </a:rPr>
              <a:t>These are suggestions acting as examples for meaningful project(s) or smaller tasks, which will be finally formulated based on the students’ background and the time frame of the project. Materials characterization will be essential. </a:t>
            </a:r>
            <a:endParaRPr lang="en-US" sz="1000" dirty="0">
              <a:solidFill>
                <a:srgbClr val="202D36"/>
              </a:solidFill>
              <a:ea typeface="Arial"/>
              <a:cs typeface="Arial"/>
            </a:endParaRPr>
          </a:p>
          <a:p>
            <a:pPr marL="139700" indent="-139700">
              <a:lnSpc>
                <a:spcPct val="106000"/>
              </a:lnSpc>
              <a:buSzPct val="100000"/>
              <a:buFontTx/>
              <a:buChar char="•"/>
            </a:pPr>
            <a:endParaRPr lang="en-US" sz="1000" dirty="0">
              <a:solidFill>
                <a:srgbClr val="202D36"/>
              </a:solidFill>
              <a:ea typeface="Arial"/>
              <a:cs typeface="Arial"/>
            </a:endParaRPr>
          </a:p>
          <a:p>
            <a:pPr marL="139700" indent="-139700">
              <a:lnSpc>
                <a:spcPct val="106000"/>
              </a:lnSpc>
              <a:buSzPct val="100000"/>
              <a:buFontTx/>
              <a:buChar char="•"/>
            </a:pPr>
            <a:endParaRPr lang="da-DK" sz="1000" b="1" dirty="0">
              <a:solidFill>
                <a:srgbClr val="202D36"/>
              </a:solidFill>
              <a:ea typeface="Arial"/>
              <a:cs typeface="Arial"/>
            </a:endParaRPr>
          </a:p>
          <a:p>
            <a:pPr marL="139700" indent="-139700">
              <a:lnSpc>
                <a:spcPct val="106000"/>
              </a:lnSpc>
              <a:buSzPct val="100000"/>
              <a:buFontTx/>
              <a:buChar char="•"/>
            </a:pPr>
            <a:endParaRPr lang="en-US" sz="1000" dirty="0">
              <a:solidFill>
                <a:srgbClr val="202D36"/>
              </a:solidFill>
              <a:ea typeface="Arial"/>
              <a:cs typeface="Arial"/>
            </a:endParaRPr>
          </a:p>
          <a:p>
            <a:pPr marL="139700" indent="-139700">
              <a:lnSpc>
                <a:spcPct val="106000"/>
              </a:lnSpc>
              <a:buSzPct val="100000"/>
              <a:buFontTx/>
              <a:buChar char="•"/>
            </a:pPr>
            <a:endParaRPr lang="en-US" sz="975" dirty="0"/>
          </a:p>
        </p:txBody>
      </p:sp>
      <p:sp>
        <p:nvSpPr>
          <p:cNvPr id="68" name="Text 35">
            <a:extLst>
              <a:ext uri="{FF2B5EF4-FFF2-40B4-BE49-F238E27FC236}">
                <a16:creationId xmlns:a16="http://schemas.microsoft.com/office/drawing/2014/main" id="{97A57D68-7C83-D935-9854-9CBA4430BB7E}"/>
              </a:ext>
            </a:extLst>
          </p:cNvPr>
          <p:cNvSpPr/>
          <p:nvPr/>
        </p:nvSpPr>
        <p:spPr>
          <a:xfrm>
            <a:off x="344510" y="9037526"/>
            <a:ext cx="6426403" cy="539496"/>
          </a:xfrm>
          <a:prstGeom prst="rect">
            <a:avLst/>
          </a:prstGeom>
          <a:noFill/>
          <a:ln/>
        </p:spPr>
        <p:txBody>
          <a:bodyPr wrap="square" lIns="0" tIns="0" rIns="0" bIns="0" rtlCol="0" anchor="t"/>
          <a:lstStyle/>
          <a:p>
            <a:pPr>
              <a:lnSpc>
                <a:spcPct val="106000"/>
              </a:lnSpc>
              <a:buSzPct val="100000"/>
            </a:pPr>
            <a:r>
              <a:rPr lang="en-US" sz="860" b="1" kern="0" spc="120" dirty="0">
                <a:solidFill>
                  <a:srgbClr val="A30018"/>
                </a:solidFill>
                <a:latin typeface="Aptos Display" pitchFamily="34" charset="0"/>
                <a:ea typeface="Aptos Display" pitchFamily="34" charset="-122"/>
                <a:cs typeface="Aptos Display" pitchFamily="34" charset="-120"/>
              </a:rPr>
              <a:t>PRACTICAL NOTES</a:t>
            </a:r>
            <a:endParaRPr lang="da-DK" sz="900" b="1" dirty="0">
              <a:solidFill>
                <a:srgbClr val="202D36"/>
              </a:solidFill>
              <a:ea typeface="Arial"/>
              <a:cs typeface="Arial"/>
            </a:endParaRPr>
          </a:p>
          <a:p>
            <a:pPr>
              <a:buSzPct val="100000"/>
            </a:pPr>
            <a:r>
              <a:rPr lang="en-US" sz="1000" dirty="0">
                <a:solidFill>
                  <a:srgbClr val="202D36"/>
                </a:solidFill>
                <a:ea typeface="Arial"/>
                <a:cs typeface="Arial"/>
              </a:rPr>
              <a:t>The project is carried out at DTU, and include online collaboration with project partners in Uganda. </a:t>
            </a:r>
          </a:p>
          <a:p>
            <a:pPr marL="0" indent="0">
              <a:lnSpc>
                <a:spcPct val="100000"/>
              </a:lnSpc>
              <a:buNone/>
            </a:pPr>
            <a:endParaRPr lang="en-US" sz="860" dirty="0"/>
          </a:p>
        </p:txBody>
      </p:sp>
      <p:sp>
        <p:nvSpPr>
          <p:cNvPr id="70" name="Text 36">
            <a:extLst>
              <a:ext uri="{FF2B5EF4-FFF2-40B4-BE49-F238E27FC236}">
                <a16:creationId xmlns:a16="http://schemas.microsoft.com/office/drawing/2014/main" id="{20020E0A-0847-8498-CDE7-53594226E2AA}"/>
              </a:ext>
            </a:extLst>
          </p:cNvPr>
          <p:cNvSpPr/>
          <p:nvPr/>
        </p:nvSpPr>
        <p:spPr>
          <a:xfrm>
            <a:off x="314594" y="8713328"/>
            <a:ext cx="6426403" cy="438912"/>
          </a:xfrm>
          <a:prstGeom prst="rect">
            <a:avLst/>
          </a:prstGeom>
          <a:noFill/>
          <a:ln/>
        </p:spPr>
        <p:txBody>
          <a:bodyPr wrap="square" lIns="0" tIns="0" rIns="0" bIns="0" rtlCol="0" anchor="t"/>
          <a:lstStyle/>
          <a:p>
            <a:pPr marL="0" indent="0">
              <a:lnSpc>
                <a:spcPct val="102000"/>
              </a:lnSpc>
              <a:buNone/>
            </a:pPr>
            <a:endParaRPr lang="en-US" sz="975" dirty="0"/>
          </a:p>
        </p:txBody>
      </p:sp>
      <p:sp>
        <p:nvSpPr>
          <p:cNvPr id="72" name="Shape 38">
            <a:extLst>
              <a:ext uri="{FF2B5EF4-FFF2-40B4-BE49-F238E27FC236}">
                <a16:creationId xmlns:a16="http://schemas.microsoft.com/office/drawing/2014/main" id="{E9A0595A-B7F1-0348-1761-ECB267DA6EEB}"/>
              </a:ext>
            </a:extLst>
          </p:cNvPr>
          <p:cNvSpPr/>
          <p:nvPr/>
        </p:nvSpPr>
        <p:spPr>
          <a:xfrm>
            <a:off x="286778" y="9551282"/>
            <a:ext cx="6426403" cy="0"/>
          </a:xfrm>
          <a:prstGeom prst="line">
            <a:avLst/>
          </a:prstGeom>
          <a:noFill/>
          <a:ln w="10160">
            <a:solidFill>
              <a:srgbClr val="DFE2E3"/>
            </a:solidFill>
            <a:prstDash val="solid"/>
          </a:ln>
        </p:spPr>
        <p:txBody>
          <a:bodyPr/>
          <a:lstStyle/>
          <a:p>
            <a:endParaRPr lang="LID4096"/>
          </a:p>
        </p:txBody>
      </p:sp>
      <p:sp>
        <p:nvSpPr>
          <p:cNvPr id="74" name="Text 39">
            <a:extLst>
              <a:ext uri="{FF2B5EF4-FFF2-40B4-BE49-F238E27FC236}">
                <a16:creationId xmlns:a16="http://schemas.microsoft.com/office/drawing/2014/main" id="{7CE5A7B3-805C-89A2-00EC-4F9685820693}"/>
              </a:ext>
            </a:extLst>
          </p:cNvPr>
          <p:cNvSpPr/>
          <p:nvPr/>
        </p:nvSpPr>
        <p:spPr>
          <a:xfrm>
            <a:off x="288607" y="9555170"/>
            <a:ext cx="4480560" cy="137160"/>
          </a:xfrm>
          <a:prstGeom prst="rect">
            <a:avLst/>
          </a:prstGeom>
          <a:noFill/>
          <a:ln/>
        </p:spPr>
        <p:txBody>
          <a:bodyPr wrap="square" lIns="0" tIns="0" rIns="0" bIns="0" rtlCol="0" anchor="t"/>
          <a:lstStyle/>
          <a:p>
            <a:pPr marL="0" indent="0">
              <a:lnSpc>
                <a:spcPct val="100000"/>
              </a:lnSpc>
              <a:buNone/>
            </a:pPr>
            <a:r>
              <a:rPr lang="en-US" sz="715" kern="0" spc="60" dirty="0">
                <a:solidFill>
                  <a:srgbClr val="5D666B"/>
                </a:solidFill>
                <a:latin typeface="Aptos Display" pitchFamily="34" charset="0"/>
                <a:ea typeface="Aptos Display" pitchFamily="34" charset="-122"/>
                <a:cs typeface="Aptos Display" pitchFamily="34" charset="-120"/>
              </a:rPr>
              <a:t>DTU CONSTRUCT  /  MATERIALS AND SURFACE ENGINEERING</a:t>
            </a:r>
            <a:endParaRPr lang="en-US" sz="715" dirty="0"/>
          </a:p>
        </p:txBody>
      </p:sp>
      <p:sp>
        <p:nvSpPr>
          <p:cNvPr id="27" name="Design and test blends">
            <a:extLst>
              <a:ext uri="{FF2B5EF4-FFF2-40B4-BE49-F238E27FC236}">
                <a16:creationId xmlns:a16="http://schemas.microsoft.com/office/drawing/2014/main" id="{027703CF-183E-B006-C606-CAAAA06F75FA}"/>
              </a:ext>
            </a:extLst>
          </p:cNvPr>
          <p:cNvSpPr>
            <a:spLocks noGrp="1"/>
          </p:cNvSpPr>
          <p:nvPr/>
        </p:nvSpPr>
        <p:spPr>
          <a:xfrm>
            <a:off x="2370513" y="6309712"/>
            <a:ext cx="4253057" cy="195776"/>
          </a:xfrm>
          <a:prstGeom prst="rect">
            <a:avLst/>
          </a:prstGeom>
          <a:noFill/>
          <a:ln w="0">
            <a:noFill/>
          </a:ln>
        </p:spPr>
        <p:txBody>
          <a:bodyPr>
            <a:noAutofit/>
          </a:bodyPr>
          <a:lstStyle/>
          <a:p>
            <a:pPr>
              <a:defRPr sz="1575" b="1">
                <a:solidFill>
                  <a:srgbClr val="202D36"/>
                </a:solidFill>
                <a:latin typeface="Arial"/>
                <a:ea typeface="Arial"/>
                <a:cs typeface="Arial"/>
              </a:defRPr>
            </a:pPr>
            <a:endParaRPr sz="1100" b="1" dirty="0">
              <a:solidFill>
                <a:srgbClr val="202D36"/>
              </a:solidFill>
              <a:latin typeface="Arial"/>
              <a:ea typeface="Arial"/>
              <a:cs typeface="Arial"/>
            </a:endParaRPr>
          </a:p>
        </p:txBody>
      </p:sp>
      <p:sp>
        <p:nvSpPr>
          <p:cNvPr id="31" name="Design and test blends text">
            <a:extLst>
              <a:ext uri="{FF2B5EF4-FFF2-40B4-BE49-F238E27FC236}">
                <a16:creationId xmlns:a16="http://schemas.microsoft.com/office/drawing/2014/main" id="{FA5AC1EC-A998-987E-E4D4-FE76B751E502}"/>
              </a:ext>
            </a:extLst>
          </p:cNvPr>
          <p:cNvSpPr>
            <a:spLocks noGrp="1"/>
          </p:cNvSpPr>
          <p:nvPr/>
        </p:nvSpPr>
        <p:spPr>
          <a:xfrm>
            <a:off x="2370513" y="6518990"/>
            <a:ext cx="4253057" cy="560323"/>
          </a:xfrm>
          <a:prstGeom prst="rect">
            <a:avLst/>
          </a:prstGeom>
          <a:noFill/>
          <a:ln w="0">
            <a:noFill/>
          </a:ln>
        </p:spPr>
        <p:txBody>
          <a:bodyPr>
            <a:noAutofit/>
          </a:bodyPr>
          <a:lstStyle/>
          <a:p>
            <a:pPr algn="just">
              <a:defRPr sz="1500" b="0">
                <a:solidFill>
                  <a:srgbClr val="202D36"/>
                </a:solidFill>
                <a:latin typeface="Arial"/>
                <a:ea typeface="Arial"/>
                <a:cs typeface="Arial"/>
              </a:defRPr>
            </a:pPr>
            <a:endParaRPr sz="1050" dirty="0">
              <a:solidFill>
                <a:srgbClr val="202D36"/>
              </a:solidFill>
              <a:latin typeface="Arial"/>
              <a:ea typeface="Arial"/>
              <a:cs typeface="Arial"/>
            </a:endParaRPr>
          </a:p>
        </p:txBody>
      </p:sp>
      <p:sp>
        <p:nvSpPr>
          <p:cNvPr id="35" name="Develop quantitative methods">
            <a:extLst>
              <a:ext uri="{FF2B5EF4-FFF2-40B4-BE49-F238E27FC236}">
                <a16:creationId xmlns:a16="http://schemas.microsoft.com/office/drawing/2014/main" id="{79098D8D-E00C-0DCF-15AF-459E7BE28E04}"/>
              </a:ext>
            </a:extLst>
          </p:cNvPr>
          <p:cNvSpPr>
            <a:spLocks noGrp="1"/>
          </p:cNvSpPr>
          <p:nvPr/>
        </p:nvSpPr>
        <p:spPr>
          <a:xfrm>
            <a:off x="2370513" y="7113067"/>
            <a:ext cx="4253057" cy="195776"/>
          </a:xfrm>
          <a:prstGeom prst="rect">
            <a:avLst/>
          </a:prstGeom>
          <a:noFill/>
          <a:ln w="0">
            <a:noFill/>
          </a:ln>
        </p:spPr>
        <p:txBody>
          <a:bodyPr>
            <a:noAutofit/>
          </a:bodyPr>
          <a:lstStyle/>
          <a:p>
            <a:pPr>
              <a:defRPr sz="1575" b="1">
                <a:solidFill>
                  <a:srgbClr val="202D36"/>
                </a:solidFill>
                <a:latin typeface="Arial"/>
                <a:ea typeface="Arial"/>
                <a:cs typeface="Arial"/>
              </a:defRPr>
            </a:pPr>
            <a:endParaRPr sz="1100" b="1" dirty="0">
              <a:solidFill>
                <a:srgbClr val="202D36"/>
              </a:solidFill>
              <a:latin typeface="Arial"/>
              <a:ea typeface="Arial"/>
              <a:cs typeface="Arial"/>
            </a:endParaRPr>
          </a:p>
        </p:txBody>
      </p:sp>
      <p:sp>
        <p:nvSpPr>
          <p:cNvPr id="39" name="Develop quantitative methods text">
            <a:extLst>
              <a:ext uri="{FF2B5EF4-FFF2-40B4-BE49-F238E27FC236}">
                <a16:creationId xmlns:a16="http://schemas.microsoft.com/office/drawing/2014/main" id="{AFC28D9A-D1BB-EBA2-963A-D03A18BCDA4A}"/>
              </a:ext>
            </a:extLst>
          </p:cNvPr>
          <p:cNvSpPr>
            <a:spLocks noGrp="1"/>
          </p:cNvSpPr>
          <p:nvPr/>
        </p:nvSpPr>
        <p:spPr>
          <a:xfrm>
            <a:off x="2370513" y="7322345"/>
            <a:ext cx="4253057" cy="560323"/>
          </a:xfrm>
          <a:prstGeom prst="rect">
            <a:avLst/>
          </a:prstGeom>
          <a:noFill/>
          <a:ln w="0">
            <a:noFill/>
          </a:ln>
        </p:spPr>
        <p:txBody>
          <a:bodyPr>
            <a:noAutofit/>
          </a:bodyPr>
          <a:lstStyle/>
          <a:p>
            <a:pPr algn="just">
              <a:defRPr sz="1500" b="0">
                <a:solidFill>
                  <a:srgbClr val="202D36"/>
                </a:solidFill>
                <a:latin typeface="Arial"/>
                <a:ea typeface="Arial"/>
                <a:cs typeface="Arial"/>
              </a:defRPr>
            </a:pPr>
            <a:endParaRPr sz="1050" dirty="0">
              <a:solidFill>
                <a:srgbClr val="202D36"/>
              </a:solidFill>
              <a:latin typeface="Arial"/>
              <a:ea typeface="Arial"/>
              <a:cs typeface="Arial"/>
            </a:endParaRPr>
          </a:p>
        </p:txBody>
      </p:sp>
      <p:sp>
        <p:nvSpPr>
          <p:cNvPr id="43" name="Validate accuracy and mixing endpoints">
            <a:extLst>
              <a:ext uri="{FF2B5EF4-FFF2-40B4-BE49-F238E27FC236}">
                <a16:creationId xmlns:a16="http://schemas.microsoft.com/office/drawing/2014/main" id="{94171AF3-E5DE-D12D-D068-4EA32D889FE8}"/>
              </a:ext>
            </a:extLst>
          </p:cNvPr>
          <p:cNvSpPr>
            <a:spLocks noGrp="1"/>
          </p:cNvSpPr>
          <p:nvPr/>
        </p:nvSpPr>
        <p:spPr>
          <a:xfrm>
            <a:off x="2370513" y="7916422"/>
            <a:ext cx="4253057" cy="195776"/>
          </a:xfrm>
          <a:prstGeom prst="rect">
            <a:avLst/>
          </a:prstGeom>
          <a:noFill/>
          <a:ln w="0">
            <a:noFill/>
          </a:ln>
        </p:spPr>
        <p:txBody>
          <a:bodyPr>
            <a:noAutofit/>
          </a:bodyPr>
          <a:lstStyle/>
          <a:p>
            <a:pPr>
              <a:defRPr sz="1575" b="1">
                <a:solidFill>
                  <a:srgbClr val="202D36"/>
                </a:solidFill>
                <a:latin typeface="Arial"/>
                <a:ea typeface="Arial"/>
                <a:cs typeface="Arial"/>
              </a:defRPr>
            </a:pPr>
            <a:endParaRPr sz="1100" b="1" dirty="0">
              <a:solidFill>
                <a:srgbClr val="202D36"/>
              </a:solidFill>
              <a:latin typeface="Arial"/>
              <a:ea typeface="Arial"/>
              <a:cs typeface="Arial"/>
            </a:endParaRPr>
          </a:p>
        </p:txBody>
      </p:sp>
      <p:sp>
        <p:nvSpPr>
          <p:cNvPr id="47" name="Validate accuracy and mixing endpoints text">
            <a:extLst>
              <a:ext uri="{FF2B5EF4-FFF2-40B4-BE49-F238E27FC236}">
                <a16:creationId xmlns:a16="http://schemas.microsoft.com/office/drawing/2014/main" id="{98CE7FCC-0619-2EB9-C9FF-C879AC9A930E}"/>
              </a:ext>
            </a:extLst>
          </p:cNvPr>
          <p:cNvSpPr>
            <a:spLocks noGrp="1"/>
          </p:cNvSpPr>
          <p:nvPr/>
        </p:nvSpPr>
        <p:spPr>
          <a:xfrm>
            <a:off x="2370513" y="8125700"/>
            <a:ext cx="4253057" cy="560323"/>
          </a:xfrm>
          <a:prstGeom prst="rect">
            <a:avLst/>
          </a:prstGeom>
          <a:noFill/>
          <a:ln w="0">
            <a:noFill/>
          </a:ln>
        </p:spPr>
        <p:txBody>
          <a:bodyPr>
            <a:noAutofit/>
          </a:bodyPr>
          <a:lstStyle/>
          <a:p>
            <a:pPr algn="just">
              <a:defRPr sz="1500" b="0">
                <a:solidFill>
                  <a:srgbClr val="202D36"/>
                </a:solidFill>
                <a:latin typeface="Arial"/>
                <a:ea typeface="Arial"/>
                <a:cs typeface="Arial"/>
              </a:defRPr>
            </a:pPr>
            <a:endParaRPr sz="1050" dirty="0">
              <a:solidFill>
                <a:srgbClr val="202D36"/>
              </a:solidFill>
              <a:latin typeface="Arial"/>
              <a:ea typeface="Arial"/>
              <a:cs typeface="Arial"/>
            </a:endParaRPr>
          </a:p>
        </p:txBody>
      </p:sp>
      <p:sp>
        <p:nvSpPr>
          <p:cNvPr id="51" name="Connect formulation to performance">
            <a:extLst>
              <a:ext uri="{FF2B5EF4-FFF2-40B4-BE49-F238E27FC236}">
                <a16:creationId xmlns:a16="http://schemas.microsoft.com/office/drawing/2014/main" id="{91C61E36-24EF-C3AA-BDFE-E9EFD0095E30}"/>
              </a:ext>
            </a:extLst>
          </p:cNvPr>
          <p:cNvSpPr>
            <a:spLocks noGrp="1"/>
          </p:cNvSpPr>
          <p:nvPr/>
        </p:nvSpPr>
        <p:spPr>
          <a:xfrm>
            <a:off x="2370513" y="8719778"/>
            <a:ext cx="4253057" cy="195776"/>
          </a:xfrm>
          <a:prstGeom prst="rect">
            <a:avLst/>
          </a:prstGeom>
          <a:noFill/>
          <a:ln w="0">
            <a:noFill/>
          </a:ln>
        </p:spPr>
        <p:txBody>
          <a:bodyPr>
            <a:noAutofit/>
          </a:bodyPr>
          <a:lstStyle/>
          <a:p>
            <a:pPr>
              <a:defRPr sz="1575" b="1">
                <a:solidFill>
                  <a:srgbClr val="202D36"/>
                </a:solidFill>
                <a:latin typeface="Arial"/>
                <a:ea typeface="Arial"/>
                <a:cs typeface="Arial"/>
              </a:defRPr>
            </a:pPr>
            <a:endParaRPr sz="1100" b="1" dirty="0">
              <a:solidFill>
                <a:srgbClr val="202D36"/>
              </a:solidFill>
              <a:latin typeface="Arial"/>
              <a:ea typeface="Arial"/>
              <a:cs typeface="Arial"/>
            </a:endParaRPr>
          </a:p>
        </p:txBody>
      </p:sp>
      <p:sp>
        <p:nvSpPr>
          <p:cNvPr id="55" name="Connect formulation to performance text">
            <a:extLst>
              <a:ext uri="{FF2B5EF4-FFF2-40B4-BE49-F238E27FC236}">
                <a16:creationId xmlns:a16="http://schemas.microsoft.com/office/drawing/2014/main" id="{6C9356A9-45E0-718D-2155-B6658A966E2E}"/>
              </a:ext>
            </a:extLst>
          </p:cNvPr>
          <p:cNvSpPr>
            <a:spLocks noGrp="1"/>
          </p:cNvSpPr>
          <p:nvPr/>
        </p:nvSpPr>
        <p:spPr>
          <a:xfrm>
            <a:off x="2399774" y="7998190"/>
            <a:ext cx="4253057" cy="560323"/>
          </a:xfrm>
          <a:prstGeom prst="rect">
            <a:avLst/>
          </a:prstGeom>
          <a:noFill/>
          <a:ln w="0">
            <a:noFill/>
          </a:ln>
        </p:spPr>
        <p:txBody>
          <a:bodyPr>
            <a:noAutofit/>
          </a:bodyPr>
          <a:lstStyle/>
          <a:p>
            <a:pPr algn="just">
              <a:defRPr sz="1500" b="0">
                <a:solidFill>
                  <a:srgbClr val="202D36"/>
                </a:solidFill>
                <a:latin typeface="Arial"/>
                <a:ea typeface="Arial"/>
                <a:cs typeface="Arial"/>
              </a:defRPr>
            </a:pPr>
            <a:endParaRPr sz="1050" dirty="0">
              <a:solidFill>
                <a:srgbClr val="202D36"/>
              </a:solidFill>
              <a:latin typeface="Arial"/>
              <a:ea typeface="Arial"/>
              <a:cs typeface="Arial"/>
            </a:endParaRPr>
          </a:p>
        </p:txBody>
      </p:sp>
      <p:grpSp>
        <p:nvGrpSpPr>
          <p:cNvPr id="45" name="Group 44">
            <a:extLst>
              <a:ext uri="{FF2B5EF4-FFF2-40B4-BE49-F238E27FC236}">
                <a16:creationId xmlns:a16="http://schemas.microsoft.com/office/drawing/2014/main" id="{2EFB4355-BB52-72F5-326C-66D8E64217DC}"/>
              </a:ext>
            </a:extLst>
          </p:cNvPr>
          <p:cNvGrpSpPr/>
          <p:nvPr/>
        </p:nvGrpSpPr>
        <p:grpSpPr>
          <a:xfrm>
            <a:off x="286778" y="2011947"/>
            <a:ext cx="4303472" cy="2094452"/>
            <a:chOff x="286778" y="2011947"/>
            <a:chExt cx="4303472" cy="2094452"/>
          </a:xfrm>
        </p:grpSpPr>
        <p:grpSp>
          <p:nvGrpSpPr>
            <p:cNvPr id="40" name="Group 39">
              <a:extLst>
                <a:ext uri="{FF2B5EF4-FFF2-40B4-BE49-F238E27FC236}">
                  <a16:creationId xmlns:a16="http://schemas.microsoft.com/office/drawing/2014/main" id="{1DA08BAE-A518-10E5-3D3B-2C89E0AE421A}"/>
                </a:ext>
              </a:extLst>
            </p:cNvPr>
            <p:cNvGrpSpPr/>
            <p:nvPr/>
          </p:nvGrpSpPr>
          <p:grpSpPr>
            <a:xfrm>
              <a:off x="286778" y="2011947"/>
              <a:ext cx="4303472" cy="2094452"/>
              <a:chOff x="286778" y="2011947"/>
              <a:chExt cx="4303472" cy="2094452"/>
            </a:xfrm>
          </p:grpSpPr>
          <p:pic>
            <p:nvPicPr>
              <p:cNvPr id="5" name="Picture 4">
                <a:extLst>
                  <a:ext uri="{FF2B5EF4-FFF2-40B4-BE49-F238E27FC236}">
                    <a16:creationId xmlns:a16="http://schemas.microsoft.com/office/drawing/2014/main" id="{2DC81F48-B171-0B18-567B-F5EACEF29349}"/>
                  </a:ext>
                </a:extLst>
              </p:cNvPr>
              <p:cNvPicPr>
                <a:picLocks noChangeAspect="1"/>
              </p:cNvPicPr>
              <p:nvPr/>
            </p:nvPicPr>
            <p:blipFill>
              <a:blip r:embed="rId3"/>
              <a:srcRect l="26753" r="46232" b="54111"/>
              <a:stretch>
                <a:fillRect/>
              </a:stretch>
            </p:blipFill>
            <p:spPr>
              <a:xfrm>
                <a:off x="344510" y="2057476"/>
                <a:ext cx="850591" cy="838620"/>
              </a:xfrm>
              <a:prstGeom prst="rect">
                <a:avLst/>
              </a:prstGeom>
            </p:spPr>
          </p:pic>
          <p:pic>
            <p:nvPicPr>
              <p:cNvPr id="13" name="Picture 12">
                <a:extLst>
                  <a:ext uri="{FF2B5EF4-FFF2-40B4-BE49-F238E27FC236}">
                    <a16:creationId xmlns:a16="http://schemas.microsoft.com/office/drawing/2014/main" id="{AF28C811-71B5-7C10-02A7-B6671F0566B6}"/>
                  </a:ext>
                </a:extLst>
              </p:cNvPr>
              <p:cNvPicPr>
                <a:picLocks noChangeAspect="1"/>
              </p:cNvPicPr>
              <p:nvPr/>
            </p:nvPicPr>
            <p:blipFill>
              <a:blip r:embed="rId4"/>
              <a:srcRect l="50144" b="53825"/>
              <a:stretch>
                <a:fillRect/>
              </a:stretch>
            </p:blipFill>
            <p:spPr>
              <a:xfrm>
                <a:off x="3471554" y="2980373"/>
                <a:ext cx="1010060" cy="1124138"/>
              </a:xfrm>
              <a:prstGeom prst="rect">
                <a:avLst/>
              </a:prstGeom>
            </p:spPr>
          </p:pic>
          <p:pic>
            <p:nvPicPr>
              <p:cNvPr id="29" name="Picture 28">
                <a:extLst>
                  <a:ext uri="{FF2B5EF4-FFF2-40B4-BE49-F238E27FC236}">
                    <a16:creationId xmlns:a16="http://schemas.microsoft.com/office/drawing/2014/main" id="{00EDBAB0-B669-3225-4BF1-84EFAB5ACB06}"/>
                  </a:ext>
                </a:extLst>
              </p:cNvPr>
              <p:cNvPicPr>
                <a:picLocks noChangeAspect="1"/>
              </p:cNvPicPr>
              <p:nvPr/>
            </p:nvPicPr>
            <p:blipFill>
              <a:blip r:embed="rId5"/>
              <a:srcRect l="3119" t="11680" r="78110" b="59338"/>
              <a:stretch>
                <a:fillRect/>
              </a:stretch>
            </p:blipFill>
            <p:spPr>
              <a:xfrm>
                <a:off x="3785749" y="2011947"/>
                <a:ext cx="804501" cy="899846"/>
              </a:xfrm>
              <a:prstGeom prst="rect">
                <a:avLst/>
              </a:prstGeom>
            </p:spPr>
          </p:pic>
          <p:pic>
            <p:nvPicPr>
              <p:cNvPr id="37" name="Picture 36">
                <a:extLst>
                  <a:ext uri="{FF2B5EF4-FFF2-40B4-BE49-F238E27FC236}">
                    <a16:creationId xmlns:a16="http://schemas.microsoft.com/office/drawing/2014/main" id="{E9177138-7A74-A26D-708C-A0AF70B7213C}"/>
                  </a:ext>
                </a:extLst>
              </p:cNvPr>
              <p:cNvPicPr>
                <a:picLocks noChangeAspect="1"/>
              </p:cNvPicPr>
              <p:nvPr/>
            </p:nvPicPr>
            <p:blipFill>
              <a:blip r:embed="rId6"/>
              <a:stretch>
                <a:fillRect/>
              </a:stretch>
            </p:blipFill>
            <p:spPr>
              <a:xfrm>
                <a:off x="1548010" y="2918399"/>
                <a:ext cx="1567823" cy="1188000"/>
              </a:xfrm>
              <a:prstGeom prst="rect">
                <a:avLst/>
              </a:prstGeom>
            </p:spPr>
          </p:pic>
          <p:pic>
            <p:nvPicPr>
              <p:cNvPr id="3" name="Picture 2">
                <a:extLst>
                  <a:ext uri="{FF2B5EF4-FFF2-40B4-BE49-F238E27FC236}">
                    <a16:creationId xmlns:a16="http://schemas.microsoft.com/office/drawing/2014/main" id="{65C25C9B-D06C-E2C5-149E-07B8C073CCDD}"/>
                  </a:ext>
                </a:extLst>
              </p:cNvPr>
              <p:cNvPicPr>
                <a:picLocks noChangeAspect="1"/>
              </p:cNvPicPr>
              <p:nvPr/>
            </p:nvPicPr>
            <p:blipFill>
              <a:blip r:embed="rId7"/>
              <a:srcRect b="7476"/>
              <a:stretch>
                <a:fillRect/>
              </a:stretch>
            </p:blipFill>
            <p:spPr>
              <a:xfrm>
                <a:off x="1194650" y="2106632"/>
                <a:ext cx="1871826" cy="740659"/>
              </a:xfrm>
              <a:prstGeom prst="rect">
                <a:avLst/>
              </a:prstGeom>
            </p:spPr>
          </p:pic>
          <p:sp>
            <p:nvSpPr>
              <p:cNvPr id="7" name="Arrow: Right 6">
                <a:extLst>
                  <a:ext uri="{FF2B5EF4-FFF2-40B4-BE49-F238E27FC236}">
                    <a16:creationId xmlns:a16="http://schemas.microsoft.com/office/drawing/2014/main" id="{B3D75317-8489-731C-DD45-D7852F9C21EF}"/>
                  </a:ext>
                </a:extLst>
              </p:cNvPr>
              <p:cNvSpPr/>
              <p:nvPr/>
            </p:nvSpPr>
            <p:spPr>
              <a:xfrm>
                <a:off x="1028048" y="2754420"/>
                <a:ext cx="261615" cy="120176"/>
              </a:xfrm>
              <a:prstGeom prst="rightArrow">
                <a:avLst/>
              </a:prstGeom>
              <a:solidFill>
                <a:schemeClr val="bg1"/>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1" name="Arrow: Right 10">
                <a:extLst>
                  <a:ext uri="{FF2B5EF4-FFF2-40B4-BE49-F238E27FC236}">
                    <a16:creationId xmlns:a16="http://schemas.microsoft.com/office/drawing/2014/main" id="{15C60FA9-021D-F448-B960-C0367A597AED}"/>
                  </a:ext>
                </a:extLst>
              </p:cNvPr>
              <p:cNvSpPr/>
              <p:nvPr/>
            </p:nvSpPr>
            <p:spPr>
              <a:xfrm>
                <a:off x="1738366" y="2760270"/>
                <a:ext cx="261615" cy="120176"/>
              </a:xfrm>
              <a:prstGeom prst="rightArrow">
                <a:avLst/>
              </a:prstGeom>
              <a:solidFill>
                <a:schemeClr val="bg1"/>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0" name="Arrow: Right 19">
                <a:extLst>
                  <a:ext uri="{FF2B5EF4-FFF2-40B4-BE49-F238E27FC236}">
                    <a16:creationId xmlns:a16="http://schemas.microsoft.com/office/drawing/2014/main" id="{7B26B5D8-AC43-7B77-D557-443978F568CE}"/>
                  </a:ext>
                </a:extLst>
              </p:cNvPr>
              <p:cNvSpPr/>
              <p:nvPr/>
            </p:nvSpPr>
            <p:spPr>
              <a:xfrm>
                <a:off x="2267272" y="2777189"/>
                <a:ext cx="261615" cy="120176"/>
              </a:xfrm>
              <a:prstGeom prst="rightArrow">
                <a:avLst/>
              </a:prstGeom>
              <a:solidFill>
                <a:schemeClr val="bg1"/>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1" name="TextBox 20">
                <a:extLst>
                  <a:ext uri="{FF2B5EF4-FFF2-40B4-BE49-F238E27FC236}">
                    <a16:creationId xmlns:a16="http://schemas.microsoft.com/office/drawing/2014/main" id="{56F1CB9C-AB90-05F1-056A-68719C82A825}"/>
                  </a:ext>
                </a:extLst>
              </p:cNvPr>
              <p:cNvSpPr txBox="1"/>
              <p:nvPr/>
            </p:nvSpPr>
            <p:spPr>
              <a:xfrm>
                <a:off x="286778" y="2998418"/>
                <a:ext cx="1378904" cy="507831"/>
              </a:xfrm>
              <a:prstGeom prst="rect">
                <a:avLst/>
              </a:prstGeom>
              <a:noFill/>
            </p:spPr>
            <p:txBody>
              <a:bodyPr wrap="none" rtlCol="0">
                <a:spAutoFit/>
              </a:bodyPr>
              <a:lstStyle/>
              <a:p>
                <a:r>
                  <a:rPr lang="da-DK" sz="900" i="1" dirty="0" err="1"/>
                  <a:t>processing</a:t>
                </a:r>
                <a:r>
                  <a:rPr lang="da-DK" sz="900" i="1" dirty="0"/>
                  <a:t> of </a:t>
                </a:r>
                <a:r>
                  <a:rPr lang="da-DK" sz="900" i="1" dirty="0" err="1"/>
                  <a:t>bamboo</a:t>
                </a:r>
                <a:r>
                  <a:rPr lang="da-DK" sz="900" i="1" dirty="0"/>
                  <a:t> </a:t>
                </a:r>
              </a:p>
              <a:p>
                <a:r>
                  <a:rPr lang="da-DK" sz="900" i="1" dirty="0"/>
                  <a:t>to </a:t>
                </a:r>
                <a:r>
                  <a:rPr lang="da-DK" sz="900" i="1" dirty="0" err="1"/>
                  <a:t>synthesize</a:t>
                </a:r>
                <a:r>
                  <a:rPr lang="da-DK" sz="900" i="1" dirty="0"/>
                  <a:t> </a:t>
                </a:r>
                <a:r>
                  <a:rPr lang="da-DK" sz="900" i="1" dirty="0" err="1"/>
                  <a:t>porous</a:t>
                </a:r>
                <a:endParaRPr lang="da-DK" sz="900" i="1" dirty="0"/>
              </a:p>
              <a:p>
                <a:r>
                  <a:rPr lang="da-DK" sz="900" i="1" dirty="0" err="1"/>
                  <a:t>carbonaceous</a:t>
                </a:r>
                <a:r>
                  <a:rPr lang="da-DK" sz="900" i="1" dirty="0"/>
                  <a:t> </a:t>
                </a:r>
                <a:r>
                  <a:rPr lang="da-DK" sz="900" i="1" dirty="0" err="1"/>
                  <a:t>material</a:t>
                </a:r>
                <a:endParaRPr lang="da-DK" sz="900" i="1" dirty="0"/>
              </a:p>
            </p:txBody>
          </p:sp>
          <p:sp>
            <p:nvSpPr>
              <p:cNvPr id="24" name="TextBox 23">
                <a:extLst>
                  <a:ext uri="{FF2B5EF4-FFF2-40B4-BE49-F238E27FC236}">
                    <a16:creationId xmlns:a16="http://schemas.microsoft.com/office/drawing/2014/main" id="{C9A5266B-C6C8-14A5-91FA-A0E0A8CBD7A8}"/>
                  </a:ext>
                </a:extLst>
              </p:cNvPr>
              <p:cNvSpPr txBox="1"/>
              <p:nvPr/>
            </p:nvSpPr>
            <p:spPr>
              <a:xfrm>
                <a:off x="3096895" y="2495154"/>
                <a:ext cx="1091105" cy="507831"/>
              </a:xfrm>
              <a:prstGeom prst="rect">
                <a:avLst/>
              </a:prstGeom>
              <a:noFill/>
            </p:spPr>
            <p:txBody>
              <a:bodyPr wrap="square" rtlCol="0">
                <a:spAutoFit/>
              </a:bodyPr>
              <a:lstStyle/>
              <a:p>
                <a:r>
                  <a:rPr lang="da-DK" sz="900" i="1" dirty="0" err="1"/>
                  <a:t>processing</a:t>
                </a:r>
                <a:r>
                  <a:rPr lang="da-DK" sz="900" i="1" dirty="0"/>
                  <a:t> </a:t>
                </a:r>
              </a:p>
              <a:p>
                <a:r>
                  <a:rPr lang="da-DK" sz="900" i="1" dirty="0" err="1"/>
                  <a:t>pickling</a:t>
                </a:r>
                <a:r>
                  <a:rPr lang="da-DK" sz="900" i="1" dirty="0"/>
                  <a:t> </a:t>
                </a:r>
                <a:r>
                  <a:rPr lang="da-DK" sz="900" i="1" dirty="0" err="1"/>
                  <a:t>dust</a:t>
                </a:r>
                <a:endParaRPr lang="da-DK" sz="900" i="1" dirty="0"/>
              </a:p>
              <a:p>
                <a:r>
                  <a:rPr lang="da-DK" sz="900" i="1" dirty="0"/>
                  <a:t>(</a:t>
                </a:r>
                <a:r>
                  <a:rPr lang="da-DK" sz="900" i="1" dirty="0" err="1"/>
                  <a:t>iron</a:t>
                </a:r>
                <a:r>
                  <a:rPr lang="da-DK" sz="900" i="1" dirty="0"/>
                  <a:t> </a:t>
                </a:r>
                <a:r>
                  <a:rPr lang="da-DK" sz="900" i="1" dirty="0" err="1"/>
                  <a:t>oxide</a:t>
                </a:r>
                <a:r>
                  <a:rPr lang="da-DK" sz="900" i="1" dirty="0"/>
                  <a:t>)</a:t>
                </a:r>
              </a:p>
            </p:txBody>
          </p:sp>
          <p:sp>
            <p:nvSpPr>
              <p:cNvPr id="34" name="Arrow: Right 33">
                <a:extLst>
                  <a:ext uri="{FF2B5EF4-FFF2-40B4-BE49-F238E27FC236}">
                    <a16:creationId xmlns:a16="http://schemas.microsoft.com/office/drawing/2014/main" id="{C0CB78AB-BC7E-2545-74E9-A20CAE044A34}"/>
                  </a:ext>
                </a:extLst>
              </p:cNvPr>
              <p:cNvSpPr/>
              <p:nvPr/>
            </p:nvSpPr>
            <p:spPr>
              <a:xfrm rot="5400000">
                <a:off x="2554602" y="2889767"/>
                <a:ext cx="261615" cy="120176"/>
              </a:xfrm>
              <a:prstGeom prst="rightArrow">
                <a:avLst/>
              </a:prstGeom>
              <a:solidFill>
                <a:schemeClr val="bg1"/>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8" name="Arrow: Right 37">
                <a:extLst>
                  <a:ext uri="{FF2B5EF4-FFF2-40B4-BE49-F238E27FC236}">
                    <a16:creationId xmlns:a16="http://schemas.microsoft.com/office/drawing/2014/main" id="{01A27DD6-7590-9951-3A9D-E353C6B3A04D}"/>
                  </a:ext>
                </a:extLst>
              </p:cNvPr>
              <p:cNvSpPr/>
              <p:nvPr/>
            </p:nvSpPr>
            <p:spPr>
              <a:xfrm rot="5400000">
                <a:off x="4182877" y="2934878"/>
                <a:ext cx="261615" cy="120176"/>
              </a:xfrm>
              <a:prstGeom prst="rightArrow">
                <a:avLst/>
              </a:prstGeom>
              <a:solidFill>
                <a:schemeClr val="bg1"/>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grpSp>
        <p:sp>
          <p:nvSpPr>
            <p:cNvPr id="41" name="TextBox 40">
              <a:extLst>
                <a:ext uri="{FF2B5EF4-FFF2-40B4-BE49-F238E27FC236}">
                  <a16:creationId xmlns:a16="http://schemas.microsoft.com/office/drawing/2014/main" id="{12A0BBA3-267A-164E-068E-DA6D40D02912}"/>
                </a:ext>
              </a:extLst>
            </p:cNvPr>
            <p:cNvSpPr txBox="1"/>
            <p:nvPr/>
          </p:nvSpPr>
          <p:spPr>
            <a:xfrm>
              <a:off x="3115833" y="3339532"/>
              <a:ext cx="322039" cy="461665"/>
            </a:xfrm>
            <a:prstGeom prst="rect">
              <a:avLst/>
            </a:prstGeom>
            <a:noFill/>
          </p:spPr>
          <p:txBody>
            <a:bodyPr wrap="square" rtlCol="0">
              <a:spAutoFit/>
            </a:bodyPr>
            <a:lstStyle/>
            <a:p>
              <a:r>
                <a:rPr lang="da-DK" sz="2400" dirty="0">
                  <a:solidFill>
                    <a:srgbClr val="C00000"/>
                  </a:solidFill>
                </a:rPr>
                <a:t>+</a:t>
              </a:r>
            </a:p>
          </p:txBody>
        </p:sp>
      </p:grpSp>
    </p:spTree>
    <p:extLst>
      <p:ext uri="{BB962C8B-B14F-4D97-AF65-F5344CB8AC3E}">
        <p14:creationId xmlns:p14="http://schemas.microsoft.com/office/powerpoint/2010/main" val="393531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 name="Group 68">
            <a:extLst>
              <a:ext uri="{FF2B5EF4-FFF2-40B4-BE49-F238E27FC236}">
                <a16:creationId xmlns:a16="http://schemas.microsoft.com/office/drawing/2014/main" id="{218DCA8B-1AF1-D7A7-02EF-14FBA0B43F77}"/>
              </a:ext>
            </a:extLst>
          </p:cNvPr>
          <p:cNvGrpSpPr/>
          <p:nvPr/>
        </p:nvGrpSpPr>
        <p:grpSpPr>
          <a:xfrm>
            <a:off x="1679536" y="2516859"/>
            <a:ext cx="1981429" cy="1485506"/>
            <a:chOff x="1679536" y="2516859"/>
            <a:chExt cx="1981429" cy="1485506"/>
          </a:xfrm>
        </p:grpSpPr>
        <p:pic>
          <p:nvPicPr>
            <p:cNvPr id="66" name="Picture 65">
              <a:extLst>
                <a:ext uri="{FF2B5EF4-FFF2-40B4-BE49-F238E27FC236}">
                  <a16:creationId xmlns:a16="http://schemas.microsoft.com/office/drawing/2014/main" id="{D37CFDDA-E80A-E247-AF44-BAAD81E40B39}"/>
                </a:ext>
              </a:extLst>
            </p:cNvPr>
            <p:cNvPicPr>
              <a:picLocks noChangeAspect="1"/>
            </p:cNvPicPr>
            <p:nvPr/>
          </p:nvPicPr>
          <p:blipFill>
            <a:blip r:embed="rId2"/>
            <a:stretch>
              <a:fillRect/>
            </a:stretch>
          </p:blipFill>
          <p:spPr>
            <a:xfrm>
              <a:off x="1679536" y="2516859"/>
              <a:ext cx="1981429" cy="1485506"/>
            </a:xfrm>
            <a:prstGeom prst="rect">
              <a:avLst/>
            </a:prstGeom>
          </p:spPr>
        </p:pic>
        <p:sp>
          <p:nvSpPr>
            <p:cNvPr id="67" name="TextBox 66">
              <a:extLst>
                <a:ext uri="{FF2B5EF4-FFF2-40B4-BE49-F238E27FC236}">
                  <a16:creationId xmlns:a16="http://schemas.microsoft.com/office/drawing/2014/main" id="{842ECF79-EA89-6D23-E202-4E0EA8F78DA9}"/>
                </a:ext>
              </a:extLst>
            </p:cNvPr>
            <p:cNvSpPr txBox="1"/>
            <p:nvPr/>
          </p:nvSpPr>
          <p:spPr>
            <a:xfrm>
              <a:off x="1923521" y="2590471"/>
              <a:ext cx="952505" cy="246221"/>
            </a:xfrm>
            <a:prstGeom prst="rect">
              <a:avLst/>
            </a:prstGeom>
            <a:noFill/>
          </p:spPr>
          <p:txBody>
            <a:bodyPr wrap="none" rtlCol="0">
              <a:spAutoFit/>
            </a:bodyPr>
            <a:lstStyle/>
            <a:p>
              <a:r>
                <a:rPr lang="da-DK" sz="1000" dirty="0"/>
                <a:t>as-</a:t>
              </a:r>
              <a:r>
                <a:rPr lang="da-DK" sz="1000" dirty="0" err="1"/>
                <a:t>deposited</a:t>
              </a:r>
              <a:r>
                <a:rPr lang="da-DK" sz="1000" dirty="0"/>
                <a:t>:</a:t>
              </a:r>
            </a:p>
          </p:txBody>
        </p:sp>
      </p:grpSp>
      <p:sp>
        <p:nvSpPr>
          <p:cNvPr id="4" name="Slide Number Placeholder 3">
            <a:extLst>
              <a:ext uri="{FF2B5EF4-FFF2-40B4-BE49-F238E27FC236}">
                <a16:creationId xmlns:a16="http://schemas.microsoft.com/office/drawing/2014/main" id="{856EE6C5-ADE7-BA68-4733-D5E0784D844C}"/>
              </a:ext>
            </a:extLst>
          </p:cNvPr>
          <p:cNvSpPr>
            <a:spLocks noGrp="1"/>
          </p:cNvSpPr>
          <p:nvPr>
            <p:ph type="sldNum" sz="quarter" idx="12"/>
          </p:nvPr>
        </p:nvSpPr>
        <p:spPr>
          <a:xfrm>
            <a:off x="4989080" y="9329519"/>
            <a:ext cx="1543050" cy="527403"/>
          </a:xfrm>
        </p:spPr>
        <p:txBody>
          <a:bodyPr/>
          <a:lstStyle/>
          <a:p>
            <a:fld id="{F934066D-384D-4BE1-BDC2-82BCC33558DD}" type="slidenum">
              <a:rPr lang="en-US" sz="800" b="1" smtClean="0">
                <a:solidFill>
                  <a:srgbClr val="C00000"/>
                </a:solidFill>
                <a:latin typeface="+mj-lt"/>
              </a:rPr>
              <a:t>4</a:t>
            </a:fld>
            <a:endParaRPr lang="en-US" sz="800" b="1" dirty="0">
              <a:solidFill>
                <a:srgbClr val="C00000"/>
              </a:solidFill>
              <a:latin typeface="+mj-lt"/>
            </a:endParaRPr>
          </a:p>
        </p:txBody>
      </p:sp>
      <p:sp>
        <p:nvSpPr>
          <p:cNvPr id="6" name="Shape 1">
            <a:extLst>
              <a:ext uri="{FF2B5EF4-FFF2-40B4-BE49-F238E27FC236}">
                <a16:creationId xmlns:a16="http://schemas.microsoft.com/office/drawing/2014/main" id="{89BF93BE-C274-0D15-669E-1FA3EF5814EB}"/>
              </a:ext>
            </a:extLst>
          </p:cNvPr>
          <p:cNvSpPr/>
          <p:nvPr/>
        </p:nvSpPr>
        <p:spPr>
          <a:xfrm>
            <a:off x="288607" y="292298"/>
            <a:ext cx="32004" cy="393192"/>
          </a:xfrm>
          <a:prstGeom prst="rect">
            <a:avLst/>
          </a:prstGeom>
          <a:solidFill>
            <a:srgbClr val="A30018"/>
          </a:solidFill>
          <a:ln w="12700">
            <a:solidFill>
              <a:srgbClr val="A30018">
                <a:alpha val="0"/>
              </a:srgbClr>
            </a:solidFill>
            <a:prstDash val="solid"/>
          </a:ln>
        </p:spPr>
        <p:txBody>
          <a:bodyPr/>
          <a:lstStyle/>
          <a:p>
            <a:endParaRPr lang="LID4096"/>
          </a:p>
        </p:txBody>
      </p:sp>
      <p:sp>
        <p:nvSpPr>
          <p:cNvPr id="8" name="Text 2">
            <a:extLst>
              <a:ext uri="{FF2B5EF4-FFF2-40B4-BE49-F238E27FC236}">
                <a16:creationId xmlns:a16="http://schemas.microsoft.com/office/drawing/2014/main" id="{5EAF69B7-3F7F-6E8A-4099-7209EA4CC33C}"/>
              </a:ext>
            </a:extLst>
          </p:cNvPr>
          <p:cNvSpPr/>
          <p:nvPr/>
        </p:nvSpPr>
        <p:spPr>
          <a:xfrm>
            <a:off x="444055" y="278582"/>
            <a:ext cx="5166360" cy="210312"/>
          </a:xfrm>
          <a:prstGeom prst="rect">
            <a:avLst/>
          </a:prstGeom>
          <a:noFill/>
          <a:ln/>
        </p:spPr>
        <p:txBody>
          <a:bodyPr wrap="square" lIns="0" tIns="0" rIns="0" bIns="0" rtlCol="0" anchor="t"/>
          <a:lstStyle/>
          <a:p>
            <a:pPr marL="0" indent="0">
              <a:lnSpc>
                <a:spcPct val="100000"/>
              </a:lnSpc>
              <a:buNone/>
            </a:pPr>
            <a:r>
              <a:rPr lang="en-US" sz="1100" b="1" kern="0" spc="20" dirty="0">
                <a:solidFill>
                  <a:srgbClr val="22282D"/>
                </a:solidFill>
                <a:latin typeface="Aptos Display" pitchFamily="34" charset="0"/>
                <a:ea typeface="Aptos Display" pitchFamily="34" charset="-122"/>
                <a:cs typeface="Aptos Display" pitchFamily="34" charset="-120"/>
              </a:rPr>
              <a:t>MATERIALS AND SURFACE ENGINEERING</a:t>
            </a:r>
            <a:endParaRPr lang="en-US" sz="1100" dirty="0"/>
          </a:p>
        </p:txBody>
      </p:sp>
      <p:sp>
        <p:nvSpPr>
          <p:cNvPr id="10" name="Text 3">
            <a:extLst>
              <a:ext uri="{FF2B5EF4-FFF2-40B4-BE49-F238E27FC236}">
                <a16:creationId xmlns:a16="http://schemas.microsoft.com/office/drawing/2014/main" id="{2E01AA62-8C62-3F02-7C3D-4A0D26C3A066}"/>
              </a:ext>
            </a:extLst>
          </p:cNvPr>
          <p:cNvSpPr/>
          <p:nvPr/>
        </p:nvSpPr>
        <p:spPr>
          <a:xfrm>
            <a:off x="444055" y="516326"/>
            <a:ext cx="5212080" cy="173736"/>
          </a:xfrm>
          <a:prstGeom prst="rect">
            <a:avLst/>
          </a:prstGeom>
          <a:noFill/>
          <a:ln/>
        </p:spPr>
        <p:txBody>
          <a:bodyPr wrap="square" lIns="0" tIns="0" rIns="0" bIns="0" rtlCol="0" anchor="t"/>
          <a:lstStyle/>
          <a:p>
            <a:pPr marL="0" indent="0">
              <a:lnSpc>
                <a:spcPct val="100000"/>
              </a:lnSpc>
              <a:buNone/>
            </a:pPr>
            <a:r>
              <a:rPr lang="en-US" sz="1400" kern="0" spc="55" dirty="0">
                <a:solidFill>
                  <a:srgbClr val="5D666B"/>
                </a:solidFill>
                <a:latin typeface="Aptos" pitchFamily="34" charset="0"/>
                <a:ea typeface="Aptos" pitchFamily="34" charset="-122"/>
                <a:cs typeface="Aptos" pitchFamily="34" charset="-120"/>
              </a:rPr>
              <a:t>DEPARTMENT OF CIVIL AND MECHANICAL ENGINEERING</a:t>
            </a:r>
            <a:endParaRPr lang="en-US" sz="1400" dirty="0"/>
          </a:p>
        </p:txBody>
      </p:sp>
      <p:pic>
        <p:nvPicPr>
          <p:cNvPr id="12" name="Image 0" descr="/mnt/data/dtu_logo.png">
            <a:extLst>
              <a:ext uri="{FF2B5EF4-FFF2-40B4-BE49-F238E27FC236}">
                <a16:creationId xmlns:a16="http://schemas.microsoft.com/office/drawing/2014/main" id="{9483A475-12DC-7037-9FE4-BCB956416E5B}"/>
              </a:ext>
            </a:extLst>
          </p:cNvPr>
          <p:cNvPicPr>
            <a:picLocks noChangeAspect="1"/>
          </p:cNvPicPr>
          <p:nvPr/>
        </p:nvPicPr>
        <p:blipFill>
          <a:blip r:embed="rId3"/>
          <a:stretch>
            <a:fillRect/>
          </a:stretch>
        </p:blipFill>
        <p:spPr>
          <a:xfrm>
            <a:off x="6223063" y="197200"/>
            <a:ext cx="429768" cy="601675"/>
          </a:xfrm>
          <a:prstGeom prst="rect">
            <a:avLst/>
          </a:prstGeom>
        </p:spPr>
      </p:pic>
      <p:sp>
        <p:nvSpPr>
          <p:cNvPr id="14" name="Shape 4">
            <a:extLst>
              <a:ext uri="{FF2B5EF4-FFF2-40B4-BE49-F238E27FC236}">
                <a16:creationId xmlns:a16="http://schemas.microsoft.com/office/drawing/2014/main" id="{B5BFAC40-3074-95A1-6062-557C2EC8A10B}"/>
              </a:ext>
            </a:extLst>
          </p:cNvPr>
          <p:cNvSpPr/>
          <p:nvPr/>
        </p:nvSpPr>
        <p:spPr>
          <a:xfrm>
            <a:off x="288607" y="936950"/>
            <a:ext cx="6426403" cy="0"/>
          </a:xfrm>
          <a:prstGeom prst="line">
            <a:avLst/>
          </a:prstGeom>
          <a:noFill/>
          <a:ln w="19050">
            <a:solidFill>
              <a:srgbClr val="A30018"/>
            </a:solidFill>
            <a:prstDash val="solid"/>
          </a:ln>
        </p:spPr>
        <p:txBody>
          <a:bodyPr/>
          <a:lstStyle/>
          <a:p>
            <a:endParaRPr lang="LID4096"/>
          </a:p>
        </p:txBody>
      </p:sp>
      <p:sp>
        <p:nvSpPr>
          <p:cNvPr id="16" name="Text 5">
            <a:extLst>
              <a:ext uri="{FF2B5EF4-FFF2-40B4-BE49-F238E27FC236}">
                <a16:creationId xmlns:a16="http://schemas.microsoft.com/office/drawing/2014/main" id="{F9F2F617-4FE4-3AFB-5BE6-447724F14CFF}"/>
              </a:ext>
            </a:extLst>
          </p:cNvPr>
          <p:cNvSpPr/>
          <p:nvPr/>
        </p:nvSpPr>
        <p:spPr>
          <a:xfrm>
            <a:off x="302581" y="1067887"/>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PROJECT LEVEL: MSc project, BSc project or special course</a:t>
            </a:r>
            <a:endParaRPr lang="en-US" sz="860" dirty="0"/>
          </a:p>
        </p:txBody>
      </p:sp>
      <p:sp>
        <p:nvSpPr>
          <p:cNvPr id="18" name="Text 6">
            <a:extLst>
              <a:ext uri="{FF2B5EF4-FFF2-40B4-BE49-F238E27FC236}">
                <a16:creationId xmlns:a16="http://schemas.microsoft.com/office/drawing/2014/main" id="{6F0B72D1-F35C-ED87-929B-81DB04BC902C}"/>
              </a:ext>
            </a:extLst>
          </p:cNvPr>
          <p:cNvSpPr/>
          <p:nvPr/>
        </p:nvSpPr>
        <p:spPr>
          <a:xfrm>
            <a:off x="302581" y="1345063"/>
            <a:ext cx="6426403" cy="683799"/>
          </a:xfrm>
          <a:prstGeom prst="rect">
            <a:avLst/>
          </a:prstGeom>
          <a:noFill/>
          <a:ln/>
        </p:spPr>
        <p:txBody>
          <a:bodyPr wrap="square" lIns="0" tIns="0" rIns="0" bIns="0" rtlCol="0" anchor="t"/>
          <a:lstStyle/>
          <a:p>
            <a:pPr marL="0" indent="0">
              <a:lnSpc>
                <a:spcPct val="95000"/>
              </a:lnSpc>
              <a:buNone/>
            </a:pPr>
            <a:r>
              <a:rPr lang="en-US" sz="2000" b="1" dirty="0">
                <a:solidFill>
                  <a:srgbClr val="22282D"/>
                </a:solidFill>
                <a:latin typeface="Aptos Display" pitchFamily="34" charset="0"/>
                <a:ea typeface="Aptos Display" pitchFamily="34" charset="-122"/>
                <a:cs typeface="Aptos Display" pitchFamily="34" charset="-120"/>
              </a:rPr>
              <a:t>Surface engineering with Fe-C-based alloy coatings by sustainable electroplating </a:t>
            </a:r>
          </a:p>
          <a:p>
            <a:pPr marL="0" indent="0">
              <a:lnSpc>
                <a:spcPct val="95000"/>
              </a:lnSpc>
              <a:buNone/>
            </a:pPr>
            <a:endParaRPr lang="en-US" sz="2000" b="1" dirty="0">
              <a:solidFill>
                <a:srgbClr val="22282D"/>
              </a:solidFill>
              <a:latin typeface="Aptos Display" pitchFamily="34" charset="0"/>
              <a:ea typeface="Aptos Display" pitchFamily="34" charset="-122"/>
              <a:cs typeface="Aptos Display" pitchFamily="34" charset="-120"/>
            </a:endParaRPr>
          </a:p>
        </p:txBody>
      </p:sp>
      <p:sp>
        <p:nvSpPr>
          <p:cNvPr id="26" name="Shape 14">
            <a:extLst>
              <a:ext uri="{FF2B5EF4-FFF2-40B4-BE49-F238E27FC236}">
                <a16:creationId xmlns:a16="http://schemas.microsoft.com/office/drawing/2014/main" id="{AA36B306-337C-04B4-9B92-70B043FEE96D}"/>
              </a:ext>
            </a:extLst>
          </p:cNvPr>
          <p:cNvSpPr/>
          <p:nvPr/>
        </p:nvSpPr>
        <p:spPr>
          <a:xfrm>
            <a:off x="4623932" y="2059932"/>
            <a:ext cx="0" cy="2112264"/>
          </a:xfrm>
          <a:prstGeom prst="line">
            <a:avLst/>
          </a:prstGeom>
          <a:noFill/>
          <a:ln w="12700">
            <a:solidFill>
              <a:srgbClr val="DFE2E3"/>
            </a:solidFill>
            <a:prstDash val="solid"/>
          </a:ln>
        </p:spPr>
        <p:txBody>
          <a:bodyPr/>
          <a:lstStyle/>
          <a:p>
            <a:endParaRPr lang="LID4096"/>
          </a:p>
        </p:txBody>
      </p:sp>
      <p:sp>
        <p:nvSpPr>
          <p:cNvPr id="28" name="Text 15">
            <a:extLst>
              <a:ext uri="{FF2B5EF4-FFF2-40B4-BE49-F238E27FC236}">
                <a16:creationId xmlns:a16="http://schemas.microsoft.com/office/drawing/2014/main" id="{DDA6AD76-253A-BDEE-D80F-CF8C578343F2}"/>
              </a:ext>
            </a:extLst>
          </p:cNvPr>
          <p:cNvSpPr/>
          <p:nvPr/>
        </p:nvSpPr>
        <p:spPr>
          <a:xfrm>
            <a:off x="4813058" y="2229758"/>
            <a:ext cx="1901952" cy="201168"/>
          </a:xfrm>
          <a:prstGeom prst="rect">
            <a:avLst/>
          </a:prstGeom>
          <a:noFill/>
          <a:ln/>
        </p:spPr>
        <p:txBody>
          <a:bodyPr wrap="square" lIns="0" tIns="0" rIns="0" bIns="0" rtlCol="0" anchor="t"/>
          <a:lstStyle/>
          <a:p>
            <a:pPr marL="0" indent="0">
              <a:lnSpc>
                <a:spcPct val="100000"/>
              </a:lnSpc>
              <a:buNone/>
            </a:pPr>
            <a:r>
              <a:rPr lang="en-US" sz="1050" b="1" kern="0" spc="120" dirty="0">
                <a:solidFill>
                  <a:srgbClr val="5D666B"/>
                </a:solidFill>
                <a:latin typeface="Aptos Display" pitchFamily="34" charset="0"/>
                <a:ea typeface="Aptos Display" pitchFamily="34" charset="-122"/>
                <a:cs typeface="Aptos Display" pitchFamily="34" charset="-120"/>
              </a:rPr>
              <a:t>SUPERVISOR</a:t>
            </a:r>
            <a:endParaRPr lang="en-US" sz="1050" dirty="0"/>
          </a:p>
        </p:txBody>
      </p:sp>
      <p:sp>
        <p:nvSpPr>
          <p:cNvPr id="30" name="Text 16">
            <a:extLst>
              <a:ext uri="{FF2B5EF4-FFF2-40B4-BE49-F238E27FC236}">
                <a16:creationId xmlns:a16="http://schemas.microsoft.com/office/drawing/2014/main" id="{47A99FCE-4503-0221-BA93-784430A6BB52}"/>
              </a:ext>
            </a:extLst>
          </p:cNvPr>
          <p:cNvSpPr/>
          <p:nvPr/>
        </p:nvSpPr>
        <p:spPr>
          <a:xfrm>
            <a:off x="4813058" y="2504078"/>
            <a:ext cx="1901952" cy="201168"/>
          </a:xfrm>
          <a:prstGeom prst="rect">
            <a:avLst/>
          </a:prstGeom>
          <a:noFill/>
          <a:ln/>
        </p:spPr>
        <p:txBody>
          <a:bodyPr wrap="square" lIns="0" tIns="0" rIns="0" bIns="0" rtlCol="0" anchor="t"/>
          <a:lstStyle/>
          <a:p>
            <a:pPr marL="0" indent="0">
              <a:lnSpc>
                <a:spcPct val="100000"/>
              </a:lnSpc>
              <a:buNone/>
            </a:pPr>
            <a:r>
              <a:rPr lang="en-US" sz="1050" dirty="0"/>
              <a:t>Karen Pantleon</a:t>
            </a:r>
          </a:p>
        </p:txBody>
      </p:sp>
      <p:sp>
        <p:nvSpPr>
          <p:cNvPr id="32" name="Text 17">
            <a:extLst>
              <a:ext uri="{FF2B5EF4-FFF2-40B4-BE49-F238E27FC236}">
                <a16:creationId xmlns:a16="http://schemas.microsoft.com/office/drawing/2014/main" id="{975C2CB1-0286-2F6B-9B19-5CBCCDBC47F2}"/>
              </a:ext>
            </a:extLst>
          </p:cNvPr>
          <p:cNvSpPr/>
          <p:nvPr/>
        </p:nvSpPr>
        <p:spPr>
          <a:xfrm>
            <a:off x="4813058" y="2714390"/>
            <a:ext cx="1901952" cy="164592"/>
          </a:xfrm>
          <a:prstGeom prst="rect">
            <a:avLst/>
          </a:prstGeom>
          <a:noFill/>
          <a:ln/>
        </p:spPr>
        <p:txBody>
          <a:bodyPr wrap="square" lIns="0" tIns="0" rIns="0" bIns="0" rtlCol="0" anchor="t"/>
          <a:lstStyle/>
          <a:p>
            <a:pPr marL="0" indent="0">
              <a:lnSpc>
                <a:spcPct val="100000"/>
              </a:lnSpc>
              <a:buNone/>
            </a:pPr>
            <a:r>
              <a:rPr lang="en-US" sz="1050" dirty="0">
                <a:solidFill>
                  <a:srgbClr val="A30018"/>
                </a:solidFill>
                <a:latin typeface="Aptos" pitchFamily="34" charset="0"/>
              </a:rPr>
              <a:t>kapa@dtu.dk</a:t>
            </a:r>
            <a:endParaRPr lang="en-US" sz="1050" dirty="0"/>
          </a:p>
        </p:txBody>
      </p:sp>
      <p:sp>
        <p:nvSpPr>
          <p:cNvPr id="46" name="Shape 24">
            <a:extLst>
              <a:ext uri="{FF2B5EF4-FFF2-40B4-BE49-F238E27FC236}">
                <a16:creationId xmlns:a16="http://schemas.microsoft.com/office/drawing/2014/main" id="{741B9529-EDF4-0277-9517-AD77B4EC7EFA}"/>
              </a:ext>
            </a:extLst>
          </p:cNvPr>
          <p:cNvSpPr/>
          <p:nvPr/>
        </p:nvSpPr>
        <p:spPr>
          <a:xfrm>
            <a:off x="314594" y="4172196"/>
            <a:ext cx="6426403" cy="0"/>
          </a:xfrm>
          <a:prstGeom prst="line">
            <a:avLst/>
          </a:prstGeom>
          <a:noFill/>
          <a:ln w="10795">
            <a:solidFill>
              <a:srgbClr val="DFE2E3"/>
            </a:solidFill>
            <a:prstDash val="solid"/>
          </a:ln>
        </p:spPr>
        <p:txBody>
          <a:bodyPr/>
          <a:lstStyle/>
          <a:p>
            <a:endParaRPr lang="LID4096"/>
          </a:p>
        </p:txBody>
      </p:sp>
      <p:sp>
        <p:nvSpPr>
          <p:cNvPr id="48" name="Text 25">
            <a:extLst>
              <a:ext uri="{FF2B5EF4-FFF2-40B4-BE49-F238E27FC236}">
                <a16:creationId xmlns:a16="http://schemas.microsoft.com/office/drawing/2014/main" id="{550D7A41-D8A4-84EE-5510-72BFA808AFF9}"/>
              </a:ext>
            </a:extLst>
          </p:cNvPr>
          <p:cNvSpPr/>
          <p:nvPr/>
        </p:nvSpPr>
        <p:spPr>
          <a:xfrm>
            <a:off x="309551" y="4287718"/>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PROJECT BACKGROUND</a:t>
            </a:r>
            <a:endParaRPr lang="en-US" sz="860" dirty="0"/>
          </a:p>
        </p:txBody>
      </p:sp>
      <p:sp>
        <p:nvSpPr>
          <p:cNvPr id="50" name="Text 26">
            <a:extLst>
              <a:ext uri="{FF2B5EF4-FFF2-40B4-BE49-F238E27FC236}">
                <a16:creationId xmlns:a16="http://schemas.microsoft.com/office/drawing/2014/main" id="{DF11FE43-43A1-EFCB-29F2-49F1913B15C4}"/>
              </a:ext>
            </a:extLst>
          </p:cNvPr>
          <p:cNvSpPr/>
          <p:nvPr/>
        </p:nvSpPr>
        <p:spPr>
          <a:xfrm>
            <a:off x="309552" y="4445451"/>
            <a:ext cx="6426403" cy="1290339"/>
          </a:xfrm>
          <a:prstGeom prst="rect">
            <a:avLst/>
          </a:prstGeom>
          <a:noFill/>
          <a:ln/>
        </p:spPr>
        <p:txBody>
          <a:bodyPr wrap="square" lIns="0" tIns="0" rIns="0" bIns="0" rtlCol="0" anchor="t"/>
          <a:lstStyle/>
          <a:p>
            <a:pPr marL="0" indent="0">
              <a:lnSpc>
                <a:spcPct val="104000"/>
              </a:lnSpc>
              <a:buNone/>
            </a:pPr>
            <a:r>
              <a:rPr lang="en-US" sz="990" dirty="0">
                <a:latin typeface="Aptos" pitchFamily="34" charset="0"/>
                <a:ea typeface="Aptos" pitchFamily="34" charset="-122"/>
                <a:cs typeface="Aptos" pitchFamily="34" charset="-120"/>
              </a:rPr>
              <a:t>For surface protection from mechanical and/or chemical damage, electroplating has a long tradition in industry. Present challenges concern the replacement of traditional but harmful electrolytes to sustainable plating using electrolytes, which are not hazardous to neither human health nor environment – without compromising coating properties. </a:t>
            </a:r>
          </a:p>
          <a:p>
            <a:pPr marL="0" indent="0">
              <a:lnSpc>
                <a:spcPct val="104000"/>
              </a:lnSpc>
              <a:buNone/>
            </a:pPr>
            <a:r>
              <a:rPr lang="en-US" sz="990" b="1" dirty="0">
                <a:latin typeface="Aptos" pitchFamily="34" charset="0"/>
                <a:ea typeface="Aptos" pitchFamily="34" charset="-122"/>
                <a:cs typeface="Aptos" pitchFamily="34" charset="-120"/>
              </a:rPr>
              <a:t>Novel electroplated iron-based coatings </a:t>
            </a:r>
            <a:r>
              <a:rPr lang="en-US" sz="990" dirty="0">
                <a:latin typeface="Aptos" pitchFamily="34" charset="0"/>
                <a:ea typeface="Aptos" pitchFamily="34" charset="-122"/>
                <a:cs typeface="Aptos" pitchFamily="34" charset="-120"/>
              </a:rPr>
              <a:t>(recently developed at DTU Construct) utilize the intentional co-deposition of carbon from citric acid containing electrolytes, which results in high carbon contents of about 0.8 </a:t>
            </a:r>
            <a:r>
              <a:rPr lang="en-US" sz="990" dirty="0" err="1">
                <a:latin typeface="Aptos" pitchFamily="34" charset="0"/>
                <a:ea typeface="Aptos" pitchFamily="34" charset="-122"/>
                <a:cs typeface="Aptos" pitchFamily="34" charset="-120"/>
              </a:rPr>
              <a:t>wt</a:t>
            </a:r>
            <a:r>
              <a:rPr lang="en-US" sz="990" dirty="0">
                <a:latin typeface="Aptos" pitchFamily="34" charset="0"/>
                <a:ea typeface="Aptos" pitchFamily="34" charset="-122"/>
                <a:cs typeface="Aptos" pitchFamily="34" charset="-120"/>
              </a:rPr>
              <a:t>% C. The as-deposited Fe-C coatings provide excellent very high microhardness, which further increases by dedicated post-deposition annealing. </a:t>
            </a:r>
          </a:p>
        </p:txBody>
      </p:sp>
      <p:sp>
        <p:nvSpPr>
          <p:cNvPr id="52" name="Text 27">
            <a:extLst>
              <a:ext uri="{FF2B5EF4-FFF2-40B4-BE49-F238E27FC236}">
                <a16:creationId xmlns:a16="http://schemas.microsoft.com/office/drawing/2014/main" id="{E1F4C334-2223-19ED-44AB-9671AA39A52B}"/>
              </a:ext>
            </a:extLst>
          </p:cNvPr>
          <p:cNvSpPr/>
          <p:nvPr/>
        </p:nvSpPr>
        <p:spPr>
          <a:xfrm>
            <a:off x="315569" y="5849008"/>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PROJECT AIM</a:t>
            </a:r>
            <a:endParaRPr lang="en-US" sz="860" dirty="0"/>
          </a:p>
        </p:txBody>
      </p:sp>
      <p:sp>
        <p:nvSpPr>
          <p:cNvPr id="54" name="Text 28">
            <a:extLst>
              <a:ext uri="{FF2B5EF4-FFF2-40B4-BE49-F238E27FC236}">
                <a16:creationId xmlns:a16="http://schemas.microsoft.com/office/drawing/2014/main" id="{3B32DA2F-B6E5-BD0C-B0E2-8DB758B29FE0}"/>
              </a:ext>
            </a:extLst>
          </p:cNvPr>
          <p:cNvSpPr/>
          <p:nvPr/>
        </p:nvSpPr>
        <p:spPr>
          <a:xfrm>
            <a:off x="309551" y="6007999"/>
            <a:ext cx="6426403" cy="438912"/>
          </a:xfrm>
          <a:prstGeom prst="rect">
            <a:avLst/>
          </a:prstGeom>
          <a:noFill/>
          <a:ln/>
        </p:spPr>
        <p:txBody>
          <a:bodyPr wrap="square" lIns="0" tIns="0" rIns="0" bIns="0" rtlCol="0" anchor="t"/>
          <a:lstStyle/>
          <a:p>
            <a:pPr marL="0" indent="0">
              <a:lnSpc>
                <a:spcPct val="103000"/>
              </a:lnSpc>
              <a:buNone/>
            </a:pPr>
            <a:r>
              <a:rPr lang="en-US" sz="1000" dirty="0">
                <a:latin typeface="Aptos" pitchFamily="34" charset="0"/>
                <a:ea typeface="Aptos" pitchFamily="34" charset="-122"/>
                <a:cs typeface="Aptos" pitchFamily="34" charset="-120"/>
              </a:rPr>
              <a:t>Depending on the students’ background and interest, different projects are possible aiming at </a:t>
            </a:r>
          </a:p>
          <a:p>
            <a:pPr marL="0" indent="0">
              <a:lnSpc>
                <a:spcPct val="103000"/>
              </a:lnSpc>
              <a:buNone/>
            </a:pPr>
            <a:r>
              <a:rPr lang="en-US" sz="1000" dirty="0">
                <a:latin typeface="Aptos" pitchFamily="34" charset="0"/>
                <a:ea typeface="Aptos" pitchFamily="34" charset="-122"/>
                <a:cs typeface="Aptos" pitchFamily="34" charset="-120"/>
              </a:rPr>
              <a:t>   EITHER - development of electrolytes incl. testing of plating abilities </a:t>
            </a:r>
          </a:p>
          <a:p>
            <a:pPr marL="0" indent="0">
              <a:lnSpc>
                <a:spcPct val="103000"/>
              </a:lnSpc>
              <a:buNone/>
            </a:pPr>
            <a:r>
              <a:rPr lang="en-US" sz="1000" dirty="0">
                <a:latin typeface="Aptos" pitchFamily="34" charset="0"/>
                <a:ea typeface="Aptos" pitchFamily="34" charset="-122"/>
                <a:cs typeface="Aptos" pitchFamily="34" charset="-120"/>
              </a:rPr>
              <a:t>       OR      - materials characterization of as-deposited and post-deposition treated coatings from sustainable plating</a:t>
            </a:r>
          </a:p>
          <a:p>
            <a:pPr marL="0" indent="0">
              <a:lnSpc>
                <a:spcPct val="103000"/>
              </a:lnSpc>
              <a:buNone/>
            </a:pPr>
            <a:endParaRPr lang="en-US" sz="1000" dirty="0">
              <a:latin typeface="Aptos" pitchFamily="34" charset="0"/>
              <a:ea typeface="Aptos" pitchFamily="34" charset="-122"/>
              <a:cs typeface="Aptos" pitchFamily="34" charset="-120"/>
            </a:endParaRPr>
          </a:p>
        </p:txBody>
      </p:sp>
      <p:sp>
        <p:nvSpPr>
          <p:cNvPr id="56" name="Text 29">
            <a:extLst>
              <a:ext uri="{FF2B5EF4-FFF2-40B4-BE49-F238E27FC236}">
                <a16:creationId xmlns:a16="http://schemas.microsoft.com/office/drawing/2014/main" id="{B6524C55-32C1-1701-39AF-30B8513D5859}"/>
              </a:ext>
            </a:extLst>
          </p:cNvPr>
          <p:cNvSpPr/>
          <p:nvPr/>
        </p:nvSpPr>
        <p:spPr>
          <a:xfrm>
            <a:off x="302581" y="6617268"/>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PROJECT ACTIVITIES </a:t>
            </a:r>
            <a:r>
              <a:rPr lang="en-US" sz="860" kern="0" spc="120" dirty="0">
                <a:solidFill>
                  <a:srgbClr val="A30018"/>
                </a:solidFill>
                <a:latin typeface="Aptos Display" pitchFamily="34" charset="0"/>
                <a:ea typeface="Aptos Display" pitchFamily="34" charset="-122"/>
                <a:cs typeface="Aptos Display" pitchFamily="34" charset="-120"/>
              </a:rPr>
              <a:t>(examples)</a:t>
            </a:r>
            <a:endParaRPr lang="en-US" sz="860" dirty="0"/>
          </a:p>
        </p:txBody>
      </p:sp>
      <p:sp>
        <p:nvSpPr>
          <p:cNvPr id="58" name="Text 30">
            <a:extLst>
              <a:ext uri="{FF2B5EF4-FFF2-40B4-BE49-F238E27FC236}">
                <a16:creationId xmlns:a16="http://schemas.microsoft.com/office/drawing/2014/main" id="{E52291FE-67CB-49F0-597C-9F48EC893D25}"/>
              </a:ext>
            </a:extLst>
          </p:cNvPr>
          <p:cNvSpPr/>
          <p:nvPr/>
        </p:nvSpPr>
        <p:spPr>
          <a:xfrm>
            <a:off x="319165" y="6800788"/>
            <a:ext cx="6398971" cy="2209475"/>
          </a:xfrm>
          <a:prstGeom prst="rect">
            <a:avLst/>
          </a:prstGeom>
          <a:noFill/>
          <a:ln/>
        </p:spPr>
        <p:txBody>
          <a:bodyPr wrap="square" lIns="0" tIns="0" rIns="0" bIns="0" rtlCol="0" anchor="t"/>
          <a:lstStyle/>
          <a:p>
            <a:pPr>
              <a:lnSpc>
                <a:spcPct val="106000"/>
              </a:lnSpc>
              <a:buSzPct val="100000"/>
            </a:pPr>
            <a:r>
              <a:rPr lang="da-DK" sz="1000" dirty="0">
                <a:solidFill>
                  <a:srgbClr val="202D36"/>
                </a:solidFill>
                <a:ea typeface="Arial"/>
                <a:cs typeface="Arial"/>
              </a:rPr>
              <a:t>Suggestions for </a:t>
            </a:r>
            <a:r>
              <a:rPr lang="da-DK" sz="1000" dirty="0" err="1">
                <a:solidFill>
                  <a:srgbClr val="202D36"/>
                </a:solidFill>
                <a:ea typeface="Arial"/>
                <a:cs typeface="Arial"/>
              </a:rPr>
              <a:t>sustainable</a:t>
            </a:r>
            <a:r>
              <a:rPr lang="da-DK" sz="1000" dirty="0">
                <a:solidFill>
                  <a:srgbClr val="202D36"/>
                </a:solidFill>
                <a:ea typeface="Arial"/>
                <a:cs typeface="Arial"/>
              </a:rPr>
              <a:t> </a:t>
            </a:r>
            <a:r>
              <a:rPr lang="da-DK" sz="1000" dirty="0" err="1">
                <a:solidFill>
                  <a:srgbClr val="202D36"/>
                </a:solidFill>
                <a:ea typeface="Arial"/>
                <a:cs typeface="Arial"/>
              </a:rPr>
              <a:t>electroplating</a:t>
            </a:r>
            <a:r>
              <a:rPr lang="da-DK" sz="1000" dirty="0">
                <a:solidFill>
                  <a:srgbClr val="202D36"/>
                </a:solidFill>
                <a:ea typeface="Arial"/>
                <a:cs typeface="Arial"/>
              </a:rPr>
              <a:t> of </a:t>
            </a:r>
            <a:r>
              <a:rPr lang="da-DK" sz="1000" dirty="0" err="1">
                <a:solidFill>
                  <a:srgbClr val="202D36"/>
                </a:solidFill>
                <a:ea typeface="Arial"/>
                <a:cs typeface="Arial"/>
              </a:rPr>
              <a:t>iron-carbon-based</a:t>
            </a:r>
            <a:r>
              <a:rPr lang="da-DK" sz="1000" dirty="0">
                <a:solidFill>
                  <a:srgbClr val="202D36"/>
                </a:solidFill>
                <a:ea typeface="Arial"/>
                <a:cs typeface="Arial"/>
              </a:rPr>
              <a:t> coatings:</a:t>
            </a:r>
          </a:p>
          <a:p>
            <a:pPr>
              <a:lnSpc>
                <a:spcPct val="106000"/>
              </a:lnSpc>
              <a:buSzPct val="100000"/>
            </a:pPr>
            <a:endParaRPr lang="da-DK" sz="300" b="1" dirty="0">
              <a:solidFill>
                <a:srgbClr val="202D36"/>
              </a:solidFill>
              <a:ea typeface="Arial"/>
              <a:cs typeface="Arial"/>
            </a:endParaRPr>
          </a:p>
          <a:p>
            <a:pPr marL="139700" indent="-139700">
              <a:lnSpc>
                <a:spcPct val="106000"/>
              </a:lnSpc>
              <a:buSzPct val="100000"/>
              <a:buFontTx/>
              <a:buChar char="•"/>
            </a:pPr>
            <a:r>
              <a:rPr lang="da-DK" sz="1000" b="1" dirty="0">
                <a:solidFill>
                  <a:srgbClr val="202D36"/>
                </a:solidFill>
                <a:ea typeface="Arial"/>
                <a:cs typeface="Arial"/>
              </a:rPr>
              <a:t>Work in the </a:t>
            </a:r>
            <a:r>
              <a:rPr lang="da-DK" sz="1000" b="1" dirty="0" err="1">
                <a:solidFill>
                  <a:srgbClr val="202D36"/>
                </a:solidFill>
                <a:ea typeface="Arial"/>
                <a:cs typeface="Arial"/>
              </a:rPr>
              <a:t>galvano</a:t>
            </a:r>
            <a:r>
              <a:rPr lang="da-DK" sz="1000" b="1" dirty="0">
                <a:solidFill>
                  <a:srgbClr val="202D36"/>
                </a:solidFill>
                <a:ea typeface="Arial"/>
                <a:cs typeface="Arial"/>
              </a:rPr>
              <a:t>-lab at DTU:</a:t>
            </a:r>
          </a:p>
          <a:p>
            <a:pPr>
              <a:lnSpc>
                <a:spcPct val="106000"/>
              </a:lnSpc>
              <a:buSzPct val="100000"/>
            </a:pPr>
            <a:r>
              <a:rPr lang="da-DK" sz="1000" b="1" dirty="0">
                <a:solidFill>
                  <a:srgbClr val="202D36"/>
                </a:solidFill>
                <a:ea typeface="Arial"/>
                <a:cs typeface="Arial"/>
              </a:rPr>
              <a:t>     </a:t>
            </a:r>
            <a:r>
              <a:rPr lang="en-US" sz="1000" dirty="0">
                <a:solidFill>
                  <a:srgbClr val="202D36"/>
                </a:solidFill>
                <a:ea typeface="Arial"/>
                <a:cs typeface="Arial"/>
              </a:rPr>
              <a:t>Testing and further developing non-hazardous and environmentally friendly electrolytes.</a:t>
            </a:r>
          </a:p>
          <a:p>
            <a:pPr>
              <a:lnSpc>
                <a:spcPct val="106000"/>
              </a:lnSpc>
              <a:buSzPct val="100000"/>
            </a:pPr>
            <a:endParaRPr lang="en-US" sz="300" dirty="0">
              <a:solidFill>
                <a:srgbClr val="202D36"/>
              </a:solidFill>
              <a:ea typeface="Arial"/>
              <a:cs typeface="Arial"/>
            </a:endParaRPr>
          </a:p>
          <a:p>
            <a:pPr marL="139700" indent="-139700">
              <a:lnSpc>
                <a:spcPct val="106000"/>
              </a:lnSpc>
              <a:buSzPct val="100000"/>
              <a:buFontTx/>
              <a:buChar char="•"/>
            </a:pPr>
            <a:r>
              <a:rPr lang="da-DK" sz="1000" b="1" dirty="0">
                <a:solidFill>
                  <a:srgbClr val="202D36"/>
                </a:solidFill>
                <a:ea typeface="Arial"/>
                <a:cs typeface="Arial"/>
              </a:rPr>
              <a:t>Post-deposition </a:t>
            </a:r>
            <a:r>
              <a:rPr lang="da-DK" sz="1000" b="1" dirty="0" err="1">
                <a:solidFill>
                  <a:srgbClr val="202D36"/>
                </a:solidFill>
                <a:ea typeface="Arial"/>
                <a:cs typeface="Arial"/>
              </a:rPr>
              <a:t>annealing</a:t>
            </a:r>
            <a:r>
              <a:rPr lang="da-DK" sz="1000" b="1" dirty="0">
                <a:solidFill>
                  <a:srgbClr val="202D36"/>
                </a:solidFill>
                <a:ea typeface="Arial"/>
                <a:cs typeface="Arial"/>
              </a:rPr>
              <a:t> of as-</a:t>
            </a:r>
            <a:r>
              <a:rPr lang="da-DK" sz="1000" b="1" dirty="0" err="1">
                <a:solidFill>
                  <a:srgbClr val="202D36"/>
                </a:solidFill>
                <a:ea typeface="Arial"/>
                <a:cs typeface="Arial"/>
              </a:rPr>
              <a:t>deposited</a:t>
            </a:r>
            <a:r>
              <a:rPr lang="da-DK" sz="1000" b="1" dirty="0">
                <a:solidFill>
                  <a:srgbClr val="202D36"/>
                </a:solidFill>
                <a:ea typeface="Arial"/>
                <a:cs typeface="Arial"/>
              </a:rPr>
              <a:t> samples: </a:t>
            </a:r>
          </a:p>
          <a:p>
            <a:pPr>
              <a:lnSpc>
                <a:spcPct val="106000"/>
              </a:lnSpc>
              <a:buSzPct val="100000"/>
            </a:pPr>
            <a:r>
              <a:rPr lang="da-DK" sz="1000" b="1" dirty="0">
                <a:solidFill>
                  <a:srgbClr val="202D36"/>
                </a:solidFill>
                <a:ea typeface="Arial"/>
                <a:cs typeface="Arial"/>
              </a:rPr>
              <a:t>     </a:t>
            </a:r>
            <a:r>
              <a:rPr lang="da-DK" sz="1000" dirty="0" err="1">
                <a:solidFill>
                  <a:srgbClr val="202D36"/>
                </a:solidFill>
                <a:ea typeface="Arial"/>
                <a:cs typeface="Arial"/>
              </a:rPr>
              <a:t>Systematic</a:t>
            </a:r>
            <a:r>
              <a:rPr lang="da-DK" sz="1000" dirty="0">
                <a:solidFill>
                  <a:srgbClr val="202D36"/>
                </a:solidFill>
                <a:ea typeface="Arial"/>
                <a:cs typeface="Arial"/>
              </a:rPr>
              <a:t> t</a:t>
            </a:r>
            <a:r>
              <a:rPr lang="en-US" sz="1000" dirty="0" err="1">
                <a:solidFill>
                  <a:srgbClr val="202D36"/>
                </a:solidFill>
                <a:ea typeface="Arial"/>
                <a:cs typeface="Arial"/>
              </a:rPr>
              <a:t>hermal</a:t>
            </a:r>
            <a:r>
              <a:rPr lang="en-US" sz="1000" dirty="0">
                <a:solidFill>
                  <a:srgbClr val="202D36"/>
                </a:solidFill>
                <a:ea typeface="Arial"/>
                <a:cs typeface="Arial"/>
              </a:rPr>
              <a:t> treatments at either isothermal or isochronal conditions, incl. materials characterization.</a:t>
            </a:r>
            <a:r>
              <a:rPr lang="en-US" sz="1000" b="1" dirty="0">
                <a:solidFill>
                  <a:srgbClr val="202D36"/>
                </a:solidFill>
                <a:ea typeface="Arial"/>
                <a:cs typeface="Arial"/>
              </a:rPr>
              <a:t> </a:t>
            </a:r>
          </a:p>
          <a:p>
            <a:pPr marL="139700" indent="-139700">
              <a:lnSpc>
                <a:spcPct val="106000"/>
              </a:lnSpc>
              <a:buSzPct val="100000"/>
              <a:buFontTx/>
              <a:buChar char="•"/>
            </a:pPr>
            <a:endParaRPr lang="en-US" sz="300" b="1" dirty="0">
              <a:solidFill>
                <a:srgbClr val="202D36"/>
              </a:solidFill>
              <a:ea typeface="Arial"/>
              <a:cs typeface="Arial"/>
            </a:endParaRPr>
          </a:p>
          <a:p>
            <a:pPr marL="139700" indent="-139700">
              <a:lnSpc>
                <a:spcPct val="106000"/>
              </a:lnSpc>
              <a:buSzPct val="100000"/>
              <a:buFontTx/>
              <a:buChar char="•"/>
            </a:pPr>
            <a:r>
              <a:rPr lang="en-US" sz="1000" b="1" dirty="0">
                <a:solidFill>
                  <a:srgbClr val="202D36"/>
                </a:solidFill>
                <a:ea typeface="Arial"/>
                <a:cs typeface="Arial"/>
              </a:rPr>
              <a:t>Complementary materials characterization of electroplated samples: </a:t>
            </a:r>
          </a:p>
          <a:p>
            <a:pPr>
              <a:lnSpc>
                <a:spcPct val="106000"/>
              </a:lnSpc>
              <a:buSzPct val="100000"/>
            </a:pPr>
            <a:r>
              <a:rPr lang="en-US" sz="1000" b="1" dirty="0">
                <a:solidFill>
                  <a:srgbClr val="202D36"/>
                </a:solidFill>
                <a:ea typeface="Arial"/>
                <a:cs typeface="Arial"/>
              </a:rPr>
              <a:t>     </a:t>
            </a:r>
            <a:r>
              <a:rPr lang="en-US" sz="1000" dirty="0">
                <a:solidFill>
                  <a:srgbClr val="202D36"/>
                </a:solidFill>
                <a:ea typeface="Arial"/>
                <a:cs typeface="Arial"/>
              </a:rPr>
              <a:t>Perform materials characterization based on microscopy, spectroscopy and diffraction analysis and relate the</a:t>
            </a:r>
          </a:p>
          <a:p>
            <a:pPr>
              <a:lnSpc>
                <a:spcPct val="106000"/>
              </a:lnSpc>
              <a:buSzPct val="100000"/>
            </a:pPr>
            <a:r>
              <a:rPr lang="en-US" sz="1000" dirty="0">
                <a:solidFill>
                  <a:srgbClr val="202D36"/>
                </a:solidFill>
                <a:ea typeface="Arial"/>
                <a:cs typeface="Arial"/>
              </a:rPr>
              <a:t>     coatings’ internal structure to the applied parameters of electroplating. </a:t>
            </a:r>
          </a:p>
          <a:p>
            <a:pPr>
              <a:lnSpc>
                <a:spcPct val="106000"/>
              </a:lnSpc>
              <a:buSzPct val="100000"/>
            </a:pPr>
            <a:endParaRPr lang="da-DK" sz="300" dirty="0">
              <a:solidFill>
                <a:srgbClr val="202D36"/>
              </a:solidFill>
              <a:ea typeface="Arial"/>
              <a:cs typeface="Arial"/>
            </a:endParaRPr>
          </a:p>
          <a:p>
            <a:pPr marL="139700" indent="-139700">
              <a:lnSpc>
                <a:spcPct val="106000"/>
              </a:lnSpc>
              <a:buSzPct val="100000"/>
              <a:buFontTx/>
              <a:buChar char="•"/>
            </a:pPr>
            <a:r>
              <a:rPr lang="da-DK" sz="1000" b="1" dirty="0" err="1">
                <a:solidFill>
                  <a:srgbClr val="202D36"/>
                </a:solidFill>
                <a:ea typeface="Arial"/>
                <a:cs typeface="Arial"/>
              </a:rPr>
              <a:t>Characterisation</a:t>
            </a:r>
            <a:r>
              <a:rPr lang="da-DK" sz="1000" b="1" dirty="0">
                <a:solidFill>
                  <a:srgbClr val="202D36"/>
                </a:solidFill>
                <a:ea typeface="Arial"/>
                <a:cs typeface="Arial"/>
              </a:rPr>
              <a:t> of relevant properties: </a:t>
            </a:r>
          </a:p>
          <a:p>
            <a:pPr>
              <a:lnSpc>
                <a:spcPct val="106000"/>
              </a:lnSpc>
              <a:buSzPct val="100000"/>
            </a:pPr>
            <a:r>
              <a:rPr lang="en-US" sz="1000" dirty="0">
                <a:solidFill>
                  <a:srgbClr val="202D36"/>
                </a:solidFill>
                <a:ea typeface="Arial"/>
                <a:cs typeface="Arial"/>
              </a:rPr>
              <a:t>     </a:t>
            </a:r>
            <a:r>
              <a:rPr lang="da-DK" sz="1000" dirty="0" err="1">
                <a:solidFill>
                  <a:srgbClr val="202D36"/>
                </a:solidFill>
                <a:ea typeface="Arial"/>
                <a:cs typeface="Arial"/>
              </a:rPr>
              <a:t>Depending</a:t>
            </a:r>
            <a:r>
              <a:rPr lang="da-DK" sz="1000" dirty="0">
                <a:solidFill>
                  <a:srgbClr val="202D36"/>
                </a:solidFill>
                <a:ea typeface="Arial"/>
                <a:cs typeface="Arial"/>
              </a:rPr>
              <a:t> on the type of </a:t>
            </a:r>
            <a:r>
              <a:rPr lang="da-DK" sz="1000" dirty="0" err="1">
                <a:solidFill>
                  <a:srgbClr val="202D36"/>
                </a:solidFill>
                <a:ea typeface="Arial"/>
                <a:cs typeface="Arial"/>
              </a:rPr>
              <a:t>electroplated</a:t>
            </a:r>
            <a:r>
              <a:rPr lang="da-DK" sz="1000" dirty="0">
                <a:solidFill>
                  <a:srgbClr val="202D36"/>
                </a:solidFill>
                <a:ea typeface="Arial"/>
                <a:cs typeface="Arial"/>
              </a:rPr>
              <a:t> </a:t>
            </a:r>
            <a:r>
              <a:rPr lang="da-DK" sz="1000" dirty="0" err="1">
                <a:solidFill>
                  <a:srgbClr val="202D36"/>
                </a:solidFill>
                <a:ea typeface="Arial"/>
                <a:cs typeface="Arial"/>
              </a:rPr>
              <a:t>materials</a:t>
            </a:r>
            <a:r>
              <a:rPr lang="da-DK" sz="1000" dirty="0">
                <a:solidFill>
                  <a:srgbClr val="202D36"/>
                </a:solidFill>
                <a:ea typeface="Arial"/>
                <a:cs typeface="Arial"/>
              </a:rPr>
              <a:t> and the </a:t>
            </a:r>
            <a:r>
              <a:rPr lang="da-DK" sz="1000" dirty="0" err="1">
                <a:solidFill>
                  <a:srgbClr val="202D36"/>
                </a:solidFill>
                <a:ea typeface="Arial"/>
                <a:cs typeface="Arial"/>
              </a:rPr>
              <a:t>applied</a:t>
            </a:r>
            <a:r>
              <a:rPr lang="da-DK" sz="1000" dirty="0">
                <a:solidFill>
                  <a:srgbClr val="202D36"/>
                </a:solidFill>
                <a:ea typeface="Arial"/>
                <a:cs typeface="Arial"/>
              </a:rPr>
              <a:t> </a:t>
            </a:r>
            <a:r>
              <a:rPr lang="da-DK" sz="1000" dirty="0" err="1">
                <a:solidFill>
                  <a:srgbClr val="202D36"/>
                </a:solidFill>
                <a:ea typeface="Arial"/>
                <a:cs typeface="Arial"/>
              </a:rPr>
              <a:t>substrates</a:t>
            </a:r>
            <a:r>
              <a:rPr lang="da-DK" sz="1000" dirty="0">
                <a:solidFill>
                  <a:srgbClr val="202D36"/>
                </a:solidFill>
                <a:ea typeface="Arial"/>
                <a:cs typeface="Arial"/>
              </a:rPr>
              <a:t>, </a:t>
            </a:r>
            <a:r>
              <a:rPr lang="da-DK" sz="1000" dirty="0" err="1">
                <a:solidFill>
                  <a:srgbClr val="202D36"/>
                </a:solidFill>
                <a:ea typeface="Arial"/>
                <a:cs typeface="Arial"/>
              </a:rPr>
              <a:t>mechanical</a:t>
            </a:r>
            <a:r>
              <a:rPr lang="da-DK" sz="1000" dirty="0">
                <a:solidFill>
                  <a:srgbClr val="202D36"/>
                </a:solidFill>
                <a:ea typeface="Arial"/>
                <a:cs typeface="Arial"/>
              </a:rPr>
              <a:t> and/or </a:t>
            </a:r>
            <a:r>
              <a:rPr lang="da-DK" sz="1000" dirty="0" err="1">
                <a:solidFill>
                  <a:srgbClr val="202D36"/>
                </a:solidFill>
                <a:ea typeface="Arial"/>
                <a:cs typeface="Arial"/>
              </a:rPr>
              <a:t>electrochemical</a:t>
            </a:r>
            <a:r>
              <a:rPr lang="da-DK" sz="1000" dirty="0">
                <a:solidFill>
                  <a:srgbClr val="202D36"/>
                </a:solidFill>
                <a:ea typeface="Arial"/>
                <a:cs typeface="Arial"/>
              </a:rPr>
              <a:t> </a:t>
            </a:r>
          </a:p>
          <a:p>
            <a:pPr>
              <a:lnSpc>
                <a:spcPct val="106000"/>
              </a:lnSpc>
              <a:buSzPct val="100000"/>
            </a:pPr>
            <a:r>
              <a:rPr lang="da-DK" sz="1000" dirty="0">
                <a:solidFill>
                  <a:srgbClr val="202D36"/>
                </a:solidFill>
                <a:ea typeface="Arial"/>
                <a:cs typeface="Arial"/>
              </a:rPr>
              <a:t>     and/or </a:t>
            </a:r>
            <a:r>
              <a:rPr lang="da-DK" sz="1000" dirty="0" err="1">
                <a:solidFill>
                  <a:srgbClr val="202D36"/>
                </a:solidFill>
                <a:ea typeface="Arial"/>
                <a:cs typeface="Arial"/>
              </a:rPr>
              <a:t>electrical</a:t>
            </a:r>
            <a:r>
              <a:rPr lang="da-DK" sz="1000" dirty="0">
                <a:solidFill>
                  <a:srgbClr val="202D36"/>
                </a:solidFill>
                <a:ea typeface="Arial"/>
                <a:cs typeface="Arial"/>
              </a:rPr>
              <a:t> properties </a:t>
            </a:r>
            <a:r>
              <a:rPr lang="da-DK" sz="1000" dirty="0" err="1">
                <a:solidFill>
                  <a:srgbClr val="202D36"/>
                </a:solidFill>
                <a:ea typeface="Arial"/>
                <a:cs typeface="Arial"/>
              </a:rPr>
              <a:t>would</a:t>
            </a:r>
            <a:r>
              <a:rPr lang="da-DK" sz="1000" dirty="0">
                <a:solidFill>
                  <a:srgbClr val="202D36"/>
                </a:solidFill>
                <a:ea typeface="Arial"/>
                <a:cs typeface="Arial"/>
              </a:rPr>
              <a:t> </a:t>
            </a:r>
            <a:r>
              <a:rPr lang="da-DK" sz="1000" dirty="0" err="1">
                <a:solidFill>
                  <a:srgbClr val="202D36"/>
                </a:solidFill>
                <a:ea typeface="Arial"/>
                <a:cs typeface="Arial"/>
              </a:rPr>
              <a:t>be</a:t>
            </a:r>
            <a:r>
              <a:rPr lang="da-DK" sz="1000" dirty="0">
                <a:solidFill>
                  <a:srgbClr val="202D36"/>
                </a:solidFill>
                <a:ea typeface="Arial"/>
                <a:cs typeface="Arial"/>
              </a:rPr>
              <a:t> relevant. </a:t>
            </a:r>
          </a:p>
          <a:p>
            <a:pPr>
              <a:lnSpc>
                <a:spcPct val="106000"/>
              </a:lnSpc>
              <a:buSzPct val="100000"/>
            </a:pPr>
            <a:endParaRPr lang="da-DK" sz="300" dirty="0">
              <a:solidFill>
                <a:srgbClr val="202D36"/>
              </a:solidFill>
              <a:ea typeface="Arial"/>
              <a:cs typeface="Arial"/>
            </a:endParaRPr>
          </a:p>
          <a:p>
            <a:pPr>
              <a:lnSpc>
                <a:spcPct val="106000"/>
              </a:lnSpc>
              <a:buSzPct val="100000"/>
            </a:pPr>
            <a:r>
              <a:rPr lang="da-DK" sz="1000" dirty="0" err="1">
                <a:solidFill>
                  <a:srgbClr val="202D36"/>
                </a:solidFill>
                <a:ea typeface="Arial"/>
                <a:cs typeface="Arial"/>
              </a:rPr>
              <a:t>Sustainable</a:t>
            </a:r>
            <a:r>
              <a:rPr lang="da-DK" sz="1000" dirty="0">
                <a:solidFill>
                  <a:srgbClr val="202D36"/>
                </a:solidFill>
                <a:ea typeface="Arial"/>
                <a:cs typeface="Arial"/>
              </a:rPr>
              <a:t> </a:t>
            </a:r>
            <a:r>
              <a:rPr lang="da-DK" sz="1000" dirty="0" err="1">
                <a:solidFill>
                  <a:srgbClr val="202D36"/>
                </a:solidFill>
                <a:ea typeface="Arial"/>
                <a:cs typeface="Arial"/>
              </a:rPr>
              <a:t>plating</a:t>
            </a:r>
            <a:r>
              <a:rPr lang="da-DK" sz="1000" dirty="0">
                <a:solidFill>
                  <a:srgbClr val="202D36"/>
                </a:solidFill>
                <a:ea typeface="Arial"/>
                <a:cs typeface="Arial"/>
              </a:rPr>
              <a:t> of coatings </a:t>
            </a:r>
            <a:r>
              <a:rPr lang="da-DK" sz="1000" dirty="0" err="1">
                <a:solidFill>
                  <a:srgbClr val="202D36"/>
                </a:solidFill>
                <a:ea typeface="Arial"/>
                <a:cs typeface="Arial"/>
              </a:rPr>
              <a:t>other</a:t>
            </a:r>
            <a:r>
              <a:rPr lang="da-DK" sz="1000" dirty="0">
                <a:solidFill>
                  <a:srgbClr val="202D36"/>
                </a:solidFill>
                <a:ea typeface="Arial"/>
                <a:cs typeface="Arial"/>
              </a:rPr>
              <a:t> </a:t>
            </a:r>
            <a:r>
              <a:rPr lang="da-DK" sz="1000" dirty="0" err="1">
                <a:solidFill>
                  <a:srgbClr val="202D36"/>
                </a:solidFill>
                <a:ea typeface="Arial"/>
                <a:cs typeface="Arial"/>
              </a:rPr>
              <a:t>than</a:t>
            </a:r>
            <a:r>
              <a:rPr lang="da-DK" sz="1000" dirty="0">
                <a:solidFill>
                  <a:srgbClr val="202D36"/>
                </a:solidFill>
                <a:ea typeface="Arial"/>
                <a:cs typeface="Arial"/>
              </a:rPr>
              <a:t> Fe-C-</a:t>
            </a:r>
            <a:r>
              <a:rPr lang="da-DK" sz="1000" dirty="0" err="1">
                <a:solidFill>
                  <a:srgbClr val="202D36"/>
                </a:solidFill>
                <a:ea typeface="Arial"/>
                <a:cs typeface="Arial"/>
              </a:rPr>
              <a:t>based</a:t>
            </a:r>
            <a:r>
              <a:rPr lang="da-DK" sz="1000" dirty="0">
                <a:solidFill>
                  <a:srgbClr val="202D36"/>
                </a:solidFill>
                <a:ea typeface="Arial"/>
                <a:cs typeface="Arial"/>
              </a:rPr>
              <a:t> </a:t>
            </a:r>
            <a:r>
              <a:rPr lang="da-DK" sz="1000" dirty="0" err="1">
                <a:solidFill>
                  <a:srgbClr val="202D36"/>
                </a:solidFill>
                <a:ea typeface="Arial"/>
                <a:cs typeface="Arial"/>
              </a:rPr>
              <a:t>alloys</a:t>
            </a:r>
            <a:r>
              <a:rPr lang="da-DK" sz="1000" dirty="0">
                <a:solidFill>
                  <a:srgbClr val="202D36"/>
                </a:solidFill>
                <a:ea typeface="Arial"/>
                <a:cs typeface="Arial"/>
              </a:rPr>
              <a:t> … - </a:t>
            </a:r>
            <a:r>
              <a:rPr lang="da-DK" sz="1000" dirty="0" err="1">
                <a:solidFill>
                  <a:srgbClr val="202D36"/>
                </a:solidFill>
                <a:ea typeface="Arial"/>
                <a:cs typeface="Arial"/>
              </a:rPr>
              <a:t>let´s</a:t>
            </a:r>
            <a:r>
              <a:rPr lang="da-DK" sz="1000" dirty="0">
                <a:solidFill>
                  <a:srgbClr val="202D36"/>
                </a:solidFill>
                <a:ea typeface="Arial"/>
                <a:cs typeface="Arial"/>
              </a:rPr>
              <a:t> </a:t>
            </a:r>
            <a:r>
              <a:rPr lang="da-DK" sz="1000" dirty="0" err="1">
                <a:solidFill>
                  <a:srgbClr val="202D36"/>
                </a:solidFill>
                <a:ea typeface="Arial"/>
                <a:cs typeface="Arial"/>
              </a:rPr>
              <a:t>discuss</a:t>
            </a:r>
            <a:r>
              <a:rPr lang="da-DK" sz="1000" dirty="0">
                <a:solidFill>
                  <a:srgbClr val="202D36"/>
                </a:solidFill>
                <a:ea typeface="Arial"/>
                <a:cs typeface="Arial"/>
              </a:rPr>
              <a:t>.</a:t>
            </a:r>
          </a:p>
          <a:p>
            <a:pPr>
              <a:lnSpc>
                <a:spcPct val="106000"/>
              </a:lnSpc>
              <a:buSzPct val="100000"/>
            </a:pPr>
            <a:endParaRPr lang="da-DK" sz="1000" dirty="0">
              <a:solidFill>
                <a:srgbClr val="202D36"/>
              </a:solidFill>
              <a:ea typeface="Arial"/>
              <a:cs typeface="Arial"/>
            </a:endParaRPr>
          </a:p>
          <a:p>
            <a:pPr marL="139700" indent="-139700">
              <a:lnSpc>
                <a:spcPct val="106000"/>
              </a:lnSpc>
              <a:buSzPct val="100000"/>
              <a:buFontTx/>
              <a:buChar char="•"/>
            </a:pPr>
            <a:endParaRPr lang="en-US" sz="1000" dirty="0">
              <a:solidFill>
                <a:srgbClr val="202D36"/>
              </a:solidFill>
              <a:ea typeface="Arial"/>
              <a:cs typeface="Arial"/>
            </a:endParaRPr>
          </a:p>
          <a:p>
            <a:pPr marL="139700" indent="-139700">
              <a:lnSpc>
                <a:spcPct val="106000"/>
              </a:lnSpc>
              <a:buSzPct val="100000"/>
              <a:buFontTx/>
              <a:buChar char="•"/>
            </a:pPr>
            <a:endParaRPr lang="da-DK" sz="1000" b="1" dirty="0">
              <a:solidFill>
                <a:srgbClr val="202D36"/>
              </a:solidFill>
              <a:ea typeface="Arial"/>
              <a:cs typeface="Arial"/>
            </a:endParaRPr>
          </a:p>
          <a:p>
            <a:pPr marL="139700" indent="-139700">
              <a:lnSpc>
                <a:spcPct val="106000"/>
              </a:lnSpc>
              <a:buSzPct val="100000"/>
              <a:buFontTx/>
              <a:buChar char="•"/>
            </a:pPr>
            <a:endParaRPr lang="en-US" sz="1000" dirty="0">
              <a:solidFill>
                <a:srgbClr val="202D36"/>
              </a:solidFill>
              <a:ea typeface="Arial"/>
              <a:cs typeface="Arial"/>
            </a:endParaRPr>
          </a:p>
          <a:p>
            <a:pPr marL="139700" indent="-139700">
              <a:lnSpc>
                <a:spcPct val="106000"/>
              </a:lnSpc>
              <a:buSzPct val="100000"/>
              <a:buFontTx/>
              <a:buChar char="•"/>
            </a:pPr>
            <a:endParaRPr lang="en-US" sz="975" dirty="0"/>
          </a:p>
        </p:txBody>
      </p:sp>
      <p:sp>
        <p:nvSpPr>
          <p:cNvPr id="68" name="Text 35">
            <a:extLst>
              <a:ext uri="{FF2B5EF4-FFF2-40B4-BE49-F238E27FC236}">
                <a16:creationId xmlns:a16="http://schemas.microsoft.com/office/drawing/2014/main" id="{2F7D2E65-2E3D-DD1B-98AF-16E5BD6564A6}"/>
              </a:ext>
            </a:extLst>
          </p:cNvPr>
          <p:cNvSpPr/>
          <p:nvPr/>
        </p:nvSpPr>
        <p:spPr>
          <a:xfrm>
            <a:off x="299223" y="9084222"/>
            <a:ext cx="6426403" cy="438911"/>
          </a:xfrm>
          <a:prstGeom prst="rect">
            <a:avLst/>
          </a:prstGeom>
          <a:noFill/>
          <a:ln/>
        </p:spPr>
        <p:txBody>
          <a:bodyPr wrap="square" lIns="0" tIns="0" rIns="0" bIns="0" rtlCol="0" anchor="t"/>
          <a:lstStyle/>
          <a:p>
            <a:pPr>
              <a:lnSpc>
                <a:spcPct val="106000"/>
              </a:lnSpc>
              <a:buSzPct val="100000"/>
            </a:pPr>
            <a:r>
              <a:rPr lang="en-US" sz="860" b="1" kern="0" spc="120" dirty="0">
                <a:solidFill>
                  <a:srgbClr val="A30018"/>
                </a:solidFill>
                <a:latin typeface="Aptos Display" pitchFamily="34" charset="0"/>
                <a:ea typeface="Aptos Display" pitchFamily="34" charset="-122"/>
                <a:cs typeface="Aptos Display" pitchFamily="34" charset="-120"/>
              </a:rPr>
              <a:t>PRACTICAL NOTES</a:t>
            </a:r>
            <a:endParaRPr lang="da-DK" sz="900" b="1" dirty="0">
              <a:solidFill>
                <a:srgbClr val="202D36"/>
              </a:solidFill>
              <a:ea typeface="Arial"/>
              <a:cs typeface="Arial"/>
            </a:endParaRPr>
          </a:p>
          <a:p>
            <a:pPr>
              <a:buSzPct val="100000"/>
            </a:pPr>
            <a:r>
              <a:rPr lang="en-US" sz="1000" dirty="0">
                <a:solidFill>
                  <a:srgbClr val="202D36"/>
                </a:solidFill>
                <a:ea typeface="Arial"/>
                <a:cs typeface="Arial"/>
              </a:rPr>
              <a:t>Several projects are possible with content and time frame, depending on the students’ education.</a:t>
            </a:r>
          </a:p>
          <a:p>
            <a:pPr marL="0" indent="0">
              <a:lnSpc>
                <a:spcPct val="100000"/>
              </a:lnSpc>
              <a:buNone/>
            </a:pPr>
            <a:endParaRPr lang="en-US" sz="860" dirty="0"/>
          </a:p>
        </p:txBody>
      </p:sp>
      <p:sp>
        <p:nvSpPr>
          <p:cNvPr id="70" name="Text 36">
            <a:extLst>
              <a:ext uri="{FF2B5EF4-FFF2-40B4-BE49-F238E27FC236}">
                <a16:creationId xmlns:a16="http://schemas.microsoft.com/office/drawing/2014/main" id="{A368D0A1-E117-25EE-605D-20388D61C90D}"/>
              </a:ext>
            </a:extLst>
          </p:cNvPr>
          <p:cNvSpPr/>
          <p:nvPr/>
        </p:nvSpPr>
        <p:spPr>
          <a:xfrm>
            <a:off x="314594" y="8713328"/>
            <a:ext cx="6426403" cy="438912"/>
          </a:xfrm>
          <a:prstGeom prst="rect">
            <a:avLst/>
          </a:prstGeom>
          <a:noFill/>
          <a:ln/>
        </p:spPr>
        <p:txBody>
          <a:bodyPr wrap="square" lIns="0" tIns="0" rIns="0" bIns="0" rtlCol="0" anchor="t"/>
          <a:lstStyle/>
          <a:p>
            <a:pPr marL="0" indent="0">
              <a:lnSpc>
                <a:spcPct val="102000"/>
              </a:lnSpc>
              <a:buNone/>
            </a:pPr>
            <a:endParaRPr lang="en-US" sz="975" dirty="0"/>
          </a:p>
        </p:txBody>
      </p:sp>
      <p:sp>
        <p:nvSpPr>
          <p:cNvPr id="72" name="Shape 38">
            <a:extLst>
              <a:ext uri="{FF2B5EF4-FFF2-40B4-BE49-F238E27FC236}">
                <a16:creationId xmlns:a16="http://schemas.microsoft.com/office/drawing/2014/main" id="{081F88CA-2AEC-F488-1189-D6324DB0A884}"/>
              </a:ext>
            </a:extLst>
          </p:cNvPr>
          <p:cNvSpPr/>
          <p:nvPr/>
        </p:nvSpPr>
        <p:spPr>
          <a:xfrm>
            <a:off x="286778" y="9551282"/>
            <a:ext cx="6426403" cy="0"/>
          </a:xfrm>
          <a:prstGeom prst="line">
            <a:avLst/>
          </a:prstGeom>
          <a:noFill/>
          <a:ln w="10160">
            <a:solidFill>
              <a:srgbClr val="DFE2E3"/>
            </a:solidFill>
            <a:prstDash val="solid"/>
          </a:ln>
        </p:spPr>
        <p:txBody>
          <a:bodyPr/>
          <a:lstStyle/>
          <a:p>
            <a:endParaRPr lang="LID4096"/>
          </a:p>
        </p:txBody>
      </p:sp>
      <p:sp>
        <p:nvSpPr>
          <p:cNvPr id="74" name="Text 39">
            <a:extLst>
              <a:ext uri="{FF2B5EF4-FFF2-40B4-BE49-F238E27FC236}">
                <a16:creationId xmlns:a16="http://schemas.microsoft.com/office/drawing/2014/main" id="{7D6E5BF1-5B95-826E-7C58-11E988F22D64}"/>
              </a:ext>
            </a:extLst>
          </p:cNvPr>
          <p:cNvSpPr/>
          <p:nvPr/>
        </p:nvSpPr>
        <p:spPr>
          <a:xfrm>
            <a:off x="288607" y="9555170"/>
            <a:ext cx="4480560" cy="137160"/>
          </a:xfrm>
          <a:prstGeom prst="rect">
            <a:avLst/>
          </a:prstGeom>
          <a:noFill/>
          <a:ln/>
        </p:spPr>
        <p:txBody>
          <a:bodyPr wrap="square" lIns="0" tIns="0" rIns="0" bIns="0" rtlCol="0" anchor="t"/>
          <a:lstStyle/>
          <a:p>
            <a:pPr marL="0" indent="0">
              <a:lnSpc>
                <a:spcPct val="100000"/>
              </a:lnSpc>
              <a:buNone/>
            </a:pPr>
            <a:r>
              <a:rPr lang="en-US" sz="715" kern="0" spc="60" dirty="0">
                <a:solidFill>
                  <a:srgbClr val="5D666B"/>
                </a:solidFill>
                <a:latin typeface="Aptos Display" pitchFamily="34" charset="0"/>
                <a:ea typeface="Aptos Display" pitchFamily="34" charset="-122"/>
                <a:cs typeface="Aptos Display" pitchFamily="34" charset="-120"/>
              </a:rPr>
              <a:t>DTU CONSTRUCT  /  MATERIALS AND SURFACE ENGINEERING</a:t>
            </a:r>
            <a:endParaRPr lang="en-US" sz="715" dirty="0"/>
          </a:p>
        </p:txBody>
      </p:sp>
      <p:sp>
        <p:nvSpPr>
          <p:cNvPr id="27" name="Design and test blends">
            <a:extLst>
              <a:ext uri="{FF2B5EF4-FFF2-40B4-BE49-F238E27FC236}">
                <a16:creationId xmlns:a16="http://schemas.microsoft.com/office/drawing/2014/main" id="{B5A1E79B-0C53-541E-69A7-9F5E67C8BF93}"/>
              </a:ext>
            </a:extLst>
          </p:cNvPr>
          <p:cNvSpPr>
            <a:spLocks noGrp="1"/>
          </p:cNvSpPr>
          <p:nvPr/>
        </p:nvSpPr>
        <p:spPr>
          <a:xfrm>
            <a:off x="2370513" y="6309712"/>
            <a:ext cx="4253057" cy="195776"/>
          </a:xfrm>
          <a:prstGeom prst="rect">
            <a:avLst/>
          </a:prstGeom>
          <a:noFill/>
          <a:ln w="0">
            <a:noFill/>
          </a:ln>
        </p:spPr>
        <p:txBody>
          <a:bodyPr>
            <a:noAutofit/>
          </a:bodyPr>
          <a:lstStyle/>
          <a:p>
            <a:pPr>
              <a:defRPr sz="1575" b="1">
                <a:solidFill>
                  <a:srgbClr val="202D36"/>
                </a:solidFill>
                <a:latin typeface="Arial"/>
                <a:ea typeface="Arial"/>
                <a:cs typeface="Arial"/>
              </a:defRPr>
            </a:pPr>
            <a:endParaRPr sz="1100" b="1" dirty="0">
              <a:solidFill>
                <a:srgbClr val="202D36"/>
              </a:solidFill>
              <a:latin typeface="Arial"/>
              <a:ea typeface="Arial"/>
              <a:cs typeface="Arial"/>
            </a:endParaRPr>
          </a:p>
        </p:txBody>
      </p:sp>
      <p:sp>
        <p:nvSpPr>
          <p:cNvPr id="31" name="Design and test blends text">
            <a:extLst>
              <a:ext uri="{FF2B5EF4-FFF2-40B4-BE49-F238E27FC236}">
                <a16:creationId xmlns:a16="http://schemas.microsoft.com/office/drawing/2014/main" id="{60066585-6527-A310-D284-B503A0BC6851}"/>
              </a:ext>
            </a:extLst>
          </p:cNvPr>
          <p:cNvSpPr>
            <a:spLocks noGrp="1"/>
          </p:cNvSpPr>
          <p:nvPr/>
        </p:nvSpPr>
        <p:spPr>
          <a:xfrm>
            <a:off x="2370513" y="6518990"/>
            <a:ext cx="4253057" cy="560323"/>
          </a:xfrm>
          <a:prstGeom prst="rect">
            <a:avLst/>
          </a:prstGeom>
          <a:noFill/>
          <a:ln w="0">
            <a:noFill/>
          </a:ln>
        </p:spPr>
        <p:txBody>
          <a:bodyPr>
            <a:noAutofit/>
          </a:bodyPr>
          <a:lstStyle/>
          <a:p>
            <a:pPr algn="just">
              <a:defRPr sz="1500" b="0">
                <a:solidFill>
                  <a:srgbClr val="202D36"/>
                </a:solidFill>
                <a:latin typeface="Arial"/>
                <a:ea typeface="Arial"/>
                <a:cs typeface="Arial"/>
              </a:defRPr>
            </a:pPr>
            <a:endParaRPr sz="1050" dirty="0">
              <a:solidFill>
                <a:srgbClr val="202D36"/>
              </a:solidFill>
              <a:latin typeface="Arial"/>
              <a:ea typeface="Arial"/>
              <a:cs typeface="Arial"/>
            </a:endParaRPr>
          </a:p>
        </p:txBody>
      </p:sp>
      <p:sp>
        <p:nvSpPr>
          <p:cNvPr id="35" name="Develop quantitative methods">
            <a:extLst>
              <a:ext uri="{FF2B5EF4-FFF2-40B4-BE49-F238E27FC236}">
                <a16:creationId xmlns:a16="http://schemas.microsoft.com/office/drawing/2014/main" id="{321D655A-BC64-DCDA-75D2-EAD00803ADA4}"/>
              </a:ext>
            </a:extLst>
          </p:cNvPr>
          <p:cNvSpPr>
            <a:spLocks noGrp="1"/>
          </p:cNvSpPr>
          <p:nvPr/>
        </p:nvSpPr>
        <p:spPr>
          <a:xfrm>
            <a:off x="2370513" y="7113067"/>
            <a:ext cx="4253057" cy="195776"/>
          </a:xfrm>
          <a:prstGeom prst="rect">
            <a:avLst/>
          </a:prstGeom>
          <a:noFill/>
          <a:ln w="0">
            <a:noFill/>
          </a:ln>
        </p:spPr>
        <p:txBody>
          <a:bodyPr>
            <a:noAutofit/>
          </a:bodyPr>
          <a:lstStyle/>
          <a:p>
            <a:pPr>
              <a:defRPr sz="1575" b="1">
                <a:solidFill>
                  <a:srgbClr val="202D36"/>
                </a:solidFill>
                <a:latin typeface="Arial"/>
                <a:ea typeface="Arial"/>
                <a:cs typeface="Arial"/>
              </a:defRPr>
            </a:pPr>
            <a:endParaRPr sz="1100" b="1" dirty="0">
              <a:solidFill>
                <a:srgbClr val="202D36"/>
              </a:solidFill>
              <a:latin typeface="Arial"/>
              <a:ea typeface="Arial"/>
              <a:cs typeface="Arial"/>
            </a:endParaRPr>
          </a:p>
        </p:txBody>
      </p:sp>
      <p:sp>
        <p:nvSpPr>
          <p:cNvPr id="39" name="Develop quantitative methods text">
            <a:extLst>
              <a:ext uri="{FF2B5EF4-FFF2-40B4-BE49-F238E27FC236}">
                <a16:creationId xmlns:a16="http://schemas.microsoft.com/office/drawing/2014/main" id="{00D9470B-22B9-2D99-E69B-583CF4659611}"/>
              </a:ext>
            </a:extLst>
          </p:cNvPr>
          <p:cNvSpPr>
            <a:spLocks noGrp="1"/>
          </p:cNvSpPr>
          <p:nvPr/>
        </p:nvSpPr>
        <p:spPr>
          <a:xfrm>
            <a:off x="2370513" y="7322345"/>
            <a:ext cx="4253057" cy="560323"/>
          </a:xfrm>
          <a:prstGeom prst="rect">
            <a:avLst/>
          </a:prstGeom>
          <a:noFill/>
          <a:ln w="0">
            <a:noFill/>
          </a:ln>
        </p:spPr>
        <p:txBody>
          <a:bodyPr>
            <a:noAutofit/>
          </a:bodyPr>
          <a:lstStyle/>
          <a:p>
            <a:pPr algn="just">
              <a:defRPr sz="1500" b="0">
                <a:solidFill>
                  <a:srgbClr val="202D36"/>
                </a:solidFill>
                <a:latin typeface="Arial"/>
                <a:ea typeface="Arial"/>
                <a:cs typeface="Arial"/>
              </a:defRPr>
            </a:pPr>
            <a:endParaRPr sz="1050" dirty="0">
              <a:solidFill>
                <a:srgbClr val="202D36"/>
              </a:solidFill>
              <a:latin typeface="Arial"/>
              <a:ea typeface="Arial"/>
              <a:cs typeface="Arial"/>
            </a:endParaRPr>
          </a:p>
        </p:txBody>
      </p:sp>
      <p:sp>
        <p:nvSpPr>
          <p:cNvPr id="43" name="Validate accuracy and mixing endpoints">
            <a:extLst>
              <a:ext uri="{FF2B5EF4-FFF2-40B4-BE49-F238E27FC236}">
                <a16:creationId xmlns:a16="http://schemas.microsoft.com/office/drawing/2014/main" id="{7FEE887B-7787-7422-1D54-12229E2EE78E}"/>
              </a:ext>
            </a:extLst>
          </p:cNvPr>
          <p:cNvSpPr>
            <a:spLocks noGrp="1"/>
          </p:cNvSpPr>
          <p:nvPr/>
        </p:nvSpPr>
        <p:spPr>
          <a:xfrm>
            <a:off x="2370513" y="7916422"/>
            <a:ext cx="4253057" cy="195776"/>
          </a:xfrm>
          <a:prstGeom prst="rect">
            <a:avLst/>
          </a:prstGeom>
          <a:noFill/>
          <a:ln w="0">
            <a:noFill/>
          </a:ln>
        </p:spPr>
        <p:txBody>
          <a:bodyPr>
            <a:noAutofit/>
          </a:bodyPr>
          <a:lstStyle/>
          <a:p>
            <a:pPr>
              <a:defRPr sz="1575" b="1">
                <a:solidFill>
                  <a:srgbClr val="202D36"/>
                </a:solidFill>
                <a:latin typeface="Arial"/>
                <a:ea typeface="Arial"/>
                <a:cs typeface="Arial"/>
              </a:defRPr>
            </a:pPr>
            <a:endParaRPr sz="1100" b="1" dirty="0">
              <a:solidFill>
                <a:srgbClr val="202D36"/>
              </a:solidFill>
              <a:latin typeface="Arial"/>
              <a:ea typeface="Arial"/>
              <a:cs typeface="Arial"/>
            </a:endParaRPr>
          </a:p>
        </p:txBody>
      </p:sp>
      <p:sp>
        <p:nvSpPr>
          <p:cNvPr id="47" name="Validate accuracy and mixing endpoints text">
            <a:extLst>
              <a:ext uri="{FF2B5EF4-FFF2-40B4-BE49-F238E27FC236}">
                <a16:creationId xmlns:a16="http://schemas.microsoft.com/office/drawing/2014/main" id="{60FEC480-8885-9807-2D48-02A1F905D64C}"/>
              </a:ext>
            </a:extLst>
          </p:cNvPr>
          <p:cNvSpPr>
            <a:spLocks noGrp="1"/>
          </p:cNvSpPr>
          <p:nvPr/>
        </p:nvSpPr>
        <p:spPr>
          <a:xfrm>
            <a:off x="2370513" y="8125700"/>
            <a:ext cx="4253057" cy="560323"/>
          </a:xfrm>
          <a:prstGeom prst="rect">
            <a:avLst/>
          </a:prstGeom>
          <a:noFill/>
          <a:ln w="0">
            <a:noFill/>
          </a:ln>
        </p:spPr>
        <p:txBody>
          <a:bodyPr>
            <a:noAutofit/>
          </a:bodyPr>
          <a:lstStyle/>
          <a:p>
            <a:pPr algn="just">
              <a:defRPr sz="1500" b="0">
                <a:solidFill>
                  <a:srgbClr val="202D36"/>
                </a:solidFill>
                <a:latin typeface="Arial"/>
                <a:ea typeface="Arial"/>
                <a:cs typeface="Arial"/>
              </a:defRPr>
            </a:pPr>
            <a:endParaRPr sz="1050" dirty="0">
              <a:solidFill>
                <a:srgbClr val="202D36"/>
              </a:solidFill>
              <a:latin typeface="Arial"/>
              <a:ea typeface="Arial"/>
              <a:cs typeface="Arial"/>
            </a:endParaRPr>
          </a:p>
        </p:txBody>
      </p:sp>
      <p:sp>
        <p:nvSpPr>
          <p:cNvPr id="51" name="Connect formulation to performance">
            <a:extLst>
              <a:ext uri="{FF2B5EF4-FFF2-40B4-BE49-F238E27FC236}">
                <a16:creationId xmlns:a16="http://schemas.microsoft.com/office/drawing/2014/main" id="{64C09682-889D-4A7B-EF7B-72D500BD3122}"/>
              </a:ext>
            </a:extLst>
          </p:cNvPr>
          <p:cNvSpPr>
            <a:spLocks noGrp="1"/>
          </p:cNvSpPr>
          <p:nvPr/>
        </p:nvSpPr>
        <p:spPr>
          <a:xfrm>
            <a:off x="2370513" y="8719778"/>
            <a:ext cx="4253057" cy="195776"/>
          </a:xfrm>
          <a:prstGeom prst="rect">
            <a:avLst/>
          </a:prstGeom>
          <a:noFill/>
          <a:ln w="0">
            <a:noFill/>
          </a:ln>
        </p:spPr>
        <p:txBody>
          <a:bodyPr>
            <a:noAutofit/>
          </a:bodyPr>
          <a:lstStyle/>
          <a:p>
            <a:pPr>
              <a:defRPr sz="1575" b="1">
                <a:solidFill>
                  <a:srgbClr val="202D36"/>
                </a:solidFill>
                <a:latin typeface="Arial"/>
                <a:ea typeface="Arial"/>
                <a:cs typeface="Arial"/>
              </a:defRPr>
            </a:pPr>
            <a:endParaRPr sz="1100" b="1" dirty="0">
              <a:solidFill>
                <a:srgbClr val="202D36"/>
              </a:solidFill>
              <a:latin typeface="Arial"/>
              <a:ea typeface="Arial"/>
              <a:cs typeface="Arial"/>
            </a:endParaRPr>
          </a:p>
        </p:txBody>
      </p:sp>
      <p:sp>
        <p:nvSpPr>
          <p:cNvPr id="55" name="Connect formulation to performance text">
            <a:extLst>
              <a:ext uri="{FF2B5EF4-FFF2-40B4-BE49-F238E27FC236}">
                <a16:creationId xmlns:a16="http://schemas.microsoft.com/office/drawing/2014/main" id="{509C6B0C-CD63-52CC-9C5D-756B4EAEDF6A}"/>
              </a:ext>
            </a:extLst>
          </p:cNvPr>
          <p:cNvSpPr>
            <a:spLocks noGrp="1"/>
          </p:cNvSpPr>
          <p:nvPr/>
        </p:nvSpPr>
        <p:spPr>
          <a:xfrm>
            <a:off x="2399774" y="7998190"/>
            <a:ext cx="4253057" cy="560323"/>
          </a:xfrm>
          <a:prstGeom prst="rect">
            <a:avLst/>
          </a:prstGeom>
          <a:noFill/>
          <a:ln w="0">
            <a:noFill/>
          </a:ln>
        </p:spPr>
        <p:txBody>
          <a:bodyPr>
            <a:noAutofit/>
          </a:bodyPr>
          <a:lstStyle/>
          <a:p>
            <a:pPr algn="just">
              <a:defRPr sz="1500" b="0">
                <a:solidFill>
                  <a:srgbClr val="202D36"/>
                </a:solidFill>
                <a:latin typeface="Arial"/>
                <a:ea typeface="Arial"/>
                <a:cs typeface="Arial"/>
              </a:defRPr>
            </a:pPr>
            <a:endParaRPr sz="1050" dirty="0">
              <a:solidFill>
                <a:srgbClr val="202D36"/>
              </a:solidFill>
              <a:latin typeface="Arial"/>
              <a:ea typeface="Arial"/>
              <a:cs typeface="Arial"/>
            </a:endParaRPr>
          </a:p>
        </p:txBody>
      </p:sp>
      <p:pic>
        <p:nvPicPr>
          <p:cNvPr id="59" name="Picture 58">
            <a:extLst>
              <a:ext uri="{FF2B5EF4-FFF2-40B4-BE49-F238E27FC236}">
                <a16:creationId xmlns:a16="http://schemas.microsoft.com/office/drawing/2014/main" id="{6F05EA71-D204-1922-A5B2-260AD925692B}"/>
              </a:ext>
            </a:extLst>
          </p:cNvPr>
          <p:cNvPicPr>
            <a:picLocks noChangeAspect="1"/>
          </p:cNvPicPr>
          <p:nvPr/>
        </p:nvPicPr>
        <p:blipFill>
          <a:blip r:embed="rId4"/>
          <a:stretch>
            <a:fillRect/>
          </a:stretch>
        </p:blipFill>
        <p:spPr>
          <a:xfrm>
            <a:off x="3334481" y="2117697"/>
            <a:ext cx="1162560" cy="1159140"/>
          </a:xfrm>
          <a:prstGeom prst="rect">
            <a:avLst/>
          </a:prstGeom>
        </p:spPr>
      </p:pic>
      <p:pic>
        <p:nvPicPr>
          <p:cNvPr id="73" name="Picture 72">
            <a:extLst>
              <a:ext uri="{FF2B5EF4-FFF2-40B4-BE49-F238E27FC236}">
                <a16:creationId xmlns:a16="http://schemas.microsoft.com/office/drawing/2014/main" id="{14F039E1-25A6-D4C1-A583-05DFCCEA9999}"/>
              </a:ext>
            </a:extLst>
          </p:cNvPr>
          <p:cNvPicPr>
            <a:picLocks noChangeAspect="1"/>
          </p:cNvPicPr>
          <p:nvPr/>
        </p:nvPicPr>
        <p:blipFill>
          <a:blip r:embed="rId5"/>
          <a:stretch>
            <a:fillRect/>
          </a:stretch>
        </p:blipFill>
        <p:spPr>
          <a:xfrm>
            <a:off x="574015" y="3096117"/>
            <a:ext cx="876293" cy="828097"/>
          </a:xfrm>
          <a:prstGeom prst="rect">
            <a:avLst/>
          </a:prstGeom>
        </p:spPr>
      </p:pic>
      <p:pic>
        <p:nvPicPr>
          <p:cNvPr id="75" name="Picture 74">
            <a:extLst>
              <a:ext uri="{FF2B5EF4-FFF2-40B4-BE49-F238E27FC236}">
                <a16:creationId xmlns:a16="http://schemas.microsoft.com/office/drawing/2014/main" id="{C3C65238-9081-58EF-B6CA-F88819844A24}"/>
              </a:ext>
            </a:extLst>
          </p:cNvPr>
          <p:cNvPicPr>
            <a:picLocks/>
          </p:cNvPicPr>
          <p:nvPr/>
        </p:nvPicPr>
        <p:blipFill rotWithShape="1">
          <a:blip r:embed="rId6"/>
          <a:srcRect t="41777" r="15781"/>
          <a:stretch/>
        </p:blipFill>
        <p:spPr>
          <a:xfrm>
            <a:off x="301691" y="2103818"/>
            <a:ext cx="739929" cy="652947"/>
          </a:xfrm>
          <a:prstGeom prst="rect">
            <a:avLst/>
          </a:prstGeom>
        </p:spPr>
      </p:pic>
      <p:pic>
        <p:nvPicPr>
          <p:cNvPr id="76" name="Picture 75">
            <a:extLst>
              <a:ext uri="{FF2B5EF4-FFF2-40B4-BE49-F238E27FC236}">
                <a16:creationId xmlns:a16="http://schemas.microsoft.com/office/drawing/2014/main" id="{2B7F28E3-49EB-2058-42DE-0E666F63561F}"/>
              </a:ext>
            </a:extLst>
          </p:cNvPr>
          <p:cNvPicPr>
            <a:picLocks noChangeAspect="1"/>
          </p:cNvPicPr>
          <p:nvPr/>
        </p:nvPicPr>
        <p:blipFill rotWithShape="1">
          <a:blip r:embed="rId7"/>
          <a:srcRect b="6521"/>
          <a:stretch/>
        </p:blipFill>
        <p:spPr>
          <a:xfrm>
            <a:off x="798504" y="2251631"/>
            <a:ext cx="799098" cy="813416"/>
          </a:xfrm>
          <a:prstGeom prst="rect">
            <a:avLst/>
          </a:prstGeom>
        </p:spPr>
      </p:pic>
    </p:spTree>
    <p:extLst>
      <p:ext uri="{BB962C8B-B14F-4D97-AF65-F5344CB8AC3E}">
        <p14:creationId xmlns:p14="http://schemas.microsoft.com/office/powerpoint/2010/main" val="2236149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DA1B8-5E62-12C9-50FC-D2196CF40F2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A42C9E-E27B-CE64-E7AA-EF7F32B32FC2}"/>
              </a:ext>
            </a:extLst>
          </p:cNvPr>
          <p:cNvSpPr>
            <a:spLocks noGrp="1"/>
          </p:cNvSpPr>
          <p:nvPr>
            <p:ph type="sldNum" sz="quarter" idx="12"/>
          </p:nvPr>
        </p:nvSpPr>
        <p:spPr>
          <a:xfrm>
            <a:off x="4989080" y="9329519"/>
            <a:ext cx="1543050" cy="527403"/>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934066D-384D-4BE1-BDC2-82BCC33558DD}" type="slidenum">
              <a:rPr kumimoji="0" lang="en-US" sz="800" b="1" i="0" u="none" strike="noStrike" kern="1200" cap="none" spc="0" normalizeH="0" baseline="0" noProof="0" smtClean="0">
                <a:ln>
                  <a:noFill/>
                </a:ln>
                <a:solidFill>
                  <a:srgbClr val="C00000"/>
                </a:solidFill>
                <a:effectLst/>
                <a:uLnTx/>
                <a:uFillTx/>
                <a:latin typeface="Aptos Display"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800" b="1" i="0" u="none" strike="noStrike" kern="1200" cap="none" spc="0" normalizeH="0" baseline="0" noProof="0" dirty="0">
              <a:ln>
                <a:noFill/>
              </a:ln>
              <a:solidFill>
                <a:srgbClr val="C00000"/>
              </a:solidFill>
              <a:effectLst/>
              <a:uLnTx/>
              <a:uFillTx/>
              <a:latin typeface="Aptos Display" panose="02110004020202020204"/>
              <a:ea typeface="+mn-ea"/>
              <a:cs typeface="+mn-cs"/>
            </a:endParaRPr>
          </a:p>
        </p:txBody>
      </p:sp>
      <p:sp>
        <p:nvSpPr>
          <p:cNvPr id="6" name="Shape 1">
            <a:extLst>
              <a:ext uri="{FF2B5EF4-FFF2-40B4-BE49-F238E27FC236}">
                <a16:creationId xmlns:a16="http://schemas.microsoft.com/office/drawing/2014/main" id="{989AC500-9060-A3FC-E50C-5410A7F8931F}"/>
              </a:ext>
            </a:extLst>
          </p:cNvPr>
          <p:cNvSpPr/>
          <p:nvPr/>
        </p:nvSpPr>
        <p:spPr>
          <a:xfrm>
            <a:off x="288607" y="292298"/>
            <a:ext cx="32004" cy="393192"/>
          </a:xfrm>
          <a:prstGeom prst="rect">
            <a:avLst/>
          </a:prstGeom>
          <a:solidFill>
            <a:srgbClr val="A30018"/>
          </a:solidFill>
          <a:ln w="12700">
            <a:solidFill>
              <a:srgbClr val="A30018">
                <a:alpha val="0"/>
              </a:srgbClr>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8" name="Text 2">
            <a:extLst>
              <a:ext uri="{FF2B5EF4-FFF2-40B4-BE49-F238E27FC236}">
                <a16:creationId xmlns:a16="http://schemas.microsoft.com/office/drawing/2014/main" id="{B612E2C4-B1FB-E6E0-1FB8-F4A24019D41A}"/>
              </a:ext>
            </a:extLst>
          </p:cNvPr>
          <p:cNvSpPr/>
          <p:nvPr/>
        </p:nvSpPr>
        <p:spPr>
          <a:xfrm>
            <a:off x="444055" y="278582"/>
            <a:ext cx="5166360" cy="210312"/>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 normalizeH="0" baseline="0" noProof="0" dirty="0">
                <a:ln>
                  <a:noFill/>
                </a:ln>
                <a:solidFill>
                  <a:srgbClr val="22282D"/>
                </a:solidFill>
                <a:effectLst/>
                <a:uLnTx/>
                <a:uFillTx/>
                <a:latin typeface="Aptos Display" pitchFamily="34" charset="0"/>
                <a:ea typeface="Aptos Display" pitchFamily="34" charset="-122"/>
                <a:cs typeface="Aptos Display" pitchFamily="34" charset="-120"/>
              </a:rPr>
              <a:t>MATERIALS AND SURFACE ENGINEERING</a:t>
            </a:r>
            <a:endPar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0" name="Text 3">
            <a:extLst>
              <a:ext uri="{FF2B5EF4-FFF2-40B4-BE49-F238E27FC236}">
                <a16:creationId xmlns:a16="http://schemas.microsoft.com/office/drawing/2014/main" id="{A3BF0168-BC40-BF92-4379-E9CC51880795}"/>
              </a:ext>
            </a:extLst>
          </p:cNvPr>
          <p:cNvSpPr/>
          <p:nvPr/>
        </p:nvSpPr>
        <p:spPr>
          <a:xfrm>
            <a:off x="444055" y="516326"/>
            <a:ext cx="5212080" cy="173736"/>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55" normalizeH="0" baseline="0" noProof="0" dirty="0">
                <a:ln>
                  <a:noFill/>
                </a:ln>
                <a:solidFill>
                  <a:srgbClr val="5D666B"/>
                </a:solidFill>
                <a:effectLst/>
                <a:uLnTx/>
                <a:uFillTx/>
                <a:latin typeface="Aptos" pitchFamily="34" charset="0"/>
                <a:ea typeface="Aptos" pitchFamily="34" charset="-122"/>
                <a:cs typeface="Aptos" pitchFamily="34" charset="-120"/>
              </a:rPr>
              <a:t>DEPARTMENT OF CIVIL AND MECHANICAL ENGINEERING</a:t>
            </a:r>
            <a:endPar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12" name="Image 0" descr="/mnt/data/dtu_logo.png">
            <a:extLst>
              <a:ext uri="{FF2B5EF4-FFF2-40B4-BE49-F238E27FC236}">
                <a16:creationId xmlns:a16="http://schemas.microsoft.com/office/drawing/2014/main" id="{43BA1A91-D554-1045-2102-31B33C2FFEF4}"/>
              </a:ext>
            </a:extLst>
          </p:cNvPr>
          <p:cNvPicPr>
            <a:picLocks noChangeAspect="1"/>
          </p:cNvPicPr>
          <p:nvPr/>
        </p:nvPicPr>
        <p:blipFill>
          <a:blip r:embed="rId2"/>
          <a:stretch>
            <a:fillRect/>
          </a:stretch>
        </p:blipFill>
        <p:spPr>
          <a:xfrm>
            <a:off x="6223063" y="197200"/>
            <a:ext cx="429768" cy="601675"/>
          </a:xfrm>
          <a:prstGeom prst="rect">
            <a:avLst/>
          </a:prstGeom>
        </p:spPr>
      </p:pic>
      <p:sp>
        <p:nvSpPr>
          <p:cNvPr id="14" name="Shape 4">
            <a:extLst>
              <a:ext uri="{FF2B5EF4-FFF2-40B4-BE49-F238E27FC236}">
                <a16:creationId xmlns:a16="http://schemas.microsoft.com/office/drawing/2014/main" id="{6AA4A080-16B2-68A4-4678-7032FE1B98A8}"/>
              </a:ext>
            </a:extLst>
          </p:cNvPr>
          <p:cNvSpPr/>
          <p:nvPr/>
        </p:nvSpPr>
        <p:spPr>
          <a:xfrm>
            <a:off x="288607" y="936950"/>
            <a:ext cx="6426403" cy="0"/>
          </a:xfrm>
          <a:prstGeom prst="line">
            <a:avLst/>
          </a:prstGeom>
          <a:noFill/>
          <a:ln w="19050">
            <a:solidFill>
              <a:srgbClr val="A30018"/>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Text 5">
            <a:extLst>
              <a:ext uri="{FF2B5EF4-FFF2-40B4-BE49-F238E27FC236}">
                <a16:creationId xmlns:a16="http://schemas.microsoft.com/office/drawing/2014/main" id="{63D16813-FAB6-4F6C-1EF0-D32C769D2E2E}"/>
              </a:ext>
            </a:extLst>
          </p:cNvPr>
          <p:cNvSpPr/>
          <p:nvPr/>
        </p:nvSpPr>
        <p:spPr>
          <a:xfrm>
            <a:off x="302581" y="1067887"/>
            <a:ext cx="6426403" cy="201168"/>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60" b="1" i="0" u="none" strike="noStrike" kern="0" cap="none" spc="120" normalizeH="0" baseline="0" noProof="0" dirty="0">
                <a:ln>
                  <a:noFill/>
                </a:ln>
                <a:solidFill>
                  <a:srgbClr val="A30018"/>
                </a:solidFill>
                <a:effectLst/>
                <a:uLnTx/>
                <a:uFillTx/>
                <a:latin typeface="Aptos Display" pitchFamily="34" charset="0"/>
                <a:ea typeface="Aptos Display" pitchFamily="34" charset="-122"/>
                <a:cs typeface="Aptos Display" pitchFamily="34" charset="-120"/>
              </a:rPr>
              <a:t>PROJECT LEVEL: MSc project, BSc project, BEng project or special course</a:t>
            </a:r>
            <a:endParaRPr kumimoji="0" lang="en-US" sz="86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8" name="Text 6">
            <a:extLst>
              <a:ext uri="{FF2B5EF4-FFF2-40B4-BE49-F238E27FC236}">
                <a16:creationId xmlns:a16="http://schemas.microsoft.com/office/drawing/2014/main" id="{2F71DC82-3519-7B84-3949-CC3B94FB5CB1}"/>
              </a:ext>
            </a:extLst>
          </p:cNvPr>
          <p:cNvSpPr/>
          <p:nvPr/>
        </p:nvSpPr>
        <p:spPr>
          <a:xfrm>
            <a:off x="302581" y="1345063"/>
            <a:ext cx="6426403" cy="683799"/>
          </a:xfrm>
          <a:prstGeom prst="rect">
            <a:avLst/>
          </a:prstGeom>
          <a:noFill/>
          <a:ln/>
        </p:spPr>
        <p:txBody>
          <a:bodyPr wrap="square" lIns="0" tIns="0" rIns="0" bIns="0" rtlCol="0" anchor="t"/>
          <a:lstStyle/>
          <a:p>
            <a:pPr marL="0" marR="0" lvl="0" indent="0" algn="l" defTabSz="457200" rtl="0" eaLnBrk="1" fontAlgn="auto" latinLnBrk="0" hangingPunct="1">
              <a:lnSpc>
                <a:spcPct val="95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ptos Display" pitchFamily="34" charset="0"/>
                <a:ea typeface="Aptos Display" pitchFamily="34" charset="-122"/>
                <a:cs typeface="Aptos Display" pitchFamily="34" charset="-120"/>
              </a:rPr>
              <a:t>Relation between microstructure and hardness for </a:t>
            </a:r>
          </a:p>
          <a:p>
            <a:pPr marL="0" marR="0" lvl="0" indent="0" algn="l" defTabSz="457200" rtl="0" eaLnBrk="1" fontAlgn="auto" latinLnBrk="0" hangingPunct="1">
              <a:lnSpc>
                <a:spcPct val="95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ptos Display" pitchFamily="34" charset="0"/>
                <a:ea typeface="Aptos Display" pitchFamily="34" charset="-122"/>
                <a:cs typeface="Aptos Display" pitchFamily="34" charset="-120"/>
              </a:rPr>
              <a:t>cold-forging of brass components</a:t>
            </a:r>
          </a:p>
        </p:txBody>
      </p:sp>
      <p:sp>
        <p:nvSpPr>
          <p:cNvPr id="26" name="Shape 14">
            <a:extLst>
              <a:ext uri="{FF2B5EF4-FFF2-40B4-BE49-F238E27FC236}">
                <a16:creationId xmlns:a16="http://schemas.microsoft.com/office/drawing/2014/main" id="{70975480-5AEC-7743-30E6-F830BC0FEC6C}"/>
              </a:ext>
            </a:extLst>
          </p:cNvPr>
          <p:cNvSpPr/>
          <p:nvPr/>
        </p:nvSpPr>
        <p:spPr>
          <a:xfrm>
            <a:off x="4623932" y="2059932"/>
            <a:ext cx="0" cy="2112264"/>
          </a:xfrm>
          <a:prstGeom prst="line">
            <a:avLst/>
          </a:prstGeom>
          <a:noFill/>
          <a:ln w="12700">
            <a:solidFill>
              <a:srgbClr val="DFE2E3"/>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Text 15">
            <a:extLst>
              <a:ext uri="{FF2B5EF4-FFF2-40B4-BE49-F238E27FC236}">
                <a16:creationId xmlns:a16="http://schemas.microsoft.com/office/drawing/2014/main" id="{8F8C44FB-8375-2995-6686-98B7A072AE86}"/>
              </a:ext>
            </a:extLst>
          </p:cNvPr>
          <p:cNvSpPr/>
          <p:nvPr/>
        </p:nvSpPr>
        <p:spPr>
          <a:xfrm>
            <a:off x="4811229" y="1999917"/>
            <a:ext cx="1901952" cy="201168"/>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20" normalizeH="0" baseline="0" noProof="0" dirty="0">
                <a:ln>
                  <a:noFill/>
                </a:ln>
                <a:solidFill>
                  <a:srgbClr val="5D666B"/>
                </a:solidFill>
                <a:effectLst/>
                <a:uLnTx/>
                <a:uFillTx/>
                <a:latin typeface="Aptos Display" pitchFamily="34" charset="0"/>
                <a:ea typeface="Aptos Display" pitchFamily="34" charset="-122"/>
                <a:cs typeface="Aptos Display" pitchFamily="34" charset="-120"/>
              </a:rPr>
              <a:t>SUPERVISORS</a:t>
            </a:r>
            <a:endPar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0" name="Text 16">
            <a:extLst>
              <a:ext uri="{FF2B5EF4-FFF2-40B4-BE49-F238E27FC236}">
                <a16:creationId xmlns:a16="http://schemas.microsoft.com/office/drawing/2014/main" id="{3DADD73E-400A-7D99-5524-56102DCD27FE}"/>
              </a:ext>
            </a:extLst>
          </p:cNvPr>
          <p:cNvSpPr/>
          <p:nvPr/>
        </p:nvSpPr>
        <p:spPr>
          <a:xfrm>
            <a:off x="4811229" y="2274237"/>
            <a:ext cx="1901952" cy="201168"/>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Karen Pantleon</a:t>
            </a:r>
          </a:p>
        </p:txBody>
      </p:sp>
      <p:sp>
        <p:nvSpPr>
          <p:cNvPr id="32" name="Text 17">
            <a:extLst>
              <a:ext uri="{FF2B5EF4-FFF2-40B4-BE49-F238E27FC236}">
                <a16:creationId xmlns:a16="http://schemas.microsoft.com/office/drawing/2014/main" id="{316D6533-8B44-4108-E0EE-A7644B755EBA}"/>
              </a:ext>
            </a:extLst>
          </p:cNvPr>
          <p:cNvSpPr/>
          <p:nvPr/>
        </p:nvSpPr>
        <p:spPr>
          <a:xfrm>
            <a:off x="4811229" y="2484549"/>
            <a:ext cx="1901952" cy="164592"/>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A30018"/>
                </a:solidFill>
                <a:effectLst/>
                <a:uLnTx/>
                <a:uFillTx/>
                <a:latin typeface="Aptos" pitchFamily="34" charset="0"/>
                <a:ea typeface="+mn-ea"/>
                <a:cs typeface="+mn-cs"/>
              </a:rPr>
              <a:t>kapa@dtu.dk</a:t>
            </a:r>
            <a:endPar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6" name="Shape 24">
            <a:extLst>
              <a:ext uri="{FF2B5EF4-FFF2-40B4-BE49-F238E27FC236}">
                <a16:creationId xmlns:a16="http://schemas.microsoft.com/office/drawing/2014/main" id="{CA7407BD-B091-C4A5-F2A7-B3D27701C0B7}"/>
              </a:ext>
            </a:extLst>
          </p:cNvPr>
          <p:cNvSpPr/>
          <p:nvPr/>
        </p:nvSpPr>
        <p:spPr>
          <a:xfrm>
            <a:off x="314594" y="4172196"/>
            <a:ext cx="6426403" cy="0"/>
          </a:xfrm>
          <a:prstGeom prst="line">
            <a:avLst/>
          </a:prstGeom>
          <a:noFill/>
          <a:ln w="10795">
            <a:solidFill>
              <a:srgbClr val="DFE2E3"/>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8" name="Text 25">
            <a:extLst>
              <a:ext uri="{FF2B5EF4-FFF2-40B4-BE49-F238E27FC236}">
                <a16:creationId xmlns:a16="http://schemas.microsoft.com/office/drawing/2014/main" id="{B79DD5A1-DCB2-EA3A-D627-95D9231FEABB}"/>
              </a:ext>
            </a:extLst>
          </p:cNvPr>
          <p:cNvSpPr/>
          <p:nvPr/>
        </p:nvSpPr>
        <p:spPr>
          <a:xfrm>
            <a:off x="319165" y="4351119"/>
            <a:ext cx="6426403" cy="1411975"/>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60" b="1" i="0" u="none" strike="noStrike" kern="0" cap="none" spc="120" normalizeH="0" baseline="0" noProof="0" dirty="0">
                <a:ln>
                  <a:noFill/>
                </a:ln>
                <a:solidFill>
                  <a:srgbClr val="A30018"/>
                </a:solidFill>
                <a:effectLst/>
                <a:uLnTx/>
                <a:uFillTx/>
                <a:latin typeface="Aptos Display" pitchFamily="34" charset="0"/>
                <a:ea typeface="Aptos Display" pitchFamily="34" charset="-122"/>
                <a:cs typeface="Aptos Display" pitchFamily="34" charset="-120"/>
              </a:rPr>
              <a:t>PROJECT BACKGROUND</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 b="1" i="0" u="none" strike="noStrike" kern="0" cap="none" spc="120" normalizeH="0" baseline="0" noProof="0" dirty="0">
              <a:ln>
                <a:noFill/>
              </a:ln>
              <a:solidFill>
                <a:srgbClr val="A30018"/>
              </a:solidFill>
              <a:effectLst/>
              <a:uLnTx/>
              <a:uFillTx/>
              <a:latin typeface="Aptos Display"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rPr>
              <a:t>More than 100 years ago, the Danish company Steel Products was established and over the years has specialized in manufacturing products made of different alloys, not only steels. One of its present developments addresses brass components, which rely on the interplay between deformation and annealing. This meets new challenges of understanding and optimizing the relationship between the materials’ microstructure – properties – processing – performance of the final brass product.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rPr>
              <a:t>For cold-forging brass components, their initial microstructure and related properties are crucial.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rPr>
              <a:t>In general, the expectation is, the softer the material, the easier to cold-forge. However, annealing of the raw material makes some brass alloys harder and this results in a more difficult cold-forging process. Understanding this phenomenon from a material’s perspective and suggesting the most suitable raw material characteristics is of interest.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86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0" name="Text 26">
            <a:extLst>
              <a:ext uri="{FF2B5EF4-FFF2-40B4-BE49-F238E27FC236}">
                <a16:creationId xmlns:a16="http://schemas.microsoft.com/office/drawing/2014/main" id="{1C3A53DB-F293-8EC2-F68F-C7AF010DC3E0}"/>
              </a:ext>
            </a:extLst>
          </p:cNvPr>
          <p:cNvSpPr/>
          <p:nvPr/>
        </p:nvSpPr>
        <p:spPr>
          <a:xfrm>
            <a:off x="309552" y="4445451"/>
            <a:ext cx="6426403" cy="1290339"/>
          </a:xfrm>
          <a:prstGeom prst="rect">
            <a:avLst/>
          </a:prstGeom>
          <a:noFill/>
          <a:ln/>
        </p:spPr>
        <p:txBody>
          <a:bodyPr wrap="square" lIns="0" tIns="0" rIns="0" bIns="0" rtlCol="0" anchor="t"/>
          <a:lstStyle/>
          <a:p>
            <a:pPr marL="0" marR="0" lvl="0" indent="0" algn="l" defTabSz="457200" rtl="0" eaLnBrk="1" fontAlgn="auto" latinLnBrk="0" hangingPunct="1">
              <a:lnSpc>
                <a:spcPct val="104000"/>
              </a:lnSpc>
              <a:spcBef>
                <a:spcPts val="0"/>
              </a:spcBef>
              <a:spcAft>
                <a:spcPts val="0"/>
              </a:spcAft>
              <a:buClrTx/>
              <a:buSzTx/>
              <a:buFontTx/>
              <a:buNone/>
              <a:tabLst/>
              <a:defRPr/>
            </a:pPr>
            <a:endParaRPr kumimoji="0" lang="en-US" sz="990" b="0" i="0" u="none" strike="noStrike" kern="1200" cap="none" spc="0" normalizeH="0" baseline="0" noProof="0" dirty="0">
              <a:ln>
                <a:noFill/>
              </a:ln>
              <a:solidFill>
                <a:srgbClr val="FF0000"/>
              </a:solidFill>
              <a:effectLst/>
              <a:uLnTx/>
              <a:uFillTx/>
              <a:latin typeface="Aptos" pitchFamily="34" charset="0"/>
              <a:ea typeface="Aptos" pitchFamily="34" charset="-122"/>
              <a:cs typeface="Aptos" pitchFamily="34" charset="-120"/>
            </a:endParaRPr>
          </a:p>
        </p:txBody>
      </p:sp>
      <p:sp>
        <p:nvSpPr>
          <p:cNvPr id="52" name="Text 27">
            <a:extLst>
              <a:ext uri="{FF2B5EF4-FFF2-40B4-BE49-F238E27FC236}">
                <a16:creationId xmlns:a16="http://schemas.microsoft.com/office/drawing/2014/main" id="{51CBF7BD-410A-B048-2B20-AC300C5C5610}"/>
              </a:ext>
            </a:extLst>
          </p:cNvPr>
          <p:cNvSpPr/>
          <p:nvPr/>
        </p:nvSpPr>
        <p:spPr>
          <a:xfrm>
            <a:off x="305241" y="5962978"/>
            <a:ext cx="6426403" cy="201168"/>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60" b="1" i="0" u="none" strike="noStrike" kern="0" cap="none" spc="120" normalizeH="0" baseline="0" noProof="0" dirty="0">
                <a:ln>
                  <a:noFill/>
                </a:ln>
                <a:solidFill>
                  <a:srgbClr val="A30018"/>
                </a:solidFill>
                <a:effectLst/>
                <a:uLnTx/>
                <a:uFillTx/>
                <a:latin typeface="Aptos Display" pitchFamily="34" charset="0"/>
                <a:ea typeface="Aptos Display" pitchFamily="34" charset="-122"/>
                <a:cs typeface="Aptos Display" pitchFamily="34" charset="-120"/>
              </a:rPr>
              <a:t>PROJECT AIM</a:t>
            </a:r>
            <a:endParaRPr kumimoji="0" lang="en-US" sz="86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4" name="Text 28">
            <a:extLst>
              <a:ext uri="{FF2B5EF4-FFF2-40B4-BE49-F238E27FC236}">
                <a16:creationId xmlns:a16="http://schemas.microsoft.com/office/drawing/2014/main" id="{CF8D42DD-84D3-05EB-A0DD-1D643071A832}"/>
              </a:ext>
            </a:extLst>
          </p:cNvPr>
          <p:cNvSpPr/>
          <p:nvPr/>
        </p:nvSpPr>
        <p:spPr>
          <a:xfrm>
            <a:off x="299223" y="6121969"/>
            <a:ext cx="6426403" cy="438912"/>
          </a:xfrm>
          <a:prstGeom prst="rect">
            <a:avLst/>
          </a:prstGeom>
          <a:noFill/>
          <a:ln/>
        </p:spPr>
        <p:txBody>
          <a:bodyPr wrap="square" lIns="0" tIns="0" rIns="0" bIns="0" rtlCol="0" anchor="t"/>
          <a:lstStyle/>
          <a:p>
            <a:pPr marL="0" marR="0" lvl="0" indent="0" algn="l" defTabSz="457200" rtl="0" eaLnBrk="1" fontAlgn="auto" latinLnBrk="0" hangingPunct="1">
              <a:lnSpc>
                <a:spcPct val="103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ptos" pitchFamily="34" charset="0"/>
                <a:ea typeface="Aptos" pitchFamily="34" charset="-122"/>
                <a:cs typeface="Aptos" pitchFamily="34" charset="-120"/>
              </a:rPr>
              <a:t>Relate microstructure and mechanical properties of Cu-Zn alloys (brass) to their ability of cold-forging industrial products. </a:t>
            </a:r>
          </a:p>
          <a:p>
            <a:pPr marL="0" marR="0" lvl="0" indent="0" algn="l" defTabSz="457200" rtl="0" eaLnBrk="1" fontAlgn="auto" latinLnBrk="0" hangingPunct="1">
              <a:lnSpc>
                <a:spcPct val="103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ptos" pitchFamily="34" charset="0"/>
                <a:ea typeface="Aptos" pitchFamily="34" charset="-122"/>
                <a:cs typeface="Aptos" pitchFamily="34" charset="-120"/>
              </a:rPr>
              <a:t>Suggest the optimal characteristics of the raw material for optimized cold-forging. </a:t>
            </a:r>
          </a:p>
        </p:txBody>
      </p:sp>
      <p:sp>
        <p:nvSpPr>
          <p:cNvPr id="56" name="Text 29">
            <a:extLst>
              <a:ext uri="{FF2B5EF4-FFF2-40B4-BE49-F238E27FC236}">
                <a16:creationId xmlns:a16="http://schemas.microsoft.com/office/drawing/2014/main" id="{93EB496B-26A4-90A7-8CCF-A3F18A3F96E6}"/>
              </a:ext>
            </a:extLst>
          </p:cNvPr>
          <p:cNvSpPr/>
          <p:nvPr/>
        </p:nvSpPr>
        <p:spPr>
          <a:xfrm>
            <a:off x="302581" y="6617268"/>
            <a:ext cx="6426403" cy="201168"/>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60" b="1" i="0" u="none" strike="noStrike" kern="0" cap="none" spc="120" normalizeH="0" baseline="0" noProof="0" dirty="0">
                <a:ln>
                  <a:noFill/>
                </a:ln>
                <a:solidFill>
                  <a:srgbClr val="A30018"/>
                </a:solidFill>
                <a:effectLst/>
                <a:uLnTx/>
                <a:uFillTx/>
                <a:latin typeface="Aptos Display" pitchFamily="34" charset="0"/>
                <a:ea typeface="Aptos Display" pitchFamily="34" charset="-122"/>
                <a:cs typeface="Aptos Display" pitchFamily="34" charset="-120"/>
              </a:rPr>
              <a:t>PROJECT ACTIVITIES</a:t>
            </a:r>
            <a:endParaRPr kumimoji="0" lang="en-US" sz="86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8" name="Text 30">
            <a:extLst>
              <a:ext uri="{FF2B5EF4-FFF2-40B4-BE49-F238E27FC236}">
                <a16:creationId xmlns:a16="http://schemas.microsoft.com/office/drawing/2014/main" id="{9EAC4A9F-CA48-562B-4BD5-1D39E441C268}"/>
              </a:ext>
            </a:extLst>
          </p:cNvPr>
          <p:cNvSpPr/>
          <p:nvPr/>
        </p:nvSpPr>
        <p:spPr>
          <a:xfrm>
            <a:off x="319165" y="6800788"/>
            <a:ext cx="6398971" cy="2031973"/>
          </a:xfrm>
          <a:prstGeom prst="rect">
            <a:avLst/>
          </a:prstGeom>
          <a:noFill/>
          <a:ln/>
        </p:spPr>
        <p:txBody>
          <a:bodyPr wrap="square" lIns="0" tIns="0" rIns="0" bIns="0" rtlCol="0" anchor="t"/>
          <a:lstStyle/>
          <a:p>
            <a:pPr marL="0" marR="0" lvl="0" indent="0" algn="l" defTabSz="457200" rtl="0" eaLnBrk="1" fontAlgn="auto" latinLnBrk="0" hangingPunct="1">
              <a:lnSpc>
                <a:spcPct val="106000"/>
              </a:lnSpc>
              <a:spcBef>
                <a:spcPts val="0"/>
              </a:spcBef>
              <a:spcAft>
                <a:spcPts val="0"/>
              </a:spcAft>
              <a:buClrTx/>
              <a:buSzPct val="100000"/>
              <a:buFontTx/>
              <a:buNone/>
              <a:tabLst/>
              <a:defRPr/>
            </a:pPr>
            <a:r>
              <a:rPr kumimoji="0" lang="da-DK" sz="1000" b="0" i="0" u="none" strike="noStrike" kern="1200" cap="none" spc="0" normalizeH="0" baseline="0" noProof="0" dirty="0">
                <a:ln>
                  <a:noFill/>
                </a:ln>
                <a:solidFill>
                  <a:prstClr val="black"/>
                </a:solidFill>
                <a:effectLst/>
                <a:uLnTx/>
                <a:uFillTx/>
                <a:latin typeface="Aptos" panose="02110004020202020204"/>
                <a:ea typeface="Arial"/>
                <a:cs typeface="Arial"/>
              </a:rPr>
              <a:t>With </a:t>
            </a:r>
            <a:r>
              <a:rPr kumimoji="0" lang="da-DK" sz="1000" b="0" i="0" u="none" strike="noStrike" kern="1200" cap="none" spc="0" normalizeH="0" baseline="0" noProof="0" dirty="0" err="1">
                <a:ln>
                  <a:noFill/>
                </a:ln>
                <a:solidFill>
                  <a:prstClr val="black"/>
                </a:solidFill>
                <a:effectLst/>
                <a:uLnTx/>
                <a:uFillTx/>
                <a:latin typeface="Aptos" panose="02110004020202020204"/>
                <a:ea typeface="Arial"/>
                <a:cs typeface="Arial"/>
              </a:rPr>
              <a:t>focus</a:t>
            </a:r>
            <a:r>
              <a:rPr kumimoji="0" lang="da-DK" sz="1000" b="0" i="0" u="none" strike="noStrike" kern="1200" cap="none" spc="0" normalizeH="0" baseline="0" noProof="0" dirty="0">
                <a:ln>
                  <a:noFill/>
                </a:ln>
                <a:solidFill>
                  <a:prstClr val="black"/>
                </a:solidFill>
                <a:effectLst/>
                <a:uLnTx/>
                <a:uFillTx/>
                <a:latin typeface="Aptos" panose="02110004020202020204"/>
                <a:ea typeface="Arial"/>
                <a:cs typeface="Arial"/>
              </a:rPr>
              <a:t> on real </a:t>
            </a:r>
            <a:r>
              <a:rPr kumimoji="0" lang="da-DK" sz="1000" b="0" i="0" u="none" strike="noStrike" kern="1200" cap="none" spc="0" normalizeH="0" baseline="0" noProof="0" dirty="0" err="1">
                <a:ln>
                  <a:noFill/>
                </a:ln>
                <a:solidFill>
                  <a:prstClr val="black"/>
                </a:solidFill>
                <a:effectLst/>
                <a:uLnTx/>
                <a:uFillTx/>
                <a:latin typeface="Aptos" panose="02110004020202020204"/>
                <a:ea typeface="Arial"/>
                <a:cs typeface="Arial"/>
              </a:rPr>
              <a:t>industrial</a:t>
            </a:r>
            <a:r>
              <a:rPr kumimoji="0" lang="da-DK" sz="1000" b="0" i="0" u="none" strike="noStrike" kern="1200" cap="none" spc="0" normalizeH="0" baseline="0" noProof="0" dirty="0">
                <a:ln>
                  <a:noFill/>
                </a:ln>
                <a:solidFill>
                  <a:prstClr val="black"/>
                </a:solidFill>
                <a:effectLst/>
                <a:uLnTx/>
                <a:uFillTx/>
                <a:latin typeface="Aptos" panose="02110004020202020204"/>
                <a:ea typeface="Arial"/>
                <a:cs typeface="Arial"/>
              </a:rPr>
              <a:t> products, the </a:t>
            </a:r>
            <a:r>
              <a:rPr kumimoji="0" lang="da-DK" sz="1000" b="0" i="0" u="none" strike="noStrike" kern="1200" cap="none" spc="0" normalizeH="0" baseline="0" noProof="0" dirty="0" err="1">
                <a:ln>
                  <a:noFill/>
                </a:ln>
                <a:solidFill>
                  <a:prstClr val="black"/>
                </a:solidFill>
                <a:effectLst/>
                <a:uLnTx/>
                <a:uFillTx/>
                <a:latin typeface="Aptos" panose="02110004020202020204"/>
                <a:ea typeface="Arial"/>
                <a:cs typeface="Arial"/>
              </a:rPr>
              <a:t>following</a:t>
            </a:r>
            <a:r>
              <a:rPr kumimoji="0" lang="da-DK" sz="1000" b="0" i="0" u="none" strike="noStrike" kern="1200" cap="none" spc="0" normalizeH="0" baseline="0" noProof="0" dirty="0">
                <a:ln>
                  <a:noFill/>
                </a:ln>
                <a:solidFill>
                  <a:prstClr val="black"/>
                </a:solidFill>
                <a:effectLst/>
                <a:uLnTx/>
                <a:uFillTx/>
                <a:latin typeface="Aptos" panose="02110004020202020204"/>
                <a:ea typeface="Arial"/>
                <a:cs typeface="Arial"/>
              </a:rPr>
              <a:t> </a:t>
            </a:r>
            <a:r>
              <a:rPr kumimoji="0" lang="da-DK" sz="1000" b="0" i="0" u="none" strike="noStrike" kern="1200" cap="none" spc="0" normalizeH="0" baseline="0" noProof="0" dirty="0" err="1">
                <a:ln>
                  <a:noFill/>
                </a:ln>
                <a:solidFill>
                  <a:prstClr val="black"/>
                </a:solidFill>
                <a:effectLst/>
                <a:uLnTx/>
                <a:uFillTx/>
                <a:latin typeface="Aptos" panose="02110004020202020204"/>
                <a:ea typeface="Arial"/>
                <a:cs typeface="Arial"/>
              </a:rPr>
              <a:t>topics</a:t>
            </a:r>
            <a:r>
              <a:rPr kumimoji="0" lang="da-DK" sz="1000" b="0" i="0" u="none" strike="noStrike" kern="1200" cap="none" spc="0" normalizeH="0" baseline="0" noProof="0" dirty="0">
                <a:ln>
                  <a:noFill/>
                </a:ln>
                <a:solidFill>
                  <a:prstClr val="black"/>
                </a:solidFill>
                <a:effectLst/>
                <a:uLnTx/>
                <a:uFillTx/>
                <a:latin typeface="Aptos" panose="02110004020202020204"/>
                <a:ea typeface="Arial"/>
                <a:cs typeface="Arial"/>
              </a:rPr>
              <a:t> </a:t>
            </a:r>
            <a:r>
              <a:rPr kumimoji="0" lang="da-DK" sz="1000" b="0" i="0" u="none" strike="noStrike" kern="1200" cap="none" spc="0" normalizeH="0" baseline="0" noProof="0" dirty="0" err="1">
                <a:ln>
                  <a:noFill/>
                </a:ln>
                <a:solidFill>
                  <a:prstClr val="black"/>
                </a:solidFill>
                <a:effectLst/>
                <a:uLnTx/>
                <a:uFillTx/>
                <a:latin typeface="Aptos" panose="02110004020202020204"/>
                <a:ea typeface="Arial"/>
                <a:cs typeface="Arial"/>
              </a:rPr>
              <a:t>are</a:t>
            </a:r>
            <a:r>
              <a:rPr kumimoji="0" lang="da-DK" sz="1000" b="0" i="0" u="none" strike="noStrike" kern="1200" cap="none" spc="0" normalizeH="0" baseline="0" noProof="0" dirty="0">
                <a:ln>
                  <a:noFill/>
                </a:ln>
                <a:solidFill>
                  <a:prstClr val="black"/>
                </a:solidFill>
                <a:effectLst/>
                <a:uLnTx/>
                <a:uFillTx/>
                <a:latin typeface="Aptos" panose="02110004020202020204"/>
                <a:ea typeface="Arial"/>
                <a:cs typeface="Arial"/>
              </a:rPr>
              <a:t> </a:t>
            </a:r>
            <a:r>
              <a:rPr kumimoji="0" lang="da-DK" sz="1000" b="0" i="0" u="none" strike="noStrike" kern="1200" cap="none" spc="0" normalizeH="0" baseline="0" noProof="0" dirty="0" err="1">
                <a:ln>
                  <a:noFill/>
                </a:ln>
                <a:solidFill>
                  <a:prstClr val="black"/>
                </a:solidFill>
                <a:effectLst/>
                <a:uLnTx/>
                <a:uFillTx/>
                <a:latin typeface="Aptos" panose="02110004020202020204"/>
                <a:ea typeface="Arial"/>
                <a:cs typeface="Arial"/>
              </a:rPr>
              <a:t>suggested</a:t>
            </a:r>
            <a:r>
              <a:rPr kumimoji="0" lang="da-DK" sz="1000" b="0" i="0" u="none" strike="noStrike" kern="1200" cap="none" spc="0" normalizeH="0" baseline="0" noProof="0" dirty="0">
                <a:ln>
                  <a:noFill/>
                </a:ln>
                <a:solidFill>
                  <a:prstClr val="black"/>
                </a:solidFill>
                <a:effectLst/>
                <a:uLnTx/>
                <a:uFillTx/>
                <a:latin typeface="Aptos" panose="02110004020202020204"/>
                <a:ea typeface="Arial"/>
                <a:cs typeface="Arial"/>
              </a:rPr>
              <a:t>: </a:t>
            </a:r>
          </a:p>
          <a:p>
            <a:pPr marL="0" marR="0" lvl="0" indent="0" algn="l" defTabSz="457200" rtl="0" eaLnBrk="1" fontAlgn="auto" latinLnBrk="0" hangingPunct="1">
              <a:lnSpc>
                <a:spcPct val="106000"/>
              </a:lnSpc>
              <a:spcBef>
                <a:spcPts val="0"/>
              </a:spcBef>
              <a:spcAft>
                <a:spcPts val="0"/>
              </a:spcAft>
              <a:buClrTx/>
              <a:buSzPct val="100000"/>
              <a:buFontTx/>
              <a:buNone/>
              <a:tabLst/>
              <a:defRPr/>
            </a:pPr>
            <a:endParaRPr kumimoji="0" lang="da-DK" sz="300" b="0" i="0" u="none" strike="noStrike" kern="1200" cap="none" spc="0" normalizeH="0" baseline="0" noProof="0" dirty="0">
              <a:ln>
                <a:noFill/>
              </a:ln>
              <a:solidFill>
                <a:prstClr val="black"/>
              </a:solidFill>
              <a:effectLst/>
              <a:uLnTx/>
              <a:uFillTx/>
              <a:latin typeface="Aptos" panose="02110004020202020204"/>
              <a:ea typeface="Arial"/>
              <a:cs typeface="Arial"/>
            </a:endParaRPr>
          </a:p>
          <a:p>
            <a:pPr marL="0" marR="0" lvl="0" indent="0" algn="l" defTabSz="457200" rtl="0" eaLnBrk="1" fontAlgn="auto" latinLnBrk="0" hangingPunct="1">
              <a:lnSpc>
                <a:spcPct val="106000"/>
              </a:lnSpc>
              <a:spcBef>
                <a:spcPts val="0"/>
              </a:spcBef>
              <a:spcAft>
                <a:spcPts val="0"/>
              </a:spcAft>
              <a:buClrTx/>
              <a:buSzPct val="100000"/>
              <a:buFontTx/>
              <a:buNone/>
              <a:tabLst/>
              <a:defRPr/>
            </a:pPr>
            <a:endParaRPr kumimoji="0" lang="da-DK" sz="300" b="1" i="0" u="none" strike="noStrike" kern="1200" cap="none" spc="0" normalizeH="0" baseline="0" noProof="0" dirty="0">
              <a:ln>
                <a:noFill/>
              </a:ln>
              <a:solidFill>
                <a:prstClr val="black"/>
              </a:solidFill>
              <a:effectLst/>
              <a:uLnTx/>
              <a:uFillTx/>
              <a:latin typeface="Aptos" panose="02110004020202020204"/>
              <a:ea typeface="Arial"/>
              <a:cs typeface="Arial"/>
            </a:endParaRPr>
          </a:p>
          <a:p>
            <a:pPr marL="139700" marR="0" lvl="0" indent="-139700" algn="l" defTabSz="457200" rtl="0" eaLnBrk="1" fontAlgn="auto" latinLnBrk="0" hangingPunct="1">
              <a:lnSpc>
                <a:spcPct val="106000"/>
              </a:lnSpc>
              <a:spcBef>
                <a:spcPts val="0"/>
              </a:spcBef>
              <a:spcAft>
                <a:spcPts val="0"/>
              </a:spcAft>
              <a:buClrTx/>
              <a:buSzPct val="100000"/>
              <a:buFontTx/>
              <a:buChar char="•"/>
              <a:tabLst/>
              <a:defRPr/>
            </a:pPr>
            <a:r>
              <a:rPr kumimoji="0" lang="da-DK" sz="1000" b="1" i="0" u="none" strike="noStrike" kern="1200" cap="none" spc="0" normalizeH="0" baseline="0" noProof="0" dirty="0" err="1">
                <a:ln>
                  <a:noFill/>
                </a:ln>
                <a:solidFill>
                  <a:prstClr val="black"/>
                </a:solidFill>
                <a:effectLst/>
                <a:uLnTx/>
                <a:uFillTx/>
                <a:latin typeface="Aptos" panose="02110004020202020204"/>
                <a:ea typeface="Arial"/>
                <a:cs typeface="Arial"/>
              </a:rPr>
              <a:t>Investigation</a:t>
            </a:r>
            <a:r>
              <a:rPr kumimoji="0" lang="da-DK" sz="1000" b="1" i="0" u="none" strike="noStrike" kern="1200" cap="none" spc="0" normalizeH="0" baseline="0" noProof="0" dirty="0">
                <a:ln>
                  <a:noFill/>
                </a:ln>
                <a:solidFill>
                  <a:prstClr val="black"/>
                </a:solidFill>
                <a:effectLst/>
                <a:uLnTx/>
                <a:uFillTx/>
                <a:latin typeface="Aptos" panose="02110004020202020204"/>
                <a:ea typeface="Arial"/>
                <a:cs typeface="Arial"/>
              </a:rPr>
              <a:t> of as-</a:t>
            </a:r>
            <a:r>
              <a:rPr kumimoji="0" lang="da-DK" sz="1000" b="1" i="0" u="none" strike="noStrike" kern="1200" cap="none" spc="0" normalizeH="0" baseline="0" noProof="0" dirty="0" err="1">
                <a:ln>
                  <a:noFill/>
                </a:ln>
                <a:solidFill>
                  <a:prstClr val="black"/>
                </a:solidFill>
                <a:effectLst/>
                <a:uLnTx/>
                <a:uFillTx/>
                <a:latin typeface="Aptos" panose="02110004020202020204"/>
                <a:ea typeface="Arial"/>
                <a:cs typeface="Arial"/>
              </a:rPr>
              <a:t>delivered</a:t>
            </a:r>
            <a:r>
              <a:rPr kumimoji="0" lang="da-DK" sz="1000" b="1" i="0" u="none" strike="noStrike" kern="1200" cap="none" spc="0" normalizeH="0" baseline="0" noProof="0" dirty="0">
                <a:ln>
                  <a:noFill/>
                </a:ln>
                <a:solidFill>
                  <a:prstClr val="black"/>
                </a:solidFill>
                <a:effectLst/>
                <a:uLnTx/>
                <a:uFillTx/>
                <a:latin typeface="Aptos" panose="02110004020202020204"/>
                <a:ea typeface="Arial"/>
                <a:cs typeface="Arial"/>
              </a:rPr>
              <a:t> </a:t>
            </a:r>
            <a:r>
              <a:rPr kumimoji="0" lang="da-DK" sz="1000" b="1" i="0" u="none" strike="noStrike" kern="1200" cap="none" spc="0" normalizeH="0" baseline="0" noProof="0" dirty="0" err="1">
                <a:ln>
                  <a:noFill/>
                </a:ln>
                <a:solidFill>
                  <a:prstClr val="black"/>
                </a:solidFill>
                <a:effectLst/>
                <a:uLnTx/>
                <a:uFillTx/>
                <a:latin typeface="Aptos" panose="02110004020202020204"/>
                <a:ea typeface="Arial"/>
                <a:cs typeface="Arial"/>
              </a:rPr>
              <a:t>brass</a:t>
            </a:r>
            <a:r>
              <a:rPr kumimoji="0" lang="da-DK" sz="1000" b="1" i="0" u="none" strike="noStrike" kern="1200" cap="none" spc="0" normalizeH="0" baseline="0" noProof="0" dirty="0">
                <a:ln>
                  <a:noFill/>
                </a:ln>
                <a:solidFill>
                  <a:prstClr val="black"/>
                </a:solidFill>
                <a:effectLst/>
                <a:uLnTx/>
                <a:uFillTx/>
                <a:latin typeface="Aptos" panose="02110004020202020204"/>
                <a:ea typeface="Arial"/>
                <a:cs typeface="Arial"/>
              </a:rPr>
              <a:t> in relation to </a:t>
            </a:r>
            <a:r>
              <a:rPr kumimoji="0" lang="da-DK" sz="1000" b="1" i="0" u="none" strike="noStrike" kern="1200" cap="none" spc="0" normalizeH="0" baseline="0" noProof="0" dirty="0" err="1">
                <a:ln>
                  <a:noFill/>
                </a:ln>
                <a:solidFill>
                  <a:prstClr val="black"/>
                </a:solidFill>
                <a:effectLst/>
                <a:uLnTx/>
                <a:uFillTx/>
                <a:latin typeface="Aptos" panose="02110004020202020204"/>
                <a:ea typeface="Arial"/>
                <a:cs typeface="Arial"/>
              </a:rPr>
              <a:t>cold-forging</a:t>
            </a:r>
            <a:r>
              <a:rPr kumimoji="0" lang="da-DK" sz="1000" b="1" i="0" u="none" strike="noStrike" kern="1200" cap="none" spc="0" normalizeH="0" baseline="0" noProof="0" dirty="0">
                <a:ln>
                  <a:noFill/>
                </a:ln>
                <a:solidFill>
                  <a:prstClr val="black"/>
                </a:solidFill>
                <a:effectLst/>
                <a:uLnTx/>
                <a:uFillTx/>
                <a:latin typeface="Aptos" panose="02110004020202020204"/>
                <a:ea typeface="Arial"/>
                <a:cs typeface="Arial"/>
              </a:rPr>
              <a:t>:</a:t>
            </a:r>
          </a:p>
          <a:p>
            <a:pPr marL="0" marR="0" lvl="0" indent="0" algn="l" defTabSz="457200" rtl="0" eaLnBrk="1" fontAlgn="auto" latinLnBrk="0" hangingPunct="1">
              <a:lnSpc>
                <a:spcPct val="106000"/>
              </a:lnSpc>
              <a:spcBef>
                <a:spcPts val="0"/>
              </a:spcBef>
              <a:spcAft>
                <a:spcPts val="0"/>
              </a:spcAft>
              <a:buClrTx/>
              <a:buSzPct val="100000"/>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Arial"/>
                <a:cs typeface="Arial"/>
              </a:rPr>
              <a:t>      Delivery conditions of several batches of brass can vary a lot in microstructure and associated hardness, despite</a:t>
            </a:r>
          </a:p>
          <a:p>
            <a:pPr marL="0" marR="0" lvl="0" indent="0" algn="l" defTabSz="457200" rtl="0" eaLnBrk="1" fontAlgn="auto" latinLnBrk="0" hangingPunct="1">
              <a:lnSpc>
                <a:spcPct val="106000"/>
              </a:lnSpc>
              <a:spcBef>
                <a:spcPts val="0"/>
              </a:spcBef>
              <a:spcAft>
                <a:spcPts val="0"/>
              </a:spcAft>
              <a:buClrTx/>
              <a:buSzPct val="100000"/>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Arial"/>
                <a:cs typeface="Arial"/>
              </a:rPr>
              <a:t>      the same chemical composition of the Cu-Zn alloy. </a:t>
            </a:r>
          </a:p>
          <a:p>
            <a:pPr marL="0" marR="0" lvl="0" indent="0" algn="l" defTabSz="457200" rtl="0" eaLnBrk="1" fontAlgn="auto" latinLnBrk="0" hangingPunct="1">
              <a:lnSpc>
                <a:spcPct val="106000"/>
              </a:lnSpc>
              <a:spcBef>
                <a:spcPts val="0"/>
              </a:spcBef>
              <a:spcAft>
                <a:spcPts val="0"/>
              </a:spcAft>
              <a:buClrTx/>
              <a:buSzPct val="100000"/>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Arial"/>
                <a:cs typeface="Arial"/>
              </a:rPr>
              <a:t>      Systematic analysis of as-delivered alloys using microscopy (LOM and SEM) and hardness testing should be</a:t>
            </a:r>
          </a:p>
          <a:p>
            <a:pPr marL="0" marR="0" lvl="0" indent="0" algn="l" defTabSz="457200" rtl="0" eaLnBrk="1" fontAlgn="auto" latinLnBrk="0" hangingPunct="1">
              <a:lnSpc>
                <a:spcPct val="106000"/>
              </a:lnSpc>
              <a:spcBef>
                <a:spcPts val="0"/>
              </a:spcBef>
              <a:spcAft>
                <a:spcPts val="0"/>
              </a:spcAft>
              <a:buClrTx/>
              <a:buSzPct val="100000"/>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Arial"/>
                <a:cs typeface="Arial"/>
              </a:rPr>
              <a:t>      carried out and be linked to the cold-forging ability of the alloys. Tensile testing might be an additional option</a:t>
            </a:r>
          </a:p>
          <a:p>
            <a:pPr marL="0" marR="0" lvl="0" indent="0" algn="l" defTabSz="457200" rtl="0" eaLnBrk="1" fontAlgn="auto" latinLnBrk="0" hangingPunct="1">
              <a:lnSpc>
                <a:spcPct val="106000"/>
              </a:lnSpc>
              <a:spcBef>
                <a:spcPts val="0"/>
              </a:spcBef>
              <a:spcAft>
                <a:spcPts val="0"/>
              </a:spcAft>
              <a:buClrTx/>
              <a:buSzPct val="100000"/>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Arial"/>
                <a:cs typeface="Arial"/>
              </a:rPr>
              <a:t>     (for longer projects). </a:t>
            </a:r>
          </a:p>
          <a:p>
            <a:pPr marL="0" marR="0" lvl="0" indent="0" algn="l" defTabSz="457200" rtl="0" eaLnBrk="1" fontAlgn="auto" latinLnBrk="0" hangingPunct="1">
              <a:lnSpc>
                <a:spcPct val="106000"/>
              </a:lnSpc>
              <a:spcBef>
                <a:spcPts val="0"/>
              </a:spcBef>
              <a:spcAft>
                <a:spcPts val="0"/>
              </a:spcAft>
              <a:buClrTx/>
              <a:buSzPct val="100000"/>
              <a:buFontTx/>
              <a:buNone/>
              <a:tabLst/>
              <a:defRPr/>
            </a:pPr>
            <a:endParaRPr kumimoji="0" lang="en-US" sz="1000" b="0" i="0" u="none" strike="noStrike" kern="1200" cap="none" spc="0" normalizeH="0" baseline="0" noProof="0" dirty="0">
              <a:ln>
                <a:noFill/>
              </a:ln>
              <a:solidFill>
                <a:prstClr val="black"/>
              </a:solidFill>
              <a:effectLst/>
              <a:uLnTx/>
              <a:uFillTx/>
              <a:latin typeface="Aptos" panose="02110004020202020204"/>
              <a:ea typeface="Arial"/>
              <a:cs typeface="Arial"/>
            </a:endParaRPr>
          </a:p>
          <a:p>
            <a:pPr marL="171450" marR="0" lvl="0" indent="-171450" algn="l" defTabSz="457200" rtl="0" eaLnBrk="1" fontAlgn="auto" latinLnBrk="0" hangingPunct="1">
              <a:lnSpc>
                <a:spcPct val="106000"/>
              </a:lnSpc>
              <a:spcBef>
                <a:spcPts val="0"/>
              </a:spcBef>
              <a:spcAft>
                <a:spcPts val="0"/>
              </a:spcAft>
              <a:buClrTx/>
              <a:buSzPct val="100000"/>
              <a:buFont typeface="Arial" panose="020B0604020202020204" pitchFamily="34" charset="0"/>
              <a:buChar char="•"/>
              <a:tabLst/>
              <a:defRPr/>
            </a:pPr>
            <a:r>
              <a:rPr kumimoji="0" lang="en-US" sz="1000" b="1" i="0" u="none" strike="noStrike" kern="1200" cap="none" spc="0" normalizeH="0" baseline="0" noProof="0" dirty="0">
                <a:ln>
                  <a:noFill/>
                </a:ln>
                <a:solidFill>
                  <a:prstClr val="black"/>
                </a:solidFill>
                <a:effectLst/>
                <a:uLnTx/>
                <a:uFillTx/>
                <a:latin typeface="Aptos" panose="02110004020202020204"/>
                <a:ea typeface="Arial"/>
                <a:cs typeface="Arial"/>
              </a:rPr>
              <a:t>Site-specific materials characterization of industrial products as a function of processing steps:  </a:t>
            </a:r>
          </a:p>
          <a:p>
            <a:pPr marL="0" marR="0" lvl="0" indent="0" algn="l" defTabSz="457200" rtl="0" eaLnBrk="1" fontAlgn="auto" latinLnBrk="0" hangingPunct="1">
              <a:lnSpc>
                <a:spcPct val="106000"/>
              </a:lnSpc>
              <a:spcBef>
                <a:spcPts val="0"/>
              </a:spcBef>
              <a:spcAft>
                <a:spcPts val="0"/>
              </a:spcAft>
              <a:buClrTx/>
              <a:buSzPct val="100000"/>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Arial"/>
                <a:cs typeface="Arial"/>
              </a:rPr>
              <a:t>       During cold-forging, the applied brass alloy(s) are subjected to different degrees of deformation, resulting in</a:t>
            </a:r>
          </a:p>
          <a:p>
            <a:pPr marL="0" marR="0" lvl="0" indent="0" algn="l" defTabSz="457200" rtl="0" eaLnBrk="1" fontAlgn="auto" latinLnBrk="0" hangingPunct="1">
              <a:lnSpc>
                <a:spcPct val="106000"/>
              </a:lnSpc>
              <a:spcBef>
                <a:spcPts val="0"/>
              </a:spcBef>
              <a:spcAft>
                <a:spcPts val="0"/>
              </a:spcAft>
              <a:buClrTx/>
              <a:buSzPct val="100000"/>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Arial"/>
                <a:cs typeface="Arial"/>
              </a:rPr>
              <a:t>       varying microstructure and properties within a product. Additional changes are expected due to annealing</a:t>
            </a:r>
          </a:p>
          <a:p>
            <a:pPr marL="0" marR="0" lvl="0" indent="0" algn="l" defTabSz="457200" rtl="0" eaLnBrk="1" fontAlgn="auto" latinLnBrk="0" hangingPunct="1">
              <a:lnSpc>
                <a:spcPct val="106000"/>
              </a:lnSpc>
              <a:spcBef>
                <a:spcPts val="0"/>
              </a:spcBef>
              <a:spcAft>
                <a:spcPts val="0"/>
              </a:spcAft>
              <a:buClrTx/>
              <a:buSzPct val="100000"/>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Arial"/>
                <a:cs typeface="Arial"/>
              </a:rPr>
              <a:t>       in-between various steps of deformation in the progress of manufacturing. </a:t>
            </a:r>
          </a:p>
          <a:p>
            <a:pPr marL="0" marR="0" lvl="0" indent="0" algn="l" defTabSz="457200" rtl="0" eaLnBrk="1" fontAlgn="auto" latinLnBrk="0" hangingPunct="1">
              <a:lnSpc>
                <a:spcPct val="106000"/>
              </a:lnSpc>
              <a:spcBef>
                <a:spcPts val="0"/>
              </a:spcBef>
              <a:spcAft>
                <a:spcPts val="0"/>
              </a:spcAft>
              <a:buClrTx/>
              <a:buSzPct val="100000"/>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Arial"/>
                <a:cs typeface="Arial"/>
              </a:rPr>
              <a:t>       Site-specific materials characterization should be linked to the applied processing.</a:t>
            </a:r>
          </a:p>
          <a:p>
            <a:pPr marL="139700" marR="0" lvl="0" indent="-139700" algn="l" defTabSz="457200" rtl="0" eaLnBrk="1" fontAlgn="auto" latinLnBrk="0" hangingPunct="1">
              <a:lnSpc>
                <a:spcPct val="106000"/>
              </a:lnSpc>
              <a:spcBef>
                <a:spcPts val="0"/>
              </a:spcBef>
              <a:spcAft>
                <a:spcPts val="0"/>
              </a:spcAft>
              <a:buClrTx/>
              <a:buSzPct val="100000"/>
              <a:buFontTx/>
              <a:buChar char="•"/>
              <a:tabLst/>
              <a:defRPr/>
            </a:pPr>
            <a:endParaRPr kumimoji="0" lang="en-US" sz="975"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8" name="Text 35">
            <a:extLst>
              <a:ext uri="{FF2B5EF4-FFF2-40B4-BE49-F238E27FC236}">
                <a16:creationId xmlns:a16="http://schemas.microsoft.com/office/drawing/2014/main" id="{C39CA781-0831-E8EA-05B5-520C3C39790B}"/>
              </a:ext>
            </a:extLst>
          </p:cNvPr>
          <p:cNvSpPr/>
          <p:nvPr/>
        </p:nvSpPr>
        <p:spPr>
          <a:xfrm>
            <a:off x="299223" y="9154309"/>
            <a:ext cx="6426403" cy="438911"/>
          </a:xfrm>
          <a:prstGeom prst="rect">
            <a:avLst/>
          </a:prstGeom>
          <a:noFill/>
          <a:ln/>
        </p:spPr>
        <p:txBody>
          <a:bodyPr wrap="square" lIns="0" tIns="0" rIns="0" bIns="0" rtlCol="0" anchor="t"/>
          <a:lstStyle/>
          <a:p>
            <a:pPr marL="0" marR="0" lvl="0" indent="0" algn="l" defTabSz="457200" rtl="0" eaLnBrk="1" fontAlgn="auto" latinLnBrk="0" hangingPunct="1">
              <a:lnSpc>
                <a:spcPct val="106000"/>
              </a:lnSpc>
              <a:spcBef>
                <a:spcPts val="0"/>
              </a:spcBef>
              <a:spcAft>
                <a:spcPts val="0"/>
              </a:spcAft>
              <a:buClrTx/>
              <a:buSzPct val="100000"/>
              <a:buFontTx/>
              <a:buNone/>
              <a:tabLst/>
              <a:defRPr/>
            </a:pPr>
            <a:r>
              <a:rPr kumimoji="0" lang="en-US" sz="860" b="1" i="0" u="none" strike="noStrike" kern="0" cap="none" spc="120" normalizeH="0" baseline="0" noProof="0" dirty="0">
                <a:ln>
                  <a:noFill/>
                </a:ln>
                <a:solidFill>
                  <a:srgbClr val="A30018"/>
                </a:solidFill>
                <a:effectLst/>
                <a:uLnTx/>
                <a:uFillTx/>
                <a:latin typeface="Aptos Display" pitchFamily="34" charset="0"/>
                <a:ea typeface="Aptos Display" pitchFamily="34" charset="-122"/>
                <a:cs typeface="Aptos Display" pitchFamily="34" charset="-120"/>
              </a:rPr>
              <a:t>PRACTICAL NOTES</a:t>
            </a:r>
            <a:endParaRPr kumimoji="0" lang="da-DK" sz="900" b="1" i="0" u="none" strike="noStrike" kern="1200" cap="none" spc="0" normalizeH="0" baseline="0" noProof="0" dirty="0">
              <a:ln>
                <a:noFill/>
              </a:ln>
              <a:solidFill>
                <a:srgbClr val="202D36"/>
              </a:solidFill>
              <a:effectLst/>
              <a:uLnTx/>
              <a:uFillTx/>
              <a:latin typeface="Aptos" panose="02110004020202020204"/>
              <a:ea typeface="Arial"/>
              <a:cs typeface="Arial"/>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60" b="0" i="0" u="none" strike="noStrike" kern="1200" cap="none" spc="0" normalizeH="0" baseline="0" noProof="0" dirty="0">
                <a:ln>
                  <a:noFill/>
                </a:ln>
                <a:solidFill>
                  <a:prstClr val="black"/>
                </a:solidFill>
                <a:effectLst/>
                <a:uLnTx/>
                <a:uFillTx/>
                <a:latin typeface="Aptos" panose="02110004020202020204"/>
                <a:ea typeface="+mn-ea"/>
                <a:cs typeface="+mn-cs"/>
              </a:rPr>
              <a:t>The work is carried out at DTU, in close collaboration with the company. </a:t>
            </a:r>
          </a:p>
        </p:txBody>
      </p:sp>
      <p:sp>
        <p:nvSpPr>
          <p:cNvPr id="70" name="Text 36">
            <a:extLst>
              <a:ext uri="{FF2B5EF4-FFF2-40B4-BE49-F238E27FC236}">
                <a16:creationId xmlns:a16="http://schemas.microsoft.com/office/drawing/2014/main" id="{1DE69EF7-1BA6-68AF-5E9E-2D70460F836C}"/>
              </a:ext>
            </a:extLst>
          </p:cNvPr>
          <p:cNvSpPr/>
          <p:nvPr/>
        </p:nvSpPr>
        <p:spPr>
          <a:xfrm>
            <a:off x="314594" y="8713328"/>
            <a:ext cx="6426403" cy="438912"/>
          </a:xfrm>
          <a:prstGeom prst="rect">
            <a:avLst/>
          </a:prstGeom>
          <a:noFill/>
          <a:ln/>
        </p:spPr>
        <p:txBody>
          <a:bodyPr wrap="square" lIns="0" tIns="0" rIns="0" bIns="0" rtlCol="0" anchor="t"/>
          <a:lstStyle/>
          <a:p>
            <a:pPr marL="0" marR="0" lvl="0" indent="0" algn="l" defTabSz="457200" rtl="0" eaLnBrk="1" fontAlgn="auto" latinLnBrk="0" hangingPunct="1">
              <a:lnSpc>
                <a:spcPct val="102000"/>
              </a:lnSpc>
              <a:spcBef>
                <a:spcPts val="0"/>
              </a:spcBef>
              <a:spcAft>
                <a:spcPts val="0"/>
              </a:spcAft>
              <a:buClrTx/>
              <a:buSzTx/>
              <a:buFontTx/>
              <a:buNone/>
              <a:tabLst/>
              <a:defRPr/>
            </a:pPr>
            <a:endParaRPr kumimoji="0" lang="en-US" sz="975"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2" name="Shape 38">
            <a:extLst>
              <a:ext uri="{FF2B5EF4-FFF2-40B4-BE49-F238E27FC236}">
                <a16:creationId xmlns:a16="http://schemas.microsoft.com/office/drawing/2014/main" id="{2FA9958C-4B46-C556-2568-EF2BB421262B}"/>
              </a:ext>
            </a:extLst>
          </p:cNvPr>
          <p:cNvSpPr/>
          <p:nvPr/>
        </p:nvSpPr>
        <p:spPr>
          <a:xfrm>
            <a:off x="286778" y="9551282"/>
            <a:ext cx="6426403" cy="0"/>
          </a:xfrm>
          <a:prstGeom prst="line">
            <a:avLst/>
          </a:prstGeom>
          <a:noFill/>
          <a:ln w="10160">
            <a:solidFill>
              <a:srgbClr val="DFE2E3"/>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4" name="Text 39">
            <a:extLst>
              <a:ext uri="{FF2B5EF4-FFF2-40B4-BE49-F238E27FC236}">
                <a16:creationId xmlns:a16="http://schemas.microsoft.com/office/drawing/2014/main" id="{68A4B054-5718-C52F-B73E-0EAE1E38A095}"/>
              </a:ext>
            </a:extLst>
          </p:cNvPr>
          <p:cNvSpPr/>
          <p:nvPr/>
        </p:nvSpPr>
        <p:spPr>
          <a:xfrm>
            <a:off x="288607" y="9555170"/>
            <a:ext cx="4480560" cy="137160"/>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15" b="0" i="0" u="none" strike="noStrike" kern="0" cap="none" spc="60" normalizeH="0" baseline="0" noProof="0" dirty="0">
                <a:ln>
                  <a:noFill/>
                </a:ln>
                <a:solidFill>
                  <a:srgbClr val="5D666B"/>
                </a:solidFill>
                <a:effectLst/>
                <a:uLnTx/>
                <a:uFillTx/>
                <a:latin typeface="Aptos Display" pitchFamily="34" charset="0"/>
                <a:ea typeface="Aptos Display" pitchFamily="34" charset="-122"/>
                <a:cs typeface="Aptos Display" pitchFamily="34" charset="-120"/>
              </a:rPr>
              <a:t>DTU CONSTRUCT  /  MATERIALS AND SURFACE ENGINEERING</a:t>
            </a:r>
            <a:endParaRPr kumimoji="0" lang="en-US" sz="715"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7" name="Design and test blends">
            <a:extLst>
              <a:ext uri="{FF2B5EF4-FFF2-40B4-BE49-F238E27FC236}">
                <a16:creationId xmlns:a16="http://schemas.microsoft.com/office/drawing/2014/main" id="{E6A7ECEC-D80D-6FA9-1771-F97187CF46EA}"/>
              </a:ext>
            </a:extLst>
          </p:cNvPr>
          <p:cNvSpPr>
            <a:spLocks noGrp="1"/>
          </p:cNvSpPr>
          <p:nvPr/>
        </p:nvSpPr>
        <p:spPr>
          <a:xfrm>
            <a:off x="2370513" y="6309712"/>
            <a:ext cx="4253057" cy="195776"/>
          </a:xfrm>
          <a:prstGeom prst="rect">
            <a:avLst/>
          </a:prstGeom>
          <a:noFill/>
          <a:ln w="0">
            <a:noFill/>
          </a:ln>
        </p:spPr>
        <p:txBody>
          <a:bodyPr>
            <a:noAutofit/>
          </a:bodyPr>
          <a:lstStyle/>
          <a:p>
            <a:pPr marL="0" marR="0" lvl="0" indent="0" algn="l" defTabSz="457200" rtl="0" eaLnBrk="1" fontAlgn="auto" latinLnBrk="0" hangingPunct="1">
              <a:lnSpc>
                <a:spcPct val="100000"/>
              </a:lnSpc>
              <a:spcBef>
                <a:spcPts val="0"/>
              </a:spcBef>
              <a:spcAft>
                <a:spcPts val="0"/>
              </a:spcAft>
              <a:buClrTx/>
              <a:buSzTx/>
              <a:buFontTx/>
              <a:buNone/>
              <a:tabLst/>
              <a:defRPr sz="1575" b="1">
                <a:solidFill>
                  <a:srgbClr val="202D36"/>
                </a:solidFill>
                <a:latin typeface="Arial"/>
                <a:ea typeface="Arial"/>
                <a:cs typeface="Arial"/>
              </a:defRPr>
            </a:pPr>
            <a:endParaRPr kumimoji="0" sz="1100" b="1" i="0" u="none" strike="noStrike" kern="1200" cap="none" spc="0" normalizeH="0" baseline="0" noProof="0" dirty="0">
              <a:ln>
                <a:noFill/>
              </a:ln>
              <a:solidFill>
                <a:srgbClr val="202D36"/>
              </a:solidFill>
              <a:effectLst/>
              <a:uLnTx/>
              <a:uFillTx/>
              <a:latin typeface="Arial"/>
              <a:ea typeface="Arial"/>
              <a:cs typeface="Arial"/>
            </a:endParaRPr>
          </a:p>
        </p:txBody>
      </p:sp>
      <p:sp>
        <p:nvSpPr>
          <p:cNvPr id="31" name="Design and test blends text">
            <a:extLst>
              <a:ext uri="{FF2B5EF4-FFF2-40B4-BE49-F238E27FC236}">
                <a16:creationId xmlns:a16="http://schemas.microsoft.com/office/drawing/2014/main" id="{BC28394D-CCFF-37F2-48BE-C197E2A67678}"/>
              </a:ext>
            </a:extLst>
          </p:cNvPr>
          <p:cNvSpPr>
            <a:spLocks noGrp="1"/>
          </p:cNvSpPr>
          <p:nvPr/>
        </p:nvSpPr>
        <p:spPr>
          <a:xfrm>
            <a:off x="2370513" y="6518990"/>
            <a:ext cx="4253057" cy="560323"/>
          </a:xfrm>
          <a:prstGeom prst="rect">
            <a:avLst/>
          </a:prstGeom>
          <a:noFill/>
          <a:ln w="0">
            <a:noFill/>
          </a:ln>
        </p:spPr>
        <p:txBody>
          <a:bodyPr>
            <a:noAutofit/>
          </a:bodyPr>
          <a:lstStyle/>
          <a:p>
            <a:pPr marL="0" marR="0" lvl="0" indent="0" algn="just" defTabSz="457200" rtl="0" eaLnBrk="1" fontAlgn="auto" latinLnBrk="0" hangingPunct="1">
              <a:lnSpc>
                <a:spcPct val="100000"/>
              </a:lnSpc>
              <a:spcBef>
                <a:spcPts val="0"/>
              </a:spcBef>
              <a:spcAft>
                <a:spcPts val="0"/>
              </a:spcAft>
              <a:buClrTx/>
              <a:buSzTx/>
              <a:buFontTx/>
              <a:buNone/>
              <a:tabLst/>
              <a:defRPr sz="1500" b="0">
                <a:solidFill>
                  <a:srgbClr val="202D36"/>
                </a:solidFill>
                <a:latin typeface="Arial"/>
                <a:ea typeface="Arial"/>
                <a:cs typeface="Arial"/>
              </a:defRPr>
            </a:pPr>
            <a:endParaRPr kumimoji="0" sz="1050" b="0" i="0" u="none" strike="noStrike" kern="1200" cap="none" spc="0" normalizeH="0" baseline="0" noProof="0" dirty="0">
              <a:ln>
                <a:noFill/>
              </a:ln>
              <a:solidFill>
                <a:srgbClr val="202D36"/>
              </a:solidFill>
              <a:effectLst/>
              <a:uLnTx/>
              <a:uFillTx/>
              <a:latin typeface="Arial"/>
              <a:ea typeface="Arial"/>
              <a:cs typeface="Arial"/>
            </a:endParaRPr>
          </a:p>
        </p:txBody>
      </p:sp>
      <p:sp>
        <p:nvSpPr>
          <p:cNvPr id="35" name="Develop quantitative methods">
            <a:extLst>
              <a:ext uri="{FF2B5EF4-FFF2-40B4-BE49-F238E27FC236}">
                <a16:creationId xmlns:a16="http://schemas.microsoft.com/office/drawing/2014/main" id="{E6E4271A-ABFD-AF28-6E86-7477890DB0A6}"/>
              </a:ext>
            </a:extLst>
          </p:cNvPr>
          <p:cNvSpPr>
            <a:spLocks noGrp="1"/>
          </p:cNvSpPr>
          <p:nvPr/>
        </p:nvSpPr>
        <p:spPr>
          <a:xfrm>
            <a:off x="2370513" y="7113067"/>
            <a:ext cx="4253057" cy="195776"/>
          </a:xfrm>
          <a:prstGeom prst="rect">
            <a:avLst/>
          </a:prstGeom>
          <a:noFill/>
          <a:ln w="0">
            <a:noFill/>
          </a:ln>
        </p:spPr>
        <p:txBody>
          <a:bodyPr>
            <a:noAutofit/>
          </a:bodyPr>
          <a:lstStyle/>
          <a:p>
            <a:pPr marL="0" marR="0" lvl="0" indent="0" algn="l" defTabSz="457200" rtl="0" eaLnBrk="1" fontAlgn="auto" latinLnBrk="0" hangingPunct="1">
              <a:lnSpc>
                <a:spcPct val="100000"/>
              </a:lnSpc>
              <a:spcBef>
                <a:spcPts val="0"/>
              </a:spcBef>
              <a:spcAft>
                <a:spcPts val="0"/>
              </a:spcAft>
              <a:buClrTx/>
              <a:buSzTx/>
              <a:buFontTx/>
              <a:buNone/>
              <a:tabLst/>
              <a:defRPr sz="1575" b="1">
                <a:solidFill>
                  <a:srgbClr val="202D36"/>
                </a:solidFill>
                <a:latin typeface="Arial"/>
                <a:ea typeface="Arial"/>
                <a:cs typeface="Arial"/>
              </a:defRPr>
            </a:pPr>
            <a:endParaRPr kumimoji="0" sz="1100" b="1" i="0" u="none" strike="noStrike" kern="1200" cap="none" spc="0" normalizeH="0" baseline="0" noProof="0" dirty="0">
              <a:ln>
                <a:noFill/>
              </a:ln>
              <a:solidFill>
                <a:srgbClr val="202D36"/>
              </a:solidFill>
              <a:effectLst/>
              <a:uLnTx/>
              <a:uFillTx/>
              <a:latin typeface="Arial"/>
              <a:ea typeface="Arial"/>
              <a:cs typeface="Arial"/>
            </a:endParaRPr>
          </a:p>
        </p:txBody>
      </p:sp>
      <p:sp>
        <p:nvSpPr>
          <p:cNvPr id="39" name="Develop quantitative methods text">
            <a:extLst>
              <a:ext uri="{FF2B5EF4-FFF2-40B4-BE49-F238E27FC236}">
                <a16:creationId xmlns:a16="http://schemas.microsoft.com/office/drawing/2014/main" id="{55A2767F-E7AD-7966-5F63-9E38374C1EA9}"/>
              </a:ext>
            </a:extLst>
          </p:cNvPr>
          <p:cNvSpPr>
            <a:spLocks noGrp="1"/>
          </p:cNvSpPr>
          <p:nvPr/>
        </p:nvSpPr>
        <p:spPr>
          <a:xfrm>
            <a:off x="2370513" y="7322345"/>
            <a:ext cx="4253057" cy="560323"/>
          </a:xfrm>
          <a:prstGeom prst="rect">
            <a:avLst/>
          </a:prstGeom>
          <a:noFill/>
          <a:ln w="0">
            <a:noFill/>
          </a:ln>
        </p:spPr>
        <p:txBody>
          <a:bodyPr>
            <a:noAutofit/>
          </a:bodyPr>
          <a:lstStyle/>
          <a:p>
            <a:pPr marL="0" marR="0" lvl="0" indent="0" algn="just" defTabSz="457200" rtl="0" eaLnBrk="1" fontAlgn="auto" latinLnBrk="0" hangingPunct="1">
              <a:lnSpc>
                <a:spcPct val="100000"/>
              </a:lnSpc>
              <a:spcBef>
                <a:spcPts val="0"/>
              </a:spcBef>
              <a:spcAft>
                <a:spcPts val="0"/>
              </a:spcAft>
              <a:buClrTx/>
              <a:buSzTx/>
              <a:buFontTx/>
              <a:buNone/>
              <a:tabLst/>
              <a:defRPr sz="1500" b="0">
                <a:solidFill>
                  <a:srgbClr val="202D36"/>
                </a:solidFill>
                <a:latin typeface="Arial"/>
                <a:ea typeface="Arial"/>
                <a:cs typeface="Arial"/>
              </a:defRPr>
            </a:pPr>
            <a:endParaRPr kumimoji="0" sz="1050" b="0" i="0" u="none" strike="noStrike" kern="1200" cap="none" spc="0" normalizeH="0" baseline="0" noProof="0" dirty="0">
              <a:ln>
                <a:noFill/>
              </a:ln>
              <a:solidFill>
                <a:srgbClr val="202D36"/>
              </a:solidFill>
              <a:effectLst/>
              <a:uLnTx/>
              <a:uFillTx/>
              <a:latin typeface="Arial"/>
              <a:ea typeface="Arial"/>
              <a:cs typeface="Arial"/>
            </a:endParaRPr>
          </a:p>
        </p:txBody>
      </p:sp>
      <p:sp>
        <p:nvSpPr>
          <p:cNvPr id="43" name="Validate accuracy and mixing endpoints">
            <a:extLst>
              <a:ext uri="{FF2B5EF4-FFF2-40B4-BE49-F238E27FC236}">
                <a16:creationId xmlns:a16="http://schemas.microsoft.com/office/drawing/2014/main" id="{585BAC8B-BC92-422F-C36A-0065C07B6DC1}"/>
              </a:ext>
            </a:extLst>
          </p:cNvPr>
          <p:cNvSpPr>
            <a:spLocks noGrp="1"/>
          </p:cNvSpPr>
          <p:nvPr/>
        </p:nvSpPr>
        <p:spPr>
          <a:xfrm>
            <a:off x="2370513" y="7916422"/>
            <a:ext cx="4253057" cy="195776"/>
          </a:xfrm>
          <a:prstGeom prst="rect">
            <a:avLst/>
          </a:prstGeom>
          <a:noFill/>
          <a:ln w="0">
            <a:noFill/>
          </a:ln>
        </p:spPr>
        <p:txBody>
          <a:bodyPr>
            <a:noAutofit/>
          </a:bodyPr>
          <a:lstStyle/>
          <a:p>
            <a:pPr marL="0" marR="0" lvl="0" indent="0" algn="l" defTabSz="457200" rtl="0" eaLnBrk="1" fontAlgn="auto" latinLnBrk="0" hangingPunct="1">
              <a:lnSpc>
                <a:spcPct val="100000"/>
              </a:lnSpc>
              <a:spcBef>
                <a:spcPts val="0"/>
              </a:spcBef>
              <a:spcAft>
                <a:spcPts val="0"/>
              </a:spcAft>
              <a:buClrTx/>
              <a:buSzTx/>
              <a:buFontTx/>
              <a:buNone/>
              <a:tabLst/>
              <a:defRPr sz="1575" b="1">
                <a:solidFill>
                  <a:srgbClr val="202D36"/>
                </a:solidFill>
                <a:latin typeface="Arial"/>
                <a:ea typeface="Arial"/>
                <a:cs typeface="Arial"/>
              </a:defRPr>
            </a:pPr>
            <a:endParaRPr kumimoji="0" sz="1100" b="1" i="0" u="none" strike="noStrike" kern="1200" cap="none" spc="0" normalizeH="0" baseline="0" noProof="0" dirty="0">
              <a:ln>
                <a:noFill/>
              </a:ln>
              <a:solidFill>
                <a:srgbClr val="202D36"/>
              </a:solidFill>
              <a:effectLst/>
              <a:uLnTx/>
              <a:uFillTx/>
              <a:latin typeface="Arial"/>
              <a:ea typeface="Arial"/>
              <a:cs typeface="Arial"/>
            </a:endParaRPr>
          </a:p>
        </p:txBody>
      </p:sp>
      <p:sp>
        <p:nvSpPr>
          <p:cNvPr id="47" name="Validate accuracy and mixing endpoints text">
            <a:extLst>
              <a:ext uri="{FF2B5EF4-FFF2-40B4-BE49-F238E27FC236}">
                <a16:creationId xmlns:a16="http://schemas.microsoft.com/office/drawing/2014/main" id="{9436609F-349C-E727-488A-A64A6C1580DF}"/>
              </a:ext>
            </a:extLst>
          </p:cNvPr>
          <p:cNvSpPr>
            <a:spLocks noGrp="1"/>
          </p:cNvSpPr>
          <p:nvPr/>
        </p:nvSpPr>
        <p:spPr>
          <a:xfrm>
            <a:off x="2370513" y="8125700"/>
            <a:ext cx="4253057" cy="560323"/>
          </a:xfrm>
          <a:prstGeom prst="rect">
            <a:avLst/>
          </a:prstGeom>
          <a:noFill/>
          <a:ln w="0">
            <a:noFill/>
          </a:ln>
        </p:spPr>
        <p:txBody>
          <a:bodyPr>
            <a:noAutofit/>
          </a:bodyPr>
          <a:lstStyle/>
          <a:p>
            <a:pPr marL="0" marR="0" lvl="0" indent="0" algn="just" defTabSz="457200" rtl="0" eaLnBrk="1" fontAlgn="auto" latinLnBrk="0" hangingPunct="1">
              <a:lnSpc>
                <a:spcPct val="100000"/>
              </a:lnSpc>
              <a:spcBef>
                <a:spcPts val="0"/>
              </a:spcBef>
              <a:spcAft>
                <a:spcPts val="0"/>
              </a:spcAft>
              <a:buClrTx/>
              <a:buSzTx/>
              <a:buFontTx/>
              <a:buNone/>
              <a:tabLst/>
              <a:defRPr sz="1500" b="0">
                <a:solidFill>
                  <a:srgbClr val="202D36"/>
                </a:solidFill>
                <a:latin typeface="Arial"/>
                <a:ea typeface="Arial"/>
                <a:cs typeface="Arial"/>
              </a:defRPr>
            </a:pPr>
            <a:endParaRPr kumimoji="0" sz="1050" b="0" i="0" u="none" strike="noStrike" kern="1200" cap="none" spc="0" normalizeH="0" baseline="0" noProof="0" dirty="0">
              <a:ln>
                <a:noFill/>
              </a:ln>
              <a:solidFill>
                <a:srgbClr val="202D36"/>
              </a:solidFill>
              <a:effectLst/>
              <a:uLnTx/>
              <a:uFillTx/>
              <a:latin typeface="Arial"/>
              <a:ea typeface="Arial"/>
              <a:cs typeface="Arial"/>
            </a:endParaRPr>
          </a:p>
        </p:txBody>
      </p:sp>
      <p:sp>
        <p:nvSpPr>
          <p:cNvPr id="51" name="Connect formulation to performance">
            <a:extLst>
              <a:ext uri="{FF2B5EF4-FFF2-40B4-BE49-F238E27FC236}">
                <a16:creationId xmlns:a16="http://schemas.microsoft.com/office/drawing/2014/main" id="{404106A8-3F71-1047-4280-6FF404903D64}"/>
              </a:ext>
            </a:extLst>
          </p:cNvPr>
          <p:cNvSpPr>
            <a:spLocks noGrp="1"/>
          </p:cNvSpPr>
          <p:nvPr/>
        </p:nvSpPr>
        <p:spPr>
          <a:xfrm>
            <a:off x="2370513" y="8719778"/>
            <a:ext cx="4253057" cy="195776"/>
          </a:xfrm>
          <a:prstGeom prst="rect">
            <a:avLst/>
          </a:prstGeom>
          <a:noFill/>
          <a:ln w="0">
            <a:noFill/>
          </a:ln>
        </p:spPr>
        <p:txBody>
          <a:bodyPr>
            <a:noAutofit/>
          </a:bodyPr>
          <a:lstStyle/>
          <a:p>
            <a:pPr marL="0" marR="0" lvl="0" indent="0" algn="l" defTabSz="457200" rtl="0" eaLnBrk="1" fontAlgn="auto" latinLnBrk="0" hangingPunct="1">
              <a:lnSpc>
                <a:spcPct val="100000"/>
              </a:lnSpc>
              <a:spcBef>
                <a:spcPts val="0"/>
              </a:spcBef>
              <a:spcAft>
                <a:spcPts val="0"/>
              </a:spcAft>
              <a:buClrTx/>
              <a:buSzTx/>
              <a:buFontTx/>
              <a:buNone/>
              <a:tabLst/>
              <a:defRPr sz="1575" b="1">
                <a:solidFill>
                  <a:srgbClr val="202D36"/>
                </a:solidFill>
                <a:latin typeface="Arial"/>
                <a:ea typeface="Arial"/>
                <a:cs typeface="Arial"/>
              </a:defRPr>
            </a:pPr>
            <a:endParaRPr kumimoji="0" sz="1100" b="1" i="0" u="none" strike="noStrike" kern="1200" cap="none" spc="0" normalizeH="0" baseline="0" noProof="0" dirty="0">
              <a:ln>
                <a:noFill/>
              </a:ln>
              <a:solidFill>
                <a:srgbClr val="202D36"/>
              </a:solidFill>
              <a:effectLst/>
              <a:uLnTx/>
              <a:uFillTx/>
              <a:latin typeface="Arial"/>
              <a:ea typeface="Arial"/>
              <a:cs typeface="Arial"/>
            </a:endParaRPr>
          </a:p>
        </p:txBody>
      </p:sp>
      <p:sp>
        <p:nvSpPr>
          <p:cNvPr id="55" name="Connect formulation to performance text">
            <a:extLst>
              <a:ext uri="{FF2B5EF4-FFF2-40B4-BE49-F238E27FC236}">
                <a16:creationId xmlns:a16="http://schemas.microsoft.com/office/drawing/2014/main" id="{B76E3A0F-27E3-ABA2-01E8-7A0D8D518455}"/>
              </a:ext>
            </a:extLst>
          </p:cNvPr>
          <p:cNvSpPr>
            <a:spLocks noGrp="1"/>
          </p:cNvSpPr>
          <p:nvPr/>
        </p:nvSpPr>
        <p:spPr>
          <a:xfrm>
            <a:off x="2399774" y="7998190"/>
            <a:ext cx="4253057" cy="560323"/>
          </a:xfrm>
          <a:prstGeom prst="rect">
            <a:avLst/>
          </a:prstGeom>
          <a:noFill/>
          <a:ln w="0">
            <a:noFill/>
          </a:ln>
        </p:spPr>
        <p:txBody>
          <a:bodyPr>
            <a:noAutofit/>
          </a:bodyPr>
          <a:lstStyle/>
          <a:p>
            <a:pPr marL="0" marR="0" lvl="0" indent="0" algn="just" defTabSz="457200" rtl="0" eaLnBrk="1" fontAlgn="auto" latinLnBrk="0" hangingPunct="1">
              <a:lnSpc>
                <a:spcPct val="100000"/>
              </a:lnSpc>
              <a:spcBef>
                <a:spcPts val="0"/>
              </a:spcBef>
              <a:spcAft>
                <a:spcPts val="0"/>
              </a:spcAft>
              <a:buClrTx/>
              <a:buSzTx/>
              <a:buFontTx/>
              <a:buNone/>
              <a:tabLst/>
              <a:defRPr sz="1500" b="0">
                <a:solidFill>
                  <a:srgbClr val="202D36"/>
                </a:solidFill>
                <a:latin typeface="Arial"/>
                <a:ea typeface="Arial"/>
                <a:cs typeface="Arial"/>
              </a:defRPr>
            </a:pPr>
            <a:endParaRPr kumimoji="0" sz="1050" b="0" i="0" u="none" strike="noStrike" kern="1200" cap="none" spc="0" normalizeH="0" baseline="0" noProof="0" dirty="0">
              <a:ln>
                <a:noFill/>
              </a:ln>
              <a:solidFill>
                <a:srgbClr val="202D36"/>
              </a:solidFill>
              <a:effectLst/>
              <a:uLnTx/>
              <a:uFillTx/>
              <a:latin typeface="Arial"/>
              <a:ea typeface="Arial"/>
              <a:cs typeface="Arial"/>
            </a:endParaRPr>
          </a:p>
        </p:txBody>
      </p:sp>
      <p:sp>
        <p:nvSpPr>
          <p:cNvPr id="7" name="Text 16">
            <a:extLst>
              <a:ext uri="{FF2B5EF4-FFF2-40B4-BE49-F238E27FC236}">
                <a16:creationId xmlns:a16="http://schemas.microsoft.com/office/drawing/2014/main" id="{1BC6F383-7093-DEDD-FB41-9AF6A52BD6B5}"/>
              </a:ext>
            </a:extLst>
          </p:cNvPr>
          <p:cNvSpPr/>
          <p:nvPr/>
        </p:nvSpPr>
        <p:spPr>
          <a:xfrm>
            <a:off x="4811229" y="3208803"/>
            <a:ext cx="1901952" cy="201168"/>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Casper Hasle Clausen</a:t>
            </a:r>
          </a:p>
        </p:txBody>
      </p:sp>
      <p:sp>
        <p:nvSpPr>
          <p:cNvPr id="11" name="Text 17">
            <a:extLst>
              <a:ext uri="{FF2B5EF4-FFF2-40B4-BE49-F238E27FC236}">
                <a16:creationId xmlns:a16="http://schemas.microsoft.com/office/drawing/2014/main" id="{808E8B76-8D3A-4D61-5B09-CA9C819CCE78}"/>
              </a:ext>
            </a:extLst>
          </p:cNvPr>
          <p:cNvSpPr/>
          <p:nvPr/>
        </p:nvSpPr>
        <p:spPr>
          <a:xfrm>
            <a:off x="4811229" y="3419115"/>
            <a:ext cx="1901952" cy="164592"/>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A30018"/>
                </a:solidFill>
                <a:effectLst/>
                <a:uLnTx/>
                <a:uFillTx/>
                <a:latin typeface="Aptos" pitchFamily="34" charset="0"/>
                <a:ea typeface="+mn-ea"/>
                <a:cs typeface="+mn-cs"/>
              </a:rPr>
              <a:t>ccl@Steelproducts.dk</a:t>
            </a:r>
            <a:endPar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1" name="Text 22">
            <a:extLst>
              <a:ext uri="{FF2B5EF4-FFF2-40B4-BE49-F238E27FC236}">
                <a16:creationId xmlns:a16="http://schemas.microsoft.com/office/drawing/2014/main" id="{2DE23EC9-C278-0CED-06FF-DD82C31F6325}"/>
              </a:ext>
            </a:extLst>
          </p:cNvPr>
          <p:cNvSpPr/>
          <p:nvPr/>
        </p:nvSpPr>
        <p:spPr>
          <a:xfrm>
            <a:off x="4809400" y="3785987"/>
            <a:ext cx="1901952" cy="201168"/>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20" normalizeH="0" baseline="0" noProof="0" dirty="0">
                <a:ln>
                  <a:noFill/>
                </a:ln>
                <a:solidFill>
                  <a:srgbClr val="5D666B"/>
                </a:solidFill>
                <a:effectLst/>
                <a:uLnTx/>
                <a:uFillTx/>
                <a:latin typeface="Aptos Display" pitchFamily="34" charset="0"/>
                <a:ea typeface="Aptos Display" pitchFamily="34" charset="-122"/>
                <a:cs typeface="Aptos Display" pitchFamily="34" charset="-120"/>
              </a:rPr>
              <a:t>COLLABORATION</a:t>
            </a:r>
            <a:endPar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3" name="Text 23">
            <a:extLst>
              <a:ext uri="{FF2B5EF4-FFF2-40B4-BE49-F238E27FC236}">
                <a16:creationId xmlns:a16="http://schemas.microsoft.com/office/drawing/2014/main" id="{11F46951-40F2-EFF6-C0E7-DDCA888771DD}"/>
              </a:ext>
            </a:extLst>
          </p:cNvPr>
          <p:cNvSpPr/>
          <p:nvPr/>
        </p:nvSpPr>
        <p:spPr>
          <a:xfrm>
            <a:off x="4809400" y="3978011"/>
            <a:ext cx="1901952" cy="182880"/>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Display" pitchFamily="34" charset="0"/>
                <a:ea typeface="Aptos Display" pitchFamily="34" charset="-122"/>
                <a:cs typeface="Aptos Display" pitchFamily="34" charset="-120"/>
              </a:rPr>
              <a:t>Steel Products, Horsens</a:t>
            </a:r>
            <a:endPar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5" name="Text 16">
            <a:extLst>
              <a:ext uri="{FF2B5EF4-FFF2-40B4-BE49-F238E27FC236}">
                <a16:creationId xmlns:a16="http://schemas.microsoft.com/office/drawing/2014/main" id="{579E12D5-1C9D-3CDA-5664-0087324A6C7C}"/>
              </a:ext>
            </a:extLst>
          </p:cNvPr>
          <p:cNvSpPr/>
          <p:nvPr/>
        </p:nvSpPr>
        <p:spPr>
          <a:xfrm>
            <a:off x="4809400" y="2747419"/>
            <a:ext cx="1901952" cy="201168"/>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Chris Valentin Nielsen</a:t>
            </a:r>
          </a:p>
        </p:txBody>
      </p:sp>
      <p:sp>
        <p:nvSpPr>
          <p:cNvPr id="33" name="Text 17">
            <a:extLst>
              <a:ext uri="{FF2B5EF4-FFF2-40B4-BE49-F238E27FC236}">
                <a16:creationId xmlns:a16="http://schemas.microsoft.com/office/drawing/2014/main" id="{07BC9369-24CE-E134-0F15-9498C84FD535}"/>
              </a:ext>
            </a:extLst>
          </p:cNvPr>
          <p:cNvSpPr/>
          <p:nvPr/>
        </p:nvSpPr>
        <p:spPr>
          <a:xfrm>
            <a:off x="4809400" y="2957731"/>
            <a:ext cx="1901952" cy="164592"/>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A30018"/>
                </a:solidFill>
                <a:effectLst/>
                <a:uLnTx/>
                <a:uFillTx/>
                <a:latin typeface="Aptos" pitchFamily="34" charset="0"/>
                <a:ea typeface="+mn-ea"/>
                <a:cs typeface="+mn-cs"/>
              </a:rPr>
              <a:t>cvni@dtu.dk</a:t>
            </a:r>
            <a:endPar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36" name="Picture 35">
            <a:extLst>
              <a:ext uri="{FF2B5EF4-FFF2-40B4-BE49-F238E27FC236}">
                <a16:creationId xmlns:a16="http://schemas.microsoft.com/office/drawing/2014/main" id="{D58A28D7-D899-8CC8-3D00-8C9ACF2ED589}"/>
              </a:ext>
            </a:extLst>
          </p:cNvPr>
          <p:cNvPicPr>
            <a:picLocks noChangeAspect="1"/>
          </p:cNvPicPr>
          <p:nvPr/>
        </p:nvPicPr>
        <p:blipFill>
          <a:blip r:embed="rId3"/>
          <a:stretch>
            <a:fillRect/>
          </a:stretch>
        </p:blipFill>
        <p:spPr>
          <a:xfrm rot="18894711">
            <a:off x="605367" y="1686971"/>
            <a:ext cx="2076482" cy="2769198"/>
          </a:xfrm>
          <a:prstGeom prst="snip2DiagRect">
            <a:avLst>
              <a:gd name="adj1" fmla="val 32007"/>
              <a:gd name="adj2" fmla="val 50000"/>
            </a:avLst>
          </a:prstGeom>
        </p:spPr>
      </p:pic>
      <p:pic>
        <p:nvPicPr>
          <p:cNvPr id="41" name="Picture 40">
            <a:extLst>
              <a:ext uri="{FF2B5EF4-FFF2-40B4-BE49-F238E27FC236}">
                <a16:creationId xmlns:a16="http://schemas.microsoft.com/office/drawing/2014/main" id="{D03066C0-8C3B-BCEC-4E8A-07E6DD0A2E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79137" y="2281608"/>
            <a:ext cx="1330574" cy="1774454"/>
          </a:xfrm>
          <a:prstGeom prst="rect">
            <a:avLst/>
          </a:prstGeom>
        </p:spPr>
      </p:pic>
    </p:spTree>
    <p:extLst>
      <p:ext uri="{BB962C8B-B14F-4D97-AF65-F5344CB8AC3E}">
        <p14:creationId xmlns:p14="http://schemas.microsoft.com/office/powerpoint/2010/main" val="387732799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1267</TotalTime>
  <Words>2139</Words>
  <Application>Microsoft Office PowerPoint</Application>
  <PresentationFormat>A4 Paper (210x297 mm)</PresentationFormat>
  <Paragraphs>202</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vector>
  </TitlesOfParts>
  <Company>TECHNICAL UNIVERSITY OF DENMARK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Masoud Hasany</dc:creator>
  <cp:lastModifiedBy>Karen Pantleon</cp:lastModifiedBy>
  <cp:revision>21</cp:revision>
  <cp:lastPrinted>2026-10-26T14:44:04Z</cp:lastPrinted>
  <dcterms:created xsi:type="dcterms:W3CDTF">2026-10-09T11:09:38Z</dcterms:created>
  <dcterms:modified xsi:type="dcterms:W3CDTF">2026-10-26T15:19:24Z</dcterms:modified>
</cp:coreProperties>
</file>