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7" r:id="rId2"/>
    <p:sldId id="258" r:id="rId3"/>
    <p:sldId id="259" r:id="rId4"/>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D651E8-89E1-4E67-84FB-216ED0ACF08E}" v="3" dt="2026-10-09T15:00:27.3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64" autoAdjust="0"/>
    <p:restoredTop sz="94660"/>
  </p:normalViewPr>
  <p:slideViewPr>
    <p:cSldViewPr snapToGrid="0">
      <p:cViewPr varScale="1">
        <p:scale>
          <a:sx n="81" d="100"/>
          <a:sy n="81" d="100"/>
        </p:scale>
        <p:origin x="339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oud Hasany" userId="6cc17645-04cb-4c82-981d-5cca772a98bc" providerId="ADAL" clId="{3354FD60-1CDF-477F-A3E7-7DDB38CA4C74}"/>
    <pc:docChg chg="addSld delSld modSld">
      <pc:chgData name="Masoud Hasany" userId="6cc17645-04cb-4c82-981d-5cca772a98bc" providerId="ADAL" clId="{3354FD60-1CDF-477F-A3E7-7DDB38CA4C74}" dt="2026-10-09T15:00:11.873" v="18" actId="767"/>
      <pc:docMkLst>
        <pc:docMk/>
      </pc:docMkLst>
      <pc:sldChg chg="addSp modSp mod">
        <pc:chgData name="Masoud Hasany" userId="6cc17645-04cb-4c82-981d-5cca772a98bc" providerId="ADAL" clId="{3354FD60-1CDF-477F-A3E7-7DDB38CA4C74}" dt="2026-10-09T15:00:11.873" v="18" actId="767"/>
        <pc:sldMkLst>
          <pc:docMk/>
          <pc:sldMk cId="2236149848" sldId="256"/>
        </pc:sldMkLst>
        <pc:spChg chg="add mod">
          <ac:chgData name="Masoud Hasany" userId="6cc17645-04cb-4c82-981d-5cca772a98bc" providerId="ADAL" clId="{3354FD60-1CDF-477F-A3E7-7DDB38CA4C74}" dt="2026-10-09T15:00:11.873" v="18" actId="767"/>
          <ac:spMkLst>
            <pc:docMk/>
            <pc:sldMk cId="2236149848" sldId="256"/>
            <ac:spMk id="2" creationId="{559CB724-70E0-3D19-54FB-93905C3E7E59}"/>
          </ac:spMkLst>
        </pc:spChg>
        <pc:spChg chg="mod">
          <ac:chgData name="Masoud Hasany" userId="6cc17645-04cb-4c82-981d-5cca772a98bc" providerId="ADAL" clId="{3354FD60-1CDF-477F-A3E7-7DDB38CA4C74}" dt="2026-10-09T14:56:41.313" v="17" actId="1035"/>
          <ac:spMkLst>
            <pc:docMk/>
            <pc:sldMk cId="2236149848" sldId="256"/>
            <ac:spMk id="20" creationId="{BF93D45E-B774-456A-8A91-E3FB6CC60F32}"/>
          </ac:spMkLst>
        </pc:spChg>
        <pc:spChg chg="mod">
          <ac:chgData name="Masoud Hasany" userId="6cc17645-04cb-4c82-981d-5cca772a98bc" providerId="ADAL" clId="{3354FD60-1CDF-477F-A3E7-7DDB38CA4C74}" dt="2026-10-09T14:56:41.313" v="17" actId="1035"/>
          <ac:spMkLst>
            <pc:docMk/>
            <pc:sldMk cId="2236149848" sldId="256"/>
            <ac:spMk id="28" creationId="{DDA6AD76-253A-BDEE-D80F-CF8C578343F2}"/>
          </ac:spMkLst>
        </pc:spChg>
        <pc:spChg chg="mod">
          <ac:chgData name="Masoud Hasany" userId="6cc17645-04cb-4c82-981d-5cca772a98bc" providerId="ADAL" clId="{3354FD60-1CDF-477F-A3E7-7DDB38CA4C74}" dt="2026-10-09T14:56:41.313" v="17" actId="1035"/>
          <ac:spMkLst>
            <pc:docMk/>
            <pc:sldMk cId="2236149848" sldId="256"/>
            <ac:spMk id="32" creationId="{975C2CB1-0286-2F6B-9B19-5CBCCDBC47F2}"/>
          </ac:spMkLst>
        </pc:spChg>
        <pc:spChg chg="mod">
          <ac:chgData name="Masoud Hasany" userId="6cc17645-04cb-4c82-981d-5cca772a98bc" providerId="ADAL" clId="{3354FD60-1CDF-477F-A3E7-7DDB38CA4C74}" dt="2026-10-09T14:56:41.313" v="17" actId="1035"/>
          <ac:spMkLst>
            <pc:docMk/>
            <pc:sldMk cId="2236149848" sldId="256"/>
            <ac:spMk id="34" creationId="{8E706A9F-BDF4-6E34-2BC8-528A2E4C7162}"/>
          </ac:spMkLst>
        </pc:spChg>
        <pc:spChg chg="mod">
          <ac:chgData name="Masoud Hasany" userId="6cc17645-04cb-4c82-981d-5cca772a98bc" providerId="ADAL" clId="{3354FD60-1CDF-477F-A3E7-7DDB38CA4C74}" dt="2026-10-09T14:56:41.313" v="17" actId="1035"/>
          <ac:spMkLst>
            <pc:docMk/>
            <pc:sldMk cId="2236149848" sldId="256"/>
            <ac:spMk id="36" creationId="{279E3988-0483-A929-2165-3D05E003F6C6}"/>
          </ac:spMkLst>
        </pc:spChg>
        <pc:spChg chg="mod">
          <ac:chgData name="Masoud Hasany" userId="6cc17645-04cb-4c82-981d-5cca772a98bc" providerId="ADAL" clId="{3354FD60-1CDF-477F-A3E7-7DDB38CA4C74}" dt="2026-10-09T14:56:41.313" v="17" actId="1035"/>
          <ac:spMkLst>
            <pc:docMk/>
            <pc:sldMk cId="2236149848" sldId="256"/>
            <ac:spMk id="38" creationId="{A5E5AC3B-9018-8067-D6FD-F9121BA39AC6}"/>
          </ac:spMkLst>
        </pc:spChg>
        <pc:spChg chg="mod">
          <ac:chgData name="Masoud Hasany" userId="6cc17645-04cb-4c82-981d-5cca772a98bc" providerId="ADAL" clId="{3354FD60-1CDF-477F-A3E7-7DDB38CA4C74}" dt="2026-10-09T14:56:41.313" v="17" actId="1035"/>
          <ac:spMkLst>
            <pc:docMk/>
            <pc:sldMk cId="2236149848" sldId="256"/>
            <ac:spMk id="46" creationId="{741B9529-EDF4-0277-9517-AD77B4EC7EFA}"/>
          </ac:spMkLst>
        </pc:spChg>
        <pc:spChg chg="mod">
          <ac:chgData name="Masoud Hasany" userId="6cc17645-04cb-4c82-981d-5cca772a98bc" providerId="ADAL" clId="{3354FD60-1CDF-477F-A3E7-7DDB38CA4C74}" dt="2026-10-09T14:56:41.313" v="17" actId="1035"/>
          <ac:spMkLst>
            <pc:docMk/>
            <pc:sldMk cId="2236149848" sldId="256"/>
            <ac:spMk id="52" creationId="{E1F4C334-2223-19ED-44AB-9671AA39A52B}"/>
          </ac:spMkLst>
        </pc:spChg>
        <pc:spChg chg="mod">
          <ac:chgData name="Masoud Hasany" userId="6cc17645-04cb-4c82-981d-5cca772a98bc" providerId="ADAL" clId="{3354FD60-1CDF-477F-A3E7-7DDB38CA4C74}" dt="2026-10-09T14:56:13.626" v="2" actId="1076"/>
          <ac:spMkLst>
            <pc:docMk/>
            <pc:sldMk cId="2236149848" sldId="256"/>
            <ac:spMk id="54" creationId="{3B32DA2F-B6E5-BD0C-B0E2-8DB758B29FE0}"/>
          </ac:spMkLst>
        </pc:spChg>
        <pc:spChg chg="mod">
          <ac:chgData name="Masoud Hasany" userId="6cc17645-04cb-4c82-981d-5cca772a98bc" providerId="ADAL" clId="{3354FD60-1CDF-477F-A3E7-7DDB38CA4C74}" dt="2026-10-09T14:56:41.313" v="17" actId="1035"/>
          <ac:spMkLst>
            <pc:docMk/>
            <pc:sldMk cId="2236149848" sldId="256"/>
            <ac:spMk id="56" creationId="{B6524C55-32C1-1701-39AF-30B8513D5859}"/>
          </ac:spMkLst>
        </pc:spChg>
        <pc:spChg chg="mod">
          <ac:chgData name="Masoud Hasany" userId="6cc17645-04cb-4c82-981d-5cca772a98bc" providerId="ADAL" clId="{3354FD60-1CDF-477F-A3E7-7DDB38CA4C74}" dt="2026-10-09T14:56:19.594" v="3" actId="1076"/>
          <ac:spMkLst>
            <pc:docMk/>
            <pc:sldMk cId="2236149848" sldId="256"/>
            <ac:spMk id="58" creationId="{E52291FE-67CB-49F0-597C-9F48EC893D25}"/>
          </ac:spMkLst>
        </pc:spChg>
        <pc:spChg chg="mod">
          <ac:chgData name="Masoud Hasany" userId="6cc17645-04cb-4c82-981d-5cca772a98bc" providerId="ADAL" clId="{3354FD60-1CDF-477F-A3E7-7DDB38CA4C74}" dt="2026-10-09T14:56:19.594" v="3" actId="1076"/>
          <ac:spMkLst>
            <pc:docMk/>
            <pc:sldMk cId="2236149848" sldId="256"/>
            <ac:spMk id="60" creationId="{21731E05-B059-A90E-C87B-2E6FFD0794F0}"/>
          </ac:spMkLst>
        </pc:spChg>
        <pc:spChg chg="mod">
          <ac:chgData name="Masoud Hasany" userId="6cc17645-04cb-4c82-981d-5cca772a98bc" providerId="ADAL" clId="{3354FD60-1CDF-477F-A3E7-7DDB38CA4C74}" dt="2026-10-09T14:56:19.594" v="3" actId="1076"/>
          <ac:spMkLst>
            <pc:docMk/>
            <pc:sldMk cId="2236149848" sldId="256"/>
            <ac:spMk id="62" creationId="{11812E9B-5850-E1D8-90D9-FAD3FEC017D7}"/>
          </ac:spMkLst>
        </pc:spChg>
        <pc:spChg chg="mod">
          <ac:chgData name="Masoud Hasany" userId="6cc17645-04cb-4c82-981d-5cca772a98bc" providerId="ADAL" clId="{3354FD60-1CDF-477F-A3E7-7DDB38CA4C74}" dt="2026-10-09T14:56:41.313" v="17" actId="1035"/>
          <ac:spMkLst>
            <pc:docMk/>
            <pc:sldMk cId="2236149848" sldId="256"/>
            <ac:spMk id="70" creationId="{A368D0A1-E117-25EE-605D-20388D61C90D}"/>
          </ac:spMkLst>
        </pc:spChg>
      </pc:sldChg>
      <pc:sldChg chg="add del">
        <pc:chgData name="Masoud Hasany" userId="6cc17645-04cb-4c82-981d-5cca772a98bc" providerId="ADAL" clId="{3354FD60-1CDF-477F-A3E7-7DDB38CA4C74}" dt="2026-10-09T11:20:35.852" v="1" actId="47"/>
        <pc:sldMkLst>
          <pc:docMk/>
          <pc:sldMk cId="4271125815"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C5A8F6C-B07C-452E-B339-02239878CD78}" type="datetimeFigureOut">
              <a:rPr lang="en-US" smtClean="0"/>
              <a:t>10/27/2026</a:t>
            </a:fld>
            <a:endParaRPr lang="en-US"/>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4A641D6A-0069-447C-9CC0-570BB150D784}" type="slidenum">
              <a:rPr lang="en-US" smtClean="0"/>
              <a:t>‹#›</a:t>
            </a:fld>
            <a:endParaRPr lang="en-US"/>
          </a:p>
        </p:txBody>
      </p:sp>
    </p:spTree>
    <p:extLst>
      <p:ext uri="{BB962C8B-B14F-4D97-AF65-F5344CB8AC3E}">
        <p14:creationId xmlns:p14="http://schemas.microsoft.com/office/powerpoint/2010/main" val="2186060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641D6A-0069-447C-9CC0-570BB150D784}" type="slidenum">
              <a:rPr lang="en-US" smtClean="0"/>
              <a:t>1</a:t>
            </a:fld>
            <a:endParaRPr lang="en-US"/>
          </a:p>
        </p:txBody>
      </p:sp>
    </p:spTree>
    <p:extLst>
      <p:ext uri="{BB962C8B-B14F-4D97-AF65-F5344CB8AC3E}">
        <p14:creationId xmlns:p14="http://schemas.microsoft.com/office/powerpoint/2010/main" val="3499773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17AB7-11BF-0C07-1BED-6CD6C85DE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FC6FD-DF04-BD89-949E-9EEBF1E4CE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204138-6CC5-25C1-C92C-AE09B612E8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C9BE9A-D1A7-3FC8-742B-C40B7DE42A55}"/>
              </a:ext>
            </a:extLst>
          </p:cNvPr>
          <p:cNvSpPr>
            <a:spLocks noGrp="1"/>
          </p:cNvSpPr>
          <p:nvPr>
            <p:ph type="sldNum" sz="quarter" idx="5"/>
          </p:nvPr>
        </p:nvSpPr>
        <p:spPr/>
        <p:txBody>
          <a:bodyPr/>
          <a:lstStyle/>
          <a:p>
            <a:fld id="{4A641D6A-0069-447C-9CC0-570BB150D784}" type="slidenum">
              <a:rPr lang="en-US" smtClean="0"/>
              <a:t>2</a:t>
            </a:fld>
            <a:endParaRPr lang="en-US"/>
          </a:p>
        </p:txBody>
      </p:sp>
    </p:spTree>
    <p:extLst>
      <p:ext uri="{BB962C8B-B14F-4D97-AF65-F5344CB8AC3E}">
        <p14:creationId xmlns:p14="http://schemas.microsoft.com/office/powerpoint/2010/main" val="2902780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71DAE-44CC-CEDF-FDEA-98E4C47742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47D35-6136-F113-FFE9-449F43628F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692E73-C6FA-C791-F5F0-0EA30BE520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E8F66F-DC5D-CD8D-04E1-A698A80B109C}"/>
              </a:ext>
            </a:extLst>
          </p:cNvPr>
          <p:cNvSpPr>
            <a:spLocks noGrp="1"/>
          </p:cNvSpPr>
          <p:nvPr>
            <p:ph type="sldNum" sz="quarter" idx="5"/>
          </p:nvPr>
        </p:nvSpPr>
        <p:spPr/>
        <p:txBody>
          <a:bodyPr/>
          <a:lstStyle/>
          <a:p>
            <a:fld id="{4A641D6A-0069-447C-9CC0-570BB150D784}" type="slidenum">
              <a:rPr lang="en-US" smtClean="0"/>
              <a:t>3</a:t>
            </a:fld>
            <a:endParaRPr lang="en-US"/>
          </a:p>
        </p:txBody>
      </p:sp>
    </p:spTree>
    <p:extLst>
      <p:ext uri="{BB962C8B-B14F-4D97-AF65-F5344CB8AC3E}">
        <p14:creationId xmlns:p14="http://schemas.microsoft.com/office/powerpoint/2010/main" val="2497037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7949EE-9881-4002-A5D2-5C603941A9EE}"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628540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D393A-51C8-4873-AB5B-33A9CA72457B}"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007937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ED32DC-3138-49D5-A762-35EF2E7B5708}"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031474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34DCFC-A56F-426C-B9EF-CD0CDC7D69F1}" type="datetime1">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485527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4E70D6-12C6-4DE5-9A5D-29B6EE417C39}" type="datetime1">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360494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0E3A64-FA3B-4E33-B42D-2315F535535C}" type="datetime1">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551148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8DA539-685E-4880-A468-8EF8C4AD42F8}" type="datetime1">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488637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88FD366-2480-4FDC-A6F7-D357B93DAA4F}" type="datetime1">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39536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C470449-18DB-4FF7-8D7E-CF4A040C7D57}" type="datetime1">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535732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6D735C-9495-42D3-9A57-B69F6B441082}"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039328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9F4679-FE80-435C-9BF4-7126CA01D8FE}"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994105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43F121EA-D16B-4B7B-A7AE-6CA1296CE191}" type="datetime1">
              <a:rPr lang="en-US" smtClean="0"/>
              <a:t>10/27/2026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F934066D-384D-4BE1-BDC2-82BCC33558DD}" type="slidenum">
              <a:rPr lang="en-US" smtClean="0"/>
              <a:t>‹#›</a:t>
            </a:fld>
            <a:endParaRPr lang="en-US"/>
          </a:p>
        </p:txBody>
      </p:sp>
    </p:spTree>
    <p:extLst>
      <p:ext uri="{BB962C8B-B14F-4D97-AF65-F5344CB8AC3E}">
        <p14:creationId xmlns:p14="http://schemas.microsoft.com/office/powerpoint/2010/main" val="35951072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0355A-F819-8581-13AD-99280C4F95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9C1034-B86A-4F50-D6A9-9E81A1AEDE7E}"/>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1</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231ED84F-2D31-6B2C-5C3F-B7B2CA508820}"/>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ED5772CD-CAC4-ED26-593D-A66ADF566B6E}"/>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45FF66F6-CE7F-0C1E-6D67-AD5F4E46A7E2}"/>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2ED2E144-0DE6-C4D5-A44F-03C0DCBC60FB}"/>
              </a:ext>
            </a:extLst>
          </p:cNvPr>
          <p:cNvPicPr>
            <a:picLocks noChangeAspect="1"/>
          </p:cNvPicPr>
          <p:nvPr/>
        </p:nvPicPr>
        <p:blipFill>
          <a:blip r:embed="rId3"/>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1D3796D9-185B-9016-B22E-82253A4A2DC8}"/>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F29FC3FB-CDF0-469E-1007-7FFC05909A42}"/>
              </a:ext>
            </a:extLst>
          </p:cNvPr>
          <p:cNvSpPr/>
          <p:nvPr/>
        </p:nvSpPr>
        <p:spPr>
          <a:xfrm>
            <a:off x="288607" y="1224986"/>
            <a:ext cx="6426403" cy="201168"/>
          </a:xfrm>
          <a:prstGeom prst="rect">
            <a:avLst/>
          </a:prstGeom>
          <a:noFill/>
          <a:ln/>
        </p:spPr>
        <p:txBody>
          <a:bodyPr wrap="square" lIns="0" tIns="0" rIns="0" bIns="0" rtlCol="0" anchor="t"/>
          <a:lstStyle/>
          <a:p>
            <a:r>
              <a:rPr lang="en-US" sz="860" b="1" kern="0" spc="120" dirty="0">
                <a:solidFill>
                  <a:srgbClr val="A30018"/>
                </a:solidFill>
                <a:latin typeface="Aptos Display" pitchFamily="34" charset="0"/>
                <a:ea typeface="Aptos Display" pitchFamily="34" charset="-122"/>
                <a:cs typeface="Aptos Display" pitchFamily="34" charset="-120"/>
              </a:rPr>
              <a:t>PROJECT LEVEL: Master or bachelor</a:t>
            </a:r>
            <a:endParaRPr lang="en-US" sz="860" dirty="0">
              <a:highlight>
                <a:srgbClr val="FFFF00"/>
              </a:highlight>
            </a:endParaRPr>
          </a:p>
        </p:txBody>
      </p:sp>
      <p:sp>
        <p:nvSpPr>
          <p:cNvPr id="18" name="Text 6">
            <a:extLst>
              <a:ext uri="{FF2B5EF4-FFF2-40B4-BE49-F238E27FC236}">
                <a16:creationId xmlns:a16="http://schemas.microsoft.com/office/drawing/2014/main" id="{75771752-F8AA-49AE-E56D-A0BB3EDDE223}"/>
              </a:ext>
            </a:extLst>
          </p:cNvPr>
          <p:cNvSpPr/>
          <p:nvPr/>
        </p:nvSpPr>
        <p:spPr>
          <a:xfrm>
            <a:off x="288607" y="1526738"/>
            <a:ext cx="6426403" cy="691310"/>
          </a:xfrm>
          <a:prstGeom prst="rect">
            <a:avLst/>
          </a:prstGeom>
          <a:noFill/>
          <a:ln/>
        </p:spPr>
        <p:txBody>
          <a:bodyPr wrap="square" lIns="0" tIns="0" rIns="0" bIns="0" rtlCol="0" anchor="t"/>
          <a:lstStyle/>
          <a:p>
            <a:pPr marL="0" indent="0">
              <a:lnSpc>
                <a:spcPct val="95000"/>
              </a:lnSpc>
              <a:buNone/>
            </a:pPr>
            <a:r>
              <a:rPr lang="en-US" sz="2000" b="1" dirty="0">
                <a:solidFill>
                  <a:srgbClr val="22282D"/>
                </a:solidFill>
                <a:latin typeface="Aptos Display" pitchFamily="34" charset="0"/>
                <a:ea typeface="Aptos Display" pitchFamily="34" charset="-122"/>
                <a:cs typeface="Aptos Display" pitchFamily="34" charset="-120"/>
              </a:rPr>
              <a:t>3D Printing of Living Materials for Future Sustainable Construction</a:t>
            </a:r>
            <a:endParaRPr lang="en-US" sz="2000" dirty="0"/>
          </a:p>
        </p:txBody>
      </p:sp>
      <p:sp>
        <p:nvSpPr>
          <p:cNvPr id="26" name="Shape 14">
            <a:extLst>
              <a:ext uri="{FF2B5EF4-FFF2-40B4-BE49-F238E27FC236}">
                <a16:creationId xmlns:a16="http://schemas.microsoft.com/office/drawing/2014/main" id="{07F0E408-AE1D-9170-CA84-7CEABB651675}"/>
              </a:ext>
            </a:extLst>
          </p:cNvPr>
          <p:cNvSpPr/>
          <p:nvPr/>
        </p:nvSpPr>
        <p:spPr>
          <a:xfrm>
            <a:off x="4686871" y="249981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9050D1D9-8BA1-2206-F83C-71057F472755}"/>
              </a:ext>
            </a:extLst>
          </p:cNvPr>
          <p:cNvSpPr/>
          <p:nvPr/>
        </p:nvSpPr>
        <p:spPr>
          <a:xfrm>
            <a:off x="4805743" y="2536388"/>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SUPERVISORS</a:t>
            </a:r>
            <a:endParaRPr lang="en-US" sz="860" dirty="0"/>
          </a:p>
        </p:txBody>
      </p:sp>
      <p:sp>
        <p:nvSpPr>
          <p:cNvPr id="30" name="Text 16">
            <a:extLst>
              <a:ext uri="{FF2B5EF4-FFF2-40B4-BE49-F238E27FC236}">
                <a16:creationId xmlns:a16="http://schemas.microsoft.com/office/drawing/2014/main" id="{8C567A6F-C385-8C1E-0D17-85E5271EB5CC}"/>
              </a:ext>
            </a:extLst>
          </p:cNvPr>
          <p:cNvSpPr/>
          <p:nvPr/>
        </p:nvSpPr>
        <p:spPr>
          <a:xfrm>
            <a:off x="4805743" y="2810708"/>
            <a:ext cx="1901952" cy="201168"/>
          </a:xfrm>
          <a:prstGeom prst="rect">
            <a:avLst/>
          </a:prstGeom>
          <a:noFill/>
          <a:ln/>
        </p:spPr>
        <p:txBody>
          <a:bodyPr wrap="square" lIns="0" tIns="0" rIns="0" bIns="0" rtlCol="0" anchor="t"/>
          <a:lstStyle/>
          <a:p>
            <a:r>
              <a:rPr lang="en-US" sz="950" b="1" dirty="0">
                <a:solidFill>
                  <a:srgbClr val="5D666B"/>
                </a:solidFill>
                <a:latin typeface="Aptos Display" pitchFamily="34" charset="0"/>
              </a:rPr>
              <a:t>Mehdi Mehrali</a:t>
            </a:r>
          </a:p>
        </p:txBody>
      </p:sp>
      <p:sp>
        <p:nvSpPr>
          <p:cNvPr id="32" name="Text 17">
            <a:extLst>
              <a:ext uri="{FF2B5EF4-FFF2-40B4-BE49-F238E27FC236}">
                <a16:creationId xmlns:a16="http://schemas.microsoft.com/office/drawing/2014/main" id="{B11292C7-9B65-626C-C33D-1C7F6EC09F8B}"/>
              </a:ext>
            </a:extLst>
          </p:cNvPr>
          <p:cNvSpPr/>
          <p:nvPr/>
        </p:nvSpPr>
        <p:spPr>
          <a:xfrm>
            <a:off x="4805743" y="3021020"/>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meme@dtu.dk</a:t>
            </a:r>
          </a:p>
          <a:p>
            <a:pPr marL="0" indent="0">
              <a:lnSpc>
                <a:spcPct val="100000"/>
              </a:lnSpc>
              <a:buNone/>
            </a:pPr>
            <a:endParaRPr lang="en-US" sz="830" dirty="0"/>
          </a:p>
        </p:txBody>
      </p:sp>
      <p:sp>
        <p:nvSpPr>
          <p:cNvPr id="34" name="Text 18">
            <a:extLst>
              <a:ext uri="{FF2B5EF4-FFF2-40B4-BE49-F238E27FC236}">
                <a16:creationId xmlns:a16="http://schemas.microsoft.com/office/drawing/2014/main" id="{B4321C72-F514-3DA4-E6AB-D5E19DACC576}"/>
              </a:ext>
            </a:extLst>
          </p:cNvPr>
          <p:cNvSpPr/>
          <p:nvPr/>
        </p:nvSpPr>
        <p:spPr>
          <a:xfrm>
            <a:off x="4805743" y="3304484"/>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rPr>
              <a:t>Peng Jin</a:t>
            </a:r>
            <a:endParaRPr lang="en-US" sz="950" dirty="0"/>
          </a:p>
        </p:txBody>
      </p:sp>
      <p:sp>
        <p:nvSpPr>
          <p:cNvPr id="36" name="Text 19">
            <a:extLst>
              <a:ext uri="{FF2B5EF4-FFF2-40B4-BE49-F238E27FC236}">
                <a16:creationId xmlns:a16="http://schemas.microsoft.com/office/drawing/2014/main" id="{18828274-4F47-EC60-62CB-C9D5847D24FC}"/>
              </a:ext>
            </a:extLst>
          </p:cNvPr>
          <p:cNvSpPr/>
          <p:nvPr/>
        </p:nvSpPr>
        <p:spPr>
          <a:xfrm>
            <a:off x="4805743" y="3514796"/>
            <a:ext cx="1901952" cy="164592"/>
          </a:xfrm>
          <a:prstGeom prst="rect">
            <a:avLst/>
          </a:prstGeom>
          <a:noFill/>
          <a:ln/>
        </p:spPr>
        <p:txBody>
          <a:bodyPr wrap="square" lIns="0" tIns="0" rIns="0" bIns="0" rtlCol="0" anchor="t"/>
          <a:lstStyle/>
          <a:p>
            <a:r>
              <a:rPr lang="en-US" sz="830" dirty="0">
                <a:solidFill>
                  <a:srgbClr val="A30018"/>
                </a:solidFill>
                <a:latin typeface="Aptos" pitchFamily="34" charset="0"/>
                <a:ea typeface="Aptos" pitchFamily="34" charset="-122"/>
                <a:cs typeface="Aptos" pitchFamily="34" charset="-120"/>
              </a:rPr>
              <a:t>penji@dtu.dk</a:t>
            </a:r>
            <a:endParaRPr lang="en-US" sz="830" dirty="0"/>
          </a:p>
        </p:txBody>
      </p:sp>
      <p:sp>
        <p:nvSpPr>
          <p:cNvPr id="46" name="Shape 24">
            <a:extLst>
              <a:ext uri="{FF2B5EF4-FFF2-40B4-BE49-F238E27FC236}">
                <a16:creationId xmlns:a16="http://schemas.microsoft.com/office/drawing/2014/main" id="{EC93D62A-98D1-2CDC-B735-0FBE380A9986}"/>
              </a:ext>
            </a:extLst>
          </p:cNvPr>
          <p:cNvSpPr/>
          <p:nvPr/>
        </p:nvSpPr>
        <p:spPr>
          <a:xfrm>
            <a:off x="288607" y="476574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76928817-735D-3B20-972F-73EEB466FF42}"/>
              </a:ext>
            </a:extLst>
          </p:cNvPr>
          <p:cNvSpPr/>
          <p:nvPr/>
        </p:nvSpPr>
        <p:spPr>
          <a:xfrm>
            <a:off x="288607" y="490316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01  /  PROJECT BACKGROUND</a:t>
            </a:r>
            <a:endParaRPr lang="en-US" sz="860" dirty="0"/>
          </a:p>
        </p:txBody>
      </p:sp>
      <p:sp>
        <p:nvSpPr>
          <p:cNvPr id="50" name="Text 26">
            <a:extLst>
              <a:ext uri="{FF2B5EF4-FFF2-40B4-BE49-F238E27FC236}">
                <a16:creationId xmlns:a16="http://schemas.microsoft.com/office/drawing/2014/main" id="{98DFCB0D-85F9-BB98-E700-180A7DD0860A}"/>
              </a:ext>
            </a:extLst>
          </p:cNvPr>
          <p:cNvSpPr/>
          <p:nvPr/>
        </p:nvSpPr>
        <p:spPr>
          <a:xfrm>
            <a:off x="288607" y="5079181"/>
            <a:ext cx="6426403" cy="978409"/>
          </a:xfrm>
          <a:prstGeom prst="rect">
            <a:avLst/>
          </a:prstGeom>
          <a:noFill/>
          <a:ln/>
        </p:spPr>
        <p:txBody>
          <a:bodyPr wrap="square" lIns="0" tIns="0" rIns="0" bIns="0" rtlCol="0" anchor="t"/>
          <a:lstStyle/>
          <a:p>
            <a:pPr marL="0" indent="0" algn="just">
              <a:lnSpc>
                <a:spcPct val="104000"/>
              </a:lnSpc>
              <a:buNone/>
            </a:pPr>
            <a:r>
              <a:rPr lang="en-US" sz="1000" dirty="0">
                <a:solidFill>
                  <a:srgbClr val="5D666B"/>
                </a:solidFill>
                <a:latin typeface="Aptos" pitchFamily="34" charset="0"/>
                <a:ea typeface="Aptos" pitchFamily="34" charset="-122"/>
                <a:cs typeface="Aptos" pitchFamily="34" charset="-120"/>
              </a:rPr>
              <a:t>Conventional building materials, particularly Portland cement, contribute significantly to global carbon dioxide emissions. Developing alternative binders is therefore an important step towards more sustainable construction. Inspired by the formation of natural materials such as bone and nacre, this project explores biological calcium carbonate precipitation within 3D-printed hydrogel structures. Biomass-derived hydrogels provide a printable framework that carries biological components. Under suitable conditions, these components promote calcium carbonate formation within the hydrogel network, potentially producing a denser and stronger composite material.</a:t>
            </a:r>
            <a:endParaRPr lang="en-US" sz="1000" dirty="0"/>
          </a:p>
        </p:txBody>
      </p:sp>
      <p:sp>
        <p:nvSpPr>
          <p:cNvPr id="52" name="Text 27">
            <a:extLst>
              <a:ext uri="{FF2B5EF4-FFF2-40B4-BE49-F238E27FC236}">
                <a16:creationId xmlns:a16="http://schemas.microsoft.com/office/drawing/2014/main" id="{5BE4BB3F-71C5-566E-CC65-5598E51E80FF}"/>
              </a:ext>
            </a:extLst>
          </p:cNvPr>
          <p:cNvSpPr/>
          <p:nvPr/>
        </p:nvSpPr>
        <p:spPr>
          <a:xfrm>
            <a:off x="288607" y="6089899"/>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02  /  PROJECT AIM</a:t>
            </a:r>
            <a:endParaRPr lang="en-US" sz="860" dirty="0"/>
          </a:p>
        </p:txBody>
      </p:sp>
      <p:sp>
        <p:nvSpPr>
          <p:cNvPr id="54" name="Text 28">
            <a:extLst>
              <a:ext uri="{FF2B5EF4-FFF2-40B4-BE49-F238E27FC236}">
                <a16:creationId xmlns:a16="http://schemas.microsoft.com/office/drawing/2014/main" id="{4D363364-54B0-88EE-148D-5A0272762B54}"/>
              </a:ext>
            </a:extLst>
          </p:cNvPr>
          <p:cNvSpPr/>
          <p:nvPr/>
        </p:nvSpPr>
        <p:spPr>
          <a:xfrm>
            <a:off x="288607" y="6289690"/>
            <a:ext cx="6426403" cy="666616"/>
          </a:xfrm>
          <a:prstGeom prst="rect">
            <a:avLst/>
          </a:prstGeom>
          <a:noFill/>
          <a:ln/>
        </p:spPr>
        <p:txBody>
          <a:bodyPr wrap="square" lIns="0" tIns="0" rIns="0" bIns="0" rtlCol="0" anchor="t"/>
          <a:lstStyle/>
          <a:p>
            <a:pPr algn="just"/>
            <a:r>
              <a:rPr lang="en-US" sz="1000" dirty="0">
                <a:solidFill>
                  <a:srgbClr val="5D666B"/>
                </a:solidFill>
                <a:latin typeface="Aptos" pitchFamily="34" charset="0"/>
              </a:rPr>
              <a:t>The project aims to develop biomass-derived hydrogels suitable for 3D printing and compatible with biological </a:t>
            </a:r>
            <a:r>
              <a:rPr lang="en-US" sz="1000" dirty="0" err="1">
                <a:solidFill>
                  <a:srgbClr val="5D666B"/>
                </a:solidFill>
                <a:latin typeface="Aptos" pitchFamily="34" charset="0"/>
              </a:rPr>
              <a:t>mineralisation</a:t>
            </a:r>
            <a:r>
              <a:rPr lang="en-US" sz="1000" dirty="0">
                <a:solidFill>
                  <a:srgbClr val="5D666B"/>
                </a:solidFill>
                <a:latin typeface="Aptos" pitchFamily="34" charset="0"/>
              </a:rPr>
              <a:t>. The student will investigate how hydrogel composition and </a:t>
            </a:r>
            <a:r>
              <a:rPr lang="en-US" sz="1000" dirty="0" err="1">
                <a:solidFill>
                  <a:srgbClr val="5D666B"/>
                </a:solidFill>
                <a:latin typeface="Aptos" pitchFamily="34" charset="0"/>
              </a:rPr>
              <a:t>mineralisation</a:t>
            </a:r>
            <a:r>
              <a:rPr lang="en-US" sz="1000" dirty="0">
                <a:solidFill>
                  <a:srgbClr val="5D666B"/>
                </a:solidFill>
                <a:latin typeface="Aptos" pitchFamily="34" charset="0"/>
              </a:rPr>
              <a:t> conditions influence printability, calcium carbonate formation, microstructure and mechanical performance, with the broader goal of developing living materials for sustainable construction.</a:t>
            </a:r>
          </a:p>
        </p:txBody>
      </p:sp>
      <p:sp>
        <p:nvSpPr>
          <p:cNvPr id="56" name="Text 29">
            <a:extLst>
              <a:ext uri="{FF2B5EF4-FFF2-40B4-BE49-F238E27FC236}">
                <a16:creationId xmlns:a16="http://schemas.microsoft.com/office/drawing/2014/main" id="{9F757E8B-037A-6F6C-878F-A332C8B9FFC2}"/>
              </a:ext>
            </a:extLst>
          </p:cNvPr>
          <p:cNvSpPr/>
          <p:nvPr/>
        </p:nvSpPr>
        <p:spPr>
          <a:xfrm>
            <a:off x="288607" y="702006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03  /  PROJECT ACTIVITIES</a:t>
            </a:r>
            <a:endParaRPr lang="en-US" sz="860" dirty="0"/>
          </a:p>
        </p:txBody>
      </p:sp>
      <p:sp>
        <p:nvSpPr>
          <p:cNvPr id="58" name="Text 30">
            <a:extLst>
              <a:ext uri="{FF2B5EF4-FFF2-40B4-BE49-F238E27FC236}">
                <a16:creationId xmlns:a16="http://schemas.microsoft.com/office/drawing/2014/main" id="{AB92659D-1F82-96C0-FDE5-28ABB7555FEB}"/>
              </a:ext>
            </a:extLst>
          </p:cNvPr>
          <p:cNvSpPr/>
          <p:nvPr/>
        </p:nvSpPr>
        <p:spPr>
          <a:xfrm>
            <a:off x="306895" y="7256025"/>
            <a:ext cx="6398971" cy="336265"/>
          </a:xfrm>
          <a:prstGeom prst="rect">
            <a:avLst/>
          </a:prstGeom>
          <a:noFill/>
          <a:ln/>
        </p:spPr>
        <p:txBody>
          <a:bodyPr wrap="square" lIns="0" tIns="0" rIns="0" bIns="0" rtlCol="0" anchor="t"/>
          <a:lstStyle/>
          <a:p>
            <a:pPr marL="139700" indent="-139700">
              <a:lnSpc>
                <a:spcPct val="106000"/>
              </a:lnSpc>
              <a:buSzPct val="100000"/>
              <a:buChar char="•"/>
            </a:pPr>
            <a:r>
              <a:rPr lang="en-US" sz="975" dirty="0">
                <a:solidFill>
                  <a:srgbClr val="5D666B"/>
                </a:solidFill>
                <a:latin typeface="Aptos" pitchFamily="34" charset="0"/>
                <a:ea typeface="Aptos" pitchFamily="34" charset="-122"/>
                <a:cs typeface="Aptos" pitchFamily="34" charset="-120"/>
              </a:rPr>
              <a:t>Develop and </a:t>
            </a:r>
            <a:r>
              <a:rPr lang="en-US" sz="975" dirty="0" err="1">
                <a:solidFill>
                  <a:srgbClr val="5D666B"/>
                </a:solidFill>
                <a:latin typeface="Aptos" pitchFamily="34" charset="0"/>
                <a:ea typeface="Aptos" pitchFamily="34" charset="-122"/>
                <a:cs typeface="Aptos" pitchFamily="34" charset="-120"/>
              </a:rPr>
              <a:t>optimise</a:t>
            </a:r>
            <a:r>
              <a:rPr lang="en-US" sz="975" dirty="0">
                <a:solidFill>
                  <a:srgbClr val="5D666B"/>
                </a:solidFill>
                <a:latin typeface="Aptos" pitchFamily="34" charset="0"/>
                <a:ea typeface="Aptos" pitchFamily="34" charset="-122"/>
                <a:cs typeface="Aptos" pitchFamily="34" charset="-120"/>
              </a:rPr>
              <a:t> hydrogel formulations for printability, shape stability and compatibility with biological components.</a:t>
            </a:r>
            <a:endParaRPr lang="en-US" sz="975" dirty="0"/>
          </a:p>
        </p:txBody>
      </p:sp>
      <p:sp>
        <p:nvSpPr>
          <p:cNvPr id="60" name="Text 31">
            <a:extLst>
              <a:ext uri="{FF2B5EF4-FFF2-40B4-BE49-F238E27FC236}">
                <a16:creationId xmlns:a16="http://schemas.microsoft.com/office/drawing/2014/main" id="{6E36A131-291E-2E51-0871-9650FA86D979}"/>
              </a:ext>
            </a:extLst>
          </p:cNvPr>
          <p:cNvSpPr/>
          <p:nvPr/>
        </p:nvSpPr>
        <p:spPr>
          <a:xfrm>
            <a:off x="306895" y="7633692"/>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75" dirty="0">
                <a:solidFill>
                  <a:srgbClr val="5D666B"/>
                </a:solidFill>
                <a:latin typeface="Aptos" pitchFamily="34" charset="0"/>
                <a:ea typeface="Aptos" pitchFamily="34" charset="-122"/>
                <a:cs typeface="Aptos" pitchFamily="34" charset="-120"/>
              </a:rPr>
              <a:t>Fabricate 3D-printed structures and investigate conditions that promote calcium carbonate precipitation within the hydrogel network.</a:t>
            </a:r>
            <a:endParaRPr lang="en-US" sz="975" dirty="0"/>
          </a:p>
        </p:txBody>
      </p:sp>
      <p:sp>
        <p:nvSpPr>
          <p:cNvPr id="62" name="Text 32">
            <a:extLst>
              <a:ext uri="{FF2B5EF4-FFF2-40B4-BE49-F238E27FC236}">
                <a16:creationId xmlns:a16="http://schemas.microsoft.com/office/drawing/2014/main" id="{630FCBAB-9766-FC3C-24C5-9318AE7BC7CA}"/>
              </a:ext>
            </a:extLst>
          </p:cNvPr>
          <p:cNvSpPr/>
          <p:nvPr/>
        </p:nvSpPr>
        <p:spPr>
          <a:xfrm>
            <a:off x="306895" y="8018788"/>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75" dirty="0">
                <a:solidFill>
                  <a:srgbClr val="5D666B"/>
                </a:solidFill>
                <a:latin typeface="Aptos" pitchFamily="34" charset="0"/>
                <a:ea typeface="Aptos" pitchFamily="34" charset="-122"/>
                <a:cs typeface="Aptos" pitchFamily="34" charset="-120"/>
              </a:rPr>
              <a:t>Monitor </a:t>
            </a:r>
            <a:r>
              <a:rPr lang="en-US" sz="975" dirty="0" err="1">
                <a:solidFill>
                  <a:srgbClr val="5D666B"/>
                </a:solidFill>
                <a:latin typeface="Aptos" pitchFamily="34" charset="0"/>
                <a:ea typeface="Aptos" pitchFamily="34" charset="-122"/>
                <a:cs typeface="Aptos" pitchFamily="34" charset="-120"/>
              </a:rPr>
              <a:t>mineralisation</a:t>
            </a:r>
            <a:r>
              <a:rPr lang="en-US" sz="975" dirty="0">
                <a:solidFill>
                  <a:srgbClr val="5D666B"/>
                </a:solidFill>
                <a:latin typeface="Aptos" pitchFamily="34" charset="0"/>
                <a:ea typeface="Aptos" pitchFamily="34" charset="-122"/>
                <a:cs typeface="Aptos" pitchFamily="34" charset="-120"/>
              </a:rPr>
              <a:t> and evaluate its effects on microstructure, bonding mechanisms and mechanical properties.</a:t>
            </a:r>
            <a:endParaRPr lang="en-US" sz="975" dirty="0"/>
          </a:p>
        </p:txBody>
      </p:sp>
      <p:sp>
        <p:nvSpPr>
          <p:cNvPr id="68" name="Text 35">
            <a:extLst>
              <a:ext uri="{FF2B5EF4-FFF2-40B4-BE49-F238E27FC236}">
                <a16:creationId xmlns:a16="http://schemas.microsoft.com/office/drawing/2014/main" id="{8C745BDF-DA44-F29B-5E62-2676665221E0}"/>
              </a:ext>
            </a:extLst>
          </p:cNvPr>
          <p:cNvSpPr/>
          <p:nvPr/>
        </p:nvSpPr>
        <p:spPr>
          <a:xfrm>
            <a:off x="288607" y="829152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04  /  PRACTICAL NOTES</a:t>
            </a:r>
            <a:endParaRPr lang="en-US" sz="860" dirty="0"/>
          </a:p>
        </p:txBody>
      </p:sp>
      <p:sp>
        <p:nvSpPr>
          <p:cNvPr id="70" name="Text 36">
            <a:extLst>
              <a:ext uri="{FF2B5EF4-FFF2-40B4-BE49-F238E27FC236}">
                <a16:creationId xmlns:a16="http://schemas.microsoft.com/office/drawing/2014/main" id="{91EF225D-885D-6AE9-8A1D-58EB17F8A0D6}"/>
              </a:ext>
            </a:extLst>
          </p:cNvPr>
          <p:cNvSpPr/>
          <p:nvPr/>
        </p:nvSpPr>
        <p:spPr>
          <a:xfrm>
            <a:off x="288607" y="8520627"/>
            <a:ext cx="6426403" cy="856487"/>
          </a:xfrm>
          <a:prstGeom prst="rect">
            <a:avLst/>
          </a:prstGeom>
          <a:noFill/>
          <a:ln/>
        </p:spPr>
        <p:txBody>
          <a:bodyPr wrap="square" lIns="0" tIns="0" rIns="0" bIns="0" rtlCol="0" anchor="t"/>
          <a:lstStyle/>
          <a:p>
            <a:pPr marL="0" indent="0" algn="just">
              <a:lnSpc>
                <a:spcPct val="102000"/>
              </a:lnSpc>
              <a:buNone/>
            </a:pPr>
            <a:r>
              <a:rPr lang="en-US" sz="975" dirty="0">
                <a:solidFill>
                  <a:srgbClr val="5D666B"/>
                </a:solidFill>
                <a:latin typeface="Aptos" pitchFamily="34" charset="0"/>
                <a:ea typeface="Aptos" pitchFamily="34" charset="-122"/>
                <a:cs typeface="Aptos" pitchFamily="34" charset="-120"/>
              </a:rPr>
              <a:t>The project is primarily experimental and involves hydrogel preparation, 3D printing, controlled </a:t>
            </a:r>
            <a:r>
              <a:rPr lang="en-US" sz="975" dirty="0" err="1">
                <a:solidFill>
                  <a:srgbClr val="5D666B"/>
                </a:solidFill>
                <a:latin typeface="Aptos" pitchFamily="34" charset="0"/>
                <a:ea typeface="Aptos" pitchFamily="34" charset="-122"/>
                <a:cs typeface="Aptos" pitchFamily="34" charset="-120"/>
              </a:rPr>
              <a:t>mineralisation</a:t>
            </a:r>
            <a:r>
              <a:rPr lang="en-US" sz="975" dirty="0">
                <a:solidFill>
                  <a:srgbClr val="5D666B"/>
                </a:solidFill>
                <a:latin typeface="Aptos" pitchFamily="34" charset="0"/>
                <a:ea typeface="Aptos" pitchFamily="34" charset="-122"/>
                <a:cs typeface="Aptos" pitchFamily="34" charset="-120"/>
              </a:rPr>
              <a:t> and materials </a:t>
            </a:r>
            <a:r>
              <a:rPr lang="en-US" sz="975" dirty="0" err="1">
                <a:solidFill>
                  <a:srgbClr val="5D666B"/>
                </a:solidFill>
                <a:latin typeface="Aptos" pitchFamily="34" charset="0"/>
                <a:ea typeface="Aptos" pitchFamily="34" charset="-122"/>
                <a:cs typeface="Aptos" pitchFamily="34" charset="-120"/>
              </a:rPr>
              <a:t>characterisation</a:t>
            </a:r>
            <a:r>
              <a:rPr lang="en-US" sz="975" dirty="0">
                <a:solidFill>
                  <a:srgbClr val="5D666B"/>
                </a:solidFill>
                <a:latin typeface="Aptos" pitchFamily="34" charset="0"/>
                <a:ea typeface="Aptos" pitchFamily="34" charset="-122"/>
                <a:cs typeface="Aptos" pitchFamily="34" charset="-120"/>
              </a:rPr>
              <a:t>. Depending on the research focus, methods may include computed tomography (CT), X-ray diffraction (</a:t>
            </a:r>
            <a:r>
              <a:rPr lang="en-US" sz="975" dirty="0" err="1">
                <a:solidFill>
                  <a:srgbClr val="5D666B"/>
                </a:solidFill>
                <a:latin typeface="Aptos" pitchFamily="34" charset="0"/>
                <a:ea typeface="Aptos" pitchFamily="34" charset="-122"/>
                <a:cs typeface="Aptos" pitchFamily="34" charset="-120"/>
              </a:rPr>
              <a:t>XRD</a:t>
            </a:r>
            <a:r>
              <a:rPr lang="en-US" sz="975" dirty="0">
                <a:solidFill>
                  <a:srgbClr val="5D666B"/>
                </a:solidFill>
                <a:latin typeface="Aptos" pitchFamily="34" charset="0"/>
                <a:ea typeface="Aptos" pitchFamily="34" charset="-122"/>
                <a:cs typeface="Aptos" pitchFamily="34" charset="-120"/>
              </a:rPr>
              <a:t>), scanning electron microscopy (SEM), rheological measurements and mechanical testing.</a:t>
            </a:r>
          </a:p>
          <a:p>
            <a:pPr marL="0" indent="0" algn="just">
              <a:lnSpc>
                <a:spcPct val="102000"/>
              </a:lnSpc>
              <a:buNone/>
            </a:pPr>
            <a:endParaRPr lang="en-US" sz="975" dirty="0">
              <a:solidFill>
                <a:srgbClr val="5D666B"/>
              </a:solidFill>
              <a:latin typeface="Aptos" pitchFamily="34" charset="0"/>
              <a:ea typeface="Aptos" pitchFamily="34" charset="-122"/>
              <a:cs typeface="Aptos" pitchFamily="34" charset="-120"/>
            </a:endParaRPr>
          </a:p>
          <a:p>
            <a:pPr marL="0" indent="0" algn="just">
              <a:lnSpc>
                <a:spcPct val="102000"/>
              </a:lnSpc>
              <a:buNone/>
            </a:pPr>
            <a:r>
              <a:rPr lang="en-US" sz="975" dirty="0">
                <a:solidFill>
                  <a:srgbClr val="5D666B"/>
                </a:solidFill>
                <a:latin typeface="Aptos" pitchFamily="34" charset="0"/>
                <a:ea typeface="Aptos" pitchFamily="34" charset="-122"/>
                <a:cs typeface="Aptos" pitchFamily="34" charset="-120"/>
              </a:rPr>
              <a:t>An interest in chemistry, materials science and sustainable construction is encouraged. Specific activities can be adapted to the student’s academic background and interests.</a:t>
            </a:r>
            <a:endParaRPr lang="en-US" sz="975" dirty="0"/>
          </a:p>
        </p:txBody>
      </p:sp>
      <p:sp>
        <p:nvSpPr>
          <p:cNvPr id="72" name="Shape 38">
            <a:extLst>
              <a:ext uri="{FF2B5EF4-FFF2-40B4-BE49-F238E27FC236}">
                <a16:creationId xmlns:a16="http://schemas.microsoft.com/office/drawing/2014/main" id="{91062267-7977-69A0-0A72-F520EFED92D6}"/>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17849789-96FF-5B0A-FA5E-74AE99617847}"/>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pic>
        <p:nvPicPr>
          <p:cNvPr id="2" name="Content Placeholder 8" descr="A diagram of a cell culture&#10;&#10;Description automatically generated">
            <a:extLst>
              <a:ext uri="{FF2B5EF4-FFF2-40B4-BE49-F238E27FC236}">
                <a16:creationId xmlns:a16="http://schemas.microsoft.com/office/drawing/2014/main" id="{19661713-919E-5226-35F5-E885FB93F3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611" y="2336920"/>
            <a:ext cx="4297681" cy="2250010"/>
          </a:xfrm>
          <a:prstGeom prst="rect">
            <a:avLst/>
          </a:prstGeom>
        </p:spPr>
      </p:pic>
    </p:spTree>
    <p:extLst>
      <p:ext uri="{BB962C8B-B14F-4D97-AF65-F5344CB8AC3E}">
        <p14:creationId xmlns:p14="http://schemas.microsoft.com/office/powerpoint/2010/main" val="2894550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15078-74F8-E22D-1F73-A733526F6C1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BB7AED-C975-2013-21CC-CA0F3AAD679B}"/>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2</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8839C811-F71D-B4C9-7E79-19A647859A4D}"/>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AD4CCDF4-98C9-FEB7-387D-2CC60486E7ED}"/>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C1130F01-2226-7B6F-3CF1-35D8C46520F0}"/>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4E36B507-DD09-D30C-EC26-C836290DF92F}"/>
              </a:ext>
            </a:extLst>
          </p:cNvPr>
          <p:cNvPicPr>
            <a:picLocks noChangeAspect="1"/>
          </p:cNvPicPr>
          <p:nvPr/>
        </p:nvPicPr>
        <p:blipFill>
          <a:blip r:embed="rId3"/>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56EF8DD2-FAA0-9E5D-DF9E-F96B366906B5}"/>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A0E4EE3F-7338-BF87-F84A-EE4DDD4BBA7F}"/>
              </a:ext>
            </a:extLst>
          </p:cNvPr>
          <p:cNvSpPr/>
          <p:nvPr/>
        </p:nvSpPr>
        <p:spPr>
          <a:xfrm>
            <a:off x="288607" y="1224986"/>
            <a:ext cx="6426403" cy="201168"/>
          </a:xfrm>
          <a:prstGeom prst="rect">
            <a:avLst/>
          </a:prstGeom>
          <a:noFill/>
          <a:ln/>
        </p:spPr>
        <p:txBody>
          <a:bodyPr wrap="square" lIns="0" tIns="0" rIns="0" bIns="0" rtlCol="0" anchor="t"/>
          <a:lstStyle/>
          <a:p>
            <a:r>
              <a:rPr lang="en-US" sz="860" b="1" kern="0" spc="120" dirty="0">
                <a:solidFill>
                  <a:srgbClr val="A30018"/>
                </a:solidFill>
                <a:latin typeface="Aptos Display" pitchFamily="34" charset="0"/>
                <a:ea typeface="Aptos Display" pitchFamily="34" charset="-122"/>
                <a:cs typeface="Aptos Display" pitchFamily="34" charset="-120"/>
              </a:rPr>
              <a:t>PROJECT LEVEL: Master or bachelor</a:t>
            </a:r>
            <a:endParaRPr lang="en-US" sz="860" dirty="0">
              <a:highlight>
                <a:srgbClr val="FFFF00"/>
              </a:highlight>
            </a:endParaRPr>
          </a:p>
        </p:txBody>
      </p:sp>
      <p:sp>
        <p:nvSpPr>
          <p:cNvPr id="18" name="Text 6">
            <a:extLst>
              <a:ext uri="{FF2B5EF4-FFF2-40B4-BE49-F238E27FC236}">
                <a16:creationId xmlns:a16="http://schemas.microsoft.com/office/drawing/2014/main" id="{63AE994A-562F-DA26-57BD-283EBC0479D9}"/>
              </a:ext>
            </a:extLst>
          </p:cNvPr>
          <p:cNvSpPr/>
          <p:nvPr/>
        </p:nvSpPr>
        <p:spPr>
          <a:xfrm>
            <a:off x="288607" y="1526738"/>
            <a:ext cx="6426403" cy="691310"/>
          </a:xfrm>
          <a:prstGeom prst="rect">
            <a:avLst/>
          </a:prstGeom>
          <a:noFill/>
          <a:ln/>
        </p:spPr>
        <p:txBody>
          <a:bodyPr wrap="square" lIns="0" tIns="0" rIns="0" bIns="0" rtlCol="0" anchor="t"/>
          <a:lstStyle/>
          <a:p>
            <a:pPr marL="0" indent="0">
              <a:lnSpc>
                <a:spcPct val="95000"/>
              </a:lnSpc>
              <a:buNone/>
            </a:pPr>
            <a:r>
              <a:rPr lang="en-US" sz="2000" b="1" dirty="0">
                <a:solidFill>
                  <a:srgbClr val="22282D"/>
                </a:solidFill>
                <a:latin typeface="Aptos Display" pitchFamily="34" charset="0"/>
                <a:ea typeface="Aptos Display" pitchFamily="34" charset="-122"/>
                <a:cs typeface="Aptos Display" pitchFamily="34" charset="-120"/>
              </a:rPr>
              <a:t>Flexible Phase Change Composites for Simultaneous Electrical and Thermal Energy Storage</a:t>
            </a:r>
            <a:endParaRPr lang="en-US" sz="2000" dirty="0"/>
          </a:p>
        </p:txBody>
      </p:sp>
      <p:sp>
        <p:nvSpPr>
          <p:cNvPr id="26" name="Shape 14">
            <a:extLst>
              <a:ext uri="{FF2B5EF4-FFF2-40B4-BE49-F238E27FC236}">
                <a16:creationId xmlns:a16="http://schemas.microsoft.com/office/drawing/2014/main" id="{CE013162-E965-F673-075A-5E8EEDD8C636}"/>
              </a:ext>
            </a:extLst>
          </p:cNvPr>
          <p:cNvSpPr/>
          <p:nvPr/>
        </p:nvSpPr>
        <p:spPr>
          <a:xfrm>
            <a:off x="4686871" y="249981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6D9BAE59-B8D2-2C34-0C19-F08070129B3B}"/>
              </a:ext>
            </a:extLst>
          </p:cNvPr>
          <p:cNvSpPr/>
          <p:nvPr/>
        </p:nvSpPr>
        <p:spPr>
          <a:xfrm>
            <a:off x="4805743" y="2536388"/>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SUPERVISORS</a:t>
            </a:r>
            <a:endParaRPr lang="en-US" sz="860" dirty="0"/>
          </a:p>
        </p:txBody>
      </p:sp>
      <p:sp>
        <p:nvSpPr>
          <p:cNvPr id="30" name="Text 16">
            <a:extLst>
              <a:ext uri="{FF2B5EF4-FFF2-40B4-BE49-F238E27FC236}">
                <a16:creationId xmlns:a16="http://schemas.microsoft.com/office/drawing/2014/main" id="{A4C50391-88D6-BB68-809E-EC55CA6BF755}"/>
              </a:ext>
            </a:extLst>
          </p:cNvPr>
          <p:cNvSpPr/>
          <p:nvPr/>
        </p:nvSpPr>
        <p:spPr>
          <a:xfrm>
            <a:off x="4805743" y="2810708"/>
            <a:ext cx="1901952" cy="201168"/>
          </a:xfrm>
          <a:prstGeom prst="rect">
            <a:avLst/>
          </a:prstGeom>
          <a:noFill/>
          <a:ln/>
        </p:spPr>
        <p:txBody>
          <a:bodyPr wrap="square" lIns="0" tIns="0" rIns="0" bIns="0" rtlCol="0" anchor="t"/>
          <a:lstStyle/>
          <a:p>
            <a:r>
              <a:rPr lang="en-US" sz="950" b="1" dirty="0">
                <a:solidFill>
                  <a:srgbClr val="5D666B"/>
                </a:solidFill>
                <a:latin typeface="Aptos Display" pitchFamily="34" charset="0"/>
              </a:rPr>
              <a:t>Mehdi Mehrali</a:t>
            </a:r>
          </a:p>
        </p:txBody>
      </p:sp>
      <p:sp>
        <p:nvSpPr>
          <p:cNvPr id="32" name="Text 17">
            <a:extLst>
              <a:ext uri="{FF2B5EF4-FFF2-40B4-BE49-F238E27FC236}">
                <a16:creationId xmlns:a16="http://schemas.microsoft.com/office/drawing/2014/main" id="{3E743C2E-815A-0585-8093-898BF7463905}"/>
              </a:ext>
            </a:extLst>
          </p:cNvPr>
          <p:cNvSpPr/>
          <p:nvPr/>
        </p:nvSpPr>
        <p:spPr>
          <a:xfrm>
            <a:off x="4805743" y="3021020"/>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meme@dtu.dk</a:t>
            </a:r>
          </a:p>
          <a:p>
            <a:pPr marL="0" indent="0">
              <a:lnSpc>
                <a:spcPct val="100000"/>
              </a:lnSpc>
              <a:buNone/>
            </a:pPr>
            <a:endParaRPr lang="en-US" sz="830" dirty="0"/>
          </a:p>
        </p:txBody>
      </p:sp>
      <p:sp>
        <p:nvSpPr>
          <p:cNvPr id="34" name="Text 18">
            <a:extLst>
              <a:ext uri="{FF2B5EF4-FFF2-40B4-BE49-F238E27FC236}">
                <a16:creationId xmlns:a16="http://schemas.microsoft.com/office/drawing/2014/main" id="{7CBA1A68-B6CC-BDE5-643C-856370C2E9CA}"/>
              </a:ext>
            </a:extLst>
          </p:cNvPr>
          <p:cNvSpPr/>
          <p:nvPr/>
        </p:nvSpPr>
        <p:spPr>
          <a:xfrm>
            <a:off x="4805743" y="3304484"/>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Amir Reza Akhiani</a:t>
            </a:r>
            <a:endParaRPr lang="en-US" sz="950" dirty="0"/>
          </a:p>
        </p:txBody>
      </p:sp>
      <p:sp>
        <p:nvSpPr>
          <p:cNvPr id="36" name="Text 19">
            <a:extLst>
              <a:ext uri="{FF2B5EF4-FFF2-40B4-BE49-F238E27FC236}">
                <a16:creationId xmlns:a16="http://schemas.microsoft.com/office/drawing/2014/main" id="{EA073947-DF8D-F358-6C66-747B6BC6B52A}"/>
              </a:ext>
            </a:extLst>
          </p:cNvPr>
          <p:cNvSpPr/>
          <p:nvPr/>
        </p:nvSpPr>
        <p:spPr>
          <a:xfrm>
            <a:off x="4805743" y="3514796"/>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amrekah@dtu.dk</a:t>
            </a:r>
            <a:endParaRPr lang="en-US" sz="830" dirty="0"/>
          </a:p>
        </p:txBody>
      </p:sp>
      <p:sp>
        <p:nvSpPr>
          <p:cNvPr id="46" name="Shape 24">
            <a:extLst>
              <a:ext uri="{FF2B5EF4-FFF2-40B4-BE49-F238E27FC236}">
                <a16:creationId xmlns:a16="http://schemas.microsoft.com/office/drawing/2014/main" id="{E52FAB2B-0322-6483-BA81-00A5B77FF919}"/>
              </a:ext>
            </a:extLst>
          </p:cNvPr>
          <p:cNvSpPr/>
          <p:nvPr/>
        </p:nvSpPr>
        <p:spPr>
          <a:xfrm>
            <a:off x="288607" y="476574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37F957B0-FD8B-ED92-FE0C-EE86829746D9}"/>
              </a:ext>
            </a:extLst>
          </p:cNvPr>
          <p:cNvSpPr/>
          <p:nvPr/>
        </p:nvSpPr>
        <p:spPr>
          <a:xfrm>
            <a:off x="288607" y="490316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01  /  PROJECT BACKGROUND</a:t>
            </a:r>
            <a:endParaRPr lang="en-US" sz="860" dirty="0"/>
          </a:p>
        </p:txBody>
      </p:sp>
      <p:sp>
        <p:nvSpPr>
          <p:cNvPr id="50" name="Text 26">
            <a:extLst>
              <a:ext uri="{FF2B5EF4-FFF2-40B4-BE49-F238E27FC236}">
                <a16:creationId xmlns:a16="http://schemas.microsoft.com/office/drawing/2014/main" id="{08AFB251-7137-9FFD-BEAA-4CE7C1DCDBD5}"/>
              </a:ext>
            </a:extLst>
          </p:cNvPr>
          <p:cNvSpPr/>
          <p:nvPr/>
        </p:nvSpPr>
        <p:spPr>
          <a:xfrm>
            <a:off x="288607" y="5079181"/>
            <a:ext cx="6426403" cy="1113029"/>
          </a:xfrm>
          <a:prstGeom prst="rect">
            <a:avLst/>
          </a:prstGeom>
          <a:noFill/>
          <a:ln/>
        </p:spPr>
        <p:txBody>
          <a:bodyPr wrap="square" lIns="0" tIns="0" rIns="0" bIns="0" rtlCol="0" anchor="t"/>
          <a:lstStyle/>
          <a:p>
            <a:pPr marL="0" indent="0" algn="just">
              <a:lnSpc>
                <a:spcPct val="104000"/>
              </a:lnSpc>
              <a:buNone/>
            </a:pPr>
            <a:r>
              <a:rPr lang="en-US" sz="1000" dirty="0">
                <a:solidFill>
                  <a:srgbClr val="5D666B"/>
                </a:solidFill>
                <a:latin typeface="Aptos" pitchFamily="34" charset="0"/>
                <a:ea typeface="Aptos" pitchFamily="34" charset="-122"/>
                <a:cs typeface="Aptos" pitchFamily="34" charset="-120"/>
              </a:rPr>
              <a:t>Phase change materials (PCMs) absorb and release substantial amounts of latent heat at nearly constant temperatures during phase transitions. This makes them attractive for thermal energy storage and temperature regulation in applications such as buildings, solar energy systems, clothing and electronics. Integrating PCMs into flexible energy storage devices offers the opportunity to combine thermal management with electrical energy storage. This project explores salt-hydrate-based composites in which the PCM is intended to function both as a thermal energy reservoir and as an electrolyte within an electrochemical storage device. Incorporating these materials into a flexible foam structure could provide mechanical support and help retain the PCM during operation.</a:t>
            </a:r>
            <a:endParaRPr lang="en-US" sz="1000" dirty="0"/>
          </a:p>
        </p:txBody>
      </p:sp>
      <p:sp>
        <p:nvSpPr>
          <p:cNvPr id="52" name="Text 27">
            <a:extLst>
              <a:ext uri="{FF2B5EF4-FFF2-40B4-BE49-F238E27FC236}">
                <a16:creationId xmlns:a16="http://schemas.microsoft.com/office/drawing/2014/main" id="{51C53585-CF74-BB2E-31A2-48B5B21958EF}"/>
              </a:ext>
            </a:extLst>
          </p:cNvPr>
          <p:cNvSpPr/>
          <p:nvPr/>
        </p:nvSpPr>
        <p:spPr>
          <a:xfrm>
            <a:off x="288607" y="6250253"/>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02  /  PROJECT AIM</a:t>
            </a:r>
            <a:endParaRPr lang="en-US" sz="860" dirty="0"/>
          </a:p>
        </p:txBody>
      </p:sp>
      <p:sp>
        <p:nvSpPr>
          <p:cNvPr id="54" name="Text 28">
            <a:extLst>
              <a:ext uri="{FF2B5EF4-FFF2-40B4-BE49-F238E27FC236}">
                <a16:creationId xmlns:a16="http://schemas.microsoft.com/office/drawing/2014/main" id="{D443DD2A-7F1E-4F35-8A0D-915ABDD3B22C}"/>
              </a:ext>
            </a:extLst>
          </p:cNvPr>
          <p:cNvSpPr/>
          <p:nvPr/>
        </p:nvSpPr>
        <p:spPr>
          <a:xfrm>
            <a:off x="288607" y="6437069"/>
            <a:ext cx="6426403" cy="505453"/>
          </a:xfrm>
          <a:prstGeom prst="rect">
            <a:avLst/>
          </a:prstGeom>
          <a:noFill/>
          <a:ln/>
        </p:spPr>
        <p:txBody>
          <a:bodyPr wrap="square" lIns="0" tIns="0" rIns="0" bIns="0" rtlCol="0" anchor="t"/>
          <a:lstStyle/>
          <a:p>
            <a:pPr algn="just"/>
            <a:r>
              <a:rPr lang="en-US" sz="1000" dirty="0">
                <a:solidFill>
                  <a:srgbClr val="5D666B"/>
                </a:solidFill>
                <a:latin typeface="Aptos" pitchFamily="34" charset="0"/>
              </a:rPr>
              <a:t>The project aims to develop and </a:t>
            </a:r>
            <a:r>
              <a:rPr lang="en-US" sz="1000" dirty="0" err="1">
                <a:solidFill>
                  <a:srgbClr val="5D666B"/>
                </a:solidFill>
                <a:latin typeface="Aptos" pitchFamily="34" charset="0"/>
              </a:rPr>
              <a:t>characterise</a:t>
            </a:r>
            <a:r>
              <a:rPr lang="en-US" sz="1000" dirty="0">
                <a:solidFill>
                  <a:srgbClr val="5D666B"/>
                </a:solidFill>
                <a:latin typeface="Aptos" pitchFamily="34" charset="0"/>
              </a:rPr>
              <a:t> flexible phase change composites capable of supporting both thermal and electrical energy storage. The student will investigate how salt hydrate composition, foam structure and encapsulation influence thermal storage capacity, electrochemical performance, flexibility and cycling stability.</a:t>
            </a:r>
          </a:p>
        </p:txBody>
      </p:sp>
      <p:sp>
        <p:nvSpPr>
          <p:cNvPr id="56" name="Text 29">
            <a:extLst>
              <a:ext uri="{FF2B5EF4-FFF2-40B4-BE49-F238E27FC236}">
                <a16:creationId xmlns:a16="http://schemas.microsoft.com/office/drawing/2014/main" id="{E34B510D-5CE2-87A7-F8CE-FE79878F2D4B}"/>
              </a:ext>
            </a:extLst>
          </p:cNvPr>
          <p:cNvSpPr/>
          <p:nvPr/>
        </p:nvSpPr>
        <p:spPr>
          <a:xfrm>
            <a:off x="288607" y="6963197"/>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03  /  PROJECT ACTIVITIES</a:t>
            </a:r>
            <a:endParaRPr lang="en-US" sz="860" dirty="0"/>
          </a:p>
        </p:txBody>
      </p:sp>
      <p:sp>
        <p:nvSpPr>
          <p:cNvPr id="58" name="Text 30">
            <a:extLst>
              <a:ext uri="{FF2B5EF4-FFF2-40B4-BE49-F238E27FC236}">
                <a16:creationId xmlns:a16="http://schemas.microsoft.com/office/drawing/2014/main" id="{CECCD23F-B125-E632-248A-DA04F82ACEDA}"/>
              </a:ext>
            </a:extLst>
          </p:cNvPr>
          <p:cNvSpPr/>
          <p:nvPr/>
        </p:nvSpPr>
        <p:spPr>
          <a:xfrm>
            <a:off x="306895" y="7174561"/>
            <a:ext cx="6398971" cy="197104"/>
          </a:xfrm>
          <a:prstGeom prst="rect">
            <a:avLst/>
          </a:prstGeom>
          <a:noFill/>
          <a:ln/>
        </p:spPr>
        <p:txBody>
          <a:bodyPr wrap="square" lIns="0" tIns="0" rIns="0" bIns="0" rtlCol="0" anchor="t"/>
          <a:lstStyle/>
          <a:p>
            <a:pPr marL="139700" indent="-139700" algn="just">
              <a:lnSpc>
                <a:spcPct val="106000"/>
              </a:lnSpc>
              <a:buSzPct val="100000"/>
              <a:buChar char="•"/>
            </a:pPr>
            <a:r>
              <a:rPr lang="en-US" sz="975" dirty="0">
                <a:solidFill>
                  <a:srgbClr val="5D666B"/>
                </a:solidFill>
                <a:latin typeface="Aptos" pitchFamily="34" charset="0"/>
                <a:ea typeface="Aptos" pitchFamily="34" charset="-122"/>
                <a:cs typeface="Aptos" pitchFamily="34" charset="-120"/>
              </a:rPr>
              <a:t>Prepare and </a:t>
            </a:r>
            <a:r>
              <a:rPr lang="en-US" sz="975" dirty="0" err="1">
                <a:solidFill>
                  <a:srgbClr val="5D666B"/>
                </a:solidFill>
                <a:latin typeface="Aptos" pitchFamily="34" charset="0"/>
                <a:ea typeface="Aptos" pitchFamily="34" charset="-122"/>
                <a:cs typeface="Aptos" pitchFamily="34" charset="-120"/>
              </a:rPr>
              <a:t>optimise</a:t>
            </a:r>
            <a:r>
              <a:rPr lang="en-US" sz="975" dirty="0">
                <a:solidFill>
                  <a:srgbClr val="5D666B"/>
                </a:solidFill>
                <a:latin typeface="Aptos" pitchFamily="34" charset="0"/>
                <a:ea typeface="Aptos" pitchFamily="34" charset="-122"/>
                <a:cs typeface="Aptos" pitchFamily="34" charset="-120"/>
              </a:rPr>
              <a:t> flexible PCM composites using different salt hydrates and suitable foam structures.</a:t>
            </a:r>
            <a:endParaRPr lang="en-US" sz="975" dirty="0"/>
          </a:p>
        </p:txBody>
      </p:sp>
      <p:sp>
        <p:nvSpPr>
          <p:cNvPr id="60" name="Text 31">
            <a:extLst>
              <a:ext uri="{FF2B5EF4-FFF2-40B4-BE49-F238E27FC236}">
                <a16:creationId xmlns:a16="http://schemas.microsoft.com/office/drawing/2014/main" id="{A8584F3B-2D2F-0FAB-CE97-903FEE483754}"/>
              </a:ext>
            </a:extLst>
          </p:cNvPr>
          <p:cNvSpPr/>
          <p:nvPr/>
        </p:nvSpPr>
        <p:spPr>
          <a:xfrm>
            <a:off x="306895" y="7403144"/>
            <a:ext cx="6398971" cy="311945"/>
          </a:xfrm>
          <a:prstGeom prst="rect">
            <a:avLst/>
          </a:prstGeom>
          <a:noFill/>
          <a:ln/>
        </p:spPr>
        <p:txBody>
          <a:bodyPr wrap="square" lIns="0" tIns="0" rIns="0" bIns="0" rtlCol="0" anchor="t"/>
          <a:lstStyle/>
          <a:p>
            <a:pPr marL="139700" indent="-139700" algn="just">
              <a:lnSpc>
                <a:spcPct val="106000"/>
              </a:lnSpc>
              <a:buSzPct val="100000"/>
              <a:buChar char="•"/>
            </a:pPr>
            <a:r>
              <a:rPr lang="en-US" sz="975" dirty="0">
                <a:solidFill>
                  <a:srgbClr val="5D666B"/>
                </a:solidFill>
                <a:latin typeface="Aptos" pitchFamily="34" charset="0"/>
                <a:ea typeface="Aptos" pitchFamily="34" charset="-122"/>
                <a:cs typeface="Aptos" pitchFamily="34" charset="-120"/>
              </a:rPr>
              <a:t>Develop encapsulation strategies to retain the PCM, </a:t>
            </a:r>
            <a:r>
              <a:rPr lang="en-US" sz="975" dirty="0" err="1">
                <a:solidFill>
                  <a:srgbClr val="5D666B"/>
                </a:solidFill>
                <a:latin typeface="Aptos" pitchFamily="34" charset="0"/>
                <a:ea typeface="Aptos" pitchFamily="34" charset="-122"/>
                <a:cs typeface="Aptos" pitchFamily="34" charset="-120"/>
              </a:rPr>
              <a:t>minimise</a:t>
            </a:r>
            <a:r>
              <a:rPr lang="en-US" sz="975" dirty="0">
                <a:solidFill>
                  <a:srgbClr val="5D666B"/>
                </a:solidFill>
                <a:latin typeface="Aptos" pitchFamily="34" charset="0"/>
                <a:ea typeface="Aptos" pitchFamily="34" charset="-122"/>
                <a:cs typeface="Aptos" pitchFamily="34" charset="-120"/>
              </a:rPr>
              <a:t> leakage and maintain flexibility during repeated phase transitions.</a:t>
            </a:r>
            <a:endParaRPr lang="en-US" sz="975" dirty="0"/>
          </a:p>
        </p:txBody>
      </p:sp>
      <p:sp>
        <p:nvSpPr>
          <p:cNvPr id="62" name="Text 32">
            <a:extLst>
              <a:ext uri="{FF2B5EF4-FFF2-40B4-BE49-F238E27FC236}">
                <a16:creationId xmlns:a16="http://schemas.microsoft.com/office/drawing/2014/main" id="{C4D77349-2649-1921-63B9-DDD43D5FFC0D}"/>
              </a:ext>
            </a:extLst>
          </p:cNvPr>
          <p:cNvSpPr/>
          <p:nvPr/>
        </p:nvSpPr>
        <p:spPr>
          <a:xfrm>
            <a:off x="288607" y="7733462"/>
            <a:ext cx="6398971" cy="379162"/>
          </a:xfrm>
          <a:prstGeom prst="rect">
            <a:avLst/>
          </a:prstGeom>
          <a:noFill/>
          <a:ln/>
        </p:spPr>
        <p:txBody>
          <a:bodyPr wrap="square" lIns="0" tIns="0" rIns="0" bIns="0" rtlCol="0" anchor="t"/>
          <a:lstStyle/>
          <a:p>
            <a:pPr marL="139700" indent="-139700" algn="just">
              <a:lnSpc>
                <a:spcPct val="106000"/>
              </a:lnSpc>
              <a:buSzPct val="100000"/>
              <a:buChar char="•"/>
            </a:pPr>
            <a:r>
              <a:rPr lang="en-US" sz="975" dirty="0">
                <a:solidFill>
                  <a:srgbClr val="5D666B"/>
                </a:solidFill>
                <a:latin typeface="Aptos" pitchFamily="34" charset="0"/>
                <a:ea typeface="Aptos" pitchFamily="34" charset="-122"/>
                <a:cs typeface="Aptos" pitchFamily="34" charset="-120"/>
              </a:rPr>
              <a:t>Fabricate prototype devices and evaluate their thermal and electrical energy storage performance, including stability during repeated cycling and bending.</a:t>
            </a:r>
            <a:endParaRPr lang="en-US" sz="975" dirty="0"/>
          </a:p>
        </p:txBody>
      </p:sp>
      <p:sp>
        <p:nvSpPr>
          <p:cNvPr id="68" name="Text 35">
            <a:extLst>
              <a:ext uri="{FF2B5EF4-FFF2-40B4-BE49-F238E27FC236}">
                <a16:creationId xmlns:a16="http://schemas.microsoft.com/office/drawing/2014/main" id="{0DC5B630-1810-F8B9-A481-8FB34A8A78C4}"/>
              </a:ext>
            </a:extLst>
          </p:cNvPr>
          <p:cNvSpPr/>
          <p:nvPr/>
        </p:nvSpPr>
        <p:spPr>
          <a:xfrm>
            <a:off x="288607" y="8133299"/>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04  /  PRACTICAL NOTES</a:t>
            </a:r>
            <a:endParaRPr lang="en-US" sz="860" dirty="0"/>
          </a:p>
        </p:txBody>
      </p:sp>
      <p:sp>
        <p:nvSpPr>
          <p:cNvPr id="70" name="Text 36">
            <a:extLst>
              <a:ext uri="{FF2B5EF4-FFF2-40B4-BE49-F238E27FC236}">
                <a16:creationId xmlns:a16="http://schemas.microsoft.com/office/drawing/2014/main" id="{515B95EB-38F0-DD84-2C21-B9EBFF616F46}"/>
              </a:ext>
            </a:extLst>
          </p:cNvPr>
          <p:cNvSpPr/>
          <p:nvPr/>
        </p:nvSpPr>
        <p:spPr>
          <a:xfrm>
            <a:off x="279463" y="8334467"/>
            <a:ext cx="6426403" cy="1097274"/>
          </a:xfrm>
          <a:prstGeom prst="rect">
            <a:avLst/>
          </a:prstGeom>
          <a:noFill/>
          <a:ln/>
        </p:spPr>
        <p:txBody>
          <a:bodyPr wrap="square" lIns="0" tIns="0" rIns="0" bIns="0" rtlCol="0" anchor="t"/>
          <a:lstStyle/>
          <a:p>
            <a:pPr marL="0" indent="0" algn="just">
              <a:lnSpc>
                <a:spcPct val="102000"/>
              </a:lnSpc>
              <a:buNone/>
            </a:pPr>
            <a:r>
              <a:rPr lang="en-US" sz="975" dirty="0">
                <a:solidFill>
                  <a:srgbClr val="5D666B"/>
                </a:solidFill>
                <a:latin typeface="Aptos" pitchFamily="34" charset="0"/>
                <a:ea typeface="Aptos" pitchFamily="34" charset="-122"/>
                <a:cs typeface="Aptos" pitchFamily="34" charset="-120"/>
              </a:rPr>
              <a:t>The project is predominantly experimental and involves composite preparation, PCM incorporation, encapsulation and device testing. </a:t>
            </a:r>
            <a:r>
              <a:rPr lang="en-US" sz="975" dirty="0" err="1">
                <a:solidFill>
                  <a:srgbClr val="5D666B"/>
                </a:solidFill>
                <a:latin typeface="Aptos" pitchFamily="34" charset="0"/>
                <a:ea typeface="Aptos" pitchFamily="34" charset="-122"/>
                <a:cs typeface="Aptos" pitchFamily="34" charset="-120"/>
              </a:rPr>
              <a:t>Characterisation</a:t>
            </a:r>
            <a:r>
              <a:rPr lang="en-US" sz="975" dirty="0">
                <a:solidFill>
                  <a:srgbClr val="5D666B"/>
                </a:solidFill>
                <a:latin typeface="Aptos" pitchFamily="34" charset="0"/>
                <a:ea typeface="Aptos" pitchFamily="34" charset="-122"/>
                <a:cs typeface="Aptos" pitchFamily="34" charset="-120"/>
              </a:rPr>
              <a:t> methods may include differential scanning calorimetry (DSC) to assess phase transitions and latent heat, X-ray diffraction (</a:t>
            </a:r>
            <a:r>
              <a:rPr lang="en-US" sz="975" dirty="0" err="1">
                <a:solidFill>
                  <a:srgbClr val="5D666B"/>
                </a:solidFill>
                <a:latin typeface="Aptos" pitchFamily="34" charset="0"/>
                <a:ea typeface="Aptos" pitchFamily="34" charset="-122"/>
                <a:cs typeface="Aptos" pitchFamily="34" charset="-120"/>
              </a:rPr>
              <a:t>XRD</a:t>
            </a:r>
            <a:r>
              <a:rPr lang="en-US" sz="975" dirty="0">
                <a:solidFill>
                  <a:srgbClr val="5D666B"/>
                </a:solidFill>
                <a:latin typeface="Aptos" pitchFamily="34" charset="0"/>
                <a:ea typeface="Aptos" pitchFamily="34" charset="-122"/>
                <a:cs typeface="Aptos" pitchFamily="34" charset="-120"/>
              </a:rPr>
              <a:t>) to investigate crystalline phases, and scanning electron microscopy (SEM) to examine the composite microstructure. Electrochemical measurements and mechanical testing will help evaluate energy storage performance and flexibility.</a:t>
            </a:r>
          </a:p>
          <a:p>
            <a:pPr marL="0" indent="0" algn="just">
              <a:lnSpc>
                <a:spcPct val="102000"/>
              </a:lnSpc>
              <a:buNone/>
            </a:pPr>
            <a:r>
              <a:rPr lang="en-US" sz="975" dirty="0">
                <a:solidFill>
                  <a:srgbClr val="5D666B"/>
                </a:solidFill>
                <a:latin typeface="Aptos" pitchFamily="34" charset="0"/>
                <a:ea typeface="Aptos" pitchFamily="34" charset="-122"/>
                <a:cs typeface="Aptos" pitchFamily="34" charset="-120"/>
              </a:rPr>
              <a:t>This project is suitable for students interested in energy storage and functional materials. The research focus can be tailored to the student’s background and learning goals.</a:t>
            </a:r>
            <a:endParaRPr lang="en-US" sz="975" dirty="0"/>
          </a:p>
        </p:txBody>
      </p:sp>
      <p:sp>
        <p:nvSpPr>
          <p:cNvPr id="72" name="Shape 38">
            <a:extLst>
              <a:ext uri="{FF2B5EF4-FFF2-40B4-BE49-F238E27FC236}">
                <a16:creationId xmlns:a16="http://schemas.microsoft.com/office/drawing/2014/main" id="{2E957453-FB40-A769-B93F-9442E1916642}"/>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4428BF0D-2EC7-2F19-CC7A-978BC52BB7BE}"/>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pic>
        <p:nvPicPr>
          <p:cNvPr id="13" name="Picture 12">
            <a:extLst>
              <a:ext uri="{FF2B5EF4-FFF2-40B4-BE49-F238E27FC236}">
                <a16:creationId xmlns:a16="http://schemas.microsoft.com/office/drawing/2014/main" id="{7DC7AD45-E939-9E38-FED8-C7D785758F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2736" y="2447189"/>
            <a:ext cx="4514180" cy="2257090"/>
          </a:xfrm>
          <a:prstGeom prst="rect">
            <a:avLst/>
          </a:prstGeom>
        </p:spPr>
      </p:pic>
    </p:spTree>
    <p:extLst>
      <p:ext uri="{BB962C8B-B14F-4D97-AF65-F5344CB8AC3E}">
        <p14:creationId xmlns:p14="http://schemas.microsoft.com/office/powerpoint/2010/main" val="353132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31B9E-5B44-5B15-EEA6-845535E8849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E28F9E0-FC30-61C2-CCC0-36C6A3B40C6A}"/>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3</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C60235F0-CCD5-81C0-809C-92D9023F8595}"/>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9004DC55-6CF4-EA64-3B61-C946899105B0}"/>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92F3FFE4-FC46-1B70-9D8F-AA4B1CDD3B96}"/>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AFAE577B-5F2A-C218-CD5A-DBC10CB98146}"/>
              </a:ext>
            </a:extLst>
          </p:cNvPr>
          <p:cNvPicPr>
            <a:picLocks noChangeAspect="1"/>
          </p:cNvPicPr>
          <p:nvPr/>
        </p:nvPicPr>
        <p:blipFill>
          <a:blip r:embed="rId3"/>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EC21BED0-C34B-57A3-8BB2-DAD042B2B662}"/>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4661104F-3AAC-A30E-08C9-62480ED999EC}"/>
              </a:ext>
            </a:extLst>
          </p:cNvPr>
          <p:cNvSpPr/>
          <p:nvPr/>
        </p:nvSpPr>
        <p:spPr>
          <a:xfrm>
            <a:off x="288607" y="1224986"/>
            <a:ext cx="6426403" cy="201168"/>
          </a:xfrm>
          <a:prstGeom prst="rect">
            <a:avLst/>
          </a:prstGeom>
          <a:noFill/>
          <a:ln/>
        </p:spPr>
        <p:txBody>
          <a:bodyPr wrap="square" lIns="0" tIns="0" rIns="0" bIns="0" rtlCol="0" anchor="t"/>
          <a:lstStyle/>
          <a:p>
            <a:r>
              <a:rPr lang="en-US" sz="860" b="1" kern="0" spc="120" dirty="0">
                <a:solidFill>
                  <a:srgbClr val="A30018"/>
                </a:solidFill>
                <a:latin typeface="Aptos Display" pitchFamily="34" charset="0"/>
                <a:ea typeface="Aptos Display" pitchFamily="34" charset="-122"/>
                <a:cs typeface="Aptos Display" pitchFamily="34" charset="-120"/>
              </a:rPr>
              <a:t>PROJECT LEVEL: Master or bachelor</a:t>
            </a:r>
            <a:endParaRPr lang="en-US" sz="860" dirty="0">
              <a:highlight>
                <a:srgbClr val="FFFF00"/>
              </a:highlight>
            </a:endParaRPr>
          </a:p>
        </p:txBody>
      </p:sp>
      <p:sp>
        <p:nvSpPr>
          <p:cNvPr id="18" name="Text 6">
            <a:extLst>
              <a:ext uri="{FF2B5EF4-FFF2-40B4-BE49-F238E27FC236}">
                <a16:creationId xmlns:a16="http://schemas.microsoft.com/office/drawing/2014/main" id="{D16DD9EC-CAFA-9AEF-1EF1-3E3B9189993D}"/>
              </a:ext>
            </a:extLst>
          </p:cNvPr>
          <p:cNvSpPr/>
          <p:nvPr/>
        </p:nvSpPr>
        <p:spPr>
          <a:xfrm>
            <a:off x="288607" y="1526738"/>
            <a:ext cx="6426403" cy="691310"/>
          </a:xfrm>
          <a:prstGeom prst="rect">
            <a:avLst/>
          </a:prstGeom>
          <a:noFill/>
          <a:ln/>
        </p:spPr>
        <p:txBody>
          <a:bodyPr wrap="square" lIns="0" tIns="0" rIns="0" bIns="0" rtlCol="0" anchor="t"/>
          <a:lstStyle/>
          <a:p>
            <a:pPr marL="0" indent="0">
              <a:lnSpc>
                <a:spcPct val="95000"/>
              </a:lnSpc>
              <a:buNone/>
            </a:pPr>
            <a:r>
              <a:rPr lang="en-US" sz="2000" b="1" dirty="0">
                <a:solidFill>
                  <a:srgbClr val="22282D"/>
                </a:solidFill>
                <a:latin typeface="Aptos Display" pitchFamily="34" charset="0"/>
                <a:ea typeface="Aptos Display" pitchFamily="34" charset="-122"/>
                <a:cs typeface="Aptos Display" pitchFamily="34" charset="-120"/>
              </a:rPr>
              <a:t>Smart Energy Building: Design and Fabrication of Quasi-solid-state Supercapacitor </a:t>
            </a:r>
          </a:p>
        </p:txBody>
      </p:sp>
      <p:sp>
        <p:nvSpPr>
          <p:cNvPr id="26" name="Shape 14">
            <a:extLst>
              <a:ext uri="{FF2B5EF4-FFF2-40B4-BE49-F238E27FC236}">
                <a16:creationId xmlns:a16="http://schemas.microsoft.com/office/drawing/2014/main" id="{AC471E98-13D2-77BA-8341-4A8A57D98E46}"/>
              </a:ext>
            </a:extLst>
          </p:cNvPr>
          <p:cNvSpPr/>
          <p:nvPr/>
        </p:nvSpPr>
        <p:spPr>
          <a:xfrm>
            <a:off x="4686871" y="249981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D5A6D89E-5A6E-225E-51C1-584AC62B05DF}"/>
              </a:ext>
            </a:extLst>
          </p:cNvPr>
          <p:cNvSpPr/>
          <p:nvPr/>
        </p:nvSpPr>
        <p:spPr>
          <a:xfrm>
            <a:off x="4805743" y="2536388"/>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SUPERVISORS</a:t>
            </a:r>
            <a:endParaRPr lang="en-US" sz="860" dirty="0"/>
          </a:p>
        </p:txBody>
      </p:sp>
      <p:sp>
        <p:nvSpPr>
          <p:cNvPr id="30" name="Text 16">
            <a:extLst>
              <a:ext uri="{FF2B5EF4-FFF2-40B4-BE49-F238E27FC236}">
                <a16:creationId xmlns:a16="http://schemas.microsoft.com/office/drawing/2014/main" id="{590BB360-7599-C5CE-3E68-BBAF69DEC04A}"/>
              </a:ext>
            </a:extLst>
          </p:cNvPr>
          <p:cNvSpPr/>
          <p:nvPr/>
        </p:nvSpPr>
        <p:spPr>
          <a:xfrm>
            <a:off x="4805743" y="2810708"/>
            <a:ext cx="1901952" cy="201168"/>
          </a:xfrm>
          <a:prstGeom prst="rect">
            <a:avLst/>
          </a:prstGeom>
          <a:noFill/>
          <a:ln/>
        </p:spPr>
        <p:txBody>
          <a:bodyPr wrap="square" lIns="0" tIns="0" rIns="0" bIns="0" rtlCol="0" anchor="t"/>
          <a:lstStyle/>
          <a:p>
            <a:r>
              <a:rPr lang="en-US" sz="1000" dirty="0"/>
              <a:t>Mehdi Mehrali</a:t>
            </a:r>
          </a:p>
        </p:txBody>
      </p:sp>
      <p:sp>
        <p:nvSpPr>
          <p:cNvPr id="32" name="Text 17">
            <a:extLst>
              <a:ext uri="{FF2B5EF4-FFF2-40B4-BE49-F238E27FC236}">
                <a16:creationId xmlns:a16="http://schemas.microsoft.com/office/drawing/2014/main" id="{44D12F0A-F5E5-DE2D-7F17-B0614CC31EDA}"/>
              </a:ext>
            </a:extLst>
          </p:cNvPr>
          <p:cNvSpPr/>
          <p:nvPr/>
        </p:nvSpPr>
        <p:spPr>
          <a:xfrm>
            <a:off x="4805743" y="3021020"/>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meme@dtu.dk</a:t>
            </a:r>
          </a:p>
          <a:p>
            <a:pPr marL="0" indent="0">
              <a:lnSpc>
                <a:spcPct val="100000"/>
              </a:lnSpc>
              <a:buNone/>
            </a:pPr>
            <a:endParaRPr lang="en-US" sz="830" dirty="0"/>
          </a:p>
        </p:txBody>
      </p:sp>
      <p:sp>
        <p:nvSpPr>
          <p:cNvPr id="46" name="Shape 24">
            <a:extLst>
              <a:ext uri="{FF2B5EF4-FFF2-40B4-BE49-F238E27FC236}">
                <a16:creationId xmlns:a16="http://schemas.microsoft.com/office/drawing/2014/main" id="{346115C0-A577-42FF-6999-11F3186DD99C}"/>
              </a:ext>
            </a:extLst>
          </p:cNvPr>
          <p:cNvSpPr/>
          <p:nvPr/>
        </p:nvSpPr>
        <p:spPr>
          <a:xfrm>
            <a:off x="288607" y="476574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AA0A6358-A79B-A8AD-F99C-A01B7BD91931}"/>
              </a:ext>
            </a:extLst>
          </p:cNvPr>
          <p:cNvSpPr/>
          <p:nvPr/>
        </p:nvSpPr>
        <p:spPr>
          <a:xfrm>
            <a:off x="288607" y="490316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01  /  PROJECT BACKGROUND</a:t>
            </a:r>
            <a:endParaRPr lang="en-US" sz="860" dirty="0"/>
          </a:p>
        </p:txBody>
      </p:sp>
      <p:sp>
        <p:nvSpPr>
          <p:cNvPr id="50" name="Text 26">
            <a:extLst>
              <a:ext uri="{FF2B5EF4-FFF2-40B4-BE49-F238E27FC236}">
                <a16:creationId xmlns:a16="http://schemas.microsoft.com/office/drawing/2014/main" id="{4C7A1CE6-1600-A9EB-31E0-762C2288D935}"/>
              </a:ext>
            </a:extLst>
          </p:cNvPr>
          <p:cNvSpPr/>
          <p:nvPr/>
        </p:nvSpPr>
        <p:spPr>
          <a:xfrm>
            <a:off x="288607" y="5079181"/>
            <a:ext cx="6426403" cy="1120795"/>
          </a:xfrm>
          <a:prstGeom prst="rect">
            <a:avLst/>
          </a:prstGeom>
          <a:noFill/>
          <a:ln/>
        </p:spPr>
        <p:txBody>
          <a:bodyPr wrap="square" lIns="0" tIns="0" rIns="0" bIns="0" rtlCol="0" anchor="t"/>
          <a:lstStyle/>
          <a:p>
            <a:pPr marL="0" indent="0" algn="just">
              <a:lnSpc>
                <a:spcPct val="104000"/>
              </a:lnSpc>
              <a:buNone/>
            </a:pPr>
            <a:r>
              <a:rPr lang="en-US" sz="1000" dirty="0">
                <a:solidFill>
                  <a:srgbClr val="5D666B"/>
                </a:solidFill>
                <a:latin typeface="Aptos" pitchFamily="34" charset="0"/>
                <a:ea typeface="Aptos" pitchFamily="34" charset="-122"/>
                <a:cs typeface="Aptos" pitchFamily="34" charset="-120"/>
              </a:rPr>
              <a:t>Integrating energy storage into building materials offers opportunities to develop multifunctional construction components. Alongside their conventional roles, these materials could store electrical energy, support the use of renewable energy and provide short-term backup power.</a:t>
            </a:r>
          </a:p>
          <a:p>
            <a:pPr marL="0" indent="0" algn="just">
              <a:lnSpc>
                <a:spcPct val="104000"/>
              </a:lnSpc>
              <a:buNone/>
            </a:pPr>
            <a:r>
              <a:rPr lang="en-US" sz="1000" dirty="0">
                <a:solidFill>
                  <a:srgbClr val="5D666B"/>
                </a:solidFill>
                <a:latin typeface="Aptos" pitchFamily="34" charset="0"/>
                <a:ea typeface="Aptos" pitchFamily="34" charset="-122"/>
                <a:cs typeface="Aptos" pitchFamily="34" charset="-120"/>
              </a:rPr>
              <a:t>Quasi-solid-state supercapacitors use gel electrolytes that enable ion transport while reducing the risk of electrolyte leakage compared with liquid systems. This project explores electrode and gel electrolyte materials for supercapacitors intended for integration into building components, combining materials development with device fabrication and performance evaluation.</a:t>
            </a:r>
            <a:endParaRPr lang="en-US" sz="1000" dirty="0"/>
          </a:p>
        </p:txBody>
      </p:sp>
      <p:sp>
        <p:nvSpPr>
          <p:cNvPr id="52" name="Text 27">
            <a:extLst>
              <a:ext uri="{FF2B5EF4-FFF2-40B4-BE49-F238E27FC236}">
                <a16:creationId xmlns:a16="http://schemas.microsoft.com/office/drawing/2014/main" id="{C06ABC31-7238-C3EF-97D5-E5041B1645A2}"/>
              </a:ext>
            </a:extLst>
          </p:cNvPr>
          <p:cNvSpPr/>
          <p:nvPr/>
        </p:nvSpPr>
        <p:spPr>
          <a:xfrm>
            <a:off x="288607" y="6250253"/>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02  /  PROJECT AIM</a:t>
            </a:r>
            <a:endParaRPr lang="en-US" sz="860" dirty="0"/>
          </a:p>
        </p:txBody>
      </p:sp>
      <p:sp>
        <p:nvSpPr>
          <p:cNvPr id="54" name="Text 28">
            <a:extLst>
              <a:ext uri="{FF2B5EF4-FFF2-40B4-BE49-F238E27FC236}">
                <a16:creationId xmlns:a16="http://schemas.microsoft.com/office/drawing/2014/main" id="{D77792E3-7FAD-149A-40D8-20B7FCE3A1BF}"/>
              </a:ext>
            </a:extLst>
          </p:cNvPr>
          <p:cNvSpPr/>
          <p:nvPr/>
        </p:nvSpPr>
        <p:spPr>
          <a:xfrm>
            <a:off x="288607" y="6437069"/>
            <a:ext cx="6426403" cy="526128"/>
          </a:xfrm>
          <a:prstGeom prst="rect">
            <a:avLst/>
          </a:prstGeom>
          <a:noFill/>
          <a:ln/>
        </p:spPr>
        <p:txBody>
          <a:bodyPr wrap="square" lIns="0" tIns="0" rIns="0" bIns="0" rtlCol="0" anchor="t"/>
          <a:lstStyle/>
          <a:p>
            <a:pPr algn="just"/>
            <a:r>
              <a:rPr lang="en-US" sz="1000" dirty="0">
                <a:solidFill>
                  <a:srgbClr val="5D666B"/>
                </a:solidFill>
                <a:latin typeface="Aptos" pitchFamily="34" charset="0"/>
              </a:rPr>
              <a:t>The project aims to design, fabricate and </a:t>
            </a:r>
            <a:r>
              <a:rPr lang="en-US" sz="1000" dirty="0" err="1">
                <a:solidFill>
                  <a:srgbClr val="5D666B"/>
                </a:solidFill>
                <a:latin typeface="Aptos" pitchFamily="34" charset="0"/>
              </a:rPr>
              <a:t>characterise</a:t>
            </a:r>
            <a:r>
              <a:rPr lang="en-US" sz="1000" dirty="0">
                <a:solidFill>
                  <a:srgbClr val="5D666B"/>
                </a:solidFill>
                <a:latin typeface="Aptos" pitchFamily="34" charset="0"/>
              </a:rPr>
              <a:t> a quasi-solid-state supercapacitor for potential integration into building materials. The student will investigate how electrode composition, gel electrolyte properties and their interfaces influence capacitance, charge–discharge </a:t>
            </a:r>
            <a:r>
              <a:rPr lang="en-US" sz="1000" dirty="0" err="1">
                <a:solidFill>
                  <a:srgbClr val="5D666B"/>
                </a:solidFill>
                <a:latin typeface="Aptos" pitchFamily="34" charset="0"/>
              </a:rPr>
              <a:t>behaviour</a:t>
            </a:r>
            <a:r>
              <a:rPr lang="en-US" sz="1000" dirty="0">
                <a:solidFill>
                  <a:srgbClr val="5D666B"/>
                </a:solidFill>
                <a:latin typeface="Aptos" pitchFamily="34" charset="0"/>
              </a:rPr>
              <a:t> and cycling stability.</a:t>
            </a:r>
          </a:p>
        </p:txBody>
      </p:sp>
      <p:sp>
        <p:nvSpPr>
          <p:cNvPr id="56" name="Text 29">
            <a:extLst>
              <a:ext uri="{FF2B5EF4-FFF2-40B4-BE49-F238E27FC236}">
                <a16:creationId xmlns:a16="http://schemas.microsoft.com/office/drawing/2014/main" id="{FA70192D-52E2-BCEE-11CA-DF37348E346F}"/>
              </a:ext>
            </a:extLst>
          </p:cNvPr>
          <p:cNvSpPr/>
          <p:nvPr/>
        </p:nvSpPr>
        <p:spPr>
          <a:xfrm>
            <a:off x="288607" y="6963197"/>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03  /  PROJECT ACTIVITIES</a:t>
            </a:r>
            <a:endParaRPr lang="en-US" sz="860" dirty="0"/>
          </a:p>
        </p:txBody>
      </p:sp>
      <p:sp>
        <p:nvSpPr>
          <p:cNvPr id="58" name="Text 30">
            <a:extLst>
              <a:ext uri="{FF2B5EF4-FFF2-40B4-BE49-F238E27FC236}">
                <a16:creationId xmlns:a16="http://schemas.microsoft.com/office/drawing/2014/main" id="{4283EC71-138A-DD06-ECDA-DFCDE7C81089}"/>
              </a:ext>
            </a:extLst>
          </p:cNvPr>
          <p:cNvSpPr/>
          <p:nvPr/>
        </p:nvSpPr>
        <p:spPr>
          <a:xfrm>
            <a:off x="306895" y="7174561"/>
            <a:ext cx="6398971" cy="197104"/>
          </a:xfrm>
          <a:prstGeom prst="rect">
            <a:avLst/>
          </a:prstGeom>
          <a:noFill/>
          <a:ln/>
        </p:spPr>
        <p:txBody>
          <a:bodyPr wrap="square" lIns="0" tIns="0" rIns="0" bIns="0" rtlCol="0" anchor="t"/>
          <a:lstStyle/>
          <a:p>
            <a:pPr marL="139700" indent="-139700" algn="just">
              <a:lnSpc>
                <a:spcPct val="106000"/>
              </a:lnSpc>
              <a:buSzPct val="100000"/>
              <a:buChar char="•"/>
            </a:pPr>
            <a:r>
              <a:rPr lang="en-US" sz="975" dirty="0">
                <a:solidFill>
                  <a:srgbClr val="5D666B"/>
                </a:solidFill>
                <a:latin typeface="Aptos" pitchFamily="34" charset="0"/>
                <a:ea typeface="Aptos" pitchFamily="34" charset="-122"/>
                <a:cs typeface="Aptos" pitchFamily="34" charset="-120"/>
              </a:rPr>
              <a:t>Prepare and </a:t>
            </a:r>
            <a:r>
              <a:rPr lang="en-US" sz="975" dirty="0" err="1">
                <a:solidFill>
                  <a:srgbClr val="5D666B"/>
                </a:solidFill>
                <a:latin typeface="Aptos" pitchFamily="34" charset="0"/>
                <a:ea typeface="Aptos" pitchFamily="34" charset="-122"/>
                <a:cs typeface="Aptos" pitchFamily="34" charset="-120"/>
              </a:rPr>
              <a:t>optimise</a:t>
            </a:r>
            <a:r>
              <a:rPr lang="en-US" sz="975" dirty="0">
                <a:solidFill>
                  <a:srgbClr val="5D666B"/>
                </a:solidFill>
                <a:latin typeface="Aptos" pitchFamily="34" charset="0"/>
                <a:ea typeface="Aptos" pitchFamily="34" charset="-122"/>
                <a:cs typeface="Aptos" pitchFamily="34" charset="-120"/>
              </a:rPr>
              <a:t> electrode materials and gel electrolytes suitable for quasi-solid-state supercapacitors.</a:t>
            </a:r>
            <a:endParaRPr lang="en-US" sz="975" dirty="0"/>
          </a:p>
        </p:txBody>
      </p:sp>
      <p:sp>
        <p:nvSpPr>
          <p:cNvPr id="60" name="Text 31">
            <a:extLst>
              <a:ext uri="{FF2B5EF4-FFF2-40B4-BE49-F238E27FC236}">
                <a16:creationId xmlns:a16="http://schemas.microsoft.com/office/drawing/2014/main" id="{E109B50E-E85C-1FEE-8DF0-759F9F629AE6}"/>
              </a:ext>
            </a:extLst>
          </p:cNvPr>
          <p:cNvSpPr/>
          <p:nvPr/>
        </p:nvSpPr>
        <p:spPr>
          <a:xfrm>
            <a:off x="306895" y="7403145"/>
            <a:ext cx="6398971" cy="190364"/>
          </a:xfrm>
          <a:prstGeom prst="rect">
            <a:avLst/>
          </a:prstGeom>
          <a:noFill/>
          <a:ln/>
        </p:spPr>
        <p:txBody>
          <a:bodyPr wrap="square" lIns="0" tIns="0" rIns="0" bIns="0" rtlCol="0" anchor="t"/>
          <a:lstStyle/>
          <a:p>
            <a:pPr marL="139700" indent="-139700" algn="just">
              <a:lnSpc>
                <a:spcPct val="106000"/>
              </a:lnSpc>
              <a:buSzPct val="100000"/>
              <a:buChar char="•"/>
            </a:pPr>
            <a:r>
              <a:rPr lang="en-US" sz="975" dirty="0" err="1">
                <a:solidFill>
                  <a:srgbClr val="5D666B"/>
                </a:solidFill>
                <a:latin typeface="Aptos" pitchFamily="34" charset="0"/>
                <a:ea typeface="Aptos" pitchFamily="34" charset="-122"/>
                <a:cs typeface="Aptos" pitchFamily="34" charset="-120"/>
              </a:rPr>
              <a:t>Characterise</a:t>
            </a:r>
            <a:r>
              <a:rPr lang="en-US" sz="975" dirty="0">
                <a:solidFill>
                  <a:srgbClr val="5D666B"/>
                </a:solidFill>
                <a:latin typeface="Aptos" pitchFamily="34" charset="0"/>
                <a:ea typeface="Aptos" pitchFamily="34" charset="-122"/>
                <a:cs typeface="Aptos" pitchFamily="34" charset="-120"/>
              </a:rPr>
              <a:t> the physicochemical properties of the materials and investigate electrode–electrolyte compatibility.</a:t>
            </a:r>
            <a:endParaRPr lang="en-US" sz="975" dirty="0"/>
          </a:p>
        </p:txBody>
      </p:sp>
      <p:sp>
        <p:nvSpPr>
          <p:cNvPr id="62" name="Text 32">
            <a:extLst>
              <a:ext uri="{FF2B5EF4-FFF2-40B4-BE49-F238E27FC236}">
                <a16:creationId xmlns:a16="http://schemas.microsoft.com/office/drawing/2014/main" id="{206722B1-1BCD-2C0F-B191-A01FC2E30142}"/>
              </a:ext>
            </a:extLst>
          </p:cNvPr>
          <p:cNvSpPr/>
          <p:nvPr/>
        </p:nvSpPr>
        <p:spPr>
          <a:xfrm>
            <a:off x="306895" y="7643786"/>
            <a:ext cx="6398971" cy="379162"/>
          </a:xfrm>
          <a:prstGeom prst="rect">
            <a:avLst/>
          </a:prstGeom>
          <a:noFill/>
          <a:ln/>
        </p:spPr>
        <p:txBody>
          <a:bodyPr wrap="square" lIns="0" tIns="0" rIns="0" bIns="0" rtlCol="0" anchor="t"/>
          <a:lstStyle/>
          <a:p>
            <a:pPr marL="139700" indent="-139700" algn="just">
              <a:lnSpc>
                <a:spcPct val="106000"/>
              </a:lnSpc>
              <a:buSzPct val="100000"/>
              <a:buChar char="•"/>
            </a:pPr>
            <a:r>
              <a:rPr lang="en-US" sz="975" dirty="0">
                <a:solidFill>
                  <a:srgbClr val="5D666B"/>
                </a:solidFill>
                <a:latin typeface="Aptos" pitchFamily="34" charset="0"/>
                <a:ea typeface="Aptos" pitchFamily="34" charset="-122"/>
                <a:cs typeface="Aptos" pitchFamily="34" charset="-120"/>
              </a:rPr>
              <a:t>Assemble prototype devices and evaluate their electrochemical performance, including capacitance, rate capability and cycling stability.</a:t>
            </a:r>
            <a:endParaRPr lang="en-US" sz="975" dirty="0"/>
          </a:p>
        </p:txBody>
      </p:sp>
      <p:sp>
        <p:nvSpPr>
          <p:cNvPr id="68" name="Text 35">
            <a:extLst>
              <a:ext uri="{FF2B5EF4-FFF2-40B4-BE49-F238E27FC236}">
                <a16:creationId xmlns:a16="http://schemas.microsoft.com/office/drawing/2014/main" id="{56BCDBAB-1305-1104-3B97-2469063F015D}"/>
              </a:ext>
            </a:extLst>
          </p:cNvPr>
          <p:cNvSpPr/>
          <p:nvPr/>
        </p:nvSpPr>
        <p:spPr>
          <a:xfrm>
            <a:off x="288607" y="8037287"/>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04  /  PRACTICAL NOTES</a:t>
            </a:r>
            <a:endParaRPr lang="en-US" sz="860" dirty="0"/>
          </a:p>
        </p:txBody>
      </p:sp>
      <p:sp>
        <p:nvSpPr>
          <p:cNvPr id="70" name="Text 36">
            <a:extLst>
              <a:ext uri="{FF2B5EF4-FFF2-40B4-BE49-F238E27FC236}">
                <a16:creationId xmlns:a16="http://schemas.microsoft.com/office/drawing/2014/main" id="{FE311ECC-84CF-4D68-AF85-6FCBA684C4CC}"/>
              </a:ext>
            </a:extLst>
          </p:cNvPr>
          <p:cNvSpPr/>
          <p:nvPr/>
        </p:nvSpPr>
        <p:spPr>
          <a:xfrm>
            <a:off x="279463" y="8244586"/>
            <a:ext cx="6426403" cy="1237421"/>
          </a:xfrm>
          <a:prstGeom prst="rect">
            <a:avLst/>
          </a:prstGeom>
          <a:noFill/>
          <a:ln/>
        </p:spPr>
        <p:txBody>
          <a:bodyPr wrap="square" lIns="0" tIns="0" rIns="0" bIns="0" rtlCol="0" anchor="t"/>
          <a:lstStyle/>
          <a:p>
            <a:pPr marL="0" indent="0" algn="just">
              <a:lnSpc>
                <a:spcPct val="102000"/>
              </a:lnSpc>
              <a:buNone/>
            </a:pPr>
            <a:r>
              <a:rPr lang="en-US" sz="975" dirty="0">
                <a:solidFill>
                  <a:srgbClr val="5D666B"/>
                </a:solidFill>
                <a:latin typeface="Aptos" pitchFamily="34" charset="0"/>
                <a:ea typeface="Aptos" pitchFamily="34" charset="-122"/>
                <a:cs typeface="Aptos" pitchFamily="34" charset="-120"/>
              </a:rPr>
              <a:t>The project is primarily experimental and involves materials preparation, device assembly and physicochemical and electrochemical </a:t>
            </a:r>
            <a:r>
              <a:rPr lang="en-US" sz="975" dirty="0" err="1">
                <a:solidFill>
                  <a:srgbClr val="5D666B"/>
                </a:solidFill>
                <a:latin typeface="Aptos" pitchFamily="34" charset="0"/>
                <a:ea typeface="Aptos" pitchFamily="34" charset="-122"/>
                <a:cs typeface="Aptos" pitchFamily="34" charset="-120"/>
              </a:rPr>
              <a:t>characterisation</a:t>
            </a:r>
            <a:r>
              <a:rPr lang="en-US" sz="975" dirty="0">
                <a:solidFill>
                  <a:srgbClr val="5D666B"/>
                </a:solidFill>
                <a:latin typeface="Aptos" pitchFamily="34" charset="0"/>
                <a:ea typeface="Aptos" pitchFamily="34" charset="-122"/>
                <a:cs typeface="Aptos" pitchFamily="34" charset="-120"/>
              </a:rPr>
              <a:t>. Depending on the research focus, methods may include Fourier-transform infrared spectroscopy (FTIR), contact angle measurements, X-ray photoelectron spectroscopy (XPS) and X-ray diffraction (</a:t>
            </a:r>
            <a:r>
              <a:rPr lang="en-US" sz="975" dirty="0" err="1">
                <a:solidFill>
                  <a:srgbClr val="5D666B"/>
                </a:solidFill>
                <a:latin typeface="Aptos" pitchFamily="34" charset="0"/>
                <a:ea typeface="Aptos" pitchFamily="34" charset="-122"/>
                <a:cs typeface="Aptos" pitchFamily="34" charset="-120"/>
              </a:rPr>
              <a:t>XRD</a:t>
            </a:r>
            <a:r>
              <a:rPr lang="en-US" sz="975" dirty="0">
                <a:solidFill>
                  <a:srgbClr val="5D666B"/>
                </a:solidFill>
                <a:latin typeface="Aptos" pitchFamily="34" charset="0"/>
                <a:ea typeface="Aptos" pitchFamily="34" charset="-122"/>
                <a:cs typeface="Aptos" pitchFamily="34" charset="-120"/>
              </a:rPr>
              <a:t>). Electrochemical testing may include cyclic voltammetry, galvanostatic charge–discharge measurements and electrochemical impedance </a:t>
            </a:r>
            <a:r>
              <a:rPr lang="en-US" sz="975" dirty="0" err="1">
                <a:solidFill>
                  <a:srgbClr val="5D666B"/>
                </a:solidFill>
                <a:latin typeface="Aptos" pitchFamily="34" charset="0"/>
                <a:ea typeface="Aptos" pitchFamily="34" charset="-122"/>
                <a:cs typeface="Aptos" pitchFamily="34" charset="-120"/>
              </a:rPr>
              <a:t>spectroscopy.This</a:t>
            </a:r>
            <a:r>
              <a:rPr lang="en-US" sz="975" dirty="0">
                <a:solidFill>
                  <a:srgbClr val="5D666B"/>
                </a:solidFill>
                <a:latin typeface="Aptos" pitchFamily="34" charset="0"/>
                <a:ea typeface="Aptos" pitchFamily="34" charset="-122"/>
                <a:cs typeface="Aptos" pitchFamily="34" charset="-120"/>
              </a:rPr>
              <a:t> project is suitable for students interested in energy storage and functional materials. The research focus can be tailored to the student’s background and learning goals. </a:t>
            </a:r>
          </a:p>
          <a:p>
            <a:pPr marL="0" indent="0" algn="just">
              <a:lnSpc>
                <a:spcPct val="102000"/>
              </a:lnSpc>
              <a:buNone/>
            </a:pPr>
            <a:r>
              <a:rPr lang="en-US" sz="975" dirty="0">
                <a:solidFill>
                  <a:srgbClr val="5D666B"/>
                </a:solidFill>
                <a:latin typeface="Aptos" pitchFamily="34" charset="0"/>
                <a:ea typeface="Aptos" pitchFamily="34" charset="-122"/>
                <a:cs typeface="Aptos" pitchFamily="34" charset="-120"/>
              </a:rPr>
              <a:t>Students will gain hands-on experience in materials preparation, supercapacitor fabrication and electrochemical testing. Specific activities can be adjusted to match the student’s interests and experience.</a:t>
            </a:r>
          </a:p>
          <a:p>
            <a:pPr marL="0" indent="0" algn="just">
              <a:lnSpc>
                <a:spcPct val="102000"/>
              </a:lnSpc>
              <a:buNone/>
            </a:pPr>
            <a:endParaRPr lang="en-US" sz="975" dirty="0"/>
          </a:p>
        </p:txBody>
      </p:sp>
      <p:sp>
        <p:nvSpPr>
          <p:cNvPr id="72" name="Shape 38">
            <a:extLst>
              <a:ext uri="{FF2B5EF4-FFF2-40B4-BE49-F238E27FC236}">
                <a16:creationId xmlns:a16="http://schemas.microsoft.com/office/drawing/2014/main" id="{D35D566B-2CF4-C4F0-5A66-85268196C01B}"/>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1895A04A-4668-B684-679D-3AF647130754}"/>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pic>
        <p:nvPicPr>
          <p:cNvPr id="3" name="Picture 2">
            <a:extLst>
              <a:ext uri="{FF2B5EF4-FFF2-40B4-BE49-F238E27FC236}">
                <a16:creationId xmlns:a16="http://schemas.microsoft.com/office/drawing/2014/main" id="{4EC96080-B237-1C6B-CCA2-C6C4A21223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8607" y="2466025"/>
            <a:ext cx="4325399" cy="2198355"/>
          </a:xfrm>
          <a:prstGeom prst="rect">
            <a:avLst/>
          </a:prstGeom>
        </p:spPr>
      </p:pic>
    </p:spTree>
    <p:extLst>
      <p:ext uri="{BB962C8B-B14F-4D97-AF65-F5344CB8AC3E}">
        <p14:creationId xmlns:p14="http://schemas.microsoft.com/office/powerpoint/2010/main" val="163296892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602</TotalTime>
  <Words>1069</Words>
  <Application>Microsoft Office PowerPoint</Application>
  <PresentationFormat>A4 Paper (210x297 mm)</PresentationFormat>
  <Paragraphs>69</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TECHNICAL UNIVERSITY OF DENMARK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Masoud Hasany</dc:creator>
  <cp:lastModifiedBy>Masoud Hasany</cp:lastModifiedBy>
  <cp:revision>20</cp:revision>
  <cp:lastPrinted>2026-10-09T11:17:07Z</cp:lastPrinted>
  <dcterms:created xsi:type="dcterms:W3CDTF">2026-10-09T11:09:38Z</dcterms:created>
  <dcterms:modified xsi:type="dcterms:W3CDTF">2026-10-27T09:09:46Z</dcterms:modified>
</cp:coreProperties>
</file>