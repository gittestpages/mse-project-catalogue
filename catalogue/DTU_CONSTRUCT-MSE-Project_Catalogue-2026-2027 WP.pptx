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8" r:id="rId2"/>
    <p:sldId id="257" r:id="rId3"/>
    <p:sldId id="256" r:id="rId4"/>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varScale="1">
        <p:scale>
          <a:sx n="84" d="100"/>
          <a:sy n="84" d="100"/>
        </p:scale>
        <p:origin x="26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10/22/2026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10/22/2026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7A82-7D93-6854-821A-7545EE5CAA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148D25-5F92-60FF-5EDC-E8EECE1CAB7B}"/>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3C5B6E3F-9A63-1E52-74AC-2BC99DDA53C8}"/>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227F87E1-8578-2F36-5EE9-B996B281B5B7}"/>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8DF162A3-4FA0-70A3-5C8E-B3772FC47862}"/>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06B4385C-0A3F-042E-BE08-F918F69AA288}"/>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EF734989-E1E1-C9AC-D60C-7E66C2801F0F}"/>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9CFC4B49-42D4-BAF5-6A59-54844E2BD404}"/>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 </a:t>
            </a:r>
            <a:endParaRPr lang="en-US" sz="860" dirty="0"/>
          </a:p>
        </p:txBody>
      </p:sp>
      <p:sp>
        <p:nvSpPr>
          <p:cNvPr id="18" name="Text 6">
            <a:extLst>
              <a:ext uri="{FF2B5EF4-FFF2-40B4-BE49-F238E27FC236}">
                <a16:creationId xmlns:a16="http://schemas.microsoft.com/office/drawing/2014/main" id="{7FA1E641-73A9-B552-3FED-AF46EE4C1C6F}"/>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dirty="0"/>
              <a:t>Advanced materials for fusion reactors</a:t>
            </a:r>
          </a:p>
        </p:txBody>
      </p:sp>
      <p:sp>
        <p:nvSpPr>
          <p:cNvPr id="26" name="Shape 14">
            <a:extLst>
              <a:ext uri="{FF2B5EF4-FFF2-40B4-BE49-F238E27FC236}">
                <a16:creationId xmlns:a16="http://schemas.microsoft.com/office/drawing/2014/main" id="{44221A13-BD3E-8049-6A13-5106F8C202C1}"/>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99D064D8-EE75-4F3C-99EA-25D2EE7FF621}"/>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6E16DE84-46B4-32B3-5FB9-9BE16958EBCB}"/>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dirty="0"/>
              <a:t>Wolfgang Pantleon</a:t>
            </a:r>
          </a:p>
        </p:txBody>
      </p:sp>
      <p:sp>
        <p:nvSpPr>
          <p:cNvPr id="32" name="Text 17">
            <a:extLst>
              <a:ext uri="{FF2B5EF4-FFF2-40B4-BE49-F238E27FC236}">
                <a16:creationId xmlns:a16="http://schemas.microsoft.com/office/drawing/2014/main" id="{5E96CE24-C1C9-B9DB-19CF-46BF12E1630A}"/>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pawo@dtu.dk</a:t>
            </a:r>
            <a:endParaRPr lang="en-US" sz="830" dirty="0"/>
          </a:p>
        </p:txBody>
      </p:sp>
      <p:sp>
        <p:nvSpPr>
          <p:cNvPr id="34" name="Text 18">
            <a:extLst>
              <a:ext uri="{FF2B5EF4-FFF2-40B4-BE49-F238E27FC236}">
                <a16:creationId xmlns:a16="http://schemas.microsoft.com/office/drawing/2014/main" id="{59E968D0-3F42-43BB-ED31-D2DEA5ED12B3}"/>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Karen Pantleon</a:t>
            </a:r>
            <a:endParaRPr lang="en-US" sz="950" dirty="0"/>
          </a:p>
        </p:txBody>
      </p:sp>
      <p:sp>
        <p:nvSpPr>
          <p:cNvPr id="36" name="Text 19">
            <a:extLst>
              <a:ext uri="{FF2B5EF4-FFF2-40B4-BE49-F238E27FC236}">
                <a16:creationId xmlns:a16="http://schemas.microsoft.com/office/drawing/2014/main" id="{42EDB1F2-FA8B-F2EE-7BF5-A742D1F328D4}"/>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kapa@dtu.dk</a:t>
            </a:r>
            <a:endParaRPr lang="en-US" sz="830" dirty="0"/>
          </a:p>
        </p:txBody>
      </p:sp>
      <p:sp>
        <p:nvSpPr>
          <p:cNvPr id="42" name="Text 22">
            <a:extLst>
              <a:ext uri="{FF2B5EF4-FFF2-40B4-BE49-F238E27FC236}">
                <a16:creationId xmlns:a16="http://schemas.microsoft.com/office/drawing/2014/main" id="{ED923013-A08A-EC08-0629-C710E48074CF}"/>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3FBD9687-1C31-4EB1-829A-CE2A0C177B94}"/>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err="1">
                <a:solidFill>
                  <a:srgbClr val="5D666B"/>
                </a:solidFill>
                <a:latin typeface="Aptos Display" pitchFamily="34" charset="0"/>
              </a:rPr>
              <a:t>EUROfusion</a:t>
            </a:r>
            <a:r>
              <a:rPr lang="en-US" sz="900" dirty="0">
                <a:solidFill>
                  <a:srgbClr val="5D666B"/>
                </a:solidFill>
                <a:latin typeface="Aptos Display" pitchFamily="34" charset="0"/>
              </a:rPr>
              <a:t> consortium</a:t>
            </a:r>
            <a:endParaRPr lang="en-US" sz="900" dirty="0"/>
          </a:p>
        </p:txBody>
      </p:sp>
      <p:sp>
        <p:nvSpPr>
          <p:cNvPr id="46" name="Shape 24">
            <a:extLst>
              <a:ext uri="{FF2B5EF4-FFF2-40B4-BE49-F238E27FC236}">
                <a16:creationId xmlns:a16="http://schemas.microsoft.com/office/drawing/2014/main" id="{D5F28ACA-8F1A-D769-081C-A1D1B2D58A2E}"/>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7E476041-C942-FBAF-A6E6-D66ACDAF01FA}"/>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82A49BD9-E925-5D26-BAC5-CE4B586668D9}"/>
              </a:ext>
            </a:extLst>
          </p:cNvPr>
          <p:cNvSpPr/>
          <p:nvPr/>
        </p:nvSpPr>
        <p:spPr>
          <a:xfrm>
            <a:off x="288607" y="5288732"/>
            <a:ext cx="6426403" cy="1197864"/>
          </a:xfrm>
          <a:prstGeom prst="rect">
            <a:avLst/>
          </a:prstGeom>
          <a:noFill/>
          <a:ln/>
        </p:spPr>
        <p:txBody>
          <a:bodyPr wrap="square" lIns="0" tIns="0" rIns="0" bIns="0" rtlCol="0" anchor="t"/>
          <a:lstStyle/>
          <a:p>
            <a:pPr>
              <a:lnSpc>
                <a:spcPct val="104000"/>
              </a:lnSpc>
            </a:pPr>
            <a:r>
              <a:rPr lang="en-US" sz="1000" dirty="0"/>
              <a:t>One of the key issues in constructing fusion reactors are materials able to withstand high temperatures as well as high mechanical and radiation load. The project focusses on the microstructural property relationships of materials relevant for future fusion reactors. Tungsten and tungsten alloys are considered as sole option for the plasma facing armor of the first wall material and the divertor. In service, the materials must withstand high temperatures significantly altering their microstructure.</a:t>
            </a:r>
            <a:endParaRPr lang="en-US" sz="990" dirty="0"/>
          </a:p>
        </p:txBody>
      </p:sp>
      <p:sp>
        <p:nvSpPr>
          <p:cNvPr id="52" name="Text 27">
            <a:extLst>
              <a:ext uri="{FF2B5EF4-FFF2-40B4-BE49-F238E27FC236}">
                <a16:creationId xmlns:a16="http://schemas.microsoft.com/office/drawing/2014/main" id="{688A3A53-0367-3936-8C4F-FAE547ADBA82}"/>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BB726BE2-9190-E69E-02EC-7676FC64AAE3}"/>
              </a:ext>
            </a:extLst>
          </p:cNvPr>
          <p:cNvSpPr/>
          <p:nvPr/>
        </p:nvSpPr>
        <p:spPr>
          <a:xfrm>
            <a:off x="288607" y="6367724"/>
            <a:ext cx="6426403" cy="438912"/>
          </a:xfrm>
          <a:prstGeom prst="rect">
            <a:avLst/>
          </a:prstGeom>
          <a:noFill/>
          <a:ln/>
        </p:spPr>
        <p:txBody>
          <a:bodyPr wrap="square" lIns="0" tIns="0" rIns="0" bIns="0" rtlCol="0" anchor="t"/>
          <a:lstStyle/>
          <a:p>
            <a:r>
              <a:rPr lang="en-US" sz="1000" dirty="0"/>
              <a:t>The replacement of the instable microstructure leads to degradation of the mechanical properties as a loss in strength and embrittlement.</a:t>
            </a:r>
            <a:r>
              <a:rPr lang="en-US" sz="990" dirty="0">
                <a:solidFill>
                  <a:srgbClr val="5D666B"/>
                </a:solidFill>
                <a:latin typeface="Aptos" pitchFamily="34" charset="0"/>
                <a:ea typeface="Aptos" pitchFamily="34" charset="-122"/>
                <a:cs typeface="Aptos" pitchFamily="34" charset="-120"/>
              </a:rPr>
              <a:t> </a:t>
            </a:r>
            <a:r>
              <a:rPr lang="en-US" sz="1000" dirty="0"/>
              <a:t>The aim of the project is to investigate the thermal stability of tungsten, tungsten alloys and tungsten composites processed in different manner (highly deformed by rolling or wire drawing, chemical vapor deposited, powder metallurgical or additively manufactured) with focus on the microstructural mechanisms (recovery, recrystallization and grain growth) relevant for property degradation. </a:t>
            </a:r>
          </a:p>
        </p:txBody>
      </p:sp>
      <p:sp>
        <p:nvSpPr>
          <p:cNvPr id="56" name="Text 29">
            <a:extLst>
              <a:ext uri="{FF2B5EF4-FFF2-40B4-BE49-F238E27FC236}">
                <a16:creationId xmlns:a16="http://schemas.microsoft.com/office/drawing/2014/main" id="{1C54303E-E8B5-87AD-5798-2041F310235E}"/>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F1A0A305-A4C3-2AB5-41C5-9DFB9C818B27}"/>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Rolled tungsten plates or drawn tungsten wires with or without potassium doping</a:t>
            </a:r>
            <a:endParaRPr lang="en-US" sz="975" dirty="0"/>
          </a:p>
        </p:txBody>
      </p:sp>
      <p:sp>
        <p:nvSpPr>
          <p:cNvPr id="60" name="Text 31">
            <a:extLst>
              <a:ext uri="{FF2B5EF4-FFF2-40B4-BE49-F238E27FC236}">
                <a16:creationId xmlns:a16="http://schemas.microsoft.com/office/drawing/2014/main" id="{F6E3C765-E643-B6C2-C062-369F2BBD596B}"/>
              </a:ext>
            </a:extLst>
          </p:cNvPr>
          <p:cNvSpPr/>
          <p:nvPr/>
        </p:nvSpPr>
        <p:spPr>
          <a:xfrm>
            <a:off x="306895" y="7970782"/>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Dispersion-strengthened tungsten by WC, </a:t>
            </a:r>
            <a:r>
              <a:rPr lang="en-US" sz="975" dirty="0" err="1">
                <a:solidFill>
                  <a:srgbClr val="5D666B"/>
                </a:solidFill>
                <a:latin typeface="Aptos" pitchFamily="34" charset="0"/>
                <a:ea typeface="Aptos" pitchFamily="34" charset="-122"/>
                <a:cs typeface="Aptos" pitchFamily="34" charset="-120"/>
              </a:rPr>
              <a:t>ZrC</a:t>
            </a:r>
            <a:r>
              <a:rPr lang="en-US" sz="975" dirty="0">
                <a:solidFill>
                  <a:srgbClr val="5D666B"/>
                </a:solidFill>
                <a:latin typeface="Aptos" pitchFamily="34" charset="0"/>
                <a:ea typeface="Aptos" pitchFamily="34" charset="-122"/>
                <a:cs typeface="Aptos" pitchFamily="34" charset="-120"/>
              </a:rPr>
              <a:t>, Y</a:t>
            </a:r>
            <a:r>
              <a:rPr lang="en-US" sz="975" baseline="-25000" dirty="0">
                <a:solidFill>
                  <a:srgbClr val="5D666B"/>
                </a:solidFill>
                <a:latin typeface="Aptos" pitchFamily="34" charset="0"/>
                <a:ea typeface="Aptos" pitchFamily="34" charset="-122"/>
                <a:cs typeface="Aptos" pitchFamily="34" charset="-120"/>
              </a:rPr>
              <a:t>2</a:t>
            </a:r>
            <a:r>
              <a:rPr lang="en-US" sz="975" dirty="0">
                <a:solidFill>
                  <a:srgbClr val="5D666B"/>
                </a:solidFill>
                <a:latin typeface="Aptos" pitchFamily="34" charset="0"/>
                <a:ea typeface="Aptos" pitchFamily="34" charset="-122"/>
                <a:cs typeface="Aptos" pitchFamily="34" charset="-120"/>
              </a:rPr>
              <a:t>O</a:t>
            </a:r>
            <a:r>
              <a:rPr lang="en-US" sz="975" baseline="-25000" dirty="0">
                <a:solidFill>
                  <a:srgbClr val="5D666B"/>
                </a:solidFill>
                <a:latin typeface="Aptos" pitchFamily="34" charset="0"/>
                <a:ea typeface="Aptos" pitchFamily="34" charset="-122"/>
                <a:cs typeface="Aptos" pitchFamily="34" charset="-120"/>
              </a:rPr>
              <a:t>3</a:t>
            </a:r>
            <a:endParaRPr lang="en-US" sz="975" baseline="-25000" dirty="0"/>
          </a:p>
        </p:txBody>
      </p:sp>
      <p:sp>
        <p:nvSpPr>
          <p:cNvPr id="62" name="Text 32">
            <a:extLst>
              <a:ext uri="{FF2B5EF4-FFF2-40B4-BE49-F238E27FC236}">
                <a16:creationId xmlns:a16="http://schemas.microsoft.com/office/drawing/2014/main" id="{BE3440C6-2B4D-805F-C02D-8E55BDC3DE16}"/>
              </a:ext>
            </a:extLst>
          </p:cNvPr>
          <p:cNvSpPr/>
          <p:nvPr/>
        </p:nvSpPr>
        <p:spPr>
          <a:xfrm>
            <a:off x="306895" y="819023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Tungsten fiber-reinforced tungsten composites (continuous vs. short fibers, porous vs. compact matrix)</a:t>
            </a:r>
            <a:endParaRPr lang="en-US" sz="975" dirty="0"/>
          </a:p>
        </p:txBody>
      </p:sp>
      <p:sp>
        <p:nvSpPr>
          <p:cNvPr id="68" name="Text 35">
            <a:extLst>
              <a:ext uri="{FF2B5EF4-FFF2-40B4-BE49-F238E27FC236}">
                <a16:creationId xmlns:a16="http://schemas.microsoft.com/office/drawing/2014/main" id="{451E17D2-E1D8-BBAF-2D74-0BA1F5951F53}"/>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C1354F1F-7682-29CD-6D2F-E6F403FBAB9F}"/>
              </a:ext>
            </a:extLst>
          </p:cNvPr>
          <p:cNvSpPr/>
          <p:nvPr/>
        </p:nvSpPr>
        <p:spPr>
          <a:xfrm>
            <a:off x="288607" y="8825936"/>
            <a:ext cx="6426403" cy="438912"/>
          </a:xfrm>
          <a:prstGeom prst="rect">
            <a:avLst/>
          </a:prstGeom>
          <a:noFill/>
          <a:ln/>
        </p:spPr>
        <p:txBody>
          <a:bodyPr wrap="square" lIns="0" tIns="0" rIns="0" bIns="0" rtlCol="0" anchor="t"/>
          <a:lstStyle/>
          <a:p>
            <a:pPr>
              <a:lnSpc>
                <a:spcPct val="102000"/>
              </a:lnSpc>
            </a:pPr>
            <a:r>
              <a:rPr lang="en-US" sz="1000" dirty="0"/>
              <a:t>The microstructure and mechanical properties of the as-processed material as well as after heat treatment will be analyzed in detail by light optical microscopy, electron backscatter diffraction, and hardness testing. In-situ monitoring the changes at high temperatures by X-ray diffraction will be attempted.</a:t>
            </a:r>
          </a:p>
          <a:p>
            <a:pPr marL="0" indent="0">
              <a:lnSpc>
                <a:spcPct val="102000"/>
              </a:lnSpc>
              <a:buNone/>
            </a:pPr>
            <a:endParaRPr lang="en-US" sz="975" dirty="0"/>
          </a:p>
        </p:txBody>
      </p:sp>
      <p:sp>
        <p:nvSpPr>
          <p:cNvPr id="72" name="Shape 38">
            <a:extLst>
              <a:ext uri="{FF2B5EF4-FFF2-40B4-BE49-F238E27FC236}">
                <a16:creationId xmlns:a16="http://schemas.microsoft.com/office/drawing/2014/main" id="{9A77F918-7B5E-D0A3-B047-3D248AD0D52B}"/>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A61D001C-DB34-699F-4DAC-3955A81D6395}"/>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3" name="Picture 2">
            <a:extLst>
              <a:ext uri="{FF2B5EF4-FFF2-40B4-BE49-F238E27FC236}">
                <a16:creationId xmlns:a16="http://schemas.microsoft.com/office/drawing/2014/main" id="{7FB65F17-AC56-81F8-264C-080FB5694E73}"/>
              </a:ext>
            </a:extLst>
          </p:cNvPr>
          <p:cNvPicPr>
            <a:picLocks noChangeAspect="1"/>
          </p:cNvPicPr>
          <p:nvPr/>
        </p:nvPicPr>
        <p:blipFill>
          <a:blip r:embed="rId3"/>
          <a:stretch>
            <a:fillRect/>
          </a:stretch>
        </p:blipFill>
        <p:spPr>
          <a:xfrm>
            <a:off x="300039" y="2499813"/>
            <a:ext cx="3849052" cy="2149821"/>
          </a:xfrm>
          <a:prstGeom prst="rect">
            <a:avLst/>
          </a:prstGeom>
        </p:spPr>
      </p:pic>
      <p:pic>
        <p:nvPicPr>
          <p:cNvPr id="7" name="Picture 6">
            <a:extLst>
              <a:ext uri="{FF2B5EF4-FFF2-40B4-BE49-F238E27FC236}">
                <a16:creationId xmlns:a16="http://schemas.microsoft.com/office/drawing/2014/main" id="{5494079F-461B-82E2-8828-76C17318F2A6}"/>
              </a:ext>
            </a:extLst>
          </p:cNvPr>
          <p:cNvPicPr>
            <a:picLocks noChangeAspect="1"/>
          </p:cNvPicPr>
          <p:nvPr/>
        </p:nvPicPr>
        <p:blipFill>
          <a:blip r:embed="rId4"/>
          <a:stretch>
            <a:fillRect/>
          </a:stretch>
        </p:blipFill>
        <p:spPr>
          <a:xfrm>
            <a:off x="3865671" y="2508239"/>
            <a:ext cx="720000" cy="720000"/>
          </a:xfrm>
          <a:prstGeom prst="rect">
            <a:avLst/>
          </a:prstGeom>
        </p:spPr>
      </p:pic>
    </p:spTree>
    <p:extLst>
      <p:ext uri="{BB962C8B-B14F-4D97-AF65-F5344CB8AC3E}">
        <p14:creationId xmlns:p14="http://schemas.microsoft.com/office/powerpoint/2010/main" val="259034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CCEA-7500-C198-41D5-7D41FBE629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C7A53F-108E-DFBC-13B6-10A319480A8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0C54E62F-29C6-B645-1F76-C9393BDDEB35}"/>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D7EFF040-A9C9-C843-FDFB-5FD98E86A865}"/>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E6763A35-E856-AA8A-F7CE-F4EBF733C04D}"/>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4BA6B89B-6A97-8480-43CB-9D65C19E8971}"/>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23EE12F3-8679-0A12-4646-988795C9AFC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54361BA7-98B3-4575-5954-F0646F53B26A}"/>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a:t>
            </a:r>
            <a:endParaRPr lang="en-US" sz="860" dirty="0"/>
          </a:p>
        </p:txBody>
      </p:sp>
      <p:sp>
        <p:nvSpPr>
          <p:cNvPr id="18" name="Text 6">
            <a:extLst>
              <a:ext uri="{FF2B5EF4-FFF2-40B4-BE49-F238E27FC236}">
                <a16:creationId xmlns:a16="http://schemas.microsoft.com/office/drawing/2014/main" id="{A22F0DFC-6A51-708D-8EBD-F118E168DB36}"/>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Monte Carlo simulation of grain growth in composites</a:t>
            </a:r>
            <a:endParaRPr lang="en-US" sz="2000" dirty="0"/>
          </a:p>
        </p:txBody>
      </p:sp>
      <p:sp>
        <p:nvSpPr>
          <p:cNvPr id="20" name="Shape 7">
            <a:extLst>
              <a:ext uri="{FF2B5EF4-FFF2-40B4-BE49-F238E27FC236}">
                <a16:creationId xmlns:a16="http://schemas.microsoft.com/office/drawing/2014/main" id="{A5BFBB52-360F-616D-A0B0-C756E573F258}"/>
              </a:ext>
            </a:extLst>
          </p:cNvPr>
          <p:cNvSpPr/>
          <p:nvPr/>
        </p:nvSpPr>
        <p:spPr>
          <a:xfrm>
            <a:off x="288607" y="2504384"/>
            <a:ext cx="4306824" cy="2107692"/>
          </a:xfrm>
          <a:prstGeom prst="rect">
            <a:avLst/>
          </a:prstGeom>
          <a:solidFill>
            <a:srgbClr val="F5F6F5"/>
          </a:solidFill>
          <a:ln w="7620">
            <a:solidFill>
              <a:srgbClr val="DFE2E3"/>
            </a:solidFill>
            <a:prstDash val="solid"/>
          </a:ln>
        </p:spPr>
        <p:txBody>
          <a:bodyPr/>
          <a:lstStyle/>
          <a:p>
            <a:endParaRPr lang="LID4096" dirty="0"/>
          </a:p>
        </p:txBody>
      </p:sp>
      <p:sp>
        <p:nvSpPr>
          <p:cNvPr id="26" name="Shape 14">
            <a:extLst>
              <a:ext uri="{FF2B5EF4-FFF2-40B4-BE49-F238E27FC236}">
                <a16:creationId xmlns:a16="http://schemas.microsoft.com/office/drawing/2014/main" id="{BBE0C44F-A661-EFCB-18EC-FFFC25AFEA30}"/>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7C900732-8B82-D716-C3A4-5FF4D8D952AB}"/>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D443152F-9A8F-03C8-4247-5D243B6D7E2D}"/>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Wolfgang Pantleon</a:t>
            </a:r>
            <a:endParaRPr lang="en-US" sz="950" dirty="0"/>
          </a:p>
        </p:txBody>
      </p:sp>
      <p:sp>
        <p:nvSpPr>
          <p:cNvPr id="32" name="Text 17">
            <a:extLst>
              <a:ext uri="{FF2B5EF4-FFF2-40B4-BE49-F238E27FC236}">
                <a16:creationId xmlns:a16="http://schemas.microsoft.com/office/drawing/2014/main" id="{F0FD3B37-F0AF-AF56-A4D3-02BA38EC23ED}"/>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pawo@dtu.dk</a:t>
            </a:r>
            <a:endParaRPr lang="en-US" sz="830" dirty="0"/>
          </a:p>
        </p:txBody>
      </p:sp>
      <p:sp>
        <p:nvSpPr>
          <p:cNvPr id="34" name="Text 18">
            <a:extLst>
              <a:ext uri="{FF2B5EF4-FFF2-40B4-BE49-F238E27FC236}">
                <a16:creationId xmlns:a16="http://schemas.microsoft.com/office/drawing/2014/main" id="{9D67D9E3-9E9F-9147-0607-809F5CA82B31}"/>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Dana Zöllner</a:t>
            </a:r>
            <a:endParaRPr lang="en-US" sz="950" dirty="0"/>
          </a:p>
        </p:txBody>
      </p:sp>
      <p:sp>
        <p:nvSpPr>
          <p:cNvPr id="36" name="Text 19">
            <a:extLst>
              <a:ext uri="{FF2B5EF4-FFF2-40B4-BE49-F238E27FC236}">
                <a16:creationId xmlns:a16="http://schemas.microsoft.com/office/drawing/2014/main" id="{4B7069EE-1D2E-F01A-AB23-B185E129B34C}"/>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dana.zoellner@ovgu.de</a:t>
            </a:r>
            <a:endParaRPr lang="en-US" sz="830" dirty="0"/>
          </a:p>
        </p:txBody>
      </p:sp>
      <p:sp>
        <p:nvSpPr>
          <p:cNvPr id="42" name="Text 22">
            <a:extLst>
              <a:ext uri="{FF2B5EF4-FFF2-40B4-BE49-F238E27FC236}">
                <a16:creationId xmlns:a16="http://schemas.microsoft.com/office/drawing/2014/main" id="{0917AA0C-58D9-41D9-D27F-D60D9CD4DE7D}"/>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723D75FA-47FA-F892-A1D7-F02B15B111BD}"/>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a:t>Otto von Guericke University, Magdeburg</a:t>
            </a:r>
          </a:p>
        </p:txBody>
      </p:sp>
      <p:sp>
        <p:nvSpPr>
          <p:cNvPr id="46" name="Shape 24">
            <a:extLst>
              <a:ext uri="{FF2B5EF4-FFF2-40B4-BE49-F238E27FC236}">
                <a16:creationId xmlns:a16="http://schemas.microsoft.com/office/drawing/2014/main" id="{5D35F830-8DD3-7FC5-8224-DD669433CF54}"/>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EC26889F-3EE0-4FC8-4799-3A6DDA14CB1E}"/>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3097EB13-C07C-588E-A2FC-AF604C27A484}"/>
              </a:ext>
            </a:extLst>
          </p:cNvPr>
          <p:cNvSpPr/>
          <p:nvPr/>
        </p:nvSpPr>
        <p:spPr>
          <a:xfrm>
            <a:off x="288607" y="5288732"/>
            <a:ext cx="6426403" cy="1197864"/>
          </a:xfrm>
          <a:prstGeom prst="rect">
            <a:avLst/>
          </a:prstGeom>
          <a:noFill/>
          <a:ln/>
        </p:spPr>
        <p:txBody>
          <a:bodyPr wrap="square" lIns="0" tIns="0" rIns="0" bIns="0" rtlCol="0" anchor="t"/>
          <a:lstStyle/>
          <a:p>
            <a:pPr>
              <a:lnSpc>
                <a:spcPct val="104000"/>
              </a:lnSpc>
            </a:pPr>
            <a:r>
              <a:rPr lang="en-US" sz="1000" dirty="0"/>
              <a:t>Tungsten fiber-reinforced tungsten composites with a tungsten matrix reinforced by heavily drawn tungsten fibers are developed for future fusion reactors. During service at high operation temperatures, the microstructure of the highly deformed fibers will be altered by recrystallization and grain growth. In composites where tungsten was chemically vapor deposited on a single drawn tungsten wire, a puzzling interplay of several physical processes (recrystallization in the micrometer-sized wires and grain growth in the matrix) affects the microstructure at different length scales. </a:t>
            </a:r>
            <a:endParaRPr lang="en-US" sz="990" dirty="0"/>
          </a:p>
        </p:txBody>
      </p:sp>
      <p:sp>
        <p:nvSpPr>
          <p:cNvPr id="52" name="Text 27">
            <a:extLst>
              <a:ext uri="{FF2B5EF4-FFF2-40B4-BE49-F238E27FC236}">
                <a16:creationId xmlns:a16="http://schemas.microsoft.com/office/drawing/2014/main" id="{F5B71A07-B053-BE9B-6FA9-0EF6FBC7328B}"/>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1C64A4A0-6818-64F5-E164-7DBC30BE68EA}"/>
              </a:ext>
            </a:extLst>
          </p:cNvPr>
          <p:cNvSpPr/>
          <p:nvPr/>
        </p:nvSpPr>
        <p:spPr>
          <a:xfrm>
            <a:off x="288607" y="6367724"/>
            <a:ext cx="6426403" cy="438912"/>
          </a:xfrm>
          <a:prstGeom prst="rect">
            <a:avLst/>
          </a:prstGeom>
          <a:noFill/>
          <a:ln/>
        </p:spPr>
        <p:txBody>
          <a:bodyPr wrap="square" lIns="0" tIns="0" rIns="0" bIns="0" rtlCol="0" anchor="t"/>
          <a:lstStyle/>
          <a:p>
            <a:pPr>
              <a:lnSpc>
                <a:spcPct val="103000"/>
              </a:lnSpc>
            </a:pPr>
            <a:r>
              <a:rPr lang="en-US" sz="1000" dirty="0"/>
              <a:t>Both processes occur in a coupled fashion in the interfacial zone on an even smaller length scale. To address the coupling of multiple metallurgical processes on multiple length scales computational methods are required. The aim of the project is to perform Monte Carlo simulations of the microstructural evolution at high temperatures based on the real microstructure revealed by electron backscatter diffraction and to predict the evolving texture.</a:t>
            </a:r>
          </a:p>
        </p:txBody>
      </p:sp>
      <p:sp>
        <p:nvSpPr>
          <p:cNvPr id="56" name="Text 29">
            <a:extLst>
              <a:ext uri="{FF2B5EF4-FFF2-40B4-BE49-F238E27FC236}">
                <a16:creationId xmlns:a16="http://schemas.microsoft.com/office/drawing/2014/main" id="{93BEA75D-0C1C-BDB8-31DF-11156219D063}"/>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5F066A0E-A8CE-5B3F-5A43-A41A0B64E5BF}"/>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Setting up a digital twin of the composite for MCS  based on electron backscatter data</a:t>
            </a:r>
            <a:endParaRPr lang="en-US" sz="975" dirty="0"/>
          </a:p>
        </p:txBody>
      </p:sp>
      <p:sp>
        <p:nvSpPr>
          <p:cNvPr id="60" name="Text 31">
            <a:extLst>
              <a:ext uri="{FF2B5EF4-FFF2-40B4-BE49-F238E27FC236}">
                <a16:creationId xmlns:a16="http://schemas.microsoft.com/office/drawing/2014/main" id="{5AEF9AA5-4238-815C-933A-9175C63FD24B}"/>
              </a:ext>
            </a:extLst>
          </p:cNvPr>
          <p:cNvSpPr/>
          <p:nvPr/>
        </p:nvSpPr>
        <p:spPr>
          <a:xfrm>
            <a:off x="306895" y="7970782"/>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Simulating the microstructural evolution in 3D using Potts model by MCS</a:t>
            </a:r>
            <a:endParaRPr lang="en-US" sz="975" dirty="0"/>
          </a:p>
        </p:txBody>
      </p:sp>
      <p:sp>
        <p:nvSpPr>
          <p:cNvPr id="62" name="Text 32">
            <a:extLst>
              <a:ext uri="{FF2B5EF4-FFF2-40B4-BE49-F238E27FC236}">
                <a16:creationId xmlns:a16="http://schemas.microsoft.com/office/drawing/2014/main" id="{B6D94E2B-D17A-561F-1101-89851C209CAF}"/>
              </a:ext>
            </a:extLst>
          </p:cNvPr>
          <p:cNvSpPr/>
          <p:nvPr/>
        </p:nvSpPr>
        <p:spPr>
          <a:xfrm>
            <a:off x="306895" y="819023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Variation of materials parameters to mimic the experimental observations</a:t>
            </a:r>
            <a:endParaRPr lang="en-US" sz="975" dirty="0"/>
          </a:p>
        </p:txBody>
      </p:sp>
      <p:sp>
        <p:nvSpPr>
          <p:cNvPr id="68" name="Text 35">
            <a:extLst>
              <a:ext uri="{FF2B5EF4-FFF2-40B4-BE49-F238E27FC236}">
                <a16:creationId xmlns:a16="http://schemas.microsoft.com/office/drawing/2014/main" id="{C12893D5-D56F-2FFD-AAAB-8083F6D82B20}"/>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ED1CACE5-1EFA-F15C-B512-52263ED04B49}"/>
              </a:ext>
            </a:extLst>
          </p:cNvPr>
          <p:cNvSpPr/>
          <p:nvPr/>
        </p:nvSpPr>
        <p:spPr>
          <a:xfrm>
            <a:off x="288607" y="8825936"/>
            <a:ext cx="6426403" cy="438912"/>
          </a:xfrm>
          <a:prstGeom prst="rect">
            <a:avLst/>
          </a:prstGeom>
          <a:noFill/>
          <a:ln/>
        </p:spPr>
        <p:txBody>
          <a:bodyPr wrap="square" lIns="0" tIns="0" rIns="0" bIns="0" rtlCol="0" anchor="t"/>
          <a:lstStyle/>
          <a:p>
            <a:pPr>
              <a:lnSpc>
                <a:spcPct val="102000"/>
              </a:lnSpc>
            </a:pPr>
            <a:r>
              <a:rPr lang="en-US" sz="1000" dirty="0"/>
              <a:t>By varying grain boundary energy and mobility as well as nucleation rates for recrystallization, the observed peculiar behavior will be rationalized, the importance of the different metallurgical process (primary vs. secondary recrystallization or abnormal grain growth) revealed and the effect of the process geometry assessed.</a:t>
            </a:r>
          </a:p>
          <a:p>
            <a:pPr marL="0" indent="0">
              <a:lnSpc>
                <a:spcPct val="102000"/>
              </a:lnSpc>
              <a:buNone/>
            </a:pPr>
            <a:endParaRPr lang="en-US" sz="975" dirty="0"/>
          </a:p>
        </p:txBody>
      </p:sp>
      <p:sp>
        <p:nvSpPr>
          <p:cNvPr id="72" name="Shape 38">
            <a:extLst>
              <a:ext uri="{FF2B5EF4-FFF2-40B4-BE49-F238E27FC236}">
                <a16:creationId xmlns:a16="http://schemas.microsoft.com/office/drawing/2014/main" id="{09B278C9-2CFA-E7F5-D8B0-DD87281E2041}"/>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2257B09E-A2BA-AC68-207E-3F6F25268B13}"/>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5" name="Picture 4">
            <a:extLst>
              <a:ext uri="{FF2B5EF4-FFF2-40B4-BE49-F238E27FC236}">
                <a16:creationId xmlns:a16="http://schemas.microsoft.com/office/drawing/2014/main" id="{4866A4DF-5E15-4472-59CE-968F8DF5DF5D}"/>
              </a:ext>
            </a:extLst>
          </p:cNvPr>
          <p:cNvPicPr>
            <a:picLocks noChangeAspect="1"/>
          </p:cNvPicPr>
          <p:nvPr/>
        </p:nvPicPr>
        <p:blipFill>
          <a:blip r:embed="rId3"/>
          <a:stretch>
            <a:fillRect/>
          </a:stretch>
        </p:blipFill>
        <p:spPr>
          <a:xfrm>
            <a:off x="252032" y="2442905"/>
            <a:ext cx="2639758" cy="2408093"/>
          </a:xfrm>
          <a:prstGeom prst="rect">
            <a:avLst/>
          </a:prstGeom>
        </p:spPr>
      </p:pic>
      <p:pic>
        <p:nvPicPr>
          <p:cNvPr id="9" name="Picture 8">
            <a:extLst>
              <a:ext uri="{FF2B5EF4-FFF2-40B4-BE49-F238E27FC236}">
                <a16:creationId xmlns:a16="http://schemas.microsoft.com/office/drawing/2014/main" id="{CD4460AA-66BE-5E49-F90B-C9F1CFD7A329}"/>
              </a:ext>
            </a:extLst>
          </p:cNvPr>
          <p:cNvPicPr>
            <a:picLocks noChangeAspect="1"/>
          </p:cNvPicPr>
          <p:nvPr/>
        </p:nvPicPr>
        <p:blipFill>
          <a:blip r:embed="rId4"/>
          <a:stretch>
            <a:fillRect/>
          </a:stretch>
        </p:blipFill>
        <p:spPr>
          <a:xfrm>
            <a:off x="2952073" y="2522626"/>
            <a:ext cx="1643023" cy="917682"/>
          </a:xfrm>
          <a:prstGeom prst="rect">
            <a:avLst/>
          </a:prstGeom>
        </p:spPr>
      </p:pic>
      <p:pic>
        <p:nvPicPr>
          <p:cNvPr id="13" name="Grafik 7">
            <a:extLst>
              <a:ext uri="{FF2B5EF4-FFF2-40B4-BE49-F238E27FC236}">
                <a16:creationId xmlns:a16="http://schemas.microsoft.com/office/drawing/2014/main" id="{986BC828-B2C4-5D38-E64F-4176FC25AC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81358" y="3958002"/>
            <a:ext cx="957882" cy="828000"/>
          </a:xfrm>
          <a:prstGeom prst="rect">
            <a:avLst/>
          </a:prstGeom>
        </p:spPr>
      </p:pic>
      <p:pic>
        <p:nvPicPr>
          <p:cNvPr id="15" name="Picture 14">
            <a:extLst>
              <a:ext uri="{FF2B5EF4-FFF2-40B4-BE49-F238E27FC236}">
                <a16:creationId xmlns:a16="http://schemas.microsoft.com/office/drawing/2014/main" id="{ADA7E622-C4F1-1C0C-BE77-82DD3C89CFDC}"/>
              </a:ext>
            </a:extLst>
          </p:cNvPr>
          <p:cNvPicPr>
            <a:picLocks noChangeAspect="1"/>
          </p:cNvPicPr>
          <p:nvPr/>
        </p:nvPicPr>
        <p:blipFill rotWithShape="1">
          <a:blip r:embed="rId6">
            <a:extLst>
              <a:ext uri="{28A0092B-C50C-407E-A947-70E740481C1C}">
                <a14:useLocalDpi xmlns:a14="http://schemas.microsoft.com/office/drawing/2010/main" val="0"/>
              </a:ext>
            </a:extLst>
          </a:blip>
          <a:srcRect l="18762" t="18857" r="18738" b="18643"/>
          <a:stretch/>
        </p:blipFill>
        <p:spPr>
          <a:xfrm>
            <a:off x="3753001" y="3959769"/>
            <a:ext cx="828000" cy="828000"/>
          </a:xfrm>
          <a:prstGeom prst="rect">
            <a:avLst/>
          </a:prstGeom>
        </p:spPr>
      </p:pic>
      <p:pic>
        <p:nvPicPr>
          <p:cNvPr id="7" name="Picture 6">
            <a:extLst>
              <a:ext uri="{FF2B5EF4-FFF2-40B4-BE49-F238E27FC236}">
                <a16:creationId xmlns:a16="http://schemas.microsoft.com/office/drawing/2014/main" id="{87CF39DD-21C1-2ECA-AD8E-16DE1B134351}"/>
              </a:ext>
            </a:extLst>
          </p:cNvPr>
          <p:cNvPicPr>
            <a:picLocks noChangeAspect="1"/>
          </p:cNvPicPr>
          <p:nvPr/>
        </p:nvPicPr>
        <p:blipFill>
          <a:blip r:embed="rId7"/>
          <a:stretch>
            <a:fillRect/>
          </a:stretch>
        </p:blipFill>
        <p:spPr>
          <a:xfrm>
            <a:off x="3874762" y="3229136"/>
            <a:ext cx="720000" cy="720000"/>
          </a:xfrm>
          <a:prstGeom prst="rect">
            <a:avLst/>
          </a:prstGeom>
        </p:spPr>
      </p:pic>
    </p:spTree>
    <p:extLst>
      <p:ext uri="{BB962C8B-B14F-4D97-AF65-F5344CB8AC3E}">
        <p14:creationId xmlns:p14="http://schemas.microsoft.com/office/powerpoint/2010/main" val="2882563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3</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or Bachelor] </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Simulation of internal stresses developing during fatigue</a:t>
            </a:r>
            <a:endParaRPr lang="en-US" sz="2000" dirty="0"/>
          </a:p>
        </p:txBody>
      </p:sp>
      <p:sp>
        <p:nvSpPr>
          <p:cNvPr id="26" name="Shape 14">
            <a:extLst>
              <a:ext uri="{FF2B5EF4-FFF2-40B4-BE49-F238E27FC236}">
                <a16:creationId xmlns:a16="http://schemas.microsoft.com/office/drawing/2014/main" id="{AA36B306-337C-04B4-9B92-70B043FEE96D}"/>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47A99FCE-4503-0221-BA93-784430A6BB52}"/>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rPr>
              <a:t>Wolfgang Pantleon</a:t>
            </a:r>
            <a:endParaRPr lang="en-US" sz="950" dirty="0"/>
          </a:p>
        </p:txBody>
      </p:sp>
      <p:sp>
        <p:nvSpPr>
          <p:cNvPr id="32" name="Text 17">
            <a:extLst>
              <a:ext uri="{FF2B5EF4-FFF2-40B4-BE49-F238E27FC236}">
                <a16:creationId xmlns:a16="http://schemas.microsoft.com/office/drawing/2014/main" id="{975C2CB1-0286-2F6B-9B19-5CBCCDBC47F2}"/>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rPr>
              <a:t>pawo@dtu.dk</a:t>
            </a:r>
            <a:endParaRPr lang="en-US" sz="830" dirty="0"/>
          </a:p>
        </p:txBody>
      </p:sp>
      <p:sp>
        <p:nvSpPr>
          <p:cNvPr id="34" name="Text 18">
            <a:extLst>
              <a:ext uri="{FF2B5EF4-FFF2-40B4-BE49-F238E27FC236}">
                <a16:creationId xmlns:a16="http://schemas.microsoft.com/office/drawing/2014/main" id="{8E706A9F-BDF4-6E34-2BC8-528A2E4C7162}"/>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Ricardo Lebensohn</a:t>
            </a:r>
            <a:endParaRPr lang="en-US" sz="950" dirty="0"/>
          </a:p>
        </p:txBody>
      </p:sp>
      <p:sp>
        <p:nvSpPr>
          <p:cNvPr id="36" name="Text 19">
            <a:extLst>
              <a:ext uri="{FF2B5EF4-FFF2-40B4-BE49-F238E27FC236}">
                <a16:creationId xmlns:a16="http://schemas.microsoft.com/office/drawing/2014/main" id="{279E3988-0483-A929-2165-3D05E003F6C6}"/>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lebenso@lanl.gov</a:t>
            </a:r>
            <a:endParaRPr lang="en-US" sz="830" dirty="0"/>
          </a:p>
        </p:txBody>
      </p:sp>
      <p:sp>
        <p:nvSpPr>
          <p:cNvPr id="42" name="Text 22">
            <a:extLst>
              <a:ext uri="{FF2B5EF4-FFF2-40B4-BE49-F238E27FC236}">
                <a16:creationId xmlns:a16="http://schemas.microsoft.com/office/drawing/2014/main" id="{1DF1104B-1700-DC4D-5689-1F91FE7F43E6}"/>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EE6A2E6F-D0C1-1685-693D-44A5B2B1A9B8}"/>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rPr>
              <a:t>Los Alamos National Laboratory, USA</a:t>
            </a:r>
            <a:endParaRPr lang="en-US" sz="900" dirty="0"/>
          </a:p>
        </p:txBody>
      </p:sp>
      <p:sp>
        <p:nvSpPr>
          <p:cNvPr id="46" name="Shape 24">
            <a:extLst>
              <a:ext uri="{FF2B5EF4-FFF2-40B4-BE49-F238E27FC236}">
                <a16:creationId xmlns:a16="http://schemas.microsoft.com/office/drawing/2014/main" id="{741B9529-EDF4-0277-9517-AD77B4EC7EFA}"/>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288607" y="5288732"/>
            <a:ext cx="6426403" cy="1197864"/>
          </a:xfrm>
          <a:prstGeom prst="rect">
            <a:avLst/>
          </a:prstGeom>
          <a:noFill/>
          <a:ln/>
        </p:spPr>
        <p:txBody>
          <a:bodyPr wrap="square" lIns="0" tIns="0" rIns="0" bIns="0" rtlCol="0" anchor="t"/>
          <a:lstStyle/>
          <a:p>
            <a:pPr>
              <a:lnSpc>
                <a:spcPct val="104000"/>
              </a:lnSpc>
            </a:pPr>
            <a:r>
              <a:rPr lang="en-US" sz="1000" dirty="0"/>
              <a:t>During plastic deformation of metals, the defects carrying plastic deformation are stored in dislocation walls separating dislocation-free subgrains. A peculiar phenomenon has been discovered during fatigue when the sense of the deformation is reversed repeatedly. Even small plastic strains applied repeatedly e.g. in tension compression cycles cause formation of ordered dislocation structures which after a large number of cycles eventually lead to failure.</a:t>
            </a:r>
          </a:p>
          <a:p>
            <a:pPr marL="0" indent="0">
              <a:lnSpc>
                <a:spcPct val="104000"/>
              </a:lnSpc>
              <a:buNone/>
            </a:pPr>
            <a:endParaRPr lang="en-US" sz="990" dirty="0"/>
          </a:p>
        </p:txBody>
      </p:sp>
      <p:sp>
        <p:nvSpPr>
          <p:cNvPr id="52" name="Text 27">
            <a:extLst>
              <a:ext uri="{FF2B5EF4-FFF2-40B4-BE49-F238E27FC236}">
                <a16:creationId xmlns:a16="http://schemas.microsoft.com/office/drawing/2014/main" id="{E1F4C334-2223-19ED-44AB-9671AA39A52B}"/>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288607" y="6367724"/>
            <a:ext cx="6426403" cy="438912"/>
          </a:xfrm>
          <a:prstGeom prst="rect">
            <a:avLst/>
          </a:prstGeom>
          <a:noFill/>
          <a:ln/>
        </p:spPr>
        <p:txBody>
          <a:bodyPr wrap="square" lIns="0" tIns="0" rIns="0" bIns="0" rtlCol="0" anchor="t"/>
          <a:lstStyle/>
          <a:p>
            <a:pPr marL="0" indent="0">
              <a:lnSpc>
                <a:spcPct val="103000"/>
              </a:lnSpc>
              <a:buNone/>
            </a:pPr>
            <a:r>
              <a:rPr lang="en-US" sz="1000" dirty="0">
                <a:solidFill>
                  <a:srgbClr val="5D666B"/>
                </a:solidFill>
              </a:rPr>
              <a:t>Simultaneously with emerging dislocation structures, internal stresses develop. Monitoring these by in-situ synchrotron diffraction during tension-compression cycles showed their increase during elastic unloading. Neither classical models, nor  </a:t>
            </a:r>
            <a:r>
              <a:rPr lang="en-US" sz="1000" dirty="0" err="1">
                <a:solidFill>
                  <a:srgbClr val="5D666B"/>
                </a:solidFill>
              </a:rPr>
              <a:t>elasto-viscoplastic</a:t>
            </a:r>
            <a:r>
              <a:rPr lang="en-US" sz="1000" dirty="0">
                <a:solidFill>
                  <a:srgbClr val="5D666B"/>
                </a:solidFill>
              </a:rPr>
              <a:t> simulations have been able to rationalize this unexpected behavior. The reason has been traced to local variations of material parameters and internal stresses. Aim of the project is their incorporation in the simulation and the development of dedicated analysis to allow comparison with experimental X-ray diffraction profiles.</a:t>
            </a:r>
            <a:endParaRPr lang="en-US" sz="1000" dirty="0"/>
          </a:p>
        </p:txBody>
      </p:sp>
      <p:sp>
        <p:nvSpPr>
          <p:cNvPr id="56" name="Text 29">
            <a:extLst>
              <a:ext uri="{FF2B5EF4-FFF2-40B4-BE49-F238E27FC236}">
                <a16:creationId xmlns:a16="http://schemas.microsoft.com/office/drawing/2014/main" id="{B6524C55-32C1-1701-39AF-30B8513D5859}"/>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t>Large strain </a:t>
            </a:r>
            <a:r>
              <a:rPr lang="en-US" sz="975" dirty="0" err="1"/>
              <a:t>elasto-viscoplastic</a:t>
            </a:r>
            <a:r>
              <a:rPr lang="en-US" sz="975" dirty="0"/>
              <a:t> simulations using Fast Fourier transformation approaches</a:t>
            </a:r>
          </a:p>
        </p:txBody>
      </p:sp>
      <p:sp>
        <p:nvSpPr>
          <p:cNvPr id="60" name="Text 31">
            <a:extLst>
              <a:ext uri="{FF2B5EF4-FFF2-40B4-BE49-F238E27FC236}">
                <a16:creationId xmlns:a16="http://schemas.microsoft.com/office/drawing/2014/main" id="{21731E05-B059-A90E-C87B-2E6FFD0794F0}"/>
              </a:ext>
            </a:extLst>
          </p:cNvPr>
          <p:cNvSpPr/>
          <p:nvPr/>
        </p:nvSpPr>
        <p:spPr>
          <a:xfrm>
            <a:off x="306895" y="7970782"/>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Varying material properties with focus on intrinsic variability</a:t>
            </a:r>
            <a:endParaRPr lang="en-US" sz="975" dirty="0"/>
          </a:p>
        </p:txBody>
      </p:sp>
      <p:sp>
        <p:nvSpPr>
          <p:cNvPr id="62" name="Text 32">
            <a:extLst>
              <a:ext uri="{FF2B5EF4-FFF2-40B4-BE49-F238E27FC236}">
                <a16:creationId xmlns:a16="http://schemas.microsoft.com/office/drawing/2014/main" id="{11812E9B-5850-E1D8-90D9-FAD3FEC017D7}"/>
              </a:ext>
            </a:extLst>
          </p:cNvPr>
          <p:cNvSpPr/>
          <p:nvPr/>
        </p:nvSpPr>
        <p:spPr>
          <a:xfrm>
            <a:off x="306895" y="819023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Analyzing simulation results for distributions of local elastic strains along loading direction</a:t>
            </a:r>
            <a:endParaRPr lang="en-US" sz="975" dirty="0"/>
          </a:p>
        </p:txBody>
      </p:sp>
      <p:sp>
        <p:nvSpPr>
          <p:cNvPr id="68" name="Text 35">
            <a:extLst>
              <a:ext uri="{FF2B5EF4-FFF2-40B4-BE49-F238E27FC236}">
                <a16:creationId xmlns:a16="http://schemas.microsoft.com/office/drawing/2014/main" id="{2F7D2E65-2E3D-DD1B-98AF-16E5BD6564A6}"/>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288607" y="8825936"/>
            <a:ext cx="6426403" cy="438912"/>
          </a:xfrm>
          <a:prstGeom prst="rect">
            <a:avLst/>
          </a:prstGeom>
          <a:noFill/>
          <a:ln/>
        </p:spPr>
        <p:txBody>
          <a:bodyPr wrap="square" lIns="0" tIns="0" rIns="0" bIns="0" rtlCol="0" anchor="t"/>
          <a:lstStyle/>
          <a:p>
            <a:pPr marL="0" indent="0">
              <a:lnSpc>
                <a:spcPct val="102000"/>
              </a:lnSpc>
              <a:buNone/>
            </a:pPr>
            <a:r>
              <a:rPr lang="en-US" sz="975" dirty="0">
                <a:solidFill>
                  <a:srgbClr val="5D666B"/>
                </a:solidFill>
                <a:latin typeface="Aptos" pitchFamily="34" charset="0"/>
                <a:ea typeface="Aptos" pitchFamily="34" charset="-122"/>
                <a:cs typeface="Aptos" pitchFamily="34" charset="-120"/>
              </a:rPr>
              <a:t>The project is focused on simulations and post-processing of simulation results to derive characteristic profiles  which can be compared to already obtained experimental data by in-situ synchrotron diffraction.</a:t>
            </a: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3" name="Picture 2">
            <a:extLst>
              <a:ext uri="{FF2B5EF4-FFF2-40B4-BE49-F238E27FC236}">
                <a16:creationId xmlns:a16="http://schemas.microsoft.com/office/drawing/2014/main" id="{50D6B659-2AE5-A667-8A0B-6F31C36496B2}"/>
              </a:ext>
            </a:extLst>
          </p:cNvPr>
          <p:cNvPicPr>
            <a:picLocks noChangeAspect="1"/>
          </p:cNvPicPr>
          <p:nvPr/>
        </p:nvPicPr>
        <p:blipFill>
          <a:blip r:embed="rId3"/>
          <a:srcRect l="22047" t="7292" r="22511" b="5584"/>
          <a:stretch>
            <a:fillRect/>
          </a:stretch>
        </p:blipFill>
        <p:spPr>
          <a:xfrm>
            <a:off x="288606" y="2509255"/>
            <a:ext cx="2139555" cy="2088000"/>
          </a:xfrm>
          <a:prstGeom prst="rect">
            <a:avLst/>
          </a:prstGeom>
        </p:spPr>
      </p:pic>
      <p:pic>
        <p:nvPicPr>
          <p:cNvPr id="5" name="Picture 4">
            <a:extLst>
              <a:ext uri="{FF2B5EF4-FFF2-40B4-BE49-F238E27FC236}">
                <a16:creationId xmlns:a16="http://schemas.microsoft.com/office/drawing/2014/main" id="{70D7AB9D-C7D1-4495-2E5C-18CA50F74A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420941" y="2715298"/>
            <a:ext cx="2220210" cy="1759619"/>
          </a:xfrm>
          <a:prstGeom prst="rect">
            <a:avLst/>
          </a:prstGeom>
        </p:spPr>
      </p:pic>
    </p:spTree>
    <p:extLst>
      <p:ext uri="{BB962C8B-B14F-4D97-AF65-F5344CB8AC3E}">
        <p14:creationId xmlns:p14="http://schemas.microsoft.com/office/powerpoint/2010/main" val="22361498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316</TotalTime>
  <Words>903</Words>
  <Application>Microsoft Office PowerPoint</Application>
  <PresentationFormat>A4 Paper (210x297 mm)</PresentationFormat>
  <Paragraphs>69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Wolfgang Pantleon</cp:lastModifiedBy>
  <cp:revision>4</cp:revision>
  <cp:lastPrinted>2026-10-09T11:17:07Z</cp:lastPrinted>
  <dcterms:created xsi:type="dcterms:W3CDTF">2026-10-09T11:09:38Z</dcterms:created>
  <dcterms:modified xsi:type="dcterms:W3CDTF">2026-10-22T10:23:39Z</dcterms:modified>
</cp:coreProperties>
</file>