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
  </p:notesMasterIdLst>
  <p:sldIdLst>
    <p:sldId id="257" r:id="rId2"/>
    <p:sldId id="256" r:id="rId3"/>
  </p:sldIdLst>
  <p:sldSz cx="6858000" cy="9906000" type="A4"/>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D651E8-89E1-4E67-84FB-216ED0ACF08E}" v="1" dt="2026-10-09T11:20:31.4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64" autoAdjust="0"/>
    <p:restoredTop sz="94660"/>
  </p:normalViewPr>
  <p:slideViewPr>
    <p:cSldViewPr snapToGrid="0">
      <p:cViewPr varScale="1">
        <p:scale>
          <a:sx n="81" d="100"/>
          <a:sy n="81" d="100"/>
        </p:scale>
        <p:origin x="339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notesMaster" Target="notesMasters/notes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soud Hasany" userId="6cc17645-04cb-4c82-981d-5cca772a98bc" providerId="ADAL" clId="{3354FD60-1CDF-477F-A3E7-7DDB38CA4C74}"/>
    <pc:docChg chg="addSld delSld modSld">
      <pc:chgData name="Masoud Hasany" userId="6cc17645-04cb-4c82-981d-5cca772a98bc" providerId="ADAL" clId="{3354FD60-1CDF-477F-A3E7-7DDB38CA4C74}" dt="2026-10-09T14:56:41.313" v="17" actId="1035"/>
      <pc:docMkLst>
        <pc:docMk/>
      </pc:docMkLst>
      <pc:sldChg chg="modSp mod">
        <pc:chgData name="Masoud Hasany" userId="6cc17645-04cb-4c82-981d-5cca772a98bc" providerId="ADAL" clId="{3354FD60-1CDF-477F-A3E7-7DDB38CA4C74}" dt="2026-10-09T14:56:41.313" v="17" actId="1035"/>
        <pc:sldMkLst>
          <pc:docMk/>
          <pc:sldMk cId="2236149848" sldId="256"/>
        </pc:sldMkLst>
        <pc:spChg chg="mod">
          <ac:chgData name="Masoud Hasany" userId="6cc17645-04cb-4c82-981d-5cca772a98bc" providerId="ADAL" clId="{3354FD60-1CDF-477F-A3E7-7DDB38CA4C74}" dt="2026-10-09T14:56:41.313" v="17" actId="1035"/>
          <ac:spMkLst>
            <pc:docMk/>
            <pc:sldMk cId="2236149848" sldId="256"/>
            <ac:spMk id="20" creationId="{BF93D45E-B774-456A-8A91-E3FB6CC60F32}"/>
          </ac:spMkLst>
        </pc:spChg>
        <pc:spChg chg="mod">
          <ac:chgData name="Masoud Hasany" userId="6cc17645-04cb-4c82-981d-5cca772a98bc" providerId="ADAL" clId="{3354FD60-1CDF-477F-A3E7-7DDB38CA4C74}" dt="2026-10-09T14:56:41.313" v="17" actId="1035"/>
          <ac:spMkLst>
            <pc:docMk/>
            <pc:sldMk cId="2236149848" sldId="256"/>
            <ac:spMk id="28" creationId="{DDA6AD76-253A-BDEE-D80F-CF8C578343F2}"/>
          </ac:spMkLst>
        </pc:spChg>
        <pc:spChg chg="mod">
          <ac:chgData name="Masoud Hasany" userId="6cc17645-04cb-4c82-981d-5cca772a98bc" providerId="ADAL" clId="{3354FD60-1CDF-477F-A3E7-7DDB38CA4C74}" dt="2026-10-09T14:56:41.313" v="17" actId="1035"/>
          <ac:spMkLst>
            <pc:docMk/>
            <pc:sldMk cId="2236149848" sldId="256"/>
            <ac:spMk id="32" creationId="{975C2CB1-0286-2F6B-9B19-5CBCCDBC47F2}"/>
          </ac:spMkLst>
        </pc:spChg>
        <pc:spChg chg="mod">
          <ac:chgData name="Masoud Hasany" userId="6cc17645-04cb-4c82-981d-5cca772a98bc" providerId="ADAL" clId="{3354FD60-1CDF-477F-A3E7-7DDB38CA4C74}" dt="2026-10-09T14:56:41.313" v="17" actId="1035"/>
          <ac:spMkLst>
            <pc:docMk/>
            <pc:sldMk cId="2236149848" sldId="256"/>
            <ac:spMk id="34" creationId="{8E706A9F-BDF4-6E34-2BC8-528A2E4C7162}"/>
          </ac:spMkLst>
        </pc:spChg>
        <pc:spChg chg="mod">
          <ac:chgData name="Masoud Hasany" userId="6cc17645-04cb-4c82-981d-5cca772a98bc" providerId="ADAL" clId="{3354FD60-1CDF-477F-A3E7-7DDB38CA4C74}" dt="2026-10-09T14:56:41.313" v="17" actId="1035"/>
          <ac:spMkLst>
            <pc:docMk/>
            <pc:sldMk cId="2236149848" sldId="256"/>
            <ac:spMk id="36" creationId="{279E3988-0483-A929-2165-3D05E003F6C6}"/>
          </ac:spMkLst>
        </pc:spChg>
        <pc:spChg chg="mod">
          <ac:chgData name="Masoud Hasany" userId="6cc17645-04cb-4c82-981d-5cca772a98bc" providerId="ADAL" clId="{3354FD60-1CDF-477F-A3E7-7DDB38CA4C74}" dt="2026-10-09T14:56:41.313" v="17" actId="1035"/>
          <ac:spMkLst>
            <pc:docMk/>
            <pc:sldMk cId="2236149848" sldId="256"/>
            <ac:spMk id="38" creationId="{A5E5AC3B-9018-8067-D6FD-F9121BA39AC6}"/>
          </ac:spMkLst>
        </pc:spChg>
        <pc:spChg chg="mod">
          <ac:chgData name="Masoud Hasany" userId="6cc17645-04cb-4c82-981d-5cca772a98bc" providerId="ADAL" clId="{3354FD60-1CDF-477F-A3E7-7DDB38CA4C74}" dt="2026-10-09T14:56:41.313" v="17" actId="1035"/>
          <ac:spMkLst>
            <pc:docMk/>
            <pc:sldMk cId="2236149848" sldId="256"/>
            <ac:spMk id="46" creationId="{741B9529-EDF4-0277-9517-AD77B4EC7EFA}"/>
          </ac:spMkLst>
        </pc:spChg>
        <pc:spChg chg="mod">
          <ac:chgData name="Masoud Hasany" userId="6cc17645-04cb-4c82-981d-5cca772a98bc" providerId="ADAL" clId="{3354FD60-1CDF-477F-A3E7-7DDB38CA4C74}" dt="2026-10-09T14:56:41.313" v="17" actId="1035"/>
          <ac:spMkLst>
            <pc:docMk/>
            <pc:sldMk cId="2236149848" sldId="256"/>
            <ac:spMk id="52" creationId="{E1F4C334-2223-19ED-44AB-9671AA39A52B}"/>
          </ac:spMkLst>
        </pc:spChg>
        <pc:spChg chg="mod">
          <ac:chgData name="Masoud Hasany" userId="6cc17645-04cb-4c82-981d-5cca772a98bc" providerId="ADAL" clId="{3354FD60-1CDF-477F-A3E7-7DDB38CA4C74}" dt="2026-10-09T14:56:13.626" v="2" actId="1076"/>
          <ac:spMkLst>
            <pc:docMk/>
            <pc:sldMk cId="2236149848" sldId="256"/>
            <ac:spMk id="54" creationId="{3B32DA2F-B6E5-BD0C-B0E2-8DB758B29FE0}"/>
          </ac:spMkLst>
        </pc:spChg>
        <pc:spChg chg="mod">
          <ac:chgData name="Masoud Hasany" userId="6cc17645-04cb-4c82-981d-5cca772a98bc" providerId="ADAL" clId="{3354FD60-1CDF-477F-A3E7-7DDB38CA4C74}" dt="2026-10-09T14:56:41.313" v="17" actId="1035"/>
          <ac:spMkLst>
            <pc:docMk/>
            <pc:sldMk cId="2236149848" sldId="256"/>
            <ac:spMk id="56" creationId="{B6524C55-32C1-1701-39AF-30B8513D5859}"/>
          </ac:spMkLst>
        </pc:spChg>
        <pc:spChg chg="mod">
          <ac:chgData name="Masoud Hasany" userId="6cc17645-04cb-4c82-981d-5cca772a98bc" providerId="ADAL" clId="{3354FD60-1CDF-477F-A3E7-7DDB38CA4C74}" dt="2026-10-09T14:56:19.594" v="3" actId="1076"/>
          <ac:spMkLst>
            <pc:docMk/>
            <pc:sldMk cId="2236149848" sldId="256"/>
            <ac:spMk id="58" creationId="{E52291FE-67CB-49F0-597C-9F48EC893D25}"/>
          </ac:spMkLst>
        </pc:spChg>
        <pc:spChg chg="mod">
          <ac:chgData name="Masoud Hasany" userId="6cc17645-04cb-4c82-981d-5cca772a98bc" providerId="ADAL" clId="{3354FD60-1CDF-477F-A3E7-7DDB38CA4C74}" dt="2026-10-09T14:56:19.594" v="3" actId="1076"/>
          <ac:spMkLst>
            <pc:docMk/>
            <pc:sldMk cId="2236149848" sldId="256"/>
            <ac:spMk id="60" creationId="{21731E05-B059-A90E-C87B-2E6FFD0794F0}"/>
          </ac:spMkLst>
        </pc:spChg>
        <pc:spChg chg="mod">
          <ac:chgData name="Masoud Hasany" userId="6cc17645-04cb-4c82-981d-5cca772a98bc" providerId="ADAL" clId="{3354FD60-1CDF-477F-A3E7-7DDB38CA4C74}" dt="2026-10-09T14:56:19.594" v="3" actId="1076"/>
          <ac:spMkLst>
            <pc:docMk/>
            <pc:sldMk cId="2236149848" sldId="256"/>
            <ac:spMk id="62" creationId="{11812E9B-5850-E1D8-90D9-FAD3FEC017D7}"/>
          </ac:spMkLst>
        </pc:spChg>
        <pc:spChg chg="mod">
          <ac:chgData name="Masoud Hasany" userId="6cc17645-04cb-4c82-981d-5cca772a98bc" providerId="ADAL" clId="{3354FD60-1CDF-477F-A3E7-7DDB38CA4C74}" dt="2026-10-09T14:56:41.313" v="17" actId="1035"/>
          <ac:spMkLst>
            <pc:docMk/>
            <pc:sldMk cId="2236149848" sldId="256"/>
            <ac:spMk id="70" creationId="{A368D0A1-E117-25EE-605D-20388D61C90D}"/>
          </ac:spMkLst>
        </pc:spChg>
      </pc:sldChg>
      <pc:sldChg chg="add del">
        <pc:chgData name="Masoud Hasany" userId="6cc17645-04cb-4c82-981d-5cca772a98bc" providerId="ADAL" clId="{3354FD60-1CDF-477F-A3E7-7DDB38CA4C74}" dt="2026-10-09T11:20:35.852" v="1" actId="47"/>
        <pc:sldMkLst>
          <pc:docMk/>
          <pc:sldMk cId="4271125815" sldId="2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CC5A8F6C-B07C-452E-B339-02239878CD78}" type="datetimeFigureOut">
              <a:rPr lang="en-US" smtClean="0"/>
              <a:t>10/26/2026</a:t>
            </a:fld>
            <a:endParaRPr lang="en-US"/>
          </a:p>
        </p:txBody>
      </p:sp>
      <p:sp>
        <p:nvSpPr>
          <p:cNvPr id="4" name="Slide Image Placeholder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4A641D6A-0069-447C-9CC0-570BB150D784}" type="slidenum">
              <a:rPr lang="en-US" smtClean="0"/>
              <a:t>‹nr.›</a:t>
            </a:fld>
            <a:endParaRPr lang="en-US"/>
          </a:p>
        </p:txBody>
      </p:sp>
    </p:spTree>
    <p:extLst>
      <p:ext uri="{BB962C8B-B14F-4D97-AF65-F5344CB8AC3E}">
        <p14:creationId xmlns:p14="http://schemas.microsoft.com/office/powerpoint/2010/main" val="2186060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7949EE-9881-4002-A5D2-5C603941A9EE}" type="datetime1">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‹nr.›</a:t>
            </a:fld>
            <a:endParaRPr lang="en-US"/>
          </a:p>
        </p:txBody>
      </p:sp>
    </p:spTree>
    <p:extLst>
      <p:ext uri="{BB962C8B-B14F-4D97-AF65-F5344CB8AC3E}">
        <p14:creationId xmlns:p14="http://schemas.microsoft.com/office/powerpoint/2010/main" val="3628540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AD393A-51C8-4873-AB5B-33A9CA72457B}" type="datetime1">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‹nr.›</a:t>
            </a:fld>
            <a:endParaRPr lang="en-US"/>
          </a:p>
        </p:txBody>
      </p:sp>
    </p:spTree>
    <p:extLst>
      <p:ext uri="{BB962C8B-B14F-4D97-AF65-F5344CB8AC3E}">
        <p14:creationId xmlns:p14="http://schemas.microsoft.com/office/powerpoint/2010/main" val="1007937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ED32DC-3138-49D5-A762-35EF2E7B5708}" type="datetime1">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‹nr.›</a:t>
            </a:fld>
            <a:endParaRPr lang="en-US"/>
          </a:p>
        </p:txBody>
      </p:sp>
    </p:spTree>
    <p:extLst>
      <p:ext uri="{BB962C8B-B14F-4D97-AF65-F5344CB8AC3E}">
        <p14:creationId xmlns:p14="http://schemas.microsoft.com/office/powerpoint/2010/main" val="2031474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34DCFC-A56F-426C-B9EF-CD0CDC7D69F1}" type="datetime1">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4066D-384D-4BE1-BDC2-82BCC33558DD}" type="slidenum">
              <a:rPr lang="en-US" smtClean="0"/>
              <a:t>‹nr.›</a:t>
            </a:fld>
            <a:endParaRPr lang="en-US"/>
          </a:p>
        </p:txBody>
      </p:sp>
    </p:spTree>
    <p:extLst>
      <p:ext uri="{BB962C8B-B14F-4D97-AF65-F5344CB8AC3E}">
        <p14:creationId xmlns:p14="http://schemas.microsoft.com/office/powerpoint/2010/main" val="2485527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4E70D6-12C6-4DE5-9A5D-29B6EE417C39}" type="datetime1">
              <a:rPr lang="en-US"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34066D-384D-4BE1-BDC2-82BCC33558DD}" type="slidenum">
              <a:rPr lang="en-US" smtClean="0"/>
              <a:t>‹nr.›</a:t>
            </a:fld>
            <a:endParaRPr lang="en-US"/>
          </a:p>
        </p:txBody>
      </p:sp>
    </p:spTree>
    <p:extLst>
      <p:ext uri="{BB962C8B-B14F-4D97-AF65-F5344CB8AC3E}">
        <p14:creationId xmlns:p14="http://schemas.microsoft.com/office/powerpoint/2010/main" val="3360494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0E3A64-FA3B-4E33-B42D-2315F535535C}" type="datetime1">
              <a:rPr lang="en-US"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934066D-384D-4BE1-BDC2-82BCC33558DD}" type="slidenum">
              <a:rPr lang="en-US" smtClean="0"/>
              <a:t>‹nr.›</a:t>
            </a:fld>
            <a:endParaRPr lang="en-US"/>
          </a:p>
        </p:txBody>
      </p:sp>
    </p:spTree>
    <p:extLst>
      <p:ext uri="{BB962C8B-B14F-4D97-AF65-F5344CB8AC3E}">
        <p14:creationId xmlns:p14="http://schemas.microsoft.com/office/powerpoint/2010/main" val="2551148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8DA539-685E-4880-A468-8EF8C4AD42F8}" type="datetime1">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934066D-384D-4BE1-BDC2-82BCC33558DD}" type="slidenum">
              <a:rPr lang="en-US" smtClean="0"/>
              <a:t>‹nr.›</a:t>
            </a:fld>
            <a:endParaRPr lang="en-US"/>
          </a:p>
        </p:txBody>
      </p:sp>
    </p:spTree>
    <p:extLst>
      <p:ext uri="{BB962C8B-B14F-4D97-AF65-F5344CB8AC3E}">
        <p14:creationId xmlns:p14="http://schemas.microsoft.com/office/powerpoint/2010/main" val="1488637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88FD366-2480-4FDC-A6F7-D357B93DAA4F}" type="datetime1">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4066D-384D-4BE1-BDC2-82BCC33558DD}" type="slidenum">
              <a:rPr lang="en-US" smtClean="0"/>
              <a:t>‹nr.›</a:t>
            </a:fld>
            <a:endParaRPr lang="en-US"/>
          </a:p>
        </p:txBody>
      </p:sp>
    </p:spTree>
    <p:extLst>
      <p:ext uri="{BB962C8B-B14F-4D97-AF65-F5344CB8AC3E}">
        <p14:creationId xmlns:p14="http://schemas.microsoft.com/office/powerpoint/2010/main" val="1395363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C470449-18DB-4FF7-8D7E-CF4A040C7D57}" type="datetime1">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4066D-384D-4BE1-BDC2-82BCC33558DD}" type="slidenum">
              <a:rPr lang="en-US" smtClean="0"/>
              <a:t>‹nr.›</a:t>
            </a:fld>
            <a:endParaRPr lang="en-US"/>
          </a:p>
        </p:txBody>
      </p:sp>
    </p:spTree>
    <p:extLst>
      <p:ext uri="{BB962C8B-B14F-4D97-AF65-F5344CB8AC3E}">
        <p14:creationId xmlns:p14="http://schemas.microsoft.com/office/powerpoint/2010/main" val="1535732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6D735C-9495-42D3-9A57-B69F6B441082}" type="datetime1">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‹nr.›</a:t>
            </a:fld>
            <a:endParaRPr lang="en-US"/>
          </a:p>
        </p:txBody>
      </p:sp>
    </p:spTree>
    <p:extLst>
      <p:ext uri="{BB962C8B-B14F-4D97-AF65-F5344CB8AC3E}">
        <p14:creationId xmlns:p14="http://schemas.microsoft.com/office/powerpoint/2010/main" val="2039328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9F4679-FE80-435C-9BF4-7126CA01D8FE}" type="datetime1">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‹nr.›</a:t>
            </a:fld>
            <a:endParaRPr lang="en-US"/>
          </a:p>
        </p:txBody>
      </p:sp>
    </p:spTree>
    <p:extLst>
      <p:ext uri="{BB962C8B-B14F-4D97-AF65-F5344CB8AC3E}">
        <p14:creationId xmlns:p14="http://schemas.microsoft.com/office/powerpoint/2010/main" val="3994105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43F121EA-D16B-4B7B-A7AE-6CA1296CE191}" type="datetime1">
              <a:rPr lang="en-US" smtClean="0"/>
              <a:t>10/26/2026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F934066D-384D-4BE1-BDC2-82BCC33558DD}" type="slidenum">
              <a:rPr lang="en-US" smtClean="0"/>
              <a:t>‹nr.›</a:t>
            </a:fld>
            <a:endParaRPr lang="en-US"/>
          </a:p>
        </p:txBody>
      </p:sp>
    </p:spTree>
    <p:extLst>
      <p:ext uri="{BB962C8B-B14F-4D97-AF65-F5344CB8AC3E}">
        <p14:creationId xmlns:p14="http://schemas.microsoft.com/office/powerpoint/2010/main" val="35951072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74992-7AA2-B851-DE9D-5CCAF5922BC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6FCA243-5378-32CE-6B93-80EFBAFEABCE}"/>
              </a:ext>
            </a:extLst>
          </p:cNvPr>
          <p:cNvSpPr>
            <a:spLocks noGrp="1"/>
          </p:cNvSpPr>
          <p:nvPr>
            <p:ph type="sldNum" sz="quarter" idx="12"/>
          </p:nvPr>
        </p:nvSpPr>
        <p:spPr>
          <a:xfrm>
            <a:off x="4989080" y="9329519"/>
            <a:ext cx="1543050" cy="527403"/>
          </a:xfrm>
        </p:spPr>
        <p:txBody>
          <a:bodyPr/>
          <a:lstStyle/>
          <a:p>
            <a:fld id="{F934066D-384D-4BE1-BDC2-82BCC33558DD}" type="slidenum">
              <a:rPr lang="en-US" sz="800" b="1" smtClean="0">
                <a:solidFill>
                  <a:srgbClr val="C00000"/>
                </a:solidFill>
                <a:latin typeface="+mj-lt"/>
              </a:rPr>
              <a:t>1</a:t>
            </a:fld>
            <a:endParaRPr lang="en-US" sz="800" b="1" dirty="0">
              <a:solidFill>
                <a:srgbClr val="C00000"/>
              </a:solidFill>
              <a:latin typeface="+mj-lt"/>
            </a:endParaRPr>
          </a:p>
        </p:txBody>
      </p:sp>
      <p:sp>
        <p:nvSpPr>
          <p:cNvPr id="6" name="Shape 1">
            <a:extLst>
              <a:ext uri="{FF2B5EF4-FFF2-40B4-BE49-F238E27FC236}">
                <a16:creationId xmlns:a16="http://schemas.microsoft.com/office/drawing/2014/main" id="{F8938396-AB92-7136-30AC-94A8184378BA}"/>
              </a:ext>
            </a:extLst>
          </p:cNvPr>
          <p:cNvSpPr/>
          <p:nvPr/>
        </p:nvSpPr>
        <p:spPr>
          <a:xfrm>
            <a:off x="288607" y="292298"/>
            <a:ext cx="32004" cy="393192"/>
          </a:xfrm>
          <a:prstGeom prst="rect">
            <a:avLst/>
          </a:prstGeom>
          <a:solidFill>
            <a:srgbClr val="A30018"/>
          </a:solidFill>
          <a:ln w="12700">
            <a:solidFill>
              <a:srgbClr val="A30018">
                <a:alpha val="0"/>
              </a:srgbClr>
            </a:solidFill>
            <a:prstDash val="solid"/>
          </a:ln>
        </p:spPr>
        <p:txBody>
          <a:bodyPr/>
          <a:lstStyle/>
          <a:p>
            <a:endParaRPr lang="LID4096"/>
          </a:p>
        </p:txBody>
      </p:sp>
      <p:sp>
        <p:nvSpPr>
          <p:cNvPr id="8" name="Text 2">
            <a:extLst>
              <a:ext uri="{FF2B5EF4-FFF2-40B4-BE49-F238E27FC236}">
                <a16:creationId xmlns:a16="http://schemas.microsoft.com/office/drawing/2014/main" id="{16FE0A97-9390-EF77-8641-64EB57AE0D79}"/>
              </a:ext>
            </a:extLst>
          </p:cNvPr>
          <p:cNvSpPr/>
          <p:nvPr/>
        </p:nvSpPr>
        <p:spPr>
          <a:xfrm>
            <a:off x="444055" y="278582"/>
            <a:ext cx="5166360" cy="210312"/>
          </a:xfrm>
          <a:prstGeom prst="rect">
            <a:avLst/>
          </a:prstGeom>
          <a:noFill/>
          <a:ln/>
        </p:spPr>
        <p:txBody>
          <a:bodyPr wrap="square" lIns="0" tIns="0" rIns="0" bIns="0" rtlCol="0" anchor="t"/>
          <a:lstStyle/>
          <a:p>
            <a:pPr marL="0" indent="0">
              <a:lnSpc>
                <a:spcPct val="100000"/>
              </a:lnSpc>
              <a:buNone/>
            </a:pPr>
            <a:r>
              <a:rPr lang="en-US" sz="1100" b="1" kern="0" spc="20" dirty="0">
                <a:solidFill>
                  <a:srgbClr val="22282D"/>
                </a:solidFill>
                <a:latin typeface="Aptos Display" pitchFamily="34" charset="0"/>
                <a:ea typeface="Aptos Display" pitchFamily="34" charset="-122"/>
                <a:cs typeface="Aptos Display" pitchFamily="34" charset="-120"/>
              </a:rPr>
              <a:t>MATERIALS AND SURFACE ENGINEERING</a:t>
            </a:r>
            <a:endParaRPr lang="en-US" sz="1100" dirty="0"/>
          </a:p>
        </p:txBody>
      </p:sp>
      <p:sp>
        <p:nvSpPr>
          <p:cNvPr id="10" name="Text 3">
            <a:extLst>
              <a:ext uri="{FF2B5EF4-FFF2-40B4-BE49-F238E27FC236}">
                <a16:creationId xmlns:a16="http://schemas.microsoft.com/office/drawing/2014/main" id="{9BC067BB-E827-4F1F-31E5-6E5CFDC0E431}"/>
              </a:ext>
            </a:extLst>
          </p:cNvPr>
          <p:cNvSpPr/>
          <p:nvPr/>
        </p:nvSpPr>
        <p:spPr>
          <a:xfrm>
            <a:off x="444055" y="516326"/>
            <a:ext cx="5212080" cy="173736"/>
          </a:xfrm>
          <a:prstGeom prst="rect">
            <a:avLst/>
          </a:prstGeom>
          <a:noFill/>
          <a:ln/>
        </p:spPr>
        <p:txBody>
          <a:bodyPr wrap="square" lIns="0" tIns="0" rIns="0" bIns="0" rtlCol="0" anchor="t"/>
          <a:lstStyle/>
          <a:p>
            <a:pPr marL="0" indent="0">
              <a:lnSpc>
                <a:spcPct val="100000"/>
              </a:lnSpc>
              <a:buNone/>
            </a:pPr>
            <a:r>
              <a:rPr lang="en-US" sz="1400" kern="0" spc="55" dirty="0">
                <a:solidFill>
                  <a:srgbClr val="5D666B"/>
                </a:solidFill>
                <a:latin typeface="Aptos" pitchFamily="34" charset="0"/>
                <a:ea typeface="Aptos" pitchFamily="34" charset="-122"/>
                <a:cs typeface="Aptos" pitchFamily="34" charset="-120"/>
              </a:rPr>
              <a:t>DEPARTMENT OF CIVIL AND MECHANICAL ENGINEERING</a:t>
            </a:r>
            <a:endParaRPr lang="en-US" sz="1400" dirty="0"/>
          </a:p>
        </p:txBody>
      </p:sp>
      <p:pic>
        <p:nvPicPr>
          <p:cNvPr id="12" name="Image 0" descr="/mnt/data/dtu_logo.png">
            <a:extLst>
              <a:ext uri="{FF2B5EF4-FFF2-40B4-BE49-F238E27FC236}">
                <a16:creationId xmlns:a16="http://schemas.microsoft.com/office/drawing/2014/main" id="{4726BAB4-46DC-D420-7E0B-71806CDA0BF0}"/>
              </a:ext>
            </a:extLst>
          </p:cNvPr>
          <p:cNvPicPr>
            <a:picLocks noChangeAspect="1"/>
          </p:cNvPicPr>
          <p:nvPr/>
        </p:nvPicPr>
        <p:blipFill>
          <a:blip r:embed="rId2"/>
          <a:stretch>
            <a:fillRect/>
          </a:stretch>
        </p:blipFill>
        <p:spPr>
          <a:xfrm>
            <a:off x="6223063" y="197200"/>
            <a:ext cx="429768" cy="601675"/>
          </a:xfrm>
          <a:prstGeom prst="rect">
            <a:avLst/>
          </a:prstGeom>
        </p:spPr>
      </p:pic>
      <p:sp>
        <p:nvSpPr>
          <p:cNvPr id="14" name="Shape 4">
            <a:extLst>
              <a:ext uri="{FF2B5EF4-FFF2-40B4-BE49-F238E27FC236}">
                <a16:creationId xmlns:a16="http://schemas.microsoft.com/office/drawing/2014/main" id="{3BF8F735-971B-D52E-3E73-E3013E1CADE3}"/>
              </a:ext>
            </a:extLst>
          </p:cNvPr>
          <p:cNvSpPr/>
          <p:nvPr/>
        </p:nvSpPr>
        <p:spPr>
          <a:xfrm>
            <a:off x="288607" y="936950"/>
            <a:ext cx="6426403" cy="0"/>
          </a:xfrm>
          <a:prstGeom prst="line">
            <a:avLst/>
          </a:prstGeom>
          <a:noFill/>
          <a:ln w="19050">
            <a:solidFill>
              <a:srgbClr val="A30018"/>
            </a:solidFill>
            <a:prstDash val="solid"/>
          </a:ln>
        </p:spPr>
        <p:txBody>
          <a:bodyPr/>
          <a:lstStyle/>
          <a:p>
            <a:endParaRPr lang="LID4096"/>
          </a:p>
        </p:txBody>
      </p:sp>
      <p:sp>
        <p:nvSpPr>
          <p:cNvPr id="16" name="Text 5">
            <a:extLst>
              <a:ext uri="{FF2B5EF4-FFF2-40B4-BE49-F238E27FC236}">
                <a16:creationId xmlns:a16="http://schemas.microsoft.com/office/drawing/2014/main" id="{CDC3686F-4637-9691-BD83-E93A261FA7DE}"/>
              </a:ext>
            </a:extLst>
          </p:cNvPr>
          <p:cNvSpPr/>
          <p:nvPr/>
        </p:nvSpPr>
        <p:spPr>
          <a:xfrm>
            <a:off x="288607" y="1224986"/>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LEVEL: Master</a:t>
            </a:r>
            <a:endParaRPr lang="en-US" sz="860" dirty="0"/>
          </a:p>
        </p:txBody>
      </p:sp>
      <p:sp>
        <p:nvSpPr>
          <p:cNvPr id="18" name="Text 6">
            <a:extLst>
              <a:ext uri="{FF2B5EF4-FFF2-40B4-BE49-F238E27FC236}">
                <a16:creationId xmlns:a16="http://schemas.microsoft.com/office/drawing/2014/main" id="{9998D64B-7028-C724-F2A0-0AAD09DE85D6}"/>
              </a:ext>
            </a:extLst>
          </p:cNvPr>
          <p:cNvSpPr/>
          <p:nvPr/>
        </p:nvSpPr>
        <p:spPr>
          <a:xfrm>
            <a:off x="288607" y="1526738"/>
            <a:ext cx="6426403" cy="905256"/>
          </a:xfrm>
          <a:prstGeom prst="rect">
            <a:avLst/>
          </a:prstGeom>
          <a:noFill/>
          <a:ln/>
        </p:spPr>
        <p:txBody>
          <a:bodyPr wrap="square" lIns="0" tIns="0" rIns="0" bIns="0" rtlCol="0" anchor="t"/>
          <a:lstStyle/>
          <a:p>
            <a:pPr marL="0" indent="0">
              <a:lnSpc>
                <a:spcPct val="95000"/>
              </a:lnSpc>
              <a:buNone/>
            </a:pPr>
            <a:r>
              <a:rPr lang="en-US" sz="2000" b="1" dirty="0">
                <a:solidFill>
                  <a:srgbClr val="22282D"/>
                </a:solidFill>
                <a:latin typeface="Aptos Display" pitchFamily="34" charset="0"/>
              </a:rPr>
              <a:t>X-Ray Tomography study on Void Growth in Ductile Failure</a:t>
            </a:r>
            <a:endParaRPr lang="en-US" sz="2000" dirty="0"/>
          </a:p>
        </p:txBody>
      </p:sp>
      <p:sp>
        <p:nvSpPr>
          <p:cNvPr id="20" name="Shape 7">
            <a:extLst>
              <a:ext uri="{FF2B5EF4-FFF2-40B4-BE49-F238E27FC236}">
                <a16:creationId xmlns:a16="http://schemas.microsoft.com/office/drawing/2014/main" id="{E5984D1F-EB47-1C38-1BDD-7B6BEEE0DD2C}"/>
              </a:ext>
            </a:extLst>
          </p:cNvPr>
          <p:cNvSpPr/>
          <p:nvPr/>
        </p:nvSpPr>
        <p:spPr>
          <a:xfrm>
            <a:off x="288607" y="2504384"/>
            <a:ext cx="4306824" cy="2107692"/>
          </a:xfrm>
          <a:prstGeom prst="rect">
            <a:avLst/>
          </a:prstGeom>
          <a:solidFill>
            <a:schemeClr val="bg1"/>
          </a:solidFill>
          <a:ln w="7620">
            <a:solidFill>
              <a:srgbClr val="DFE2E3"/>
            </a:solidFill>
            <a:prstDash val="solid"/>
          </a:ln>
        </p:spPr>
        <p:txBody>
          <a:bodyPr/>
          <a:lstStyle/>
          <a:p>
            <a:endParaRPr lang="LID4096" dirty="0"/>
          </a:p>
        </p:txBody>
      </p:sp>
      <p:sp>
        <p:nvSpPr>
          <p:cNvPr id="22" name="Text 11">
            <a:extLst>
              <a:ext uri="{FF2B5EF4-FFF2-40B4-BE49-F238E27FC236}">
                <a16:creationId xmlns:a16="http://schemas.microsoft.com/office/drawing/2014/main" id="{F19F3080-8B92-D6D9-5A6D-F631220B6BE4}"/>
              </a:ext>
            </a:extLst>
          </p:cNvPr>
          <p:cNvSpPr/>
          <p:nvPr/>
        </p:nvSpPr>
        <p:spPr>
          <a:xfrm>
            <a:off x="471487" y="3505652"/>
            <a:ext cx="3941064" cy="256032"/>
          </a:xfrm>
          <a:prstGeom prst="rect">
            <a:avLst/>
          </a:prstGeom>
          <a:noFill/>
          <a:ln/>
        </p:spPr>
        <p:txBody>
          <a:bodyPr wrap="square" lIns="0" tIns="0" rIns="0" bIns="0" rtlCol="0" anchor="t"/>
          <a:lstStyle/>
          <a:p>
            <a:pPr marL="0" indent="0" algn="ctr">
              <a:lnSpc>
                <a:spcPct val="100000"/>
              </a:lnSpc>
              <a:buNone/>
            </a:pPr>
            <a:r>
              <a:rPr lang="en-US" sz="1040" b="1" kern="0" spc="60" dirty="0">
                <a:solidFill>
                  <a:srgbClr val="5D666B"/>
                </a:solidFill>
                <a:latin typeface="Aptos Display" pitchFamily="34" charset="0"/>
                <a:ea typeface="Aptos Display" pitchFamily="34" charset="-122"/>
                <a:cs typeface="Aptos Display" pitchFamily="34" charset="-120"/>
              </a:rPr>
              <a:t>[INSERT PROJECT IMAGE]</a:t>
            </a:r>
            <a:endParaRPr lang="en-US" sz="1040" dirty="0"/>
          </a:p>
        </p:txBody>
      </p:sp>
      <p:sp>
        <p:nvSpPr>
          <p:cNvPr id="24" name="Text 13">
            <a:extLst>
              <a:ext uri="{FF2B5EF4-FFF2-40B4-BE49-F238E27FC236}">
                <a16:creationId xmlns:a16="http://schemas.microsoft.com/office/drawing/2014/main" id="{8815E0D3-18D2-2B90-90BD-CE2520D92890}"/>
              </a:ext>
            </a:extLst>
          </p:cNvPr>
          <p:cNvSpPr/>
          <p:nvPr/>
        </p:nvSpPr>
        <p:spPr>
          <a:xfrm>
            <a:off x="288607" y="4644080"/>
            <a:ext cx="4297680" cy="128016"/>
          </a:xfrm>
          <a:prstGeom prst="rect">
            <a:avLst/>
          </a:prstGeom>
          <a:noFill/>
          <a:ln/>
        </p:spPr>
        <p:txBody>
          <a:bodyPr wrap="square" lIns="0" tIns="0" rIns="0" bIns="0" rtlCol="0" anchor="t"/>
          <a:lstStyle/>
          <a:p>
            <a:pPr marL="0" indent="0">
              <a:lnSpc>
                <a:spcPct val="100000"/>
              </a:lnSpc>
              <a:buNone/>
            </a:pPr>
            <a:r>
              <a:rPr lang="en-US" sz="685" kern="0" spc="45" dirty="0">
                <a:solidFill>
                  <a:srgbClr val="5D666B"/>
                </a:solidFill>
                <a:latin typeface="Aptos" pitchFamily="34" charset="0"/>
                <a:ea typeface="Aptos" pitchFamily="34" charset="-122"/>
                <a:cs typeface="Aptos" pitchFamily="34" charset="-120"/>
              </a:rPr>
              <a:t>Workflow of the Project</a:t>
            </a:r>
            <a:endParaRPr lang="en-US" sz="685" dirty="0"/>
          </a:p>
        </p:txBody>
      </p:sp>
      <p:sp>
        <p:nvSpPr>
          <p:cNvPr id="26" name="Shape 14">
            <a:extLst>
              <a:ext uri="{FF2B5EF4-FFF2-40B4-BE49-F238E27FC236}">
                <a16:creationId xmlns:a16="http://schemas.microsoft.com/office/drawing/2014/main" id="{52AE1C18-8402-F825-5156-B8CB2D3D2B9A}"/>
              </a:ext>
            </a:extLst>
          </p:cNvPr>
          <p:cNvSpPr/>
          <p:nvPr/>
        </p:nvSpPr>
        <p:spPr>
          <a:xfrm>
            <a:off x="4686871" y="2499812"/>
            <a:ext cx="0" cy="2112264"/>
          </a:xfrm>
          <a:prstGeom prst="line">
            <a:avLst/>
          </a:prstGeom>
          <a:noFill/>
          <a:ln w="12700">
            <a:solidFill>
              <a:srgbClr val="DFE2E3"/>
            </a:solidFill>
            <a:prstDash val="solid"/>
          </a:ln>
        </p:spPr>
        <p:txBody>
          <a:bodyPr/>
          <a:lstStyle/>
          <a:p>
            <a:endParaRPr lang="LID4096"/>
          </a:p>
        </p:txBody>
      </p:sp>
      <p:sp>
        <p:nvSpPr>
          <p:cNvPr id="28" name="Text 15">
            <a:extLst>
              <a:ext uri="{FF2B5EF4-FFF2-40B4-BE49-F238E27FC236}">
                <a16:creationId xmlns:a16="http://schemas.microsoft.com/office/drawing/2014/main" id="{8138C543-0FF7-C61C-B4B6-C216CFF4E774}"/>
              </a:ext>
            </a:extLst>
          </p:cNvPr>
          <p:cNvSpPr/>
          <p:nvPr/>
        </p:nvSpPr>
        <p:spPr>
          <a:xfrm>
            <a:off x="4805743" y="2536388"/>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SUPERVISORS</a:t>
            </a:r>
            <a:endParaRPr lang="en-US" sz="860" dirty="0"/>
          </a:p>
        </p:txBody>
      </p:sp>
      <p:sp>
        <p:nvSpPr>
          <p:cNvPr id="30" name="Text 16">
            <a:extLst>
              <a:ext uri="{FF2B5EF4-FFF2-40B4-BE49-F238E27FC236}">
                <a16:creationId xmlns:a16="http://schemas.microsoft.com/office/drawing/2014/main" id="{5D053D21-A49E-952C-5AFB-CFC6C85F062D}"/>
              </a:ext>
            </a:extLst>
          </p:cNvPr>
          <p:cNvSpPr/>
          <p:nvPr/>
        </p:nvSpPr>
        <p:spPr>
          <a:xfrm>
            <a:off x="4805743" y="2810708"/>
            <a:ext cx="1901952" cy="201168"/>
          </a:xfrm>
          <a:prstGeom prst="rect">
            <a:avLst/>
          </a:prstGeom>
          <a:noFill/>
          <a:ln/>
        </p:spPr>
        <p:txBody>
          <a:bodyPr wrap="square" lIns="0" tIns="0" rIns="0" bIns="0" rtlCol="0" anchor="t"/>
          <a:lstStyle/>
          <a:p>
            <a:pPr marL="0" indent="0">
              <a:lnSpc>
                <a:spcPct val="100000"/>
              </a:lnSpc>
              <a:buNone/>
            </a:pPr>
            <a:r>
              <a:rPr lang="en-US" sz="950" b="1" dirty="0">
                <a:solidFill>
                  <a:srgbClr val="5D666B"/>
                </a:solidFill>
                <a:latin typeface="Aptos Display" pitchFamily="34" charset="0"/>
              </a:rPr>
              <a:t>Felix Frankus</a:t>
            </a:r>
            <a:endParaRPr lang="en-US" sz="950" dirty="0"/>
          </a:p>
        </p:txBody>
      </p:sp>
      <p:sp>
        <p:nvSpPr>
          <p:cNvPr id="32" name="Text 17">
            <a:extLst>
              <a:ext uri="{FF2B5EF4-FFF2-40B4-BE49-F238E27FC236}">
                <a16:creationId xmlns:a16="http://schemas.microsoft.com/office/drawing/2014/main" id="{29D299E1-2911-BA83-DF97-9AA5D117FCA0}"/>
              </a:ext>
            </a:extLst>
          </p:cNvPr>
          <p:cNvSpPr/>
          <p:nvPr/>
        </p:nvSpPr>
        <p:spPr>
          <a:xfrm>
            <a:off x="4805743" y="3021020"/>
            <a:ext cx="1901952" cy="164592"/>
          </a:xfrm>
          <a:prstGeom prst="rect">
            <a:avLst/>
          </a:prstGeom>
          <a:noFill/>
          <a:ln/>
        </p:spPr>
        <p:txBody>
          <a:bodyPr wrap="square" lIns="0" tIns="0" rIns="0" bIns="0" rtlCol="0" anchor="t"/>
          <a:lstStyle/>
          <a:p>
            <a:pPr marL="0" indent="0">
              <a:lnSpc>
                <a:spcPct val="100000"/>
              </a:lnSpc>
              <a:buNone/>
            </a:pPr>
            <a:r>
              <a:rPr lang="en-US" sz="830" dirty="0">
                <a:solidFill>
                  <a:srgbClr val="A30018"/>
                </a:solidFill>
                <a:latin typeface="Aptos" pitchFamily="34" charset="0"/>
                <a:ea typeface="Aptos" pitchFamily="34" charset="-122"/>
                <a:cs typeface="Aptos" pitchFamily="34" charset="-120"/>
              </a:rPr>
              <a:t>fefra@dtu.dk</a:t>
            </a:r>
            <a:endParaRPr lang="en-US" sz="830" dirty="0"/>
          </a:p>
        </p:txBody>
      </p:sp>
      <p:sp>
        <p:nvSpPr>
          <p:cNvPr id="34" name="Text 18">
            <a:extLst>
              <a:ext uri="{FF2B5EF4-FFF2-40B4-BE49-F238E27FC236}">
                <a16:creationId xmlns:a16="http://schemas.microsoft.com/office/drawing/2014/main" id="{97A35FAE-2F2A-A921-7ECF-83B11EC22F80}"/>
              </a:ext>
            </a:extLst>
          </p:cNvPr>
          <p:cNvSpPr/>
          <p:nvPr/>
        </p:nvSpPr>
        <p:spPr>
          <a:xfrm>
            <a:off x="4805743" y="3304484"/>
            <a:ext cx="1901952" cy="201168"/>
          </a:xfrm>
          <a:prstGeom prst="rect">
            <a:avLst/>
          </a:prstGeom>
          <a:noFill/>
          <a:ln/>
        </p:spPr>
        <p:txBody>
          <a:bodyPr wrap="square" lIns="0" tIns="0" rIns="0" bIns="0" rtlCol="0" anchor="t"/>
          <a:lstStyle/>
          <a:p>
            <a:pPr marL="0" indent="0">
              <a:lnSpc>
                <a:spcPct val="100000"/>
              </a:lnSpc>
              <a:buNone/>
            </a:pPr>
            <a:r>
              <a:rPr lang="en-US" sz="950" b="1" dirty="0">
                <a:solidFill>
                  <a:srgbClr val="5D666B"/>
                </a:solidFill>
                <a:latin typeface="Aptos Display" pitchFamily="34" charset="0"/>
                <a:ea typeface="Aptos Display" pitchFamily="34" charset="-122"/>
                <a:cs typeface="Aptos Display" pitchFamily="34" charset="-120"/>
              </a:rPr>
              <a:t>Michela La Bella</a:t>
            </a:r>
            <a:endParaRPr lang="en-US" sz="950" dirty="0"/>
          </a:p>
        </p:txBody>
      </p:sp>
      <p:sp>
        <p:nvSpPr>
          <p:cNvPr id="36" name="Text 19">
            <a:extLst>
              <a:ext uri="{FF2B5EF4-FFF2-40B4-BE49-F238E27FC236}">
                <a16:creationId xmlns:a16="http://schemas.microsoft.com/office/drawing/2014/main" id="{9C74917D-2983-1F95-1D28-F8148132DD54}"/>
              </a:ext>
            </a:extLst>
          </p:cNvPr>
          <p:cNvSpPr/>
          <p:nvPr/>
        </p:nvSpPr>
        <p:spPr>
          <a:xfrm>
            <a:off x="4805743" y="3514796"/>
            <a:ext cx="1901952" cy="164592"/>
          </a:xfrm>
          <a:prstGeom prst="rect">
            <a:avLst/>
          </a:prstGeom>
          <a:noFill/>
          <a:ln/>
        </p:spPr>
        <p:txBody>
          <a:bodyPr wrap="square" lIns="0" tIns="0" rIns="0" bIns="0" rtlCol="0" anchor="t"/>
          <a:lstStyle/>
          <a:p>
            <a:pPr marL="0" indent="0">
              <a:lnSpc>
                <a:spcPct val="100000"/>
              </a:lnSpc>
              <a:buNone/>
            </a:pPr>
            <a:r>
              <a:rPr lang="en-US" sz="830" dirty="0">
                <a:solidFill>
                  <a:srgbClr val="A30018"/>
                </a:solidFill>
                <a:latin typeface="Aptos" pitchFamily="34" charset="0"/>
                <a:ea typeface="Aptos" pitchFamily="34" charset="-122"/>
                <a:cs typeface="Aptos" pitchFamily="34" charset="-120"/>
              </a:rPr>
              <a:t>mlabe@dtu.dk</a:t>
            </a:r>
            <a:endParaRPr lang="en-US" sz="830" dirty="0"/>
          </a:p>
        </p:txBody>
      </p:sp>
      <p:sp>
        <p:nvSpPr>
          <p:cNvPr id="38" name="Text 20">
            <a:extLst>
              <a:ext uri="{FF2B5EF4-FFF2-40B4-BE49-F238E27FC236}">
                <a16:creationId xmlns:a16="http://schemas.microsoft.com/office/drawing/2014/main" id="{EC8B9E03-094A-77AF-59F4-9FCFA1A4A682}"/>
              </a:ext>
            </a:extLst>
          </p:cNvPr>
          <p:cNvSpPr/>
          <p:nvPr/>
        </p:nvSpPr>
        <p:spPr>
          <a:xfrm>
            <a:off x="4805743" y="3798260"/>
            <a:ext cx="1901952" cy="201168"/>
          </a:xfrm>
          <a:prstGeom prst="rect">
            <a:avLst/>
          </a:prstGeom>
          <a:noFill/>
          <a:ln/>
        </p:spPr>
        <p:txBody>
          <a:bodyPr wrap="square" lIns="0" tIns="0" rIns="0" bIns="0" rtlCol="0" anchor="t"/>
          <a:lstStyle/>
          <a:p>
            <a:r>
              <a:rPr lang="en-US" sz="950" b="1" dirty="0">
                <a:solidFill>
                  <a:srgbClr val="5D666B"/>
                </a:solidFill>
                <a:latin typeface="Aptos Display" pitchFamily="34" charset="0"/>
                <a:ea typeface="Aptos Display" pitchFamily="34" charset="-122"/>
                <a:cs typeface="Aptos Display" pitchFamily="34" charset="-120"/>
              </a:rPr>
              <a:t>Grethe Winther</a:t>
            </a:r>
            <a:endParaRPr lang="en-US" sz="950" dirty="0"/>
          </a:p>
        </p:txBody>
      </p:sp>
      <p:sp>
        <p:nvSpPr>
          <p:cNvPr id="40" name="Text 21">
            <a:extLst>
              <a:ext uri="{FF2B5EF4-FFF2-40B4-BE49-F238E27FC236}">
                <a16:creationId xmlns:a16="http://schemas.microsoft.com/office/drawing/2014/main" id="{02BD23F7-BB9F-0268-0572-02B76CEA886F}"/>
              </a:ext>
            </a:extLst>
          </p:cNvPr>
          <p:cNvSpPr/>
          <p:nvPr/>
        </p:nvSpPr>
        <p:spPr>
          <a:xfrm>
            <a:off x="4805743" y="4008572"/>
            <a:ext cx="1901952" cy="164592"/>
          </a:xfrm>
          <a:prstGeom prst="rect">
            <a:avLst/>
          </a:prstGeom>
          <a:noFill/>
          <a:ln/>
        </p:spPr>
        <p:txBody>
          <a:bodyPr wrap="square" lIns="0" tIns="0" rIns="0" bIns="0" rtlCol="0" anchor="t"/>
          <a:lstStyle/>
          <a:p>
            <a:r>
              <a:rPr lang="en-US" sz="830" dirty="0">
                <a:solidFill>
                  <a:srgbClr val="A30018"/>
                </a:solidFill>
                <a:latin typeface="Aptos" pitchFamily="34" charset="0"/>
                <a:ea typeface="Aptos" pitchFamily="34" charset="-122"/>
                <a:cs typeface="Aptos" pitchFamily="34" charset="-120"/>
              </a:rPr>
              <a:t>grwi@dtu.dk</a:t>
            </a:r>
            <a:endParaRPr lang="en-US" sz="830" dirty="0"/>
          </a:p>
        </p:txBody>
      </p:sp>
      <p:sp>
        <p:nvSpPr>
          <p:cNvPr id="42" name="Text 22">
            <a:extLst>
              <a:ext uri="{FF2B5EF4-FFF2-40B4-BE49-F238E27FC236}">
                <a16:creationId xmlns:a16="http://schemas.microsoft.com/office/drawing/2014/main" id="{16CC1565-818A-0DA1-8661-B7FD4FAA2E5C}"/>
              </a:ext>
            </a:extLst>
          </p:cNvPr>
          <p:cNvSpPr/>
          <p:nvPr/>
        </p:nvSpPr>
        <p:spPr>
          <a:xfrm>
            <a:off x="4805743" y="4328612"/>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COLLABORATION</a:t>
            </a:r>
            <a:endParaRPr lang="en-US" sz="860" dirty="0"/>
          </a:p>
        </p:txBody>
      </p:sp>
      <p:sp>
        <p:nvSpPr>
          <p:cNvPr id="44" name="Text 23">
            <a:extLst>
              <a:ext uri="{FF2B5EF4-FFF2-40B4-BE49-F238E27FC236}">
                <a16:creationId xmlns:a16="http://schemas.microsoft.com/office/drawing/2014/main" id="{D6C01B78-43A4-3A6C-F023-A9423B97214E}"/>
              </a:ext>
            </a:extLst>
          </p:cNvPr>
          <p:cNvSpPr/>
          <p:nvPr/>
        </p:nvSpPr>
        <p:spPr>
          <a:xfrm>
            <a:off x="4805743" y="4520636"/>
            <a:ext cx="1901952" cy="182880"/>
          </a:xfrm>
          <a:prstGeom prst="rect">
            <a:avLst/>
          </a:prstGeom>
          <a:noFill/>
          <a:ln/>
        </p:spPr>
        <p:txBody>
          <a:bodyPr wrap="square" lIns="0" tIns="0" rIns="0" bIns="0" rtlCol="0" anchor="t"/>
          <a:lstStyle/>
          <a:p>
            <a:pPr marL="0" indent="0">
              <a:lnSpc>
                <a:spcPct val="100000"/>
              </a:lnSpc>
              <a:buNone/>
            </a:pPr>
            <a:r>
              <a:rPr lang="en-US" sz="900" dirty="0">
                <a:solidFill>
                  <a:srgbClr val="5D666B"/>
                </a:solidFill>
                <a:latin typeface="Aptos Display" pitchFamily="34" charset="0"/>
                <a:ea typeface="Aptos Display" pitchFamily="34" charset="-122"/>
                <a:cs typeface="Aptos Display" pitchFamily="34" charset="-120"/>
              </a:rPr>
              <a:t>DTU 3D Imaging Centre</a:t>
            </a:r>
            <a:endParaRPr lang="en-US" sz="900" dirty="0"/>
          </a:p>
        </p:txBody>
      </p:sp>
      <p:sp>
        <p:nvSpPr>
          <p:cNvPr id="46" name="Shape 24">
            <a:extLst>
              <a:ext uri="{FF2B5EF4-FFF2-40B4-BE49-F238E27FC236}">
                <a16:creationId xmlns:a16="http://schemas.microsoft.com/office/drawing/2014/main" id="{F6F25331-FF8F-0454-50F3-7447BE21F1C5}"/>
              </a:ext>
            </a:extLst>
          </p:cNvPr>
          <p:cNvSpPr/>
          <p:nvPr/>
        </p:nvSpPr>
        <p:spPr>
          <a:xfrm>
            <a:off x="288607" y="4886396"/>
            <a:ext cx="6426403" cy="0"/>
          </a:xfrm>
          <a:prstGeom prst="line">
            <a:avLst/>
          </a:prstGeom>
          <a:noFill/>
          <a:ln w="10795">
            <a:solidFill>
              <a:srgbClr val="DFE2E3"/>
            </a:solidFill>
            <a:prstDash val="solid"/>
          </a:ln>
        </p:spPr>
        <p:txBody>
          <a:bodyPr/>
          <a:lstStyle/>
          <a:p>
            <a:endParaRPr lang="LID4096"/>
          </a:p>
        </p:txBody>
      </p:sp>
      <p:sp>
        <p:nvSpPr>
          <p:cNvPr id="48" name="Text 25">
            <a:extLst>
              <a:ext uri="{FF2B5EF4-FFF2-40B4-BE49-F238E27FC236}">
                <a16:creationId xmlns:a16="http://schemas.microsoft.com/office/drawing/2014/main" id="{82B31C49-3659-92BA-74DB-448DFBC30053}"/>
              </a:ext>
            </a:extLst>
          </p:cNvPr>
          <p:cNvSpPr/>
          <p:nvPr/>
        </p:nvSpPr>
        <p:spPr>
          <a:xfrm>
            <a:off x="288607" y="505556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01  /  PROJECT BACKGROUND</a:t>
            </a:r>
            <a:endParaRPr lang="en-US" sz="860" dirty="0"/>
          </a:p>
        </p:txBody>
      </p:sp>
      <p:sp>
        <p:nvSpPr>
          <p:cNvPr id="50" name="Text 26">
            <a:extLst>
              <a:ext uri="{FF2B5EF4-FFF2-40B4-BE49-F238E27FC236}">
                <a16:creationId xmlns:a16="http://schemas.microsoft.com/office/drawing/2014/main" id="{179D7439-4BBD-CC3E-6686-6AFEBEF7C03E}"/>
              </a:ext>
            </a:extLst>
          </p:cNvPr>
          <p:cNvSpPr/>
          <p:nvPr/>
        </p:nvSpPr>
        <p:spPr>
          <a:xfrm>
            <a:off x="288607" y="5288732"/>
            <a:ext cx="6426403" cy="795528"/>
          </a:xfrm>
          <a:prstGeom prst="rect">
            <a:avLst/>
          </a:prstGeom>
          <a:noFill/>
          <a:ln/>
        </p:spPr>
        <p:txBody>
          <a:bodyPr wrap="square" lIns="0" tIns="0" rIns="0" bIns="0" rtlCol="0" anchor="t"/>
          <a:lstStyle/>
          <a:p>
            <a:pPr marL="0" indent="0" algn="just">
              <a:lnSpc>
                <a:spcPct val="104000"/>
              </a:lnSpc>
              <a:buNone/>
            </a:pPr>
            <a:r>
              <a:rPr lang="en-US" sz="990" dirty="0">
                <a:solidFill>
                  <a:srgbClr val="5D666B"/>
                </a:solidFill>
                <a:latin typeface="Aptos" pitchFamily="34" charset="0"/>
              </a:rPr>
              <a:t>Ductile failure is often desired because the material undergoes severe plastic deformation before rupturing. It requires high ductility, allowing the material to deform plastically under load. Failure occurs as voids form within the grain structure, typically at inclusions, second-phase particles, or grain boundaries. These voids grow and coalesce, progressively reducing the load-bearing volume. X-ray tomography can track this void evolution in situ and in 3D.</a:t>
            </a:r>
            <a:endParaRPr lang="en-US" sz="990" dirty="0"/>
          </a:p>
        </p:txBody>
      </p:sp>
      <p:sp>
        <p:nvSpPr>
          <p:cNvPr id="52" name="Text 27">
            <a:extLst>
              <a:ext uri="{FF2B5EF4-FFF2-40B4-BE49-F238E27FC236}">
                <a16:creationId xmlns:a16="http://schemas.microsoft.com/office/drawing/2014/main" id="{8B4897DF-0C83-A924-8032-4108436101E5}"/>
              </a:ext>
            </a:extLst>
          </p:cNvPr>
          <p:cNvSpPr/>
          <p:nvPr/>
        </p:nvSpPr>
        <p:spPr>
          <a:xfrm>
            <a:off x="288607" y="6134552"/>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02  /  PROJECT AIM</a:t>
            </a:r>
            <a:endParaRPr lang="en-US" sz="860" dirty="0"/>
          </a:p>
        </p:txBody>
      </p:sp>
      <p:sp>
        <p:nvSpPr>
          <p:cNvPr id="54" name="Text 28">
            <a:extLst>
              <a:ext uri="{FF2B5EF4-FFF2-40B4-BE49-F238E27FC236}">
                <a16:creationId xmlns:a16="http://schemas.microsoft.com/office/drawing/2014/main" id="{DF5D1A9E-78F6-080C-059D-FF9B634EA629}"/>
              </a:ext>
            </a:extLst>
          </p:cNvPr>
          <p:cNvSpPr/>
          <p:nvPr/>
        </p:nvSpPr>
        <p:spPr>
          <a:xfrm>
            <a:off x="288607" y="6284000"/>
            <a:ext cx="6426403" cy="1100138"/>
          </a:xfrm>
          <a:prstGeom prst="rect">
            <a:avLst/>
          </a:prstGeom>
          <a:noFill/>
          <a:ln/>
        </p:spPr>
        <p:txBody>
          <a:bodyPr wrap="square" lIns="0" tIns="0" rIns="0" bIns="0" rtlCol="0" anchor="t"/>
          <a:lstStyle/>
          <a:p>
            <a:pPr algn="just">
              <a:lnSpc>
                <a:spcPct val="103000"/>
              </a:lnSpc>
            </a:pPr>
            <a:r>
              <a:rPr lang="en-US" sz="1000" dirty="0">
                <a:solidFill>
                  <a:srgbClr val="5D666B"/>
                </a:solidFill>
                <a:latin typeface="Aptos" pitchFamily="34" charset="0"/>
              </a:rPr>
              <a:t>This project aims to study the in-situ formation of voids in AA1050 and AA2219 aluminum alloys and in low-alloyed steels using X-ray computed tomography. You will conduct tensile tests in a miniature load frame inside the X-ray scanner to track void nucleation, growth, and coalescence until failure, quantifying void count, size, and location. Comparing the materials will reveal the role of second-phase particles in void formation. </a:t>
            </a:r>
          </a:p>
        </p:txBody>
      </p:sp>
      <p:sp>
        <p:nvSpPr>
          <p:cNvPr id="56" name="Text 29">
            <a:extLst>
              <a:ext uri="{FF2B5EF4-FFF2-40B4-BE49-F238E27FC236}">
                <a16:creationId xmlns:a16="http://schemas.microsoft.com/office/drawing/2014/main" id="{CC9EE107-B0DA-2676-2910-CD1153B61529}"/>
              </a:ext>
            </a:extLst>
          </p:cNvPr>
          <p:cNvSpPr/>
          <p:nvPr/>
        </p:nvSpPr>
        <p:spPr>
          <a:xfrm>
            <a:off x="288607" y="750901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03  /  PROJECT ACTIVITIES</a:t>
            </a:r>
            <a:endParaRPr lang="en-US" sz="860" dirty="0"/>
          </a:p>
        </p:txBody>
      </p:sp>
      <p:sp>
        <p:nvSpPr>
          <p:cNvPr id="58" name="Text 30">
            <a:extLst>
              <a:ext uri="{FF2B5EF4-FFF2-40B4-BE49-F238E27FC236}">
                <a16:creationId xmlns:a16="http://schemas.microsoft.com/office/drawing/2014/main" id="{5C6670F0-2B9C-C609-84E5-CB80A3A9C42A}"/>
              </a:ext>
            </a:extLst>
          </p:cNvPr>
          <p:cNvSpPr/>
          <p:nvPr/>
        </p:nvSpPr>
        <p:spPr>
          <a:xfrm>
            <a:off x="306895" y="7751326"/>
            <a:ext cx="6398971" cy="219456"/>
          </a:xfrm>
          <a:prstGeom prst="rect">
            <a:avLst/>
          </a:prstGeom>
          <a:noFill/>
          <a:ln/>
        </p:spPr>
        <p:txBody>
          <a:bodyPr wrap="square" lIns="0" tIns="0" rIns="0" bIns="0" rtlCol="0" anchor="t"/>
          <a:lstStyle/>
          <a:p>
            <a:pPr marL="139700" indent="-139700">
              <a:lnSpc>
                <a:spcPct val="106000"/>
              </a:lnSpc>
              <a:buSzPct val="100000"/>
              <a:buChar char="•"/>
            </a:pPr>
            <a:r>
              <a:rPr lang="en-US" sz="900" dirty="0">
                <a:solidFill>
                  <a:srgbClr val="5D666B"/>
                </a:solidFill>
                <a:latin typeface="Aptos" pitchFamily="34" charset="0"/>
              </a:rPr>
              <a:t>Acquisition of X-ray CT-scans in the 3D Imaging Centre</a:t>
            </a:r>
            <a:endParaRPr lang="en-US" sz="975" dirty="0"/>
          </a:p>
        </p:txBody>
      </p:sp>
      <p:sp>
        <p:nvSpPr>
          <p:cNvPr id="60" name="Text 31">
            <a:extLst>
              <a:ext uri="{FF2B5EF4-FFF2-40B4-BE49-F238E27FC236}">
                <a16:creationId xmlns:a16="http://schemas.microsoft.com/office/drawing/2014/main" id="{D7F0623D-1B3A-9DA7-C9F8-381FCFF6F4E6}"/>
              </a:ext>
            </a:extLst>
          </p:cNvPr>
          <p:cNvSpPr/>
          <p:nvPr/>
        </p:nvSpPr>
        <p:spPr>
          <a:xfrm>
            <a:off x="306895" y="7970782"/>
            <a:ext cx="6398971" cy="219456"/>
          </a:xfrm>
          <a:prstGeom prst="rect">
            <a:avLst/>
          </a:prstGeom>
          <a:noFill/>
          <a:ln/>
        </p:spPr>
        <p:txBody>
          <a:bodyPr wrap="square" lIns="0" tIns="0" rIns="0" bIns="0" rtlCol="0" anchor="t"/>
          <a:lstStyle/>
          <a:p>
            <a:pPr marL="139700" indent="-139700">
              <a:lnSpc>
                <a:spcPct val="106000"/>
              </a:lnSpc>
              <a:buSzPct val="100000"/>
              <a:buFontTx/>
              <a:buChar char="•"/>
            </a:pPr>
            <a:r>
              <a:rPr lang="en-US" sz="900" dirty="0">
                <a:solidFill>
                  <a:srgbClr val="5D666B"/>
                </a:solidFill>
                <a:latin typeface="Aptos" pitchFamily="34" charset="0"/>
              </a:rPr>
              <a:t>Tensile testing and evaluation of stress-strain curves</a:t>
            </a:r>
            <a:endParaRPr lang="en-US" sz="975" dirty="0"/>
          </a:p>
        </p:txBody>
      </p:sp>
      <p:sp>
        <p:nvSpPr>
          <p:cNvPr id="62" name="Text 32">
            <a:extLst>
              <a:ext uri="{FF2B5EF4-FFF2-40B4-BE49-F238E27FC236}">
                <a16:creationId xmlns:a16="http://schemas.microsoft.com/office/drawing/2014/main" id="{10B53019-2C52-02B9-9219-FC8E2E9D04BB}"/>
              </a:ext>
            </a:extLst>
          </p:cNvPr>
          <p:cNvSpPr/>
          <p:nvPr/>
        </p:nvSpPr>
        <p:spPr>
          <a:xfrm>
            <a:off x="306895" y="8190238"/>
            <a:ext cx="6398971" cy="219456"/>
          </a:xfrm>
          <a:prstGeom prst="rect">
            <a:avLst/>
          </a:prstGeom>
          <a:noFill/>
          <a:ln/>
        </p:spPr>
        <p:txBody>
          <a:bodyPr wrap="square" lIns="0" tIns="0" rIns="0" bIns="0" rtlCol="0" anchor="t"/>
          <a:lstStyle/>
          <a:p>
            <a:pPr marL="139700" indent="-139700">
              <a:lnSpc>
                <a:spcPct val="106000"/>
              </a:lnSpc>
              <a:buSzPct val="100000"/>
              <a:buFontTx/>
              <a:buChar char="•"/>
            </a:pPr>
            <a:r>
              <a:rPr lang="en-US" sz="900" dirty="0">
                <a:solidFill>
                  <a:srgbClr val="5D666B"/>
                </a:solidFill>
                <a:latin typeface="Aptos" pitchFamily="34" charset="0"/>
              </a:rPr>
              <a:t>Analysis of the CT-scans using particle tracking and segmentation algorithms.</a:t>
            </a:r>
            <a:endParaRPr lang="en-US" sz="975" dirty="0"/>
          </a:p>
        </p:txBody>
      </p:sp>
      <p:sp>
        <p:nvSpPr>
          <p:cNvPr id="68" name="Text 35">
            <a:extLst>
              <a:ext uri="{FF2B5EF4-FFF2-40B4-BE49-F238E27FC236}">
                <a16:creationId xmlns:a16="http://schemas.microsoft.com/office/drawing/2014/main" id="{587F1E77-7D6F-01FB-73C0-43C26567BA8B}"/>
              </a:ext>
            </a:extLst>
          </p:cNvPr>
          <p:cNvSpPr/>
          <p:nvPr/>
        </p:nvSpPr>
        <p:spPr>
          <a:xfrm>
            <a:off x="288607" y="858362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04  /  PRACTICAL NOTES</a:t>
            </a:r>
            <a:endParaRPr lang="en-US" sz="860" dirty="0"/>
          </a:p>
        </p:txBody>
      </p:sp>
      <p:sp>
        <p:nvSpPr>
          <p:cNvPr id="70" name="Text 36">
            <a:extLst>
              <a:ext uri="{FF2B5EF4-FFF2-40B4-BE49-F238E27FC236}">
                <a16:creationId xmlns:a16="http://schemas.microsoft.com/office/drawing/2014/main" id="{A4F56017-F2E1-0215-3A78-46534292E1B9}"/>
              </a:ext>
            </a:extLst>
          </p:cNvPr>
          <p:cNvSpPr/>
          <p:nvPr/>
        </p:nvSpPr>
        <p:spPr>
          <a:xfrm>
            <a:off x="288607" y="8825936"/>
            <a:ext cx="6426403" cy="438912"/>
          </a:xfrm>
          <a:prstGeom prst="rect">
            <a:avLst/>
          </a:prstGeom>
          <a:noFill/>
          <a:ln/>
        </p:spPr>
        <p:txBody>
          <a:bodyPr wrap="square" lIns="0" tIns="0" rIns="0" bIns="0" rtlCol="0" anchor="t"/>
          <a:lstStyle/>
          <a:p>
            <a:pPr marL="0" indent="0">
              <a:lnSpc>
                <a:spcPct val="102000"/>
              </a:lnSpc>
              <a:buNone/>
            </a:pPr>
            <a:r>
              <a:rPr lang="en-US" sz="975" dirty="0">
                <a:solidFill>
                  <a:srgbClr val="5D666B"/>
                </a:solidFill>
                <a:latin typeface="Aptos" pitchFamily="34" charset="0"/>
              </a:rPr>
              <a:t>As the project deals with 3D imaging data and segmentation algorithms to track voids and second-phase particles. It will be necessary to conduct the 3D imaging analysis with Python and standard imaging analysis Libraries such as </a:t>
            </a:r>
            <a:r>
              <a:rPr lang="en-US" sz="975" dirty="0" err="1">
                <a:solidFill>
                  <a:srgbClr val="5D666B"/>
                </a:solidFill>
                <a:latin typeface="Aptos" pitchFamily="34" charset="0"/>
              </a:rPr>
              <a:t>Scipy</a:t>
            </a:r>
            <a:r>
              <a:rPr lang="en-US" sz="975" dirty="0">
                <a:solidFill>
                  <a:srgbClr val="5D666B"/>
                </a:solidFill>
                <a:latin typeface="Aptos" pitchFamily="34" charset="0"/>
              </a:rPr>
              <a:t>.</a:t>
            </a:r>
            <a:endParaRPr lang="en-US" sz="975" dirty="0"/>
          </a:p>
        </p:txBody>
      </p:sp>
      <p:sp>
        <p:nvSpPr>
          <p:cNvPr id="72" name="Shape 38">
            <a:extLst>
              <a:ext uri="{FF2B5EF4-FFF2-40B4-BE49-F238E27FC236}">
                <a16:creationId xmlns:a16="http://schemas.microsoft.com/office/drawing/2014/main" id="{84209E59-4746-CF71-FE1C-97B2DD683FF2}"/>
              </a:ext>
            </a:extLst>
          </p:cNvPr>
          <p:cNvSpPr/>
          <p:nvPr/>
        </p:nvSpPr>
        <p:spPr>
          <a:xfrm>
            <a:off x="288607" y="9482018"/>
            <a:ext cx="6426403" cy="0"/>
          </a:xfrm>
          <a:prstGeom prst="line">
            <a:avLst/>
          </a:prstGeom>
          <a:noFill/>
          <a:ln w="10160">
            <a:solidFill>
              <a:srgbClr val="DFE2E3"/>
            </a:solidFill>
            <a:prstDash val="solid"/>
          </a:ln>
        </p:spPr>
        <p:txBody>
          <a:bodyPr/>
          <a:lstStyle/>
          <a:p>
            <a:endParaRPr lang="LID4096"/>
          </a:p>
        </p:txBody>
      </p:sp>
      <p:sp>
        <p:nvSpPr>
          <p:cNvPr id="74" name="Text 39">
            <a:extLst>
              <a:ext uri="{FF2B5EF4-FFF2-40B4-BE49-F238E27FC236}">
                <a16:creationId xmlns:a16="http://schemas.microsoft.com/office/drawing/2014/main" id="{F43FBA63-6B64-3309-84F6-D5DCB68DCC74}"/>
              </a:ext>
            </a:extLst>
          </p:cNvPr>
          <p:cNvSpPr/>
          <p:nvPr/>
        </p:nvSpPr>
        <p:spPr>
          <a:xfrm>
            <a:off x="288607" y="9555170"/>
            <a:ext cx="4480560" cy="137160"/>
          </a:xfrm>
          <a:prstGeom prst="rect">
            <a:avLst/>
          </a:prstGeom>
          <a:noFill/>
          <a:ln/>
        </p:spPr>
        <p:txBody>
          <a:bodyPr wrap="square" lIns="0" tIns="0" rIns="0" bIns="0" rtlCol="0" anchor="t"/>
          <a:lstStyle/>
          <a:p>
            <a:pPr marL="0" indent="0">
              <a:lnSpc>
                <a:spcPct val="100000"/>
              </a:lnSpc>
              <a:buNone/>
            </a:pPr>
            <a:r>
              <a:rPr lang="en-US" sz="715" kern="0" spc="60" dirty="0">
                <a:solidFill>
                  <a:srgbClr val="5D666B"/>
                </a:solidFill>
                <a:latin typeface="Aptos Display" pitchFamily="34" charset="0"/>
                <a:ea typeface="Aptos Display" pitchFamily="34" charset="-122"/>
                <a:cs typeface="Aptos Display" pitchFamily="34" charset="-120"/>
              </a:rPr>
              <a:t>DTU CONSTRUCT  /  MATERIALS AND SURFACE ENGINEERING</a:t>
            </a:r>
            <a:endParaRPr lang="en-US" sz="715" dirty="0"/>
          </a:p>
        </p:txBody>
      </p:sp>
      <p:pic>
        <p:nvPicPr>
          <p:cNvPr id="7" name="Billede 6">
            <a:extLst>
              <a:ext uri="{FF2B5EF4-FFF2-40B4-BE49-F238E27FC236}">
                <a16:creationId xmlns:a16="http://schemas.microsoft.com/office/drawing/2014/main" id="{0E764406-4ADA-9A1D-DF67-1DF408DA2B2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92814" y="2539739"/>
            <a:ext cx="4175186" cy="2066197"/>
          </a:xfrm>
          <a:prstGeom prst="rect">
            <a:avLst/>
          </a:prstGeom>
        </p:spPr>
      </p:pic>
    </p:spTree>
    <p:extLst>
      <p:ext uri="{BB962C8B-B14F-4D97-AF65-F5344CB8AC3E}">
        <p14:creationId xmlns:p14="http://schemas.microsoft.com/office/powerpoint/2010/main" val="207556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6EE6C5-ADE7-BA68-4733-D5E0784D844C}"/>
              </a:ext>
            </a:extLst>
          </p:cNvPr>
          <p:cNvSpPr>
            <a:spLocks noGrp="1"/>
          </p:cNvSpPr>
          <p:nvPr>
            <p:ph type="sldNum" sz="quarter" idx="12"/>
          </p:nvPr>
        </p:nvSpPr>
        <p:spPr>
          <a:xfrm>
            <a:off x="4989080" y="9329519"/>
            <a:ext cx="1543050" cy="527403"/>
          </a:xfrm>
        </p:spPr>
        <p:txBody>
          <a:bodyPr/>
          <a:lstStyle/>
          <a:p>
            <a:fld id="{F934066D-384D-4BE1-BDC2-82BCC33558DD}" type="slidenum">
              <a:rPr lang="en-US" sz="800" b="1" smtClean="0">
                <a:solidFill>
                  <a:srgbClr val="C00000"/>
                </a:solidFill>
                <a:latin typeface="+mj-lt"/>
              </a:rPr>
              <a:t>2</a:t>
            </a:fld>
            <a:endParaRPr lang="en-US" sz="800" b="1" dirty="0">
              <a:solidFill>
                <a:srgbClr val="C00000"/>
              </a:solidFill>
              <a:latin typeface="+mj-lt"/>
            </a:endParaRPr>
          </a:p>
        </p:txBody>
      </p:sp>
      <p:sp>
        <p:nvSpPr>
          <p:cNvPr id="6" name="Shape 1">
            <a:extLst>
              <a:ext uri="{FF2B5EF4-FFF2-40B4-BE49-F238E27FC236}">
                <a16:creationId xmlns:a16="http://schemas.microsoft.com/office/drawing/2014/main" id="{89BF93BE-C274-0D15-669E-1FA3EF5814EB}"/>
              </a:ext>
            </a:extLst>
          </p:cNvPr>
          <p:cNvSpPr/>
          <p:nvPr/>
        </p:nvSpPr>
        <p:spPr>
          <a:xfrm>
            <a:off x="288607" y="292298"/>
            <a:ext cx="32004" cy="393192"/>
          </a:xfrm>
          <a:prstGeom prst="rect">
            <a:avLst/>
          </a:prstGeom>
          <a:solidFill>
            <a:srgbClr val="A30018"/>
          </a:solidFill>
          <a:ln w="12700">
            <a:solidFill>
              <a:srgbClr val="A30018">
                <a:alpha val="0"/>
              </a:srgbClr>
            </a:solidFill>
            <a:prstDash val="solid"/>
          </a:ln>
        </p:spPr>
        <p:txBody>
          <a:bodyPr/>
          <a:lstStyle/>
          <a:p>
            <a:endParaRPr lang="LID4096"/>
          </a:p>
        </p:txBody>
      </p:sp>
      <p:sp>
        <p:nvSpPr>
          <p:cNvPr id="8" name="Text 2">
            <a:extLst>
              <a:ext uri="{FF2B5EF4-FFF2-40B4-BE49-F238E27FC236}">
                <a16:creationId xmlns:a16="http://schemas.microsoft.com/office/drawing/2014/main" id="{5EAF69B7-3F7F-6E8A-4099-7209EA4CC33C}"/>
              </a:ext>
            </a:extLst>
          </p:cNvPr>
          <p:cNvSpPr/>
          <p:nvPr/>
        </p:nvSpPr>
        <p:spPr>
          <a:xfrm>
            <a:off x="444055" y="278582"/>
            <a:ext cx="5166360" cy="210312"/>
          </a:xfrm>
          <a:prstGeom prst="rect">
            <a:avLst/>
          </a:prstGeom>
          <a:noFill/>
          <a:ln/>
        </p:spPr>
        <p:txBody>
          <a:bodyPr wrap="square" lIns="0" tIns="0" rIns="0" bIns="0" rtlCol="0" anchor="t"/>
          <a:lstStyle/>
          <a:p>
            <a:pPr marL="0" indent="0">
              <a:lnSpc>
                <a:spcPct val="100000"/>
              </a:lnSpc>
              <a:buNone/>
            </a:pPr>
            <a:r>
              <a:rPr lang="en-US" sz="1100" b="1" kern="0" spc="20" dirty="0">
                <a:solidFill>
                  <a:srgbClr val="22282D"/>
                </a:solidFill>
                <a:latin typeface="Aptos Display" pitchFamily="34" charset="0"/>
                <a:ea typeface="Aptos Display" pitchFamily="34" charset="-122"/>
                <a:cs typeface="Aptos Display" pitchFamily="34" charset="-120"/>
              </a:rPr>
              <a:t>MATERIALS AND SURFACE ENGINEERING</a:t>
            </a:r>
            <a:endParaRPr lang="en-US" sz="1100" dirty="0"/>
          </a:p>
        </p:txBody>
      </p:sp>
      <p:sp>
        <p:nvSpPr>
          <p:cNvPr id="10" name="Text 3">
            <a:extLst>
              <a:ext uri="{FF2B5EF4-FFF2-40B4-BE49-F238E27FC236}">
                <a16:creationId xmlns:a16="http://schemas.microsoft.com/office/drawing/2014/main" id="{2E01AA62-8C62-3F02-7C3D-4A0D26C3A066}"/>
              </a:ext>
            </a:extLst>
          </p:cNvPr>
          <p:cNvSpPr/>
          <p:nvPr/>
        </p:nvSpPr>
        <p:spPr>
          <a:xfrm>
            <a:off x="444055" y="516326"/>
            <a:ext cx="5212080" cy="173736"/>
          </a:xfrm>
          <a:prstGeom prst="rect">
            <a:avLst/>
          </a:prstGeom>
          <a:noFill/>
          <a:ln/>
        </p:spPr>
        <p:txBody>
          <a:bodyPr wrap="square" lIns="0" tIns="0" rIns="0" bIns="0" rtlCol="0" anchor="t"/>
          <a:lstStyle/>
          <a:p>
            <a:pPr marL="0" indent="0">
              <a:lnSpc>
                <a:spcPct val="100000"/>
              </a:lnSpc>
              <a:buNone/>
            </a:pPr>
            <a:r>
              <a:rPr lang="en-US" sz="1400" kern="0" spc="55" dirty="0">
                <a:solidFill>
                  <a:srgbClr val="5D666B"/>
                </a:solidFill>
                <a:latin typeface="Aptos" pitchFamily="34" charset="0"/>
                <a:ea typeface="Aptos" pitchFamily="34" charset="-122"/>
                <a:cs typeface="Aptos" pitchFamily="34" charset="-120"/>
              </a:rPr>
              <a:t>DEPARTMENT OF CIVIL AND MECHANICAL ENGINEERING</a:t>
            </a:r>
            <a:endParaRPr lang="en-US" sz="1400" dirty="0"/>
          </a:p>
        </p:txBody>
      </p:sp>
      <p:pic>
        <p:nvPicPr>
          <p:cNvPr id="12" name="Image 0" descr="/mnt/data/dtu_logo.png">
            <a:extLst>
              <a:ext uri="{FF2B5EF4-FFF2-40B4-BE49-F238E27FC236}">
                <a16:creationId xmlns:a16="http://schemas.microsoft.com/office/drawing/2014/main" id="{9483A475-12DC-7037-9FE4-BCB956416E5B}"/>
              </a:ext>
            </a:extLst>
          </p:cNvPr>
          <p:cNvPicPr>
            <a:picLocks noChangeAspect="1"/>
          </p:cNvPicPr>
          <p:nvPr/>
        </p:nvPicPr>
        <p:blipFill>
          <a:blip r:embed="rId2"/>
          <a:stretch>
            <a:fillRect/>
          </a:stretch>
        </p:blipFill>
        <p:spPr>
          <a:xfrm>
            <a:off x="6223063" y="197200"/>
            <a:ext cx="429768" cy="601675"/>
          </a:xfrm>
          <a:prstGeom prst="rect">
            <a:avLst/>
          </a:prstGeom>
        </p:spPr>
      </p:pic>
      <p:sp>
        <p:nvSpPr>
          <p:cNvPr id="14" name="Shape 4">
            <a:extLst>
              <a:ext uri="{FF2B5EF4-FFF2-40B4-BE49-F238E27FC236}">
                <a16:creationId xmlns:a16="http://schemas.microsoft.com/office/drawing/2014/main" id="{B5BFAC40-3074-95A1-6062-557C2EC8A10B}"/>
              </a:ext>
            </a:extLst>
          </p:cNvPr>
          <p:cNvSpPr/>
          <p:nvPr/>
        </p:nvSpPr>
        <p:spPr>
          <a:xfrm>
            <a:off x="288607" y="936950"/>
            <a:ext cx="6426403" cy="0"/>
          </a:xfrm>
          <a:prstGeom prst="line">
            <a:avLst/>
          </a:prstGeom>
          <a:noFill/>
          <a:ln w="19050">
            <a:solidFill>
              <a:srgbClr val="A30018"/>
            </a:solidFill>
            <a:prstDash val="solid"/>
          </a:ln>
        </p:spPr>
        <p:txBody>
          <a:bodyPr/>
          <a:lstStyle/>
          <a:p>
            <a:endParaRPr lang="LID4096"/>
          </a:p>
        </p:txBody>
      </p:sp>
      <p:sp>
        <p:nvSpPr>
          <p:cNvPr id="16" name="Text 5">
            <a:extLst>
              <a:ext uri="{FF2B5EF4-FFF2-40B4-BE49-F238E27FC236}">
                <a16:creationId xmlns:a16="http://schemas.microsoft.com/office/drawing/2014/main" id="{F9F2F617-4FE4-3AFB-5BE6-447724F14CFF}"/>
              </a:ext>
            </a:extLst>
          </p:cNvPr>
          <p:cNvSpPr/>
          <p:nvPr/>
        </p:nvSpPr>
        <p:spPr>
          <a:xfrm>
            <a:off x="288607" y="1224986"/>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LEVEL: Master</a:t>
            </a:r>
            <a:endParaRPr lang="en-US" sz="860" dirty="0"/>
          </a:p>
        </p:txBody>
      </p:sp>
      <p:sp>
        <p:nvSpPr>
          <p:cNvPr id="18" name="Text 6">
            <a:extLst>
              <a:ext uri="{FF2B5EF4-FFF2-40B4-BE49-F238E27FC236}">
                <a16:creationId xmlns:a16="http://schemas.microsoft.com/office/drawing/2014/main" id="{6F0B72D1-F35C-ED87-929B-81DB04BC902C}"/>
              </a:ext>
            </a:extLst>
          </p:cNvPr>
          <p:cNvSpPr/>
          <p:nvPr/>
        </p:nvSpPr>
        <p:spPr>
          <a:xfrm>
            <a:off x="288607" y="1526738"/>
            <a:ext cx="6426403" cy="905256"/>
          </a:xfrm>
          <a:prstGeom prst="rect">
            <a:avLst/>
          </a:prstGeom>
          <a:noFill/>
          <a:ln/>
        </p:spPr>
        <p:txBody>
          <a:bodyPr wrap="square" lIns="0" tIns="0" rIns="0" bIns="0" rtlCol="0" anchor="t"/>
          <a:lstStyle/>
          <a:p>
            <a:pPr marL="0" indent="0">
              <a:lnSpc>
                <a:spcPct val="95000"/>
              </a:lnSpc>
              <a:buNone/>
            </a:pPr>
            <a:r>
              <a:rPr lang="en-US" sz="2000" b="1" dirty="0">
                <a:solidFill>
                  <a:srgbClr val="22282D"/>
                </a:solidFill>
                <a:latin typeface="Aptos Display" pitchFamily="34" charset="0"/>
              </a:rPr>
              <a:t>Evolution of Grain Orientation During Tensile Deformation</a:t>
            </a:r>
            <a:endParaRPr lang="en-US" sz="2000" dirty="0"/>
          </a:p>
        </p:txBody>
      </p:sp>
      <p:sp>
        <p:nvSpPr>
          <p:cNvPr id="20" name="Shape 7">
            <a:extLst>
              <a:ext uri="{FF2B5EF4-FFF2-40B4-BE49-F238E27FC236}">
                <a16:creationId xmlns:a16="http://schemas.microsoft.com/office/drawing/2014/main" id="{BF93D45E-B774-456A-8A91-E3FB6CC60F32}"/>
              </a:ext>
            </a:extLst>
          </p:cNvPr>
          <p:cNvSpPr/>
          <p:nvPr/>
        </p:nvSpPr>
        <p:spPr>
          <a:xfrm>
            <a:off x="288607" y="2504384"/>
            <a:ext cx="4306824" cy="2107692"/>
          </a:xfrm>
          <a:prstGeom prst="rect">
            <a:avLst/>
          </a:prstGeom>
          <a:solidFill>
            <a:schemeClr val="bg1"/>
          </a:solidFill>
          <a:ln w="7620">
            <a:solidFill>
              <a:srgbClr val="DFE2E3"/>
            </a:solidFill>
            <a:prstDash val="solid"/>
          </a:ln>
        </p:spPr>
        <p:txBody>
          <a:bodyPr/>
          <a:lstStyle/>
          <a:p>
            <a:endParaRPr lang="LID4096" dirty="0"/>
          </a:p>
        </p:txBody>
      </p:sp>
      <p:sp>
        <p:nvSpPr>
          <p:cNvPr id="22" name="Text 11">
            <a:extLst>
              <a:ext uri="{FF2B5EF4-FFF2-40B4-BE49-F238E27FC236}">
                <a16:creationId xmlns:a16="http://schemas.microsoft.com/office/drawing/2014/main" id="{28E803EE-B073-082C-48D2-01CCF1FA4A4E}"/>
              </a:ext>
            </a:extLst>
          </p:cNvPr>
          <p:cNvSpPr/>
          <p:nvPr/>
        </p:nvSpPr>
        <p:spPr>
          <a:xfrm>
            <a:off x="471487" y="3505652"/>
            <a:ext cx="3941064" cy="256032"/>
          </a:xfrm>
          <a:prstGeom prst="rect">
            <a:avLst/>
          </a:prstGeom>
          <a:noFill/>
          <a:ln/>
        </p:spPr>
        <p:txBody>
          <a:bodyPr wrap="square" lIns="0" tIns="0" rIns="0" bIns="0" rtlCol="0" anchor="t"/>
          <a:lstStyle/>
          <a:p>
            <a:pPr marL="0" indent="0" algn="ctr">
              <a:lnSpc>
                <a:spcPct val="100000"/>
              </a:lnSpc>
              <a:buNone/>
            </a:pPr>
            <a:r>
              <a:rPr lang="en-US" sz="1040" b="1" kern="0" spc="60" dirty="0">
                <a:solidFill>
                  <a:srgbClr val="5D666B"/>
                </a:solidFill>
                <a:latin typeface="Aptos Display" pitchFamily="34" charset="0"/>
                <a:ea typeface="Aptos Display" pitchFamily="34" charset="-122"/>
                <a:cs typeface="Aptos Display" pitchFamily="34" charset="-120"/>
              </a:rPr>
              <a:t>[INSERT PROJECT IMAGE]</a:t>
            </a:r>
            <a:endParaRPr lang="en-US" sz="1040" dirty="0"/>
          </a:p>
        </p:txBody>
      </p:sp>
      <p:sp>
        <p:nvSpPr>
          <p:cNvPr id="24" name="Text 13">
            <a:extLst>
              <a:ext uri="{FF2B5EF4-FFF2-40B4-BE49-F238E27FC236}">
                <a16:creationId xmlns:a16="http://schemas.microsoft.com/office/drawing/2014/main" id="{92D05183-68B0-0CD1-9862-417A2C8C76EA}"/>
              </a:ext>
            </a:extLst>
          </p:cNvPr>
          <p:cNvSpPr/>
          <p:nvPr/>
        </p:nvSpPr>
        <p:spPr>
          <a:xfrm>
            <a:off x="288607" y="4644080"/>
            <a:ext cx="4297680" cy="128016"/>
          </a:xfrm>
          <a:prstGeom prst="rect">
            <a:avLst/>
          </a:prstGeom>
          <a:noFill/>
          <a:ln/>
        </p:spPr>
        <p:txBody>
          <a:bodyPr wrap="square" lIns="0" tIns="0" rIns="0" bIns="0" rtlCol="0" anchor="t"/>
          <a:lstStyle/>
          <a:p>
            <a:pPr marL="0" indent="0">
              <a:lnSpc>
                <a:spcPct val="100000"/>
              </a:lnSpc>
              <a:buNone/>
            </a:pPr>
            <a:r>
              <a:rPr lang="en-US" sz="685" kern="0" spc="45" dirty="0">
                <a:solidFill>
                  <a:srgbClr val="5D666B"/>
                </a:solidFill>
                <a:latin typeface="Aptos" pitchFamily="34" charset="0"/>
                <a:ea typeface="Aptos" pitchFamily="34" charset="-122"/>
                <a:cs typeface="Aptos" pitchFamily="34" charset="-120"/>
              </a:rPr>
              <a:t>Workflow of the Project</a:t>
            </a:r>
            <a:endParaRPr lang="en-US" sz="685" dirty="0"/>
          </a:p>
        </p:txBody>
      </p:sp>
      <p:sp>
        <p:nvSpPr>
          <p:cNvPr id="26" name="Shape 14">
            <a:extLst>
              <a:ext uri="{FF2B5EF4-FFF2-40B4-BE49-F238E27FC236}">
                <a16:creationId xmlns:a16="http://schemas.microsoft.com/office/drawing/2014/main" id="{AA36B306-337C-04B4-9B92-70B043FEE96D}"/>
              </a:ext>
            </a:extLst>
          </p:cNvPr>
          <p:cNvSpPr/>
          <p:nvPr/>
        </p:nvSpPr>
        <p:spPr>
          <a:xfrm>
            <a:off x="4686871" y="2499812"/>
            <a:ext cx="0" cy="2112264"/>
          </a:xfrm>
          <a:prstGeom prst="line">
            <a:avLst/>
          </a:prstGeom>
          <a:noFill/>
          <a:ln w="12700">
            <a:solidFill>
              <a:srgbClr val="DFE2E3"/>
            </a:solidFill>
            <a:prstDash val="solid"/>
          </a:ln>
        </p:spPr>
        <p:txBody>
          <a:bodyPr/>
          <a:lstStyle/>
          <a:p>
            <a:endParaRPr lang="LID4096"/>
          </a:p>
        </p:txBody>
      </p:sp>
      <p:sp>
        <p:nvSpPr>
          <p:cNvPr id="28" name="Text 15">
            <a:extLst>
              <a:ext uri="{FF2B5EF4-FFF2-40B4-BE49-F238E27FC236}">
                <a16:creationId xmlns:a16="http://schemas.microsoft.com/office/drawing/2014/main" id="{DDA6AD76-253A-BDEE-D80F-CF8C578343F2}"/>
              </a:ext>
            </a:extLst>
          </p:cNvPr>
          <p:cNvSpPr/>
          <p:nvPr/>
        </p:nvSpPr>
        <p:spPr>
          <a:xfrm>
            <a:off x="4805743" y="2536388"/>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SUPERVISORS</a:t>
            </a:r>
            <a:endParaRPr lang="en-US" sz="860" dirty="0"/>
          </a:p>
        </p:txBody>
      </p:sp>
      <p:sp>
        <p:nvSpPr>
          <p:cNvPr id="30" name="Text 16">
            <a:extLst>
              <a:ext uri="{FF2B5EF4-FFF2-40B4-BE49-F238E27FC236}">
                <a16:creationId xmlns:a16="http://schemas.microsoft.com/office/drawing/2014/main" id="{47A99FCE-4503-0221-BA93-784430A6BB52}"/>
              </a:ext>
            </a:extLst>
          </p:cNvPr>
          <p:cNvSpPr/>
          <p:nvPr/>
        </p:nvSpPr>
        <p:spPr>
          <a:xfrm>
            <a:off x="4805743" y="2810708"/>
            <a:ext cx="1901952" cy="201168"/>
          </a:xfrm>
          <a:prstGeom prst="rect">
            <a:avLst/>
          </a:prstGeom>
          <a:noFill/>
          <a:ln/>
        </p:spPr>
        <p:txBody>
          <a:bodyPr wrap="square" lIns="0" tIns="0" rIns="0" bIns="0" rtlCol="0" anchor="t"/>
          <a:lstStyle/>
          <a:p>
            <a:pPr marL="0" indent="0">
              <a:lnSpc>
                <a:spcPct val="100000"/>
              </a:lnSpc>
              <a:buNone/>
            </a:pPr>
            <a:r>
              <a:rPr lang="en-US" sz="950" b="1" dirty="0">
                <a:solidFill>
                  <a:srgbClr val="5D666B"/>
                </a:solidFill>
                <a:latin typeface="Aptos Display" pitchFamily="34" charset="0"/>
              </a:rPr>
              <a:t>Felix Frankus</a:t>
            </a:r>
            <a:endParaRPr lang="en-US" sz="950" dirty="0"/>
          </a:p>
        </p:txBody>
      </p:sp>
      <p:sp>
        <p:nvSpPr>
          <p:cNvPr id="32" name="Text 17">
            <a:extLst>
              <a:ext uri="{FF2B5EF4-FFF2-40B4-BE49-F238E27FC236}">
                <a16:creationId xmlns:a16="http://schemas.microsoft.com/office/drawing/2014/main" id="{975C2CB1-0286-2F6B-9B19-5CBCCDBC47F2}"/>
              </a:ext>
            </a:extLst>
          </p:cNvPr>
          <p:cNvSpPr/>
          <p:nvPr/>
        </p:nvSpPr>
        <p:spPr>
          <a:xfrm>
            <a:off x="4805743" y="3021020"/>
            <a:ext cx="1901952" cy="164592"/>
          </a:xfrm>
          <a:prstGeom prst="rect">
            <a:avLst/>
          </a:prstGeom>
          <a:noFill/>
          <a:ln/>
        </p:spPr>
        <p:txBody>
          <a:bodyPr wrap="square" lIns="0" tIns="0" rIns="0" bIns="0" rtlCol="0" anchor="t"/>
          <a:lstStyle/>
          <a:p>
            <a:pPr marL="0" indent="0">
              <a:lnSpc>
                <a:spcPct val="100000"/>
              </a:lnSpc>
              <a:buNone/>
            </a:pPr>
            <a:r>
              <a:rPr lang="en-US" sz="830" dirty="0">
                <a:solidFill>
                  <a:srgbClr val="A30018"/>
                </a:solidFill>
                <a:latin typeface="Aptos" pitchFamily="34" charset="0"/>
                <a:ea typeface="Aptos" pitchFamily="34" charset="-122"/>
                <a:cs typeface="Aptos" pitchFamily="34" charset="-120"/>
              </a:rPr>
              <a:t>fefra@dtu.dk</a:t>
            </a:r>
            <a:endParaRPr lang="en-US" sz="830" dirty="0"/>
          </a:p>
        </p:txBody>
      </p:sp>
      <p:sp>
        <p:nvSpPr>
          <p:cNvPr id="34" name="Text 18">
            <a:extLst>
              <a:ext uri="{FF2B5EF4-FFF2-40B4-BE49-F238E27FC236}">
                <a16:creationId xmlns:a16="http://schemas.microsoft.com/office/drawing/2014/main" id="{8E706A9F-BDF4-6E34-2BC8-528A2E4C7162}"/>
              </a:ext>
            </a:extLst>
          </p:cNvPr>
          <p:cNvSpPr/>
          <p:nvPr/>
        </p:nvSpPr>
        <p:spPr>
          <a:xfrm>
            <a:off x="4805743" y="3304484"/>
            <a:ext cx="1901952" cy="201168"/>
          </a:xfrm>
          <a:prstGeom prst="rect">
            <a:avLst/>
          </a:prstGeom>
          <a:noFill/>
          <a:ln/>
        </p:spPr>
        <p:txBody>
          <a:bodyPr wrap="square" lIns="0" tIns="0" rIns="0" bIns="0" rtlCol="0" anchor="t"/>
          <a:lstStyle/>
          <a:p>
            <a:pPr marL="0" indent="0">
              <a:lnSpc>
                <a:spcPct val="100000"/>
              </a:lnSpc>
              <a:buNone/>
            </a:pPr>
            <a:r>
              <a:rPr lang="en-US" sz="950" b="1" dirty="0">
                <a:solidFill>
                  <a:srgbClr val="5D666B"/>
                </a:solidFill>
                <a:latin typeface="Aptos Display" pitchFamily="34" charset="0"/>
                <a:ea typeface="Aptos Display" pitchFamily="34" charset="-122"/>
                <a:cs typeface="Aptos Display" pitchFamily="34" charset="-120"/>
              </a:rPr>
              <a:t>Grethe Winther</a:t>
            </a:r>
            <a:endParaRPr lang="en-US" sz="950" dirty="0"/>
          </a:p>
        </p:txBody>
      </p:sp>
      <p:sp>
        <p:nvSpPr>
          <p:cNvPr id="36" name="Text 19">
            <a:extLst>
              <a:ext uri="{FF2B5EF4-FFF2-40B4-BE49-F238E27FC236}">
                <a16:creationId xmlns:a16="http://schemas.microsoft.com/office/drawing/2014/main" id="{279E3988-0483-A929-2165-3D05E003F6C6}"/>
              </a:ext>
            </a:extLst>
          </p:cNvPr>
          <p:cNvSpPr/>
          <p:nvPr/>
        </p:nvSpPr>
        <p:spPr>
          <a:xfrm>
            <a:off x="4805743" y="3514796"/>
            <a:ext cx="1901952" cy="164592"/>
          </a:xfrm>
          <a:prstGeom prst="rect">
            <a:avLst/>
          </a:prstGeom>
          <a:noFill/>
          <a:ln/>
        </p:spPr>
        <p:txBody>
          <a:bodyPr wrap="square" lIns="0" tIns="0" rIns="0" bIns="0" rtlCol="0" anchor="t"/>
          <a:lstStyle/>
          <a:p>
            <a:pPr marL="0" indent="0">
              <a:lnSpc>
                <a:spcPct val="100000"/>
              </a:lnSpc>
              <a:buNone/>
            </a:pPr>
            <a:r>
              <a:rPr lang="en-US" sz="830" dirty="0">
                <a:solidFill>
                  <a:srgbClr val="A30018"/>
                </a:solidFill>
                <a:latin typeface="Aptos" pitchFamily="34" charset="0"/>
                <a:ea typeface="Aptos" pitchFamily="34" charset="-122"/>
                <a:cs typeface="Aptos" pitchFamily="34" charset="-120"/>
              </a:rPr>
              <a:t>grwi@dtu.dk</a:t>
            </a:r>
            <a:endParaRPr lang="en-US" sz="830" dirty="0"/>
          </a:p>
        </p:txBody>
      </p:sp>
      <p:sp>
        <p:nvSpPr>
          <p:cNvPr id="38" name="Text 20">
            <a:extLst>
              <a:ext uri="{FF2B5EF4-FFF2-40B4-BE49-F238E27FC236}">
                <a16:creationId xmlns:a16="http://schemas.microsoft.com/office/drawing/2014/main" id="{A5E5AC3B-9018-8067-D6FD-F9121BA39AC6}"/>
              </a:ext>
            </a:extLst>
          </p:cNvPr>
          <p:cNvSpPr/>
          <p:nvPr/>
        </p:nvSpPr>
        <p:spPr>
          <a:xfrm>
            <a:off x="4805743" y="3798260"/>
            <a:ext cx="1901952" cy="201168"/>
          </a:xfrm>
          <a:prstGeom prst="rect">
            <a:avLst/>
          </a:prstGeom>
          <a:noFill/>
          <a:ln/>
        </p:spPr>
        <p:txBody>
          <a:bodyPr wrap="square" lIns="0" tIns="0" rIns="0" bIns="0" rtlCol="0" anchor="t"/>
          <a:lstStyle/>
          <a:p>
            <a:pPr marL="0" indent="0">
              <a:lnSpc>
                <a:spcPct val="100000"/>
              </a:lnSpc>
              <a:buNone/>
            </a:pPr>
            <a:r>
              <a:rPr lang="en-US" sz="950" b="1" dirty="0">
                <a:solidFill>
                  <a:srgbClr val="5D666B"/>
                </a:solidFill>
                <a:latin typeface="Aptos Display" pitchFamily="34" charset="0"/>
                <a:ea typeface="Aptos Display" pitchFamily="34" charset="-122"/>
                <a:cs typeface="Aptos Display" pitchFamily="34" charset="-120"/>
              </a:rPr>
              <a:t>Oleg Mishin</a:t>
            </a:r>
            <a:endParaRPr lang="en-US" sz="950" dirty="0"/>
          </a:p>
        </p:txBody>
      </p:sp>
      <p:sp>
        <p:nvSpPr>
          <p:cNvPr id="40" name="Text 21">
            <a:extLst>
              <a:ext uri="{FF2B5EF4-FFF2-40B4-BE49-F238E27FC236}">
                <a16:creationId xmlns:a16="http://schemas.microsoft.com/office/drawing/2014/main" id="{92D5B7D3-1F85-AAC8-9480-C346534FA12A}"/>
              </a:ext>
            </a:extLst>
          </p:cNvPr>
          <p:cNvSpPr/>
          <p:nvPr/>
        </p:nvSpPr>
        <p:spPr>
          <a:xfrm>
            <a:off x="4805743" y="4008572"/>
            <a:ext cx="1901952" cy="164592"/>
          </a:xfrm>
          <a:prstGeom prst="rect">
            <a:avLst/>
          </a:prstGeom>
          <a:noFill/>
          <a:ln/>
        </p:spPr>
        <p:txBody>
          <a:bodyPr wrap="square" lIns="0" tIns="0" rIns="0" bIns="0" rtlCol="0" anchor="t"/>
          <a:lstStyle/>
          <a:p>
            <a:pPr marL="0" indent="0">
              <a:lnSpc>
                <a:spcPct val="100000"/>
              </a:lnSpc>
              <a:buNone/>
            </a:pPr>
            <a:r>
              <a:rPr lang="en-US" sz="830" dirty="0">
                <a:solidFill>
                  <a:srgbClr val="A30018"/>
                </a:solidFill>
                <a:latin typeface="Aptos" pitchFamily="34" charset="0"/>
                <a:ea typeface="Aptos" pitchFamily="34" charset="-122"/>
                <a:cs typeface="Aptos" pitchFamily="34" charset="-120"/>
              </a:rPr>
              <a:t>olmi@dtu.dk</a:t>
            </a:r>
            <a:endParaRPr lang="en-US" sz="830" dirty="0"/>
          </a:p>
        </p:txBody>
      </p:sp>
      <p:sp>
        <p:nvSpPr>
          <p:cNvPr id="42" name="Text 22">
            <a:extLst>
              <a:ext uri="{FF2B5EF4-FFF2-40B4-BE49-F238E27FC236}">
                <a16:creationId xmlns:a16="http://schemas.microsoft.com/office/drawing/2014/main" id="{1DF1104B-1700-DC4D-5689-1F91FE7F43E6}"/>
              </a:ext>
            </a:extLst>
          </p:cNvPr>
          <p:cNvSpPr/>
          <p:nvPr/>
        </p:nvSpPr>
        <p:spPr>
          <a:xfrm>
            <a:off x="4805743" y="4328612"/>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COLLABORATION</a:t>
            </a:r>
            <a:endParaRPr lang="en-US" sz="860" dirty="0"/>
          </a:p>
        </p:txBody>
      </p:sp>
      <p:sp>
        <p:nvSpPr>
          <p:cNvPr id="44" name="Text 23">
            <a:extLst>
              <a:ext uri="{FF2B5EF4-FFF2-40B4-BE49-F238E27FC236}">
                <a16:creationId xmlns:a16="http://schemas.microsoft.com/office/drawing/2014/main" id="{EE6A2E6F-D0C1-1685-693D-44A5B2B1A9B8}"/>
              </a:ext>
            </a:extLst>
          </p:cNvPr>
          <p:cNvSpPr/>
          <p:nvPr/>
        </p:nvSpPr>
        <p:spPr>
          <a:xfrm>
            <a:off x="4805743" y="4520636"/>
            <a:ext cx="1901952" cy="182880"/>
          </a:xfrm>
          <a:prstGeom prst="rect">
            <a:avLst/>
          </a:prstGeom>
          <a:noFill/>
          <a:ln/>
        </p:spPr>
        <p:txBody>
          <a:bodyPr wrap="square" lIns="0" tIns="0" rIns="0" bIns="0" rtlCol="0" anchor="t"/>
          <a:lstStyle/>
          <a:p>
            <a:pPr marL="0" indent="0">
              <a:lnSpc>
                <a:spcPct val="100000"/>
              </a:lnSpc>
              <a:buNone/>
            </a:pPr>
            <a:r>
              <a:rPr lang="en-US" sz="900" dirty="0">
                <a:solidFill>
                  <a:srgbClr val="5D666B"/>
                </a:solidFill>
                <a:latin typeface="Aptos Display" pitchFamily="34" charset="0"/>
                <a:ea typeface="Aptos Display" pitchFamily="34" charset="-122"/>
                <a:cs typeface="Aptos Display" pitchFamily="34" charset="-120"/>
              </a:rPr>
              <a:t>DTU 3D Imaging Centre</a:t>
            </a:r>
            <a:endParaRPr lang="en-US" sz="900" dirty="0"/>
          </a:p>
        </p:txBody>
      </p:sp>
      <p:sp>
        <p:nvSpPr>
          <p:cNvPr id="46" name="Shape 24">
            <a:extLst>
              <a:ext uri="{FF2B5EF4-FFF2-40B4-BE49-F238E27FC236}">
                <a16:creationId xmlns:a16="http://schemas.microsoft.com/office/drawing/2014/main" id="{741B9529-EDF4-0277-9517-AD77B4EC7EFA}"/>
              </a:ext>
            </a:extLst>
          </p:cNvPr>
          <p:cNvSpPr/>
          <p:nvPr/>
        </p:nvSpPr>
        <p:spPr>
          <a:xfrm>
            <a:off x="288607" y="4886396"/>
            <a:ext cx="6426403" cy="0"/>
          </a:xfrm>
          <a:prstGeom prst="line">
            <a:avLst/>
          </a:prstGeom>
          <a:noFill/>
          <a:ln w="10795">
            <a:solidFill>
              <a:srgbClr val="DFE2E3"/>
            </a:solidFill>
            <a:prstDash val="solid"/>
          </a:ln>
        </p:spPr>
        <p:txBody>
          <a:bodyPr/>
          <a:lstStyle/>
          <a:p>
            <a:endParaRPr lang="LID4096"/>
          </a:p>
        </p:txBody>
      </p:sp>
      <p:sp>
        <p:nvSpPr>
          <p:cNvPr id="48" name="Text 25">
            <a:extLst>
              <a:ext uri="{FF2B5EF4-FFF2-40B4-BE49-F238E27FC236}">
                <a16:creationId xmlns:a16="http://schemas.microsoft.com/office/drawing/2014/main" id="{550D7A41-D8A4-84EE-5510-72BFA808AFF9}"/>
              </a:ext>
            </a:extLst>
          </p:cNvPr>
          <p:cNvSpPr/>
          <p:nvPr/>
        </p:nvSpPr>
        <p:spPr>
          <a:xfrm>
            <a:off x="288607" y="505556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01  /  PROJECT BACKGROUND</a:t>
            </a:r>
            <a:endParaRPr lang="en-US" sz="860" dirty="0"/>
          </a:p>
        </p:txBody>
      </p:sp>
      <p:sp>
        <p:nvSpPr>
          <p:cNvPr id="50" name="Text 26">
            <a:extLst>
              <a:ext uri="{FF2B5EF4-FFF2-40B4-BE49-F238E27FC236}">
                <a16:creationId xmlns:a16="http://schemas.microsoft.com/office/drawing/2014/main" id="{DF11FE43-43A1-EFCB-29F2-49F1913B15C4}"/>
              </a:ext>
            </a:extLst>
          </p:cNvPr>
          <p:cNvSpPr/>
          <p:nvPr/>
        </p:nvSpPr>
        <p:spPr>
          <a:xfrm>
            <a:off x="288607" y="5288732"/>
            <a:ext cx="6426403" cy="795528"/>
          </a:xfrm>
          <a:prstGeom prst="rect">
            <a:avLst/>
          </a:prstGeom>
          <a:noFill/>
          <a:ln/>
        </p:spPr>
        <p:txBody>
          <a:bodyPr wrap="square" lIns="0" tIns="0" rIns="0" bIns="0" rtlCol="0" anchor="t"/>
          <a:lstStyle/>
          <a:p>
            <a:pPr marL="0" indent="0" algn="just">
              <a:lnSpc>
                <a:spcPct val="104000"/>
              </a:lnSpc>
              <a:buNone/>
            </a:pPr>
            <a:r>
              <a:rPr lang="en-US" sz="990" dirty="0">
                <a:solidFill>
                  <a:srgbClr val="5D666B"/>
                </a:solidFill>
                <a:latin typeface="Aptos" pitchFamily="34" charset="0"/>
              </a:rPr>
              <a:t>Grain orientation strongly controls how metals deform, because it constrains each grain’s response to load and its interaction with neighboring grains. Crystal Plasticity (CP) models capture these effects by simulating a meshed 3D grain map that encodes each grain’s shape and orientation. Laboratory Diffraction Contrast Tomography (Lab DCT) can produce such maps non-destructively. However, few studies test whether a CP simulation seeded with a measured grain map reproduces both the macroscopic response and the grain-level deformation of the same specimen.</a:t>
            </a:r>
            <a:endParaRPr lang="en-US" sz="990" dirty="0"/>
          </a:p>
        </p:txBody>
      </p:sp>
      <p:sp>
        <p:nvSpPr>
          <p:cNvPr id="52" name="Text 27">
            <a:extLst>
              <a:ext uri="{FF2B5EF4-FFF2-40B4-BE49-F238E27FC236}">
                <a16:creationId xmlns:a16="http://schemas.microsoft.com/office/drawing/2014/main" id="{E1F4C334-2223-19ED-44AB-9671AA39A52B}"/>
              </a:ext>
            </a:extLst>
          </p:cNvPr>
          <p:cNvSpPr/>
          <p:nvPr/>
        </p:nvSpPr>
        <p:spPr>
          <a:xfrm>
            <a:off x="288607" y="6134552"/>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02  /  PROJECT AIM</a:t>
            </a:r>
            <a:endParaRPr lang="en-US" sz="860" dirty="0"/>
          </a:p>
        </p:txBody>
      </p:sp>
      <p:sp>
        <p:nvSpPr>
          <p:cNvPr id="54" name="Text 28">
            <a:extLst>
              <a:ext uri="{FF2B5EF4-FFF2-40B4-BE49-F238E27FC236}">
                <a16:creationId xmlns:a16="http://schemas.microsoft.com/office/drawing/2014/main" id="{3B32DA2F-B6E5-BD0C-B0E2-8DB758B29FE0}"/>
              </a:ext>
            </a:extLst>
          </p:cNvPr>
          <p:cNvSpPr/>
          <p:nvPr/>
        </p:nvSpPr>
        <p:spPr>
          <a:xfrm>
            <a:off x="288607" y="6284000"/>
            <a:ext cx="6426403" cy="1100138"/>
          </a:xfrm>
          <a:prstGeom prst="rect">
            <a:avLst/>
          </a:prstGeom>
          <a:noFill/>
          <a:ln/>
        </p:spPr>
        <p:txBody>
          <a:bodyPr wrap="square" lIns="0" tIns="0" rIns="0" bIns="0" rtlCol="0" anchor="t"/>
          <a:lstStyle/>
          <a:p>
            <a:pPr algn="just">
              <a:lnSpc>
                <a:spcPct val="103000"/>
              </a:lnSpc>
            </a:pPr>
            <a:r>
              <a:rPr lang="en-US" sz="1000" dirty="0">
                <a:solidFill>
                  <a:srgbClr val="5D666B"/>
                </a:solidFill>
                <a:latin typeface="Aptos" pitchFamily="34" charset="0"/>
              </a:rPr>
              <a:t>This project compares simulated tensile tests using Crystal Plasticity, seeded with a Lab DCT grain map of a polycrystalline commercially pure aluminum sample, against experimental uniaxial tensile tests on the same specimen. To connect the two, you will develop code that imports the </a:t>
            </a:r>
            <a:r>
              <a:rPr lang="en-US" sz="1000" dirty="0" err="1">
                <a:solidFill>
                  <a:srgbClr val="5D666B"/>
                </a:solidFill>
                <a:latin typeface="Aptos" pitchFamily="34" charset="0"/>
              </a:rPr>
              <a:t>voxelized</a:t>
            </a:r>
            <a:r>
              <a:rPr lang="en-US" sz="1000" dirty="0">
                <a:solidFill>
                  <a:srgbClr val="5D666B"/>
                </a:solidFill>
                <a:latin typeface="Aptos" pitchFamily="34" charset="0"/>
              </a:rPr>
              <a:t> Lab DCT data into Neper, a meshing tool for crystal plasticity data generation, and then into the Finite Element Polycrystal Plasticity program FEPX. The simulated tensile test will be compared with experimental data from the previously scanned sample. After deformation, Electron Backscatter Diffraction (EBSD) data will be used to compare grain orientations and morphology between simulation and experiment.</a:t>
            </a:r>
          </a:p>
        </p:txBody>
      </p:sp>
      <p:sp>
        <p:nvSpPr>
          <p:cNvPr id="56" name="Text 29">
            <a:extLst>
              <a:ext uri="{FF2B5EF4-FFF2-40B4-BE49-F238E27FC236}">
                <a16:creationId xmlns:a16="http://schemas.microsoft.com/office/drawing/2014/main" id="{B6524C55-32C1-1701-39AF-30B8513D5859}"/>
              </a:ext>
            </a:extLst>
          </p:cNvPr>
          <p:cNvSpPr/>
          <p:nvPr/>
        </p:nvSpPr>
        <p:spPr>
          <a:xfrm>
            <a:off x="288607" y="750901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03  /  PROJECT ACTIVITIES</a:t>
            </a:r>
            <a:endParaRPr lang="en-US" sz="860" dirty="0"/>
          </a:p>
        </p:txBody>
      </p:sp>
      <p:sp>
        <p:nvSpPr>
          <p:cNvPr id="58" name="Text 30">
            <a:extLst>
              <a:ext uri="{FF2B5EF4-FFF2-40B4-BE49-F238E27FC236}">
                <a16:creationId xmlns:a16="http://schemas.microsoft.com/office/drawing/2014/main" id="{E52291FE-67CB-49F0-597C-9F48EC893D25}"/>
              </a:ext>
            </a:extLst>
          </p:cNvPr>
          <p:cNvSpPr/>
          <p:nvPr/>
        </p:nvSpPr>
        <p:spPr>
          <a:xfrm>
            <a:off x="306895" y="7751326"/>
            <a:ext cx="6398971" cy="219456"/>
          </a:xfrm>
          <a:prstGeom prst="rect">
            <a:avLst/>
          </a:prstGeom>
          <a:noFill/>
          <a:ln/>
        </p:spPr>
        <p:txBody>
          <a:bodyPr wrap="square" lIns="0" tIns="0" rIns="0" bIns="0" rtlCol="0" anchor="t"/>
          <a:lstStyle/>
          <a:p>
            <a:pPr marL="139700" indent="-139700">
              <a:lnSpc>
                <a:spcPct val="106000"/>
              </a:lnSpc>
              <a:buSzPct val="100000"/>
              <a:buChar char="•"/>
            </a:pPr>
            <a:r>
              <a:rPr lang="en-US" sz="900" dirty="0">
                <a:solidFill>
                  <a:srgbClr val="5D666B"/>
                </a:solidFill>
                <a:latin typeface="Aptos" pitchFamily="34" charset="0"/>
              </a:rPr>
              <a:t>Acquisition of the grain maps using the </a:t>
            </a:r>
            <a:r>
              <a:rPr lang="en-US" sz="900" dirty="0" err="1">
                <a:solidFill>
                  <a:srgbClr val="5D666B"/>
                </a:solidFill>
                <a:latin typeface="Aptos" pitchFamily="34" charset="0"/>
              </a:rPr>
              <a:t>LabDCT</a:t>
            </a:r>
            <a:r>
              <a:rPr lang="en-US" sz="900" dirty="0">
                <a:solidFill>
                  <a:srgbClr val="5D666B"/>
                </a:solidFill>
                <a:latin typeface="Aptos" pitchFamily="34" charset="0"/>
              </a:rPr>
              <a:t> equipment in the 3D Imaging Centre</a:t>
            </a:r>
            <a:endParaRPr lang="en-US" sz="975" dirty="0"/>
          </a:p>
        </p:txBody>
      </p:sp>
      <p:sp>
        <p:nvSpPr>
          <p:cNvPr id="60" name="Text 31">
            <a:extLst>
              <a:ext uri="{FF2B5EF4-FFF2-40B4-BE49-F238E27FC236}">
                <a16:creationId xmlns:a16="http://schemas.microsoft.com/office/drawing/2014/main" id="{21731E05-B059-A90E-C87B-2E6FFD0794F0}"/>
              </a:ext>
            </a:extLst>
          </p:cNvPr>
          <p:cNvSpPr/>
          <p:nvPr/>
        </p:nvSpPr>
        <p:spPr>
          <a:xfrm>
            <a:off x="306895" y="7970782"/>
            <a:ext cx="6398971" cy="219456"/>
          </a:xfrm>
          <a:prstGeom prst="rect">
            <a:avLst/>
          </a:prstGeom>
          <a:noFill/>
          <a:ln/>
        </p:spPr>
        <p:txBody>
          <a:bodyPr wrap="square" lIns="0" tIns="0" rIns="0" bIns="0" rtlCol="0" anchor="t"/>
          <a:lstStyle/>
          <a:p>
            <a:pPr marL="139700" indent="-139700">
              <a:lnSpc>
                <a:spcPct val="106000"/>
              </a:lnSpc>
              <a:buSzPct val="100000"/>
              <a:buFontTx/>
              <a:buChar char="•"/>
            </a:pPr>
            <a:r>
              <a:rPr lang="en-US" sz="900" dirty="0">
                <a:solidFill>
                  <a:srgbClr val="5D666B"/>
                </a:solidFill>
                <a:latin typeface="Aptos" pitchFamily="34" charset="0"/>
              </a:rPr>
              <a:t>The interfacing between the grain map from </a:t>
            </a:r>
            <a:r>
              <a:rPr lang="en-US" sz="900" dirty="0" err="1">
                <a:solidFill>
                  <a:srgbClr val="5D666B"/>
                </a:solidFill>
                <a:latin typeface="Aptos" pitchFamily="34" charset="0"/>
              </a:rPr>
              <a:t>LabDCT</a:t>
            </a:r>
            <a:r>
              <a:rPr lang="en-US" sz="900" dirty="0">
                <a:solidFill>
                  <a:srgbClr val="5D666B"/>
                </a:solidFill>
                <a:latin typeface="Aptos" pitchFamily="34" charset="0"/>
              </a:rPr>
              <a:t> to Crystal Plasticity</a:t>
            </a:r>
            <a:endParaRPr lang="en-US" sz="975" dirty="0"/>
          </a:p>
        </p:txBody>
      </p:sp>
      <p:sp>
        <p:nvSpPr>
          <p:cNvPr id="62" name="Text 32">
            <a:extLst>
              <a:ext uri="{FF2B5EF4-FFF2-40B4-BE49-F238E27FC236}">
                <a16:creationId xmlns:a16="http://schemas.microsoft.com/office/drawing/2014/main" id="{11812E9B-5850-E1D8-90D9-FAD3FEC017D7}"/>
              </a:ext>
            </a:extLst>
          </p:cNvPr>
          <p:cNvSpPr/>
          <p:nvPr/>
        </p:nvSpPr>
        <p:spPr>
          <a:xfrm>
            <a:off x="306895" y="8190238"/>
            <a:ext cx="6398971" cy="219456"/>
          </a:xfrm>
          <a:prstGeom prst="rect">
            <a:avLst/>
          </a:prstGeom>
          <a:noFill/>
          <a:ln/>
        </p:spPr>
        <p:txBody>
          <a:bodyPr wrap="square" lIns="0" tIns="0" rIns="0" bIns="0" rtlCol="0" anchor="t"/>
          <a:lstStyle/>
          <a:p>
            <a:pPr marL="139700" indent="-139700">
              <a:lnSpc>
                <a:spcPct val="106000"/>
              </a:lnSpc>
              <a:buSzPct val="100000"/>
              <a:buChar char="•"/>
            </a:pPr>
            <a:r>
              <a:rPr lang="en-US" sz="900" dirty="0">
                <a:solidFill>
                  <a:srgbClr val="5D666B"/>
                </a:solidFill>
                <a:latin typeface="Aptos" pitchFamily="34" charset="0"/>
              </a:rPr>
              <a:t>Conducting a tensile test and characterizing the previously 3D-scanned region after deformation using EBSD</a:t>
            </a:r>
            <a:endParaRPr lang="en-US" sz="975" dirty="0"/>
          </a:p>
        </p:txBody>
      </p:sp>
      <p:sp>
        <p:nvSpPr>
          <p:cNvPr id="68" name="Text 35">
            <a:extLst>
              <a:ext uri="{FF2B5EF4-FFF2-40B4-BE49-F238E27FC236}">
                <a16:creationId xmlns:a16="http://schemas.microsoft.com/office/drawing/2014/main" id="{2F7D2E65-2E3D-DD1B-98AF-16E5BD6564A6}"/>
              </a:ext>
            </a:extLst>
          </p:cNvPr>
          <p:cNvSpPr/>
          <p:nvPr/>
        </p:nvSpPr>
        <p:spPr>
          <a:xfrm>
            <a:off x="288607" y="858362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04  /  PRACTICAL NOTES</a:t>
            </a:r>
            <a:endParaRPr lang="en-US" sz="860" dirty="0"/>
          </a:p>
        </p:txBody>
      </p:sp>
      <p:sp>
        <p:nvSpPr>
          <p:cNvPr id="70" name="Text 36">
            <a:extLst>
              <a:ext uri="{FF2B5EF4-FFF2-40B4-BE49-F238E27FC236}">
                <a16:creationId xmlns:a16="http://schemas.microsoft.com/office/drawing/2014/main" id="{A368D0A1-E117-25EE-605D-20388D61C90D}"/>
              </a:ext>
            </a:extLst>
          </p:cNvPr>
          <p:cNvSpPr/>
          <p:nvPr/>
        </p:nvSpPr>
        <p:spPr>
          <a:xfrm>
            <a:off x="288607" y="8825936"/>
            <a:ext cx="6426403" cy="438912"/>
          </a:xfrm>
          <a:prstGeom prst="rect">
            <a:avLst/>
          </a:prstGeom>
          <a:noFill/>
          <a:ln/>
        </p:spPr>
        <p:txBody>
          <a:bodyPr wrap="square" lIns="0" tIns="0" rIns="0" bIns="0" rtlCol="0" anchor="t"/>
          <a:lstStyle/>
          <a:p>
            <a:pPr marL="0" indent="0">
              <a:lnSpc>
                <a:spcPct val="102000"/>
              </a:lnSpc>
              <a:buNone/>
            </a:pPr>
            <a:r>
              <a:rPr lang="en-US" sz="975" dirty="0">
                <a:solidFill>
                  <a:srgbClr val="5D666B"/>
                </a:solidFill>
                <a:latin typeface="Aptos" pitchFamily="34" charset="0"/>
              </a:rPr>
              <a:t>As the project deals with complex data structures, you should be confident in using Python for analysis and interfacing between the different experimental and simulation data types and structures. Basic knowledge of Linux is beneficial for executing the simulations.</a:t>
            </a:r>
            <a:endParaRPr lang="en-US" sz="975" dirty="0"/>
          </a:p>
        </p:txBody>
      </p:sp>
      <p:sp>
        <p:nvSpPr>
          <p:cNvPr id="72" name="Shape 38">
            <a:extLst>
              <a:ext uri="{FF2B5EF4-FFF2-40B4-BE49-F238E27FC236}">
                <a16:creationId xmlns:a16="http://schemas.microsoft.com/office/drawing/2014/main" id="{081F88CA-2AEC-F488-1189-D6324DB0A884}"/>
              </a:ext>
            </a:extLst>
          </p:cNvPr>
          <p:cNvSpPr/>
          <p:nvPr/>
        </p:nvSpPr>
        <p:spPr>
          <a:xfrm>
            <a:off x="288607" y="9482018"/>
            <a:ext cx="6426403" cy="0"/>
          </a:xfrm>
          <a:prstGeom prst="line">
            <a:avLst/>
          </a:prstGeom>
          <a:noFill/>
          <a:ln w="10160">
            <a:solidFill>
              <a:srgbClr val="DFE2E3"/>
            </a:solidFill>
            <a:prstDash val="solid"/>
          </a:ln>
        </p:spPr>
        <p:txBody>
          <a:bodyPr/>
          <a:lstStyle/>
          <a:p>
            <a:endParaRPr lang="LID4096"/>
          </a:p>
        </p:txBody>
      </p:sp>
      <p:sp>
        <p:nvSpPr>
          <p:cNvPr id="74" name="Text 39">
            <a:extLst>
              <a:ext uri="{FF2B5EF4-FFF2-40B4-BE49-F238E27FC236}">
                <a16:creationId xmlns:a16="http://schemas.microsoft.com/office/drawing/2014/main" id="{7D6E5BF1-5B95-826E-7C58-11E988F22D64}"/>
              </a:ext>
            </a:extLst>
          </p:cNvPr>
          <p:cNvSpPr/>
          <p:nvPr/>
        </p:nvSpPr>
        <p:spPr>
          <a:xfrm>
            <a:off x="288607" y="9555170"/>
            <a:ext cx="4480560" cy="137160"/>
          </a:xfrm>
          <a:prstGeom prst="rect">
            <a:avLst/>
          </a:prstGeom>
          <a:noFill/>
          <a:ln/>
        </p:spPr>
        <p:txBody>
          <a:bodyPr wrap="square" lIns="0" tIns="0" rIns="0" bIns="0" rtlCol="0" anchor="t"/>
          <a:lstStyle/>
          <a:p>
            <a:pPr marL="0" indent="0">
              <a:lnSpc>
                <a:spcPct val="100000"/>
              </a:lnSpc>
              <a:buNone/>
            </a:pPr>
            <a:r>
              <a:rPr lang="en-US" sz="715" kern="0" spc="60" dirty="0">
                <a:solidFill>
                  <a:srgbClr val="5D666B"/>
                </a:solidFill>
                <a:latin typeface="Aptos Display" pitchFamily="34" charset="0"/>
                <a:ea typeface="Aptos Display" pitchFamily="34" charset="-122"/>
                <a:cs typeface="Aptos Display" pitchFamily="34" charset="-120"/>
              </a:rPr>
              <a:t>DTU CONSTRUCT  /  MATERIALS AND SURFACE ENGINEERING</a:t>
            </a:r>
            <a:endParaRPr lang="en-US" sz="715" dirty="0"/>
          </a:p>
        </p:txBody>
      </p:sp>
      <p:pic>
        <p:nvPicPr>
          <p:cNvPr id="7" name="Billede 6">
            <a:extLst>
              <a:ext uri="{FF2B5EF4-FFF2-40B4-BE49-F238E27FC236}">
                <a16:creationId xmlns:a16="http://schemas.microsoft.com/office/drawing/2014/main" id="{E39C8A7F-76A5-9D64-3404-DC7CCE91FCC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20611" y="2538171"/>
            <a:ext cx="4247389" cy="2069334"/>
          </a:xfrm>
          <a:prstGeom prst="rect">
            <a:avLst/>
          </a:prstGeom>
        </p:spPr>
      </p:pic>
    </p:spTree>
    <p:extLst>
      <p:ext uri="{BB962C8B-B14F-4D97-AF65-F5344CB8AC3E}">
        <p14:creationId xmlns:p14="http://schemas.microsoft.com/office/powerpoint/2010/main" val="223614984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604</TotalTime>
  <Words>665</Words>
  <Application>Microsoft Office PowerPoint</Application>
  <PresentationFormat>A4-papir (210 x 297 mm)</PresentationFormat>
  <Paragraphs>54</Paragraphs>
  <Slides>2</Slides>
  <Notes>0</Notes>
  <HiddenSlides>0</HiddenSlides>
  <MMClips>0</MMClips>
  <ScaleCrop>false</ScaleCrop>
  <HeadingPairs>
    <vt:vector size="6" baseType="variant">
      <vt:variant>
        <vt:lpstr>Benyttede skrifttyper</vt:lpstr>
      </vt:variant>
      <vt:variant>
        <vt:i4>3</vt:i4>
      </vt:variant>
      <vt:variant>
        <vt:lpstr>Tema</vt:lpstr>
      </vt:variant>
      <vt:variant>
        <vt:i4>1</vt:i4>
      </vt:variant>
      <vt:variant>
        <vt:lpstr>Slidetitler</vt:lpstr>
      </vt:variant>
      <vt:variant>
        <vt:i4>2</vt:i4>
      </vt:variant>
    </vt:vector>
  </HeadingPairs>
  <TitlesOfParts>
    <vt:vector size="6" baseType="lpstr">
      <vt:lpstr>Aptos</vt:lpstr>
      <vt:lpstr>Aptos Display</vt:lpstr>
      <vt:lpstr>Arial</vt:lpstr>
      <vt:lpstr>Office Theme</vt:lpstr>
      <vt:lpstr>PowerPoint-præsentation</vt:lpstr>
      <vt:lpstr>PowerPoint-præsentation</vt:lpstr>
    </vt:vector>
  </TitlesOfParts>
  <Company>TECHNICAL UNIVERSITY OF DENMARK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Masoud Hasany</dc:creator>
  <cp:lastModifiedBy>Felix Tristan Frankus</cp:lastModifiedBy>
  <cp:revision>22</cp:revision>
  <cp:lastPrinted>2026-10-09T11:17:07Z</cp:lastPrinted>
  <dcterms:created xsi:type="dcterms:W3CDTF">2026-10-09T11:09:38Z</dcterms:created>
  <dcterms:modified xsi:type="dcterms:W3CDTF">2026-10-26T10:15:31Z</dcterms:modified>
</cp:coreProperties>
</file>