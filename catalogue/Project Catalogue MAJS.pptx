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6858000" cy="9906000" type="A4"/>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6" autoAdjust="0"/>
    <p:restoredTop sz="96723" autoAdjust="0"/>
  </p:normalViewPr>
  <p:slideViewPr>
    <p:cSldViewPr snapToGrid="0">
      <p:cViewPr varScale="1">
        <p:scale>
          <a:sx n="83" d="100"/>
          <a:sy n="83" d="100"/>
        </p:scale>
        <p:origin x="61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62210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A29E-2270-4136-9543-60BE7AEB66B4}"/>
              </a:ext>
            </a:extLst>
          </p:cNvPr>
          <p:cNvSpPr>
            <a:spLocks noGrp="1"/>
          </p:cNvSpPr>
          <p:nvPr>
            <p:ph type="ctrTitle"/>
          </p:nvPr>
        </p:nvSpPr>
        <p:spPr>
          <a:xfrm>
            <a:off x="514350" y="1621191"/>
            <a:ext cx="5829300" cy="3448756"/>
          </a:xfrm>
        </p:spPr>
        <p:txBody>
          <a:bodyPr anchor="b"/>
          <a:lstStyle>
            <a:lvl1pPr algn="ctr">
              <a:buNone/>
              <a:defRPr sz="4500"/>
            </a:lvl1pPr>
          </a:lstStyle>
          <a:p>
            <a:r>
              <a:t>Click to edit Master title style</a:t>
            </a:r>
          </a:p>
        </p:txBody>
      </p:sp>
      <p:sp>
        <p:nvSpPr>
          <p:cNvPr id="3" name="Subtitle 2">
            <a:extLst>
              <a:ext uri="{FF2B5EF4-FFF2-40B4-BE49-F238E27FC236}">
                <a16:creationId xmlns:a16="http://schemas.microsoft.com/office/drawing/2014/main" id="{8D50614F-2144-4616-9902-7B8FE94B2E3C}"/>
              </a:ext>
            </a:extLst>
          </p:cNvPr>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Click to edit Master subtitle style</a:t>
            </a:r>
          </a:p>
        </p:txBody>
      </p:sp>
      <p:sp>
        <p:nvSpPr>
          <p:cNvPr id="4" name="Date Placeholder 3">
            <a:extLst>
              <a:ext uri="{FF2B5EF4-FFF2-40B4-BE49-F238E27FC236}">
                <a16:creationId xmlns:a16="http://schemas.microsoft.com/office/drawing/2014/main" id="{FCDF1CDF-8440-4699-B795-CA4B768A068B}"/>
              </a:ext>
            </a:extLst>
          </p:cNvPr>
          <p:cNvSpPr>
            <a:spLocks noGrp="1"/>
          </p:cNvSpPr>
          <p:nvPr>
            <p:ph type="dt" idx="10"/>
          </p:nvPr>
        </p:nvSpPr>
        <p:spPr/>
        <p:txBody>
          <a:bodyPr/>
          <a:lstStyle/>
          <a:p>
            <a:fld id="{FD7949EE-9881-4002-A5D2-5C603941A9EE}" type="datetime1">
              <a:t>10/27/2026</a:t>
            </a:fld>
            <a:endParaRPr/>
          </a:p>
        </p:txBody>
      </p:sp>
      <p:sp>
        <p:nvSpPr>
          <p:cNvPr id="5" name="Footer Placeholder 4">
            <a:extLst>
              <a:ext uri="{FF2B5EF4-FFF2-40B4-BE49-F238E27FC236}">
                <a16:creationId xmlns:a16="http://schemas.microsoft.com/office/drawing/2014/main" id="{B74492E9-7857-45D4-9123-FA7179AA187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77F19BC-CE61-4F74-B0C3-9371752A32CB}"/>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F0621-9DD4-4EF4-8F20-BB2121435E7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3AD798B-0A14-4B99-9030-A4EE95308CAA}"/>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6629817-E5BC-4AA0-AE2D-84C74CE399DB}"/>
              </a:ext>
            </a:extLst>
          </p:cNvPr>
          <p:cNvSpPr>
            <a:spLocks noGrp="1"/>
          </p:cNvSpPr>
          <p:nvPr>
            <p:ph type="dt" idx="10"/>
          </p:nvPr>
        </p:nvSpPr>
        <p:spPr/>
        <p:txBody>
          <a:bodyPr/>
          <a:lstStyle/>
          <a:p>
            <a:fld id="{E4AD393A-51C8-4873-AB5B-33A9CA72457B}" type="datetime1">
              <a:t>10/27/2026</a:t>
            </a:fld>
            <a:endParaRPr/>
          </a:p>
        </p:txBody>
      </p:sp>
      <p:sp>
        <p:nvSpPr>
          <p:cNvPr id="5" name="Footer Placeholder 4">
            <a:extLst>
              <a:ext uri="{FF2B5EF4-FFF2-40B4-BE49-F238E27FC236}">
                <a16:creationId xmlns:a16="http://schemas.microsoft.com/office/drawing/2014/main" id="{18BE96CD-279F-45BE-A74F-11458A4C24F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20E32E2-B705-41FC-82C4-78CE22D0D857}"/>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A20B-11F9-495C-82DA-FFB35E724F86}"/>
              </a:ext>
            </a:extLst>
          </p:cNvPr>
          <p:cNvSpPr>
            <a:spLocks noGrp="1"/>
          </p:cNvSpPr>
          <p:nvPr>
            <p:ph type="title"/>
          </p:nvPr>
        </p:nvSpPr>
        <p:spPr>
          <a:xfrm>
            <a:off x="467916" y="2469624"/>
            <a:ext cx="5915025" cy="4120620"/>
          </a:xfrm>
        </p:spPr>
        <p:txBody>
          <a:bodyPr anchor="b"/>
          <a:lstStyle>
            <a:lvl1pPr>
              <a:buNone/>
              <a:defRPr sz="4500"/>
            </a:lvl1pPr>
          </a:lstStyle>
          <a:p>
            <a:r>
              <a:t>Click to edit Master title style</a:t>
            </a:r>
          </a:p>
        </p:txBody>
      </p:sp>
      <p:sp>
        <p:nvSpPr>
          <p:cNvPr id="3" name="Text Placeholder 2">
            <a:extLst>
              <a:ext uri="{FF2B5EF4-FFF2-40B4-BE49-F238E27FC236}">
                <a16:creationId xmlns:a16="http://schemas.microsoft.com/office/drawing/2014/main" id="{BF501D16-2D7C-40C9-9EC2-3EBBD1FD2193}"/>
              </a:ext>
            </a:extLst>
          </p:cNvPr>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1DB98A77-C865-4860-8424-18D90BE68004}"/>
              </a:ext>
            </a:extLst>
          </p:cNvPr>
          <p:cNvSpPr>
            <a:spLocks noGrp="1"/>
          </p:cNvSpPr>
          <p:nvPr>
            <p:ph type="dt" idx="10"/>
          </p:nvPr>
        </p:nvSpPr>
        <p:spPr/>
        <p:txBody>
          <a:bodyPr/>
          <a:lstStyle/>
          <a:p>
            <a:fld id="{C5ED32DC-3138-49D5-A762-35EF2E7B5708}" type="datetime1">
              <a:t>10/27/2026</a:t>
            </a:fld>
            <a:endParaRPr/>
          </a:p>
        </p:txBody>
      </p:sp>
      <p:sp>
        <p:nvSpPr>
          <p:cNvPr id="5" name="Footer Placeholder 4">
            <a:extLst>
              <a:ext uri="{FF2B5EF4-FFF2-40B4-BE49-F238E27FC236}">
                <a16:creationId xmlns:a16="http://schemas.microsoft.com/office/drawing/2014/main" id="{F5FE8786-22D7-43B8-8703-41D81FDD96E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BA093E-0CAB-49B8-ADE1-CDCC1FB7148A}"/>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D1283-D15A-4A6C-A06A-09D2C98C217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E1F0A03-D1B6-4DE0-8A2E-6B4A07441D63}"/>
              </a:ext>
            </a:extLst>
          </p:cNvPr>
          <p:cNvSpPr>
            <a:spLocks noGrp="1"/>
          </p:cNvSpPr>
          <p:nvPr>
            <p:ph idx="1"/>
          </p:nvPr>
        </p:nvSpPr>
        <p:spPr>
          <a:xfrm>
            <a:off x="471488" y="2637014"/>
            <a:ext cx="2914650" cy="62852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162318C-0FD9-4C2E-B6AB-7575202F6B92}"/>
              </a:ext>
            </a:extLst>
          </p:cNvPr>
          <p:cNvSpPr>
            <a:spLocks noGrp="1"/>
          </p:cNvSpPr>
          <p:nvPr>
            <p:ph idx="2"/>
          </p:nvPr>
        </p:nvSpPr>
        <p:spPr>
          <a:xfrm>
            <a:off x="3471863" y="2637014"/>
            <a:ext cx="2914650" cy="6285266"/>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168DCD1-32A8-4ADE-B3AF-B53A3BE5B2B4}"/>
              </a:ext>
            </a:extLst>
          </p:cNvPr>
          <p:cNvSpPr>
            <a:spLocks noGrp="1"/>
          </p:cNvSpPr>
          <p:nvPr>
            <p:ph type="dt" idx="10"/>
          </p:nvPr>
        </p:nvSpPr>
        <p:spPr/>
        <p:txBody>
          <a:bodyPr/>
          <a:lstStyle/>
          <a:p>
            <a:fld id="{4434DCFC-A56F-426C-B9EF-CD0CDC7D69F1}" type="datetime1">
              <a:t>10/27/2026</a:t>
            </a:fld>
            <a:endParaRPr/>
          </a:p>
        </p:txBody>
      </p:sp>
      <p:sp>
        <p:nvSpPr>
          <p:cNvPr id="6" name="Footer Placeholder 5">
            <a:extLst>
              <a:ext uri="{FF2B5EF4-FFF2-40B4-BE49-F238E27FC236}">
                <a16:creationId xmlns:a16="http://schemas.microsoft.com/office/drawing/2014/main" id="{18758F93-2308-4AF7-A208-6C73B8BDB1C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B0DEA17-DE34-45B0-BE94-059B2ECBE5D1}"/>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95E21-A029-46E4-8FDF-4D0B7743BDF5}"/>
              </a:ext>
            </a:extLst>
          </p:cNvPr>
          <p:cNvSpPr>
            <a:spLocks noGrp="1"/>
          </p:cNvSpPr>
          <p:nvPr>
            <p:ph type="title"/>
          </p:nvPr>
        </p:nvSpPr>
        <p:spPr>
          <a:xfrm>
            <a:off x="472381" y="527405"/>
            <a:ext cx="5915025" cy="1914702"/>
          </a:xfrm>
        </p:spPr>
        <p:txBody>
          <a:bodyPr/>
          <a:lstStyle/>
          <a:p>
            <a:r>
              <a:t>Click to edit Master title style</a:t>
            </a:r>
          </a:p>
        </p:txBody>
      </p:sp>
      <p:sp>
        <p:nvSpPr>
          <p:cNvPr id="3" name="Text Placeholder 2">
            <a:extLst>
              <a:ext uri="{FF2B5EF4-FFF2-40B4-BE49-F238E27FC236}">
                <a16:creationId xmlns:a16="http://schemas.microsoft.com/office/drawing/2014/main" id="{FACB38F6-8B0F-43E0-8D87-F452A1CF3485}"/>
              </a:ext>
            </a:extLst>
          </p:cNvPr>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Click to edit Master text styles</a:t>
            </a:r>
          </a:p>
        </p:txBody>
      </p:sp>
      <p:sp>
        <p:nvSpPr>
          <p:cNvPr id="4" name="Content Placeholder 3">
            <a:extLst>
              <a:ext uri="{FF2B5EF4-FFF2-40B4-BE49-F238E27FC236}">
                <a16:creationId xmlns:a16="http://schemas.microsoft.com/office/drawing/2014/main" id="{601467ED-68EB-4871-B0EE-F39006EF4E35}"/>
              </a:ext>
            </a:extLst>
          </p:cNvPr>
          <p:cNvSpPr>
            <a:spLocks noGrp="1"/>
          </p:cNvSpPr>
          <p:nvPr>
            <p:ph idx="2"/>
          </p:nvPr>
        </p:nvSpPr>
        <p:spPr>
          <a:xfrm>
            <a:off x="472381" y="3618442"/>
            <a:ext cx="2901255" cy="5322183"/>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C93B7F2-A31F-4886-83C5-4021F80B31AC}"/>
              </a:ext>
            </a:extLst>
          </p:cNvPr>
          <p:cNvSpPr>
            <a:spLocks noGrp="1"/>
          </p:cNvSpPr>
          <p:nvPr>
            <p:ph type="body"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Click to edit Master text styles</a:t>
            </a:r>
          </a:p>
        </p:txBody>
      </p:sp>
      <p:sp>
        <p:nvSpPr>
          <p:cNvPr id="6" name="Content Placeholder 5">
            <a:extLst>
              <a:ext uri="{FF2B5EF4-FFF2-40B4-BE49-F238E27FC236}">
                <a16:creationId xmlns:a16="http://schemas.microsoft.com/office/drawing/2014/main" id="{F745203B-6D19-40CC-9147-0F878A95A7C2}"/>
              </a:ext>
            </a:extLst>
          </p:cNvPr>
          <p:cNvSpPr>
            <a:spLocks noGrp="1"/>
          </p:cNvSpPr>
          <p:nvPr>
            <p:ph idx="4"/>
          </p:nvPr>
        </p:nvSpPr>
        <p:spPr>
          <a:xfrm>
            <a:off x="3471863" y="3618442"/>
            <a:ext cx="2915543" cy="5322183"/>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AE9657B-2194-4127-8F93-D7AAACA34219}"/>
              </a:ext>
            </a:extLst>
          </p:cNvPr>
          <p:cNvSpPr>
            <a:spLocks noGrp="1"/>
          </p:cNvSpPr>
          <p:nvPr>
            <p:ph type="dt" idx="10"/>
          </p:nvPr>
        </p:nvSpPr>
        <p:spPr/>
        <p:txBody>
          <a:bodyPr/>
          <a:lstStyle/>
          <a:p>
            <a:fld id="{D54E70D6-12C6-4DE5-9A5D-29B6EE417C39}" type="datetime1">
              <a:t>10/27/2026</a:t>
            </a:fld>
            <a:endParaRPr/>
          </a:p>
        </p:txBody>
      </p:sp>
      <p:sp>
        <p:nvSpPr>
          <p:cNvPr id="8" name="Footer Placeholder 7">
            <a:extLst>
              <a:ext uri="{FF2B5EF4-FFF2-40B4-BE49-F238E27FC236}">
                <a16:creationId xmlns:a16="http://schemas.microsoft.com/office/drawing/2014/main" id="{13BA96EF-6B1B-4D40-BCE5-D0B5C8F4BC78}"/>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88F51C5-2952-4D16-A3ED-4E1D03AF4B14}"/>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5F9DC-8A8D-46FB-BB15-762B0FB6A36B}"/>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4B9387D-20F2-4CD5-9C10-E9668D532DF8}"/>
              </a:ext>
            </a:extLst>
          </p:cNvPr>
          <p:cNvSpPr>
            <a:spLocks noGrp="1"/>
          </p:cNvSpPr>
          <p:nvPr>
            <p:ph type="dt" idx="10"/>
          </p:nvPr>
        </p:nvSpPr>
        <p:spPr/>
        <p:txBody>
          <a:bodyPr/>
          <a:lstStyle/>
          <a:p>
            <a:fld id="{F40E3A64-FA3B-4E33-B42D-2315F535535C}" type="datetime1">
              <a:t>10/27/2026</a:t>
            </a:fld>
            <a:endParaRPr/>
          </a:p>
        </p:txBody>
      </p:sp>
      <p:sp>
        <p:nvSpPr>
          <p:cNvPr id="4" name="Footer Placeholder 3">
            <a:extLst>
              <a:ext uri="{FF2B5EF4-FFF2-40B4-BE49-F238E27FC236}">
                <a16:creationId xmlns:a16="http://schemas.microsoft.com/office/drawing/2014/main" id="{89501A5D-AB73-4BF6-935D-0B57F5599F9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3906D26-26EA-41CD-9DEB-1FD3C6999760}"/>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DA3E58-4CE4-44D4-AF72-6AECBDE05FD0}"/>
              </a:ext>
            </a:extLst>
          </p:cNvPr>
          <p:cNvSpPr>
            <a:spLocks noGrp="1"/>
          </p:cNvSpPr>
          <p:nvPr>
            <p:ph type="dt" idx="10"/>
          </p:nvPr>
        </p:nvSpPr>
        <p:spPr/>
        <p:txBody>
          <a:bodyPr/>
          <a:lstStyle/>
          <a:p>
            <a:fld id="{B58DA539-685E-4880-A468-8EF8C4AD42F8}" type="datetime1">
              <a:t>10/27/2026</a:t>
            </a:fld>
            <a:endParaRPr/>
          </a:p>
        </p:txBody>
      </p:sp>
      <p:sp>
        <p:nvSpPr>
          <p:cNvPr id="3" name="Footer Placeholder 2">
            <a:extLst>
              <a:ext uri="{FF2B5EF4-FFF2-40B4-BE49-F238E27FC236}">
                <a16:creationId xmlns:a16="http://schemas.microsoft.com/office/drawing/2014/main" id="{80B1A739-4FCE-4BA2-856E-0477A65E7654}"/>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C6330A8-18A9-4629-96DB-CA5486A4DF58}"/>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68A6-85EA-4D4F-8488-A9B5F8DDB6D8}"/>
              </a:ext>
            </a:extLst>
          </p:cNvPr>
          <p:cNvSpPr>
            <a:spLocks noGrp="1"/>
          </p:cNvSpPr>
          <p:nvPr>
            <p:ph type="title"/>
          </p:nvPr>
        </p:nvSpPr>
        <p:spPr>
          <a:xfrm>
            <a:off x="472381" y="660400"/>
            <a:ext cx="2211884" cy="2311400"/>
          </a:xfrm>
        </p:spPr>
        <p:txBody>
          <a:bodyPr anchor="b"/>
          <a:lstStyle>
            <a:lvl1pPr>
              <a:buNone/>
              <a:defRPr sz="2400"/>
            </a:lvl1pPr>
          </a:lstStyle>
          <a:p>
            <a:r>
              <a:t>Click to edit Master title style</a:t>
            </a:r>
          </a:p>
        </p:txBody>
      </p:sp>
      <p:sp>
        <p:nvSpPr>
          <p:cNvPr id="3" name="Content Placeholder 2">
            <a:extLst>
              <a:ext uri="{FF2B5EF4-FFF2-40B4-BE49-F238E27FC236}">
                <a16:creationId xmlns:a16="http://schemas.microsoft.com/office/drawing/2014/main" id="{1D730B80-E825-417B-B425-83DAF4B1D5CB}"/>
              </a:ext>
            </a:extLst>
          </p:cNvPr>
          <p:cNvSpPr>
            <a:spLocks noGrp="1"/>
          </p:cNvSpPr>
          <p:nvPr>
            <p:ph idx="1"/>
          </p:nvPr>
        </p:nvSpPr>
        <p:spPr>
          <a:xfrm>
            <a:off x="2915543" y="1426283"/>
            <a:ext cx="3471863" cy="7039681"/>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694D486F-D432-429F-A8B1-5AFF1CF74E67}"/>
              </a:ext>
            </a:extLst>
          </p:cNvPr>
          <p:cNvSpPr>
            <a:spLocks noGrp="1"/>
          </p:cNvSpPr>
          <p:nvPr>
            <p:ph type="body"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Click to edit Master text styles</a:t>
            </a:r>
          </a:p>
        </p:txBody>
      </p:sp>
      <p:sp>
        <p:nvSpPr>
          <p:cNvPr id="5" name="Date Placeholder 4">
            <a:extLst>
              <a:ext uri="{FF2B5EF4-FFF2-40B4-BE49-F238E27FC236}">
                <a16:creationId xmlns:a16="http://schemas.microsoft.com/office/drawing/2014/main" id="{713BA30D-50A7-4929-B9B9-F750C337C71C}"/>
              </a:ext>
            </a:extLst>
          </p:cNvPr>
          <p:cNvSpPr>
            <a:spLocks noGrp="1"/>
          </p:cNvSpPr>
          <p:nvPr>
            <p:ph type="dt" idx="10"/>
          </p:nvPr>
        </p:nvSpPr>
        <p:spPr/>
        <p:txBody>
          <a:bodyPr/>
          <a:lstStyle/>
          <a:p>
            <a:fld id="{F88FD366-2480-4FDC-A6F7-D357B93DAA4F}" type="datetime1">
              <a:t>10/27/2026</a:t>
            </a:fld>
            <a:endParaRPr/>
          </a:p>
        </p:txBody>
      </p:sp>
      <p:sp>
        <p:nvSpPr>
          <p:cNvPr id="6" name="Footer Placeholder 5">
            <a:extLst>
              <a:ext uri="{FF2B5EF4-FFF2-40B4-BE49-F238E27FC236}">
                <a16:creationId xmlns:a16="http://schemas.microsoft.com/office/drawing/2014/main" id="{AFF86F2D-844B-44E8-A187-8FB08B4AC63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5FC78E5-1BAF-4955-9BDB-57DC0B69C284}"/>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8FB8F-3868-4E9F-9C2D-3BF05B6CDAB1}"/>
              </a:ext>
            </a:extLst>
          </p:cNvPr>
          <p:cNvSpPr>
            <a:spLocks noGrp="1"/>
          </p:cNvSpPr>
          <p:nvPr>
            <p:ph type="title"/>
          </p:nvPr>
        </p:nvSpPr>
        <p:spPr>
          <a:xfrm>
            <a:off x="472381" y="660400"/>
            <a:ext cx="2211884" cy="2311400"/>
          </a:xfrm>
        </p:spPr>
        <p:txBody>
          <a:bodyPr anchor="b"/>
          <a:lstStyle>
            <a:lvl1pPr>
              <a:buNone/>
              <a:defRPr sz="2400"/>
            </a:lvl1pPr>
          </a:lstStyle>
          <a:p>
            <a:r>
              <a:t>Click to edit Master title style</a:t>
            </a:r>
          </a:p>
        </p:txBody>
      </p:sp>
      <p:sp>
        <p:nvSpPr>
          <p:cNvPr id="3" name="Picture Placeholder 2">
            <a:extLst>
              <a:ext uri="{FF2B5EF4-FFF2-40B4-BE49-F238E27FC236}">
                <a16:creationId xmlns:a16="http://schemas.microsoft.com/office/drawing/2014/main" id="{1701D57D-1447-4A0E-8433-436B364E7E78}"/>
              </a:ext>
            </a:extLst>
          </p:cNvPr>
          <p:cNvSpPr>
            <a:spLocks noGrp="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 Placeholder 3">
            <a:extLst>
              <a:ext uri="{FF2B5EF4-FFF2-40B4-BE49-F238E27FC236}">
                <a16:creationId xmlns:a16="http://schemas.microsoft.com/office/drawing/2014/main" id="{80B5C252-BFF0-415E-874B-71D17110372C}"/>
              </a:ext>
            </a:extLst>
          </p:cNvPr>
          <p:cNvSpPr>
            <a:spLocks noGrp="1"/>
          </p:cNvSpPr>
          <p:nvPr>
            <p:ph type="body"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Click to edit Master text styles</a:t>
            </a:r>
          </a:p>
        </p:txBody>
      </p:sp>
      <p:sp>
        <p:nvSpPr>
          <p:cNvPr id="5" name="Date Placeholder 4">
            <a:extLst>
              <a:ext uri="{FF2B5EF4-FFF2-40B4-BE49-F238E27FC236}">
                <a16:creationId xmlns:a16="http://schemas.microsoft.com/office/drawing/2014/main" id="{17DFFB46-A7D0-4898-AD33-243D4D90B437}"/>
              </a:ext>
            </a:extLst>
          </p:cNvPr>
          <p:cNvSpPr>
            <a:spLocks noGrp="1"/>
          </p:cNvSpPr>
          <p:nvPr>
            <p:ph type="dt" idx="10"/>
          </p:nvPr>
        </p:nvSpPr>
        <p:spPr/>
        <p:txBody>
          <a:bodyPr/>
          <a:lstStyle/>
          <a:p>
            <a:fld id="{8C470449-18DB-4FF7-8D7E-CF4A040C7D57}" type="datetime1">
              <a:t>10/27/2026</a:t>
            </a:fld>
            <a:endParaRPr/>
          </a:p>
        </p:txBody>
      </p:sp>
      <p:sp>
        <p:nvSpPr>
          <p:cNvPr id="6" name="Footer Placeholder 5">
            <a:extLst>
              <a:ext uri="{FF2B5EF4-FFF2-40B4-BE49-F238E27FC236}">
                <a16:creationId xmlns:a16="http://schemas.microsoft.com/office/drawing/2014/main" id="{13F46E4B-513D-47A6-B387-C6E508FD4FA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510D376-858D-4978-B98C-3A3F9DFC2707}"/>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28C94-D3EF-4E8D-9C6D-E5615034E8FC}"/>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A828D40-5886-40D7-8DD9-DCCFAD2E0562}"/>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F5F33F-9F0D-457E-BADC-A523ACA16563}"/>
              </a:ext>
            </a:extLst>
          </p:cNvPr>
          <p:cNvSpPr>
            <a:spLocks noGrp="1"/>
          </p:cNvSpPr>
          <p:nvPr>
            <p:ph type="dt" idx="10"/>
          </p:nvPr>
        </p:nvSpPr>
        <p:spPr/>
        <p:txBody>
          <a:bodyPr/>
          <a:lstStyle/>
          <a:p>
            <a:fld id="{AA6D735C-9495-42D3-9A57-B69F6B441082}" type="datetime1">
              <a:t>10/27/2026</a:t>
            </a:fld>
            <a:endParaRPr/>
          </a:p>
        </p:txBody>
      </p:sp>
      <p:sp>
        <p:nvSpPr>
          <p:cNvPr id="5" name="Footer Placeholder 4">
            <a:extLst>
              <a:ext uri="{FF2B5EF4-FFF2-40B4-BE49-F238E27FC236}">
                <a16:creationId xmlns:a16="http://schemas.microsoft.com/office/drawing/2014/main" id="{25A641D3-58BF-42DA-818D-F0CA5A58EA0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27E7078-874F-4502-9689-5C015D38B9F8}"/>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CCB025-C5ED-4B1A-9C40-F59B1F44492A}"/>
              </a:ext>
            </a:extLst>
          </p:cNvPr>
          <p:cNvSpPr>
            <a:spLocks noGrp="1"/>
          </p:cNvSpPr>
          <p:nvPr>
            <p:ph type="title"/>
          </p:nvPr>
        </p:nvSpPr>
        <p:spPr>
          <a:xfrm>
            <a:off x="4907757" y="527403"/>
            <a:ext cx="1478756" cy="8394877"/>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E44A805-A49C-4475-BB58-02054FBC5937}"/>
              </a:ext>
            </a:extLst>
          </p:cNvPr>
          <p:cNvSpPr>
            <a:spLocks noGrp="1"/>
          </p:cNvSpPr>
          <p:nvPr>
            <p:ph type="body" idx="1"/>
          </p:nvPr>
        </p:nvSpPr>
        <p:spPr>
          <a:xfrm>
            <a:off x="471488" y="527403"/>
            <a:ext cx="4350544" cy="8394877"/>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D4B8D5C-8BC9-46EB-81E5-36EEE7AE66AE}"/>
              </a:ext>
            </a:extLst>
          </p:cNvPr>
          <p:cNvSpPr>
            <a:spLocks noGrp="1"/>
          </p:cNvSpPr>
          <p:nvPr>
            <p:ph type="dt" idx="10"/>
          </p:nvPr>
        </p:nvSpPr>
        <p:spPr/>
        <p:txBody>
          <a:bodyPr/>
          <a:lstStyle/>
          <a:p>
            <a:fld id="{A59F4679-FE80-435C-9BF4-7126CA01D8FE}" type="datetime1">
              <a:t>10/27/2026</a:t>
            </a:fld>
            <a:endParaRPr/>
          </a:p>
        </p:txBody>
      </p:sp>
      <p:sp>
        <p:nvSpPr>
          <p:cNvPr id="5" name="Footer Placeholder 4">
            <a:extLst>
              <a:ext uri="{FF2B5EF4-FFF2-40B4-BE49-F238E27FC236}">
                <a16:creationId xmlns:a16="http://schemas.microsoft.com/office/drawing/2014/main" id="{22ABEEDF-253B-4460-B85B-D6CDCA51651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6F08A5-2989-41A1-A7EE-717EA858C487}"/>
              </a:ext>
            </a:extLst>
          </p:cNvPr>
          <p:cNvSpPr>
            <a:spLocks noGrp="1"/>
          </p:cNvSpPr>
          <p:nvPr>
            <p:ph type="sldNum" idx="12"/>
          </p:nvPr>
        </p:nvSpPr>
        <p:spPr/>
        <p:txBody>
          <a:bodyPr/>
          <a:lstStyle/>
          <a:p>
            <a:fld id="{F934066D-384D-4BE1-BDC2-82BCC33558D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C2DC1-5B75-4B1E-8D0F-B502C9E33896}"/>
              </a:ext>
            </a:extLst>
          </p:cNvPr>
          <p:cNvSpPr>
            <a:spLocks noGrp="1"/>
          </p:cNvSpPr>
          <p:nvPr>
            <p:ph type="title"/>
          </p:nvPr>
        </p:nvSpPr>
        <p:spPr>
          <a:xfrm>
            <a:off x="471488" y="527405"/>
            <a:ext cx="5915025" cy="1914702"/>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38341BF-8260-4FA5-BE07-CF5CE1DC0766}"/>
              </a:ext>
            </a:extLst>
          </p:cNvPr>
          <p:cNvSpPr>
            <a:spLocks noGrp="1"/>
          </p:cNvSpPr>
          <p:nvPr>
            <p:ph type="body" idx="1"/>
          </p:nvPr>
        </p:nvSpPr>
        <p:spPr>
          <a:xfrm>
            <a:off x="471488" y="2637014"/>
            <a:ext cx="5915025" cy="6285266"/>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71A1E10-C23F-4FE4-85E5-D134D631286B}"/>
              </a:ext>
            </a:extLst>
          </p:cNvPr>
          <p:cNvSpPr>
            <a:spLocks noGrp="1"/>
          </p:cNvSpPr>
          <p:nvPr>
            <p:ph type="dt" idx="2"/>
          </p:nvPr>
        </p:nvSpPr>
        <p:spPr>
          <a:xfrm>
            <a:off x="471488" y="9181397"/>
            <a:ext cx="1543050" cy="527403"/>
          </a:xfrm>
          <a:prstGeom prst="rect">
            <a:avLst/>
          </a:prstGeom>
        </p:spPr>
        <p:txBody>
          <a:bodyPr vert="horz" lIns="91440" tIns="45720" rIns="91440" bIns="45720" anchor="ctr"/>
          <a:lstStyle>
            <a:lvl1pPr algn="l">
              <a:buNone/>
              <a:defRPr sz="900">
                <a:solidFill>
                  <a:schemeClr val="tx1">
                    <a:tint val="82000"/>
                  </a:schemeClr>
                </a:solidFill>
              </a:defRPr>
            </a:lvl1pPr>
          </a:lstStyle>
          <a:p>
            <a:fld id="{43F121EA-D16B-4B7B-A7AE-6CA1296CE191}" type="datetime1">
              <a:t>10/27/2026</a:t>
            </a:fld>
            <a:endParaRPr/>
          </a:p>
        </p:txBody>
      </p:sp>
      <p:sp>
        <p:nvSpPr>
          <p:cNvPr id="5" name="Footer Placeholder 4">
            <a:extLst>
              <a:ext uri="{FF2B5EF4-FFF2-40B4-BE49-F238E27FC236}">
                <a16:creationId xmlns:a16="http://schemas.microsoft.com/office/drawing/2014/main" id="{D910C791-D52A-4F6E-B2DD-2B9C8265EE98}"/>
              </a:ext>
            </a:extLst>
          </p:cNvPr>
          <p:cNvSpPr>
            <a:spLocks noGrp="1"/>
          </p:cNvSpPr>
          <p:nvPr>
            <p:ph type="ftr" idx="3"/>
          </p:nvPr>
        </p:nvSpPr>
        <p:spPr>
          <a:xfrm>
            <a:off x="2271713" y="9181397"/>
            <a:ext cx="2314575" cy="527403"/>
          </a:xfrm>
          <a:prstGeom prst="rect">
            <a:avLst/>
          </a:prstGeom>
        </p:spPr>
        <p:txBody>
          <a:bodyPr vert="horz" lIns="91440" tIns="45720" rIns="91440" bIns="45720" anchor="ctr"/>
          <a:lstStyle>
            <a:lvl1pPr algn="ctr">
              <a:buNone/>
              <a:defRPr sz="9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AE5AB36-8332-4C79-9146-BEFD91DCEF02}"/>
              </a:ext>
            </a:extLst>
          </p:cNvPr>
          <p:cNvSpPr>
            <a:spLocks noGrp="1"/>
          </p:cNvSpPr>
          <p:nvPr>
            <p:ph type="sldNum" idx="4"/>
          </p:nvPr>
        </p:nvSpPr>
        <p:spPr>
          <a:xfrm>
            <a:off x="4843463" y="9181397"/>
            <a:ext cx="1543050" cy="527403"/>
          </a:xfrm>
          <a:prstGeom prst="rect">
            <a:avLst/>
          </a:prstGeom>
        </p:spPr>
        <p:txBody>
          <a:bodyPr vert="horz" lIns="91440" tIns="45720" rIns="91440" bIns="45720" anchor="ctr"/>
          <a:lstStyle>
            <a:lvl1pPr algn="r">
              <a:buNone/>
              <a:defRPr sz="900">
                <a:solidFill>
                  <a:schemeClr val="tx1">
                    <a:tint val="82000"/>
                  </a:schemeClr>
                </a:solidFill>
              </a:defRPr>
            </a:lvl1pPr>
          </a:lstStyle>
          <a:p>
            <a:fld id="{F934066D-384D-4BE1-BDC2-82BCC33558D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a:lnSpc>
          <a:spcPct val="90000"/>
        </a:lnSpc>
        <a:spcBef>
          <a:spcPct val="0"/>
        </a:spcBef>
        <a:buNone/>
        <a:defRPr sz="33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idx="12"/>
          </p:nvPr>
        </p:nvSpPr>
        <p:spPr>
          <a:xfrm>
            <a:off x="4989080" y="9329519"/>
            <a:ext cx="1543050" cy="527403"/>
          </a:xfrm>
        </p:spPr>
        <p:txBody>
          <a:bodyPr/>
          <a:lstStyle/>
          <a:p>
            <a:fld id="{F934066D-384D-4BE1-BDC2-82BCC33558DD}" type="slidenum">
              <a:rPr sz="800" b="1">
                <a:solidFill>
                  <a:srgbClr val="C00000"/>
                </a:solidFill>
                <a:latin typeface="+mj-lt"/>
                <a:ea typeface="+mj-lt"/>
                <a:cs typeface="+mj-lt"/>
              </a:rPr>
              <a:t>1</a:t>
            </a:fld>
            <a:endParaRPr sz="800" b="1">
              <a:solidFill>
                <a:srgbClr val="C00000"/>
              </a:solidFill>
              <a:latin typeface="+mj-lt"/>
              <a:ea typeface="+mj-lt"/>
              <a:cs typeface="+mj-lt"/>
            </a:endParaRPr>
          </a:p>
        </p:txBody>
      </p:sp>
      <p:sp>
        <p:nvSpPr>
          <p:cNvPr id="6" name="Shape 1">
            <a:extLst>
              <a:ext uri="{FF2B5EF4-FFF2-40B4-BE49-F238E27FC236}">
                <a16:creationId xmlns:a16="http://schemas.microsoft.com/office/drawing/2014/main" id="{89BF93BE-C274-0D15-669E-1FA3EF5814EB}"/>
              </a:ext>
            </a:extLst>
          </p:cNvPr>
          <p:cNvSpPr>
            <a:spLocks noGrp="1"/>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a:p>
        </p:txBody>
      </p:sp>
      <p:sp>
        <p:nvSpPr>
          <p:cNvPr id="8" name="Text 2">
            <a:extLst>
              <a:ext uri="{FF2B5EF4-FFF2-40B4-BE49-F238E27FC236}">
                <a16:creationId xmlns:a16="http://schemas.microsoft.com/office/drawing/2014/main" id="{5EAF69B7-3F7F-6E8A-4099-7209EA4CC33C}"/>
              </a:ext>
            </a:extLst>
          </p:cNvPr>
          <p:cNvSpPr>
            <a:spLocks noGrp="1"/>
          </p:cNvSpPr>
          <p:nvPr/>
        </p:nvSpPr>
        <p:spPr>
          <a:xfrm>
            <a:off x="444055" y="278582"/>
            <a:ext cx="5166360" cy="210312"/>
          </a:xfrm>
          <a:prstGeom prst="rect">
            <a:avLst/>
          </a:prstGeom>
          <a:noFill/>
        </p:spPr>
        <p:txBody>
          <a:bodyPr wrap="square" lIns="0" tIns="0" rIns="0" bIns="0" anchor="t"/>
          <a:lstStyle/>
          <a:p>
            <a:pPr marL="0" indent="0">
              <a:lnSpc>
                <a:spcPct val="100000"/>
              </a:lnSpc>
              <a:buNone/>
            </a:pPr>
            <a:r>
              <a:rPr sz="1100" b="1" spc="20">
                <a:solidFill>
                  <a:srgbClr val="22282D"/>
                </a:solidFill>
                <a:latin typeface="Aptos Display"/>
                <a:ea typeface="Aptos Display"/>
                <a:cs typeface="Aptos Display"/>
              </a:rPr>
              <a:t>MATERIALS AND SURFACE ENGINEERING</a:t>
            </a:r>
            <a:endParaRPr sz="1100"/>
          </a:p>
        </p:txBody>
      </p:sp>
      <p:pic>
        <p:nvPicPr>
          <p:cNvPr id="12" name="Image 0">
            <a:extLst>
              <a:ext uri="{FF2B5EF4-FFF2-40B4-BE49-F238E27FC236}">
                <a16:creationId xmlns:a16="http://schemas.microsoft.com/office/drawing/2014/main" id="{15270B92-8C31-4D7F-9D7F-5AD12904E42A}"/>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a:spLocks noGrp="1"/>
          </p:cNvSpPr>
          <p:nvPr/>
        </p:nvSpPr>
        <p:spPr>
          <a:xfrm>
            <a:off x="288607" y="936950"/>
            <a:ext cx="6426403" cy="0"/>
          </a:xfrm>
          <a:prstGeom prst="line">
            <a:avLst/>
          </a:prstGeom>
          <a:noFill/>
          <a:ln w="19050">
            <a:solidFill>
              <a:srgbClr val="A30018"/>
            </a:solidFill>
            <a:prstDash val="solid"/>
          </a:ln>
        </p:spPr>
        <p:txBody>
          <a:bodyPr/>
          <a:lstStyle/>
          <a:p>
            <a:endParaRPr/>
          </a:p>
        </p:txBody>
      </p:sp>
      <p:sp>
        <p:nvSpPr>
          <p:cNvPr id="16" name="Text 5">
            <a:extLst>
              <a:ext uri="{FF2B5EF4-FFF2-40B4-BE49-F238E27FC236}">
                <a16:creationId xmlns:a16="http://schemas.microsoft.com/office/drawing/2014/main" id="{F9F2F617-4FE4-3AFB-5BE6-447724F14CFF}"/>
              </a:ext>
            </a:extLst>
          </p:cNvPr>
          <p:cNvSpPr>
            <a:spLocks noGrp="1"/>
          </p:cNvSpPr>
          <p:nvPr/>
        </p:nvSpPr>
        <p:spPr>
          <a:xfrm>
            <a:off x="288608" y="1225010"/>
            <a:ext cx="6426422"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00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PROJECT LEVEL: MASTER'S THESIS</a:t>
            </a:r>
            <a:endParaRPr sz="860" dirty="0"/>
          </a:p>
        </p:txBody>
      </p:sp>
      <p:sp>
        <p:nvSpPr>
          <p:cNvPr id="18" name="Text 6">
            <a:extLst>
              <a:ext uri="{FF2B5EF4-FFF2-40B4-BE49-F238E27FC236}">
                <a16:creationId xmlns:a16="http://schemas.microsoft.com/office/drawing/2014/main" id="{6F0B72D1-F35C-ED87-929B-81DB04BC902C}"/>
              </a:ext>
            </a:extLst>
          </p:cNvPr>
          <p:cNvSpPr>
            <a:spLocks noGrp="1"/>
          </p:cNvSpPr>
          <p:nvPr/>
        </p:nvSpPr>
        <p:spPr>
          <a:xfrm>
            <a:off x="288608" y="1526762"/>
            <a:ext cx="6426422" cy="876300"/>
          </a:xfrm>
          <a:prstGeom prst="rect">
            <a:avLst/>
          </a:prstGeom>
          <a:noFill/>
        </p:spPr>
        <p:txBody>
          <a:bodyPr wrap="square" lIns="0" tIns="0" rIns="0" bIns="0" anchor="t">
            <a:noAutofit/>
          </a:bodyPr>
          <a:lstStyle>
            <a:defPPr algn="l">
              <a:defRPr sz="2000" b="1">
                <a:solidFill>
                  <a:srgbClr val="22282D"/>
                </a:solidFill>
                <a:latin typeface="Aptos Display"/>
                <a:ea typeface="Aptos Display"/>
                <a:cs typeface="Aptos Display"/>
              </a:defRPr>
            </a:defPPr>
            <a:lvl1pPr algn="l">
              <a:defRPr sz="2000" b="1">
                <a:solidFill>
                  <a:srgbClr val="22282D"/>
                </a:solidFill>
                <a:latin typeface="Aptos Display"/>
                <a:ea typeface="Aptos Display"/>
                <a:cs typeface="Aptos Display"/>
              </a:defRPr>
            </a:lvl1pPr>
            <a:lvl2pPr algn="l">
              <a:defRPr sz="2000" b="1">
                <a:solidFill>
                  <a:srgbClr val="22282D"/>
                </a:solidFill>
                <a:latin typeface="Aptos Display"/>
                <a:ea typeface="Aptos Display"/>
                <a:cs typeface="Aptos Display"/>
              </a:defRPr>
            </a:lvl2pPr>
            <a:lvl3pPr algn="l">
              <a:defRPr sz="2000" b="1">
                <a:solidFill>
                  <a:srgbClr val="22282D"/>
                </a:solidFill>
                <a:latin typeface="Aptos Display"/>
                <a:ea typeface="Aptos Display"/>
                <a:cs typeface="Aptos Display"/>
              </a:defRPr>
            </a:lvl3pPr>
            <a:lvl4pPr algn="l">
              <a:defRPr sz="2000" b="1">
                <a:solidFill>
                  <a:srgbClr val="22282D"/>
                </a:solidFill>
                <a:latin typeface="Aptos Display"/>
                <a:ea typeface="Aptos Display"/>
                <a:cs typeface="Aptos Display"/>
              </a:defRPr>
            </a:lvl4pPr>
            <a:lvl5pPr algn="l">
              <a:defRPr sz="2000" b="1">
                <a:solidFill>
                  <a:srgbClr val="22282D"/>
                </a:solidFill>
                <a:latin typeface="Aptos Display"/>
                <a:ea typeface="Aptos Display"/>
                <a:cs typeface="Aptos Display"/>
              </a:defRPr>
            </a:lvl5pPr>
            <a:lvl6pPr algn="l">
              <a:defRPr sz="2000" b="1">
                <a:solidFill>
                  <a:srgbClr val="22282D"/>
                </a:solidFill>
                <a:latin typeface="Aptos Display"/>
                <a:ea typeface="Aptos Display"/>
                <a:cs typeface="Aptos Display"/>
              </a:defRPr>
            </a:lvl6pPr>
            <a:lvl7pPr algn="l">
              <a:defRPr sz="2000" b="1">
                <a:solidFill>
                  <a:srgbClr val="22282D"/>
                </a:solidFill>
                <a:latin typeface="Aptos Display"/>
                <a:ea typeface="Aptos Display"/>
                <a:cs typeface="Aptos Display"/>
              </a:defRPr>
            </a:lvl7pPr>
            <a:lvl8pPr algn="l">
              <a:defRPr sz="2000" b="1">
                <a:solidFill>
                  <a:srgbClr val="22282D"/>
                </a:solidFill>
                <a:latin typeface="Aptos Display"/>
                <a:ea typeface="Aptos Display"/>
                <a:cs typeface="Aptos Display"/>
              </a:defRPr>
            </a:lvl8pPr>
            <a:lvl9pPr algn="l">
              <a:defRPr sz="2000" b="1">
                <a:solidFill>
                  <a:srgbClr val="22282D"/>
                </a:solidFill>
                <a:latin typeface="Aptos Display"/>
                <a:ea typeface="Aptos Display"/>
                <a:cs typeface="Aptos Display"/>
              </a:defRPr>
            </a:lvl9pPr>
          </a:lstStyle>
          <a:p>
            <a:pPr marL="0" indent="0" algn="l">
              <a:lnSpc>
                <a:spcPct val="95000"/>
              </a:lnSpc>
              <a:buNone/>
              <a:defRPr sz="2000" b="1">
                <a:solidFill>
                  <a:srgbClr val="22282D"/>
                </a:solidFill>
                <a:latin typeface="Aptos Display"/>
                <a:ea typeface="Aptos Display"/>
                <a:cs typeface="Aptos Display"/>
              </a:defRPr>
            </a:pPr>
            <a:r>
              <a:rPr sz="2000" b="1" dirty="0">
                <a:solidFill>
                  <a:srgbClr val="22282D"/>
                </a:solidFill>
                <a:latin typeface="Aptos Display"/>
                <a:ea typeface="Aptos Display"/>
                <a:cs typeface="Aptos Display"/>
              </a:rPr>
              <a:t>Powder design for cold-sprayed</a:t>
            </a:r>
            <a:endParaRPr sz="2000" dirty="0"/>
          </a:p>
          <a:p>
            <a:pPr marL="0" indent="0" algn="l">
              <a:lnSpc>
                <a:spcPct val="95000"/>
              </a:lnSpc>
              <a:buNone/>
              <a:defRPr sz="2000" b="1">
                <a:solidFill>
                  <a:srgbClr val="22282D"/>
                </a:solidFill>
                <a:latin typeface="Aptos Display"/>
                <a:ea typeface="Aptos Display"/>
                <a:cs typeface="Aptos Display"/>
              </a:defRPr>
            </a:pPr>
            <a:r>
              <a:rPr sz="2000" b="1" dirty="0" err="1">
                <a:solidFill>
                  <a:srgbClr val="22282D"/>
                </a:solidFill>
                <a:latin typeface="Aptos Display"/>
                <a:ea typeface="Aptos Display"/>
                <a:cs typeface="Aptos Display"/>
              </a:rPr>
              <a:t>Al</a:t>
            </a:r>
            <a:r>
              <a:rPr lang="en-US" sz="2000" b="1" dirty="0" err="1">
                <a:solidFill>
                  <a:srgbClr val="22282D"/>
                </a:solidFill>
                <a:latin typeface="Aptos Display"/>
                <a:ea typeface="Aptos Display"/>
                <a:cs typeface="Aptos Display"/>
              </a:rPr>
              <a:t>-</a:t>
            </a:r>
            <a:r>
              <a:rPr sz="2000" b="1" dirty="0" err="1">
                <a:solidFill>
                  <a:srgbClr val="22282D"/>
                </a:solidFill>
                <a:latin typeface="Aptos Display"/>
                <a:ea typeface="Aptos Display"/>
                <a:cs typeface="Aptos Display"/>
              </a:rPr>
              <a:t>Al₂O</a:t>
            </a:r>
            <a:r>
              <a:rPr sz="2000" b="1" dirty="0">
                <a:solidFill>
                  <a:srgbClr val="22282D"/>
                </a:solidFill>
                <a:latin typeface="Aptos Display"/>
                <a:ea typeface="Aptos Display"/>
                <a:cs typeface="Aptos Display"/>
              </a:rPr>
              <a:t>₃ coatings on aluminum</a:t>
            </a:r>
            <a:r>
              <a:rPr lang="en-US" sz="2000" b="1" dirty="0">
                <a:solidFill>
                  <a:srgbClr val="22282D"/>
                </a:solidFill>
                <a:latin typeface="Aptos Display"/>
                <a:ea typeface="Aptos Display"/>
                <a:cs typeface="Aptos Display"/>
              </a:rPr>
              <a:t> substrate</a:t>
            </a:r>
            <a:endParaRPr sz="2000" dirty="0"/>
          </a:p>
        </p:txBody>
      </p:sp>
      <p:sp>
        <p:nvSpPr>
          <p:cNvPr id="24" name="Text 13">
            <a:extLst>
              <a:ext uri="{FF2B5EF4-FFF2-40B4-BE49-F238E27FC236}">
                <a16:creationId xmlns:a16="http://schemas.microsoft.com/office/drawing/2014/main" id="{92D05183-68B0-0CD1-9862-417A2C8C76EA}"/>
              </a:ext>
            </a:extLst>
          </p:cNvPr>
          <p:cNvSpPr>
            <a:spLocks noGrp="1"/>
          </p:cNvSpPr>
          <p:nvPr/>
        </p:nvSpPr>
        <p:spPr>
          <a:xfrm>
            <a:off x="292229" y="4237013"/>
            <a:ext cx="4306824" cy="171450"/>
          </a:xfrm>
          <a:prstGeom prst="rect">
            <a:avLst/>
          </a:prstGeom>
          <a:noFill/>
        </p:spPr>
        <p:txBody>
          <a:bodyPr wrap="square" lIns="0" tIns="0" rIns="0" bIns="0" anchor="t">
            <a:noAutofit/>
          </a:bodyPr>
          <a:lstStyle>
            <a:defPPr algn="l">
              <a:defRPr sz="685">
                <a:solidFill>
                  <a:srgbClr val="5D666B"/>
                </a:solidFill>
                <a:latin typeface="Aptos"/>
                <a:ea typeface="Aptos"/>
                <a:cs typeface="Aptos"/>
              </a:defRPr>
            </a:defPPr>
            <a:lvl1pPr algn="l">
              <a:defRPr sz="685">
                <a:solidFill>
                  <a:srgbClr val="5D666B"/>
                </a:solidFill>
                <a:latin typeface="Aptos"/>
                <a:ea typeface="Aptos"/>
                <a:cs typeface="Aptos"/>
              </a:defRPr>
            </a:lvl1pPr>
            <a:lvl2pPr algn="l">
              <a:defRPr sz="685">
                <a:solidFill>
                  <a:srgbClr val="5D666B"/>
                </a:solidFill>
                <a:latin typeface="Aptos"/>
                <a:ea typeface="Aptos"/>
                <a:cs typeface="Aptos"/>
              </a:defRPr>
            </a:lvl2pPr>
            <a:lvl3pPr algn="l">
              <a:defRPr sz="685">
                <a:solidFill>
                  <a:srgbClr val="5D666B"/>
                </a:solidFill>
                <a:latin typeface="Aptos"/>
                <a:ea typeface="Aptos"/>
                <a:cs typeface="Aptos"/>
              </a:defRPr>
            </a:lvl3pPr>
            <a:lvl4pPr algn="l">
              <a:defRPr sz="685">
                <a:solidFill>
                  <a:srgbClr val="5D666B"/>
                </a:solidFill>
                <a:latin typeface="Aptos"/>
                <a:ea typeface="Aptos"/>
                <a:cs typeface="Aptos"/>
              </a:defRPr>
            </a:lvl4pPr>
            <a:lvl5pPr algn="l">
              <a:defRPr sz="685">
                <a:solidFill>
                  <a:srgbClr val="5D666B"/>
                </a:solidFill>
                <a:latin typeface="Aptos"/>
                <a:ea typeface="Aptos"/>
                <a:cs typeface="Aptos"/>
              </a:defRPr>
            </a:lvl5pPr>
            <a:lvl6pPr algn="l">
              <a:defRPr sz="685">
                <a:solidFill>
                  <a:srgbClr val="5D666B"/>
                </a:solidFill>
                <a:latin typeface="Aptos"/>
                <a:ea typeface="Aptos"/>
                <a:cs typeface="Aptos"/>
              </a:defRPr>
            </a:lvl6pPr>
            <a:lvl7pPr algn="l">
              <a:defRPr sz="685">
                <a:solidFill>
                  <a:srgbClr val="5D666B"/>
                </a:solidFill>
                <a:latin typeface="Aptos"/>
                <a:ea typeface="Aptos"/>
                <a:cs typeface="Aptos"/>
              </a:defRPr>
            </a:lvl7pPr>
            <a:lvl8pPr algn="l">
              <a:defRPr sz="685">
                <a:solidFill>
                  <a:srgbClr val="5D666B"/>
                </a:solidFill>
                <a:latin typeface="Aptos"/>
                <a:ea typeface="Aptos"/>
                <a:cs typeface="Aptos"/>
              </a:defRPr>
            </a:lvl8pPr>
            <a:lvl9pPr algn="l">
              <a:defRPr sz="685">
                <a:solidFill>
                  <a:srgbClr val="5D666B"/>
                </a:solidFill>
                <a:latin typeface="Aptos"/>
                <a:ea typeface="Aptos"/>
                <a:cs typeface="Aptos"/>
              </a:defRPr>
            </a:lvl9pPr>
          </a:lstStyle>
          <a:p>
            <a:pPr marL="0" indent="0" algn="ctr">
              <a:lnSpc>
                <a:spcPct val="100000"/>
              </a:lnSpc>
              <a:buNone/>
              <a:defRPr sz="685">
                <a:solidFill>
                  <a:srgbClr val="5D666B"/>
                </a:solidFill>
                <a:latin typeface="Aptos"/>
                <a:ea typeface="Aptos"/>
                <a:cs typeface="Aptos"/>
              </a:defRPr>
            </a:pPr>
            <a:r>
              <a:rPr lang="en-US" sz="685" spc="45" dirty="0">
                <a:solidFill>
                  <a:srgbClr val="5D666B"/>
                </a:solidFill>
                <a:latin typeface="Aptos"/>
                <a:ea typeface="Aptos"/>
                <a:cs typeface="Aptos"/>
              </a:rPr>
              <a:t>Left: BSE cross-section of a coating deposited from an Al-60 wt.% </a:t>
            </a:r>
            <a:r>
              <a:rPr lang="en-US" sz="685" spc="45" dirty="0" err="1">
                <a:solidFill>
                  <a:srgbClr val="5D666B"/>
                </a:solidFill>
                <a:latin typeface="Aptos"/>
                <a:ea typeface="Aptos"/>
                <a:cs typeface="Aptos"/>
              </a:rPr>
              <a:t>Al₂O</a:t>
            </a:r>
            <a:r>
              <a:rPr lang="en-US" sz="685" spc="45" dirty="0">
                <a:solidFill>
                  <a:srgbClr val="5D666B"/>
                </a:solidFill>
                <a:latin typeface="Aptos"/>
                <a:ea typeface="Aptos"/>
                <a:cs typeface="Aptos"/>
              </a:rPr>
              <a:t>₃ powder blend. </a:t>
            </a:r>
          </a:p>
          <a:p>
            <a:pPr marL="0" indent="0" algn="ctr">
              <a:lnSpc>
                <a:spcPct val="100000"/>
              </a:lnSpc>
              <a:buNone/>
              <a:defRPr sz="685">
                <a:solidFill>
                  <a:srgbClr val="5D666B"/>
                </a:solidFill>
                <a:latin typeface="Aptos"/>
                <a:ea typeface="Aptos"/>
                <a:cs typeface="Aptos"/>
              </a:defRPr>
            </a:pPr>
            <a:r>
              <a:rPr lang="en-US" sz="685" spc="45" dirty="0">
                <a:solidFill>
                  <a:srgbClr val="5D666B"/>
                </a:solidFill>
                <a:latin typeface="Aptos"/>
                <a:ea typeface="Aptos"/>
                <a:cs typeface="Aptos"/>
              </a:rPr>
              <a:t>Right: Corresponding image segmentation used to quantify the area fractions of the Al matrix, retained </a:t>
            </a:r>
            <a:r>
              <a:rPr lang="en-US" sz="685" spc="45" dirty="0" err="1">
                <a:solidFill>
                  <a:srgbClr val="5D666B"/>
                </a:solidFill>
                <a:latin typeface="Aptos"/>
                <a:ea typeface="Aptos"/>
                <a:cs typeface="Aptos"/>
              </a:rPr>
              <a:t>Al₂O</a:t>
            </a:r>
            <a:r>
              <a:rPr lang="en-US" sz="685" spc="45" dirty="0">
                <a:solidFill>
                  <a:srgbClr val="5D666B"/>
                </a:solidFill>
                <a:latin typeface="Aptos"/>
                <a:ea typeface="Aptos"/>
                <a:cs typeface="Aptos"/>
              </a:rPr>
              <a:t>₃ and porosity.</a:t>
            </a:r>
            <a:endParaRPr sz="685" dirty="0"/>
          </a:p>
        </p:txBody>
      </p:sp>
      <p:sp>
        <p:nvSpPr>
          <p:cNvPr id="26" name="Shape 14">
            <a:extLst>
              <a:ext uri="{FF2B5EF4-FFF2-40B4-BE49-F238E27FC236}">
                <a16:creationId xmlns:a16="http://schemas.microsoft.com/office/drawing/2014/main" id="{AA36B306-337C-04B4-9B92-70B043FEE96D}"/>
              </a:ext>
            </a:extLst>
          </p:cNvPr>
          <p:cNvSpPr>
            <a:spLocks noGrp="1"/>
          </p:cNvSpPr>
          <p:nvPr/>
        </p:nvSpPr>
        <p:spPr>
          <a:xfrm>
            <a:off x="4686871" y="2499812"/>
            <a:ext cx="0" cy="2112264"/>
          </a:xfrm>
          <a:prstGeom prst="line">
            <a:avLst/>
          </a:prstGeom>
          <a:noFill/>
          <a:ln w="12700">
            <a:solidFill>
              <a:srgbClr val="DFE2E3"/>
            </a:solidFill>
            <a:prstDash val="solid"/>
          </a:ln>
        </p:spPr>
        <p:txBody>
          <a:bodyPr/>
          <a:lstStyle/>
          <a:p>
            <a:endParaRPr/>
          </a:p>
        </p:txBody>
      </p:sp>
      <p:sp>
        <p:nvSpPr>
          <p:cNvPr id="28" name="Text 15">
            <a:extLst>
              <a:ext uri="{FF2B5EF4-FFF2-40B4-BE49-F238E27FC236}">
                <a16:creationId xmlns:a16="http://schemas.microsoft.com/office/drawing/2014/main" id="{DDA6AD76-253A-BDEE-D80F-CF8C578343F2}"/>
              </a:ext>
            </a:extLst>
          </p:cNvPr>
          <p:cNvSpPr>
            <a:spLocks noGrp="1"/>
          </p:cNvSpPr>
          <p:nvPr/>
        </p:nvSpPr>
        <p:spPr>
          <a:xfrm>
            <a:off x="4805744" y="2239321"/>
            <a:ext cx="1901952" cy="201168"/>
          </a:xfrm>
          <a:prstGeom prst="rect">
            <a:avLst/>
          </a:prstGeom>
          <a:noFill/>
        </p:spPr>
        <p:txBody>
          <a:bodyPr wrap="square" lIns="0" tIns="0" rIns="0" bIns="0" anchor="t">
            <a:noAutofit/>
          </a:bodyPr>
          <a:lstStyle>
            <a:defPPr algn="l">
              <a:defRPr sz="860" b="1">
                <a:solidFill>
                  <a:srgbClr val="5D666B"/>
                </a:solidFill>
                <a:latin typeface="Aptos Display"/>
                <a:ea typeface="Aptos Display"/>
                <a:cs typeface="Aptos Display"/>
              </a:defRPr>
            </a:defPPr>
            <a:lvl1pPr algn="l">
              <a:defRPr sz="860" b="1">
                <a:solidFill>
                  <a:srgbClr val="5D666B"/>
                </a:solidFill>
                <a:latin typeface="Aptos Display"/>
                <a:ea typeface="Aptos Display"/>
                <a:cs typeface="Aptos Display"/>
              </a:defRPr>
            </a:lvl1pPr>
            <a:lvl2pPr algn="l">
              <a:defRPr sz="860" b="1">
                <a:solidFill>
                  <a:srgbClr val="5D666B"/>
                </a:solidFill>
                <a:latin typeface="Aptos Display"/>
                <a:ea typeface="Aptos Display"/>
                <a:cs typeface="Aptos Display"/>
              </a:defRPr>
            </a:lvl2pPr>
            <a:lvl3pPr algn="l">
              <a:defRPr sz="860" b="1">
                <a:solidFill>
                  <a:srgbClr val="5D666B"/>
                </a:solidFill>
                <a:latin typeface="Aptos Display"/>
                <a:ea typeface="Aptos Display"/>
                <a:cs typeface="Aptos Display"/>
              </a:defRPr>
            </a:lvl3pPr>
            <a:lvl4pPr algn="l">
              <a:defRPr sz="860" b="1">
                <a:solidFill>
                  <a:srgbClr val="5D666B"/>
                </a:solidFill>
                <a:latin typeface="Aptos Display"/>
                <a:ea typeface="Aptos Display"/>
                <a:cs typeface="Aptos Display"/>
              </a:defRPr>
            </a:lvl4pPr>
            <a:lvl5pPr algn="l">
              <a:defRPr sz="860" b="1">
                <a:solidFill>
                  <a:srgbClr val="5D666B"/>
                </a:solidFill>
                <a:latin typeface="Aptos Display"/>
                <a:ea typeface="Aptos Display"/>
                <a:cs typeface="Aptos Display"/>
              </a:defRPr>
            </a:lvl5pPr>
            <a:lvl6pPr algn="l">
              <a:defRPr sz="860" b="1">
                <a:solidFill>
                  <a:srgbClr val="5D666B"/>
                </a:solidFill>
                <a:latin typeface="Aptos Display"/>
                <a:ea typeface="Aptos Display"/>
                <a:cs typeface="Aptos Display"/>
              </a:defRPr>
            </a:lvl6pPr>
            <a:lvl7pPr algn="l">
              <a:defRPr sz="860" b="1">
                <a:solidFill>
                  <a:srgbClr val="5D666B"/>
                </a:solidFill>
                <a:latin typeface="Aptos Display"/>
                <a:ea typeface="Aptos Display"/>
                <a:cs typeface="Aptos Display"/>
              </a:defRPr>
            </a:lvl7pPr>
            <a:lvl8pPr algn="l">
              <a:defRPr sz="860" b="1">
                <a:solidFill>
                  <a:srgbClr val="5D666B"/>
                </a:solidFill>
                <a:latin typeface="Aptos Display"/>
                <a:ea typeface="Aptos Display"/>
                <a:cs typeface="Aptos Display"/>
              </a:defRPr>
            </a:lvl8pPr>
            <a:lvl9pPr algn="l">
              <a:defRPr sz="860" b="1">
                <a:solidFill>
                  <a:srgbClr val="5D666B"/>
                </a:solidFill>
                <a:latin typeface="Aptos Display"/>
                <a:ea typeface="Aptos Display"/>
                <a:cs typeface="Aptos Display"/>
              </a:defRPr>
            </a:lvl9pPr>
          </a:lstStyle>
          <a:p>
            <a:pPr marL="0" indent="0" algn="l">
              <a:lnSpc>
                <a:spcPct val="100000"/>
              </a:lnSpc>
              <a:buNone/>
              <a:defRPr sz="860" b="1">
                <a:solidFill>
                  <a:srgbClr val="5D666B"/>
                </a:solidFill>
                <a:latin typeface="Aptos Display"/>
                <a:ea typeface="Aptos Display"/>
                <a:cs typeface="Aptos Display"/>
              </a:defRPr>
            </a:pPr>
            <a:r>
              <a:rPr sz="860" b="1" spc="120" dirty="0">
                <a:solidFill>
                  <a:srgbClr val="5D666B"/>
                </a:solidFill>
                <a:latin typeface="Aptos Display"/>
                <a:ea typeface="Aptos Display"/>
                <a:cs typeface="Aptos Display"/>
              </a:rPr>
              <a:t>SUPERVISORS</a:t>
            </a:r>
            <a:endParaRPr sz="860" dirty="0"/>
          </a:p>
        </p:txBody>
      </p:sp>
      <p:sp>
        <p:nvSpPr>
          <p:cNvPr id="30" name="Text 16">
            <a:extLst>
              <a:ext uri="{FF2B5EF4-FFF2-40B4-BE49-F238E27FC236}">
                <a16:creationId xmlns:a16="http://schemas.microsoft.com/office/drawing/2014/main" id="{47A99FCE-4503-0221-BA93-784430A6BB52}"/>
              </a:ext>
            </a:extLst>
          </p:cNvPr>
          <p:cNvSpPr>
            <a:spLocks noGrp="1"/>
          </p:cNvSpPr>
          <p:nvPr/>
        </p:nvSpPr>
        <p:spPr>
          <a:xfrm>
            <a:off x="4790503" y="2809711"/>
            <a:ext cx="1901952" cy="201168"/>
          </a:xfrm>
          <a:prstGeom prst="rect">
            <a:avLst/>
          </a:prstGeom>
          <a:noFill/>
        </p:spPr>
        <p:txBody>
          <a:bodyPr wrap="square" lIns="0" tIns="0" rIns="0" bIns="0" anchor="t">
            <a:noAutofit/>
          </a:bodyPr>
          <a:lstStyle>
            <a:defPPr algn="l">
              <a:defRPr sz="950" b="1">
                <a:solidFill>
                  <a:srgbClr val="5D666B"/>
                </a:solidFill>
                <a:latin typeface="Aptos Display"/>
                <a:ea typeface="Aptos Display"/>
                <a:cs typeface="Aptos Display"/>
              </a:defRPr>
            </a:defPPr>
            <a:lvl1pPr algn="l">
              <a:defRPr sz="950" b="1">
                <a:solidFill>
                  <a:srgbClr val="5D666B"/>
                </a:solidFill>
                <a:latin typeface="Aptos Display"/>
                <a:ea typeface="Aptos Display"/>
                <a:cs typeface="Aptos Display"/>
              </a:defRPr>
            </a:lvl1pPr>
            <a:lvl2pPr algn="l">
              <a:defRPr sz="950" b="1">
                <a:solidFill>
                  <a:srgbClr val="5D666B"/>
                </a:solidFill>
                <a:latin typeface="Aptos Display"/>
                <a:ea typeface="Aptos Display"/>
                <a:cs typeface="Aptos Display"/>
              </a:defRPr>
            </a:lvl2pPr>
            <a:lvl3pPr algn="l">
              <a:defRPr sz="950" b="1">
                <a:solidFill>
                  <a:srgbClr val="5D666B"/>
                </a:solidFill>
                <a:latin typeface="Aptos Display"/>
                <a:ea typeface="Aptos Display"/>
                <a:cs typeface="Aptos Display"/>
              </a:defRPr>
            </a:lvl3pPr>
            <a:lvl4pPr algn="l">
              <a:defRPr sz="950" b="1">
                <a:solidFill>
                  <a:srgbClr val="5D666B"/>
                </a:solidFill>
                <a:latin typeface="Aptos Display"/>
                <a:ea typeface="Aptos Display"/>
                <a:cs typeface="Aptos Display"/>
              </a:defRPr>
            </a:lvl4pPr>
            <a:lvl5pPr algn="l">
              <a:defRPr sz="950" b="1">
                <a:solidFill>
                  <a:srgbClr val="5D666B"/>
                </a:solidFill>
                <a:latin typeface="Aptos Display"/>
                <a:ea typeface="Aptos Display"/>
                <a:cs typeface="Aptos Display"/>
              </a:defRPr>
            </a:lvl5pPr>
            <a:lvl6pPr algn="l">
              <a:defRPr sz="950" b="1">
                <a:solidFill>
                  <a:srgbClr val="5D666B"/>
                </a:solidFill>
                <a:latin typeface="Aptos Display"/>
                <a:ea typeface="Aptos Display"/>
                <a:cs typeface="Aptos Display"/>
              </a:defRPr>
            </a:lvl6pPr>
            <a:lvl7pPr algn="l">
              <a:defRPr sz="950" b="1">
                <a:solidFill>
                  <a:srgbClr val="5D666B"/>
                </a:solidFill>
                <a:latin typeface="Aptos Display"/>
                <a:ea typeface="Aptos Display"/>
                <a:cs typeface="Aptos Display"/>
              </a:defRPr>
            </a:lvl7pPr>
            <a:lvl8pPr algn="l">
              <a:defRPr sz="950" b="1">
                <a:solidFill>
                  <a:srgbClr val="5D666B"/>
                </a:solidFill>
                <a:latin typeface="Aptos Display"/>
                <a:ea typeface="Aptos Display"/>
                <a:cs typeface="Aptos Display"/>
              </a:defRPr>
            </a:lvl8pPr>
            <a:lvl9pPr algn="l">
              <a:defRPr sz="950" b="1">
                <a:solidFill>
                  <a:srgbClr val="5D666B"/>
                </a:solidFill>
                <a:latin typeface="Aptos Display"/>
                <a:ea typeface="Aptos Display"/>
                <a:cs typeface="Aptos Display"/>
              </a:defRPr>
            </a:lvl9pPr>
          </a:lstStyle>
          <a:p>
            <a:pPr marL="0" indent="0" algn="l">
              <a:lnSpc>
                <a:spcPct val="100000"/>
              </a:lnSpc>
              <a:buNone/>
              <a:defRPr sz="950" b="1">
                <a:solidFill>
                  <a:srgbClr val="5D666B"/>
                </a:solidFill>
                <a:latin typeface="Aptos Display"/>
                <a:ea typeface="Aptos Display"/>
                <a:cs typeface="Aptos Display"/>
              </a:defRPr>
            </a:pPr>
            <a:r>
              <a:rPr sz="950" b="1" dirty="0">
                <a:solidFill>
                  <a:srgbClr val="5D666B"/>
                </a:solidFill>
                <a:latin typeface="Aptos Display"/>
                <a:ea typeface="Aptos Display"/>
                <a:cs typeface="Aptos Display"/>
              </a:rPr>
              <a:t>Marcel A.J. Somers</a:t>
            </a:r>
            <a:endParaRPr sz="950" dirty="0"/>
          </a:p>
        </p:txBody>
      </p:sp>
      <p:sp>
        <p:nvSpPr>
          <p:cNvPr id="32" name="Text 17">
            <a:extLst>
              <a:ext uri="{FF2B5EF4-FFF2-40B4-BE49-F238E27FC236}">
                <a16:creationId xmlns:a16="http://schemas.microsoft.com/office/drawing/2014/main" id="{975C2CB1-0286-2F6B-9B19-5CBCCDBC47F2}"/>
              </a:ext>
            </a:extLst>
          </p:cNvPr>
          <p:cNvSpPr>
            <a:spLocks noGrp="1"/>
          </p:cNvSpPr>
          <p:nvPr/>
        </p:nvSpPr>
        <p:spPr>
          <a:xfrm>
            <a:off x="4790503" y="2571248"/>
            <a:ext cx="1901952" cy="2978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a:defRPr sz="950" b="1">
                <a:solidFill>
                  <a:srgbClr val="5D666B"/>
                </a:solidFill>
                <a:latin typeface="Aptos Display"/>
                <a:ea typeface="Aptos Display"/>
                <a:cs typeface="Aptos Display"/>
              </a:defRPr>
            </a:pPr>
            <a:r>
              <a:rPr lang="en-US" sz="950" b="1" dirty="0">
                <a:latin typeface="Aptos Display"/>
                <a:ea typeface="Aptos Display"/>
                <a:cs typeface="Aptos Display"/>
              </a:rPr>
              <a:t>Lead Supervisor</a:t>
            </a:r>
          </a:p>
        </p:txBody>
      </p:sp>
      <p:sp>
        <p:nvSpPr>
          <p:cNvPr id="34" name="Text 18">
            <a:extLst>
              <a:ext uri="{FF2B5EF4-FFF2-40B4-BE49-F238E27FC236}">
                <a16:creationId xmlns:a16="http://schemas.microsoft.com/office/drawing/2014/main" id="{8E706A9F-BDF4-6E34-2BC8-528A2E4C7162}"/>
              </a:ext>
            </a:extLst>
          </p:cNvPr>
          <p:cNvSpPr>
            <a:spLocks noGrp="1"/>
          </p:cNvSpPr>
          <p:nvPr/>
        </p:nvSpPr>
        <p:spPr>
          <a:xfrm>
            <a:off x="4805744" y="3516982"/>
            <a:ext cx="688275" cy="201168"/>
          </a:xfrm>
          <a:prstGeom prst="rect">
            <a:avLst/>
          </a:prstGeom>
          <a:noFill/>
        </p:spPr>
        <p:txBody>
          <a:bodyPr wrap="square" lIns="0" tIns="0" rIns="0" bIns="0" anchor="t">
            <a:noAutofit/>
          </a:bodyPr>
          <a:lstStyle>
            <a:defPPr algn="l">
              <a:defRPr sz="950" b="1">
                <a:solidFill>
                  <a:srgbClr val="5D666B"/>
                </a:solidFill>
                <a:latin typeface="Aptos Display"/>
                <a:ea typeface="Aptos Display"/>
                <a:cs typeface="Aptos Display"/>
              </a:defRPr>
            </a:defPPr>
            <a:lvl1pPr algn="l">
              <a:defRPr sz="950" b="1">
                <a:solidFill>
                  <a:srgbClr val="5D666B"/>
                </a:solidFill>
                <a:latin typeface="Aptos Display"/>
                <a:ea typeface="Aptos Display"/>
                <a:cs typeface="Aptos Display"/>
              </a:defRPr>
            </a:lvl1pPr>
            <a:lvl2pPr algn="l">
              <a:defRPr sz="950" b="1">
                <a:solidFill>
                  <a:srgbClr val="5D666B"/>
                </a:solidFill>
                <a:latin typeface="Aptos Display"/>
                <a:ea typeface="Aptos Display"/>
                <a:cs typeface="Aptos Display"/>
              </a:defRPr>
            </a:lvl2pPr>
            <a:lvl3pPr algn="l">
              <a:defRPr sz="950" b="1">
                <a:solidFill>
                  <a:srgbClr val="5D666B"/>
                </a:solidFill>
                <a:latin typeface="Aptos Display"/>
                <a:ea typeface="Aptos Display"/>
                <a:cs typeface="Aptos Display"/>
              </a:defRPr>
            </a:lvl3pPr>
            <a:lvl4pPr algn="l">
              <a:defRPr sz="950" b="1">
                <a:solidFill>
                  <a:srgbClr val="5D666B"/>
                </a:solidFill>
                <a:latin typeface="Aptos Display"/>
                <a:ea typeface="Aptos Display"/>
                <a:cs typeface="Aptos Display"/>
              </a:defRPr>
            </a:lvl4pPr>
            <a:lvl5pPr algn="l">
              <a:defRPr sz="950" b="1">
                <a:solidFill>
                  <a:srgbClr val="5D666B"/>
                </a:solidFill>
                <a:latin typeface="Aptos Display"/>
                <a:ea typeface="Aptos Display"/>
                <a:cs typeface="Aptos Display"/>
              </a:defRPr>
            </a:lvl5pPr>
            <a:lvl6pPr algn="l">
              <a:defRPr sz="950" b="1">
                <a:solidFill>
                  <a:srgbClr val="5D666B"/>
                </a:solidFill>
                <a:latin typeface="Aptos Display"/>
                <a:ea typeface="Aptos Display"/>
                <a:cs typeface="Aptos Display"/>
              </a:defRPr>
            </a:lvl6pPr>
            <a:lvl7pPr algn="l">
              <a:defRPr sz="950" b="1">
                <a:solidFill>
                  <a:srgbClr val="5D666B"/>
                </a:solidFill>
                <a:latin typeface="Aptos Display"/>
                <a:ea typeface="Aptos Display"/>
                <a:cs typeface="Aptos Display"/>
              </a:defRPr>
            </a:lvl7pPr>
            <a:lvl8pPr algn="l">
              <a:defRPr sz="950" b="1">
                <a:solidFill>
                  <a:srgbClr val="5D666B"/>
                </a:solidFill>
                <a:latin typeface="Aptos Display"/>
                <a:ea typeface="Aptos Display"/>
                <a:cs typeface="Aptos Display"/>
              </a:defRPr>
            </a:lvl8pPr>
            <a:lvl9pPr algn="l">
              <a:defRPr sz="950" b="1">
                <a:solidFill>
                  <a:srgbClr val="5D666B"/>
                </a:solidFill>
                <a:latin typeface="Aptos Display"/>
                <a:ea typeface="Aptos Display"/>
                <a:cs typeface="Aptos Display"/>
              </a:defRPr>
            </a:lvl9pPr>
          </a:lstStyle>
          <a:p>
            <a:pPr marL="0" indent="0" algn="l">
              <a:lnSpc>
                <a:spcPct val="100000"/>
              </a:lnSpc>
              <a:buNone/>
              <a:defRPr sz="950" b="1">
                <a:solidFill>
                  <a:srgbClr val="5D666B"/>
                </a:solidFill>
                <a:latin typeface="Aptos Display"/>
                <a:ea typeface="Aptos Display"/>
                <a:cs typeface="Aptos Display"/>
              </a:defRPr>
            </a:pPr>
            <a:r>
              <a:rPr sz="950" b="1" dirty="0">
                <a:solidFill>
                  <a:srgbClr val="5D666B"/>
                </a:solidFill>
                <a:latin typeface="Aptos Display"/>
                <a:ea typeface="Aptos Display"/>
                <a:cs typeface="Aptos Display"/>
              </a:rPr>
              <a:t>Basit Ali</a:t>
            </a:r>
            <a:endParaRPr sz="950" dirty="0"/>
          </a:p>
        </p:txBody>
      </p:sp>
      <p:sp>
        <p:nvSpPr>
          <p:cNvPr id="36" name="Text 19">
            <a:extLst>
              <a:ext uri="{FF2B5EF4-FFF2-40B4-BE49-F238E27FC236}">
                <a16:creationId xmlns:a16="http://schemas.microsoft.com/office/drawing/2014/main" id="{279E3988-0483-A929-2165-3D05E003F6C6}"/>
              </a:ext>
            </a:extLst>
          </p:cNvPr>
          <p:cNvSpPr>
            <a:spLocks noGrp="1"/>
          </p:cNvSpPr>
          <p:nvPr/>
        </p:nvSpPr>
        <p:spPr>
          <a:xfrm>
            <a:off x="4805744" y="3689260"/>
            <a:ext cx="901632" cy="1622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marL="0" indent="0" algn="l">
              <a:lnSpc>
                <a:spcPct val="100000"/>
              </a:lnSpc>
              <a:buNone/>
              <a:defRPr sz="830">
                <a:solidFill>
                  <a:srgbClr val="5D666B"/>
                </a:solidFill>
                <a:latin typeface="Aptos"/>
                <a:ea typeface="Aptos"/>
                <a:cs typeface="Aptos"/>
              </a:defRPr>
            </a:pPr>
            <a:r>
              <a:rPr sz="830" dirty="0">
                <a:solidFill>
                  <a:srgbClr val="5D666B"/>
                </a:solidFill>
                <a:latin typeface="Aptos"/>
                <a:ea typeface="Aptos"/>
                <a:cs typeface="Aptos"/>
              </a:rPr>
              <a:t>DTU Construct</a:t>
            </a:r>
            <a:endParaRPr lang="en-US" sz="830" dirty="0">
              <a:solidFill>
                <a:srgbClr val="5D666B"/>
              </a:solidFill>
              <a:latin typeface="Aptos"/>
              <a:ea typeface="Aptos"/>
              <a:cs typeface="Aptos"/>
            </a:endParaRPr>
          </a:p>
          <a:p>
            <a:pPr marL="0" indent="0" algn="l">
              <a:lnSpc>
                <a:spcPct val="100000"/>
              </a:lnSpc>
              <a:buNone/>
              <a:defRPr sz="830">
                <a:solidFill>
                  <a:srgbClr val="5D666B"/>
                </a:solidFill>
                <a:latin typeface="Aptos"/>
                <a:ea typeface="Aptos"/>
                <a:cs typeface="Aptos"/>
              </a:defRPr>
            </a:pPr>
            <a:r>
              <a:rPr lang="da-DK" dirty="0"/>
              <a:t>baali@dtu.dk</a:t>
            </a:r>
            <a:endParaRPr sz="830" dirty="0"/>
          </a:p>
        </p:txBody>
      </p:sp>
      <p:sp>
        <p:nvSpPr>
          <p:cNvPr id="38" name="Text 20">
            <a:extLst>
              <a:ext uri="{FF2B5EF4-FFF2-40B4-BE49-F238E27FC236}">
                <a16:creationId xmlns:a16="http://schemas.microsoft.com/office/drawing/2014/main" id="{A5E5AC3B-9018-8067-D6FD-F9121BA39AC6}"/>
              </a:ext>
            </a:extLst>
          </p:cNvPr>
          <p:cNvSpPr>
            <a:spLocks noGrp="1"/>
          </p:cNvSpPr>
          <p:nvPr/>
        </p:nvSpPr>
        <p:spPr>
          <a:xfrm>
            <a:off x="4805744" y="3981700"/>
            <a:ext cx="1901952" cy="201168"/>
          </a:xfrm>
          <a:prstGeom prst="rect">
            <a:avLst/>
          </a:prstGeom>
          <a:noFill/>
        </p:spPr>
        <p:txBody>
          <a:bodyPr wrap="square" lIns="0" tIns="0" rIns="0" bIns="0" anchor="t">
            <a:noAutofit/>
          </a:bodyPr>
          <a:lstStyle>
            <a:defPPr algn="l">
              <a:defRPr sz="950" b="1">
                <a:solidFill>
                  <a:srgbClr val="5D666B"/>
                </a:solidFill>
                <a:latin typeface="Aptos Display"/>
                <a:ea typeface="Aptos Display"/>
                <a:cs typeface="Aptos Display"/>
              </a:defRPr>
            </a:defPPr>
            <a:lvl1pPr algn="l">
              <a:defRPr sz="950" b="1">
                <a:solidFill>
                  <a:srgbClr val="5D666B"/>
                </a:solidFill>
                <a:latin typeface="Aptos Display"/>
                <a:ea typeface="Aptos Display"/>
                <a:cs typeface="Aptos Display"/>
              </a:defRPr>
            </a:lvl1pPr>
            <a:lvl2pPr algn="l">
              <a:defRPr sz="950" b="1">
                <a:solidFill>
                  <a:srgbClr val="5D666B"/>
                </a:solidFill>
                <a:latin typeface="Aptos Display"/>
                <a:ea typeface="Aptos Display"/>
                <a:cs typeface="Aptos Display"/>
              </a:defRPr>
            </a:lvl2pPr>
            <a:lvl3pPr algn="l">
              <a:defRPr sz="950" b="1">
                <a:solidFill>
                  <a:srgbClr val="5D666B"/>
                </a:solidFill>
                <a:latin typeface="Aptos Display"/>
                <a:ea typeface="Aptos Display"/>
                <a:cs typeface="Aptos Display"/>
              </a:defRPr>
            </a:lvl3pPr>
            <a:lvl4pPr algn="l">
              <a:defRPr sz="950" b="1">
                <a:solidFill>
                  <a:srgbClr val="5D666B"/>
                </a:solidFill>
                <a:latin typeface="Aptos Display"/>
                <a:ea typeface="Aptos Display"/>
                <a:cs typeface="Aptos Display"/>
              </a:defRPr>
            </a:lvl4pPr>
            <a:lvl5pPr algn="l">
              <a:defRPr sz="950" b="1">
                <a:solidFill>
                  <a:srgbClr val="5D666B"/>
                </a:solidFill>
                <a:latin typeface="Aptos Display"/>
                <a:ea typeface="Aptos Display"/>
                <a:cs typeface="Aptos Display"/>
              </a:defRPr>
            </a:lvl5pPr>
            <a:lvl6pPr algn="l">
              <a:defRPr sz="950" b="1">
                <a:solidFill>
                  <a:srgbClr val="5D666B"/>
                </a:solidFill>
                <a:latin typeface="Aptos Display"/>
                <a:ea typeface="Aptos Display"/>
                <a:cs typeface="Aptos Display"/>
              </a:defRPr>
            </a:lvl6pPr>
            <a:lvl7pPr algn="l">
              <a:defRPr sz="950" b="1">
                <a:solidFill>
                  <a:srgbClr val="5D666B"/>
                </a:solidFill>
                <a:latin typeface="Aptos Display"/>
                <a:ea typeface="Aptos Display"/>
                <a:cs typeface="Aptos Display"/>
              </a:defRPr>
            </a:lvl7pPr>
            <a:lvl8pPr algn="l">
              <a:defRPr sz="950" b="1">
                <a:solidFill>
                  <a:srgbClr val="5D666B"/>
                </a:solidFill>
                <a:latin typeface="Aptos Display"/>
                <a:ea typeface="Aptos Display"/>
                <a:cs typeface="Aptos Display"/>
              </a:defRPr>
            </a:lvl8pPr>
            <a:lvl9pPr algn="l">
              <a:defRPr sz="950" b="1">
                <a:solidFill>
                  <a:srgbClr val="5D666B"/>
                </a:solidFill>
                <a:latin typeface="Aptos Display"/>
                <a:ea typeface="Aptos Display"/>
                <a:cs typeface="Aptos Display"/>
              </a:defRPr>
            </a:lvl9pPr>
          </a:lstStyle>
          <a:p>
            <a:pPr marL="0" indent="0" algn="l">
              <a:lnSpc>
                <a:spcPct val="100000"/>
              </a:lnSpc>
              <a:buNone/>
              <a:defRPr sz="950" b="1">
                <a:solidFill>
                  <a:srgbClr val="5D666B"/>
                </a:solidFill>
                <a:latin typeface="Aptos Display"/>
                <a:ea typeface="Aptos Display"/>
                <a:cs typeface="Aptos Display"/>
              </a:defRPr>
            </a:pPr>
            <a:r>
              <a:rPr sz="950" b="1" dirty="0">
                <a:solidFill>
                  <a:srgbClr val="5D666B"/>
                </a:solidFill>
                <a:latin typeface="Aptos Display"/>
                <a:ea typeface="Aptos Display"/>
                <a:cs typeface="Aptos Display"/>
              </a:rPr>
              <a:t>Louis Cavichiolo</a:t>
            </a:r>
            <a:endParaRPr sz="950" dirty="0"/>
          </a:p>
        </p:txBody>
      </p:sp>
      <p:sp>
        <p:nvSpPr>
          <p:cNvPr id="40" name="Text 21">
            <a:extLst>
              <a:ext uri="{FF2B5EF4-FFF2-40B4-BE49-F238E27FC236}">
                <a16:creationId xmlns:a16="http://schemas.microsoft.com/office/drawing/2014/main" id="{92D5B7D3-1F85-AAC8-9480-C346534FA12A}"/>
              </a:ext>
            </a:extLst>
          </p:cNvPr>
          <p:cNvSpPr>
            <a:spLocks noGrp="1"/>
          </p:cNvSpPr>
          <p:nvPr/>
        </p:nvSpPr>
        <p:spPr>
          <a:xfrm>
            <a:off x="4805744" y="4138672"/>
            <a:ext cx="1901952" cy="164592"/>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marL="0" indent="0" algn="l">
              <a:lnSpc>
                <a:spcPct val="100000"/>
              </a:lnSpc>
              <a:buNone/>
              <a:defRPr sz="830">
                <a:solidFill>
                  <a:srgbClr val="5D666B"/>
                </a:solidFill>
                <a:latin typeface="Aptos"/>
                <a:ea typeface="Aptos"/>
                <a:cs typeface="Aptos"/>
              </a:defRPr>
            </a:pPr>
            <a:r>
              <a:rPr sz="830" dirty="0" err="1">
                <a:solidFill>
                  <a:srgbClr val="5D666B"/>
                </a:solidFill>
                <a:latin typeface="Aptos"/>
                <a:ea typeface="Aptos"/>
                <a:cs typeface="Aptos"/>
              </a:rPr>
              <a:t>ReliBond</a:t>
            </a:r>
            <a:endParaRPr sz="830" dirty="0"/>
          </a:p>
        </p:txBody>
      </p:sp>
      <p:sp>
        <p:nvSpPr>
          <p:cNvPr id="42" name="Text 22">
            <a:extLst>
              <a:ext uri="{FF2B5EF4-FFF2-40B4-BE49-F238E27FC236}">
                <a16:creationId xmlns:a16="http://schemas.microsoft.com/office/drawing/2014/main" id="{1DF1104B-1700-DC4D-5689-1F91FE7F43E6}"/>
              </a:ext>
            </a:extLst>
          </p:cNvPr>
          <p:cNvSpPr>
            <a:spLocks noGrp="1"/>
          </p:cNvSpPr>
          <p:nvPr/>
        </p:nvSpPr>
        <p:spPr>
          <a:xfrm>
            <a:off x="4805743" y="4414313"/>
            <a:ext cx="1901952" cy="201168"/>
          </a:xfrm>
          <a:prstGeom prst="rect">
            <a:avLst/>
          </a:prstGeom>
          <a:noFill/>
        </p:spPr>
        <p:txBody>
          <a:bodyPr wrap="square" lIns="0" tIns="0" rIns="0" bIns="0" anchor="t"/>
          <a:lstStyle/>
          <a:p>
            <a:pPr marL="0" indent="0">
              <a:lnSpc>
                <a:spcPct val="100000"/>
              </a:lnSpc>
              <a:buNone/>
            </a:pPr>
            <a:r>
              <a:rPr sz="860" b="1" spc="120" dirty="0">
                <a:solidFill>
                  <a:srgbClr val="5D666B"/>
                </a:solidFill>
                <a:latin typeface="Aptos Display"/>
                <a:ea typeface="Aptos Display"/>
                <a:cs typeface="Aptos Display"/>
              </a:rPr>
              <a:t>COLLABORATION</a:t>
            </a:r>
            <a:endParaRPr sz="860" dirty="0"/>
          </a:p>
        </p:txBody>
      </p:sp>
      <p:sp>
        <p:nvSpPr>
          <p:cNvPr id="44" name="Text 23">
            <a:extLst>
              <a:ext uri="{FF2B5EF4-FFF2-40B4-BE49-F238E27FC236}">
                <a16:creationId xmlns:a16="http://schemas.microsoft.com/office/drawing/2014/main" id="{EE6A2E6F-D0C1-1685-693D-44A5B2B1A9B8}"/>
              </a:ext>
            </a:extLst>
          </p:cNvPr>
          <p:cNvSpPr>
            <a:spLocks noGrp="1"/>
          </p:cNvSpPr>
          <p:nvPr/>
        </p:nvSpPr>
        <p:spPr>
          <a:xfrm>
            <a:off x="4805744" y="4606361"/>
            <a:ext cx="1901952" cy="182880"/>
          </a:xfrm>
          <a:prstGeom prst="rect">
            <a:avLst/>
          </a:prstGeom>
          <a:noFill/>
        </p:spPr>
        <p:txBody>
          <a:bodyPr wrap="square" lIns="0" tIns="0" rIns="0" bIns="0" anchor="t">
            <a:noAutofit/>
          </a:bodyPr>
          <a:lstStyle>
            <a:defPPr algn="l">
              <a:defRPr sz="900">
                <a:solidFill>
                  <a:srgbClr val="5D666B"/>
                </a:solidFill>
                <a:latin typeface="Aptos Display"/>
                <a:ea typeface="Aptos Display"/>
                <a:cs typeface="Aptos Display"/>
              </a:defRPr>
            </a:defPPr>
            <a:lvl1pPr algn="l">
              <a:defRPr sz="900">
                <a:solidFill>
                  <a:srgbClr val="5D666B"/>
                </a:solidFill>
                <a:latin typeface="Aptos Display"/>
                <a:ea typeface="Aptos Display"/>
                <a:cs typeface="Aptos Display"/>
              </a:defRPr>
            </a:lvl1pPr>
            <a:lvl2pPr algn="l">
              <a:defRPr sz="900">
                <a:solidFill>
                  <a:srgbClr val="5D666B"/>
                </a:solidFill>
                <a:latin typeface="Aptos Display"/>
                <a:ea typeface="Aptos Display"/>
                <a:cs typeface="Aptos Display"/>
              </a:defRPr>
            </a:lvl2pPr>
            <a:lvl3pPr algn="l">
              <a:defRPr sz="900">
                <a:solidFill>
                  <a:srgbClr val="5D666B"/>
                </a:solidFill>
                <a:latin typeface="Aptos Display"/>
                <a:ea typeface="Aptos Display"/>
                <a:cs typeface="Aptos Display"/>
              </a:defRPr>
            </a:lvl3pPr>
            <a:lvl4pPr algn="l">
              <a:defRPr sz="900">
                <a:solidFill>
                  <a:srgbClr val="5D666B"/>
                </a:solidFill>
                <a:latin typeface="Aptos Display"/>
                <a:ea typeface="Aptos Display"/>
                <a:cs typeface="Aptos Display"/>
              </a:defRPr>
            </a:lvl4pPr>
            <a:lvl5pPr algn="l">
              <a:defRPr sz="900">
                <a:solidFill>
                  <a:srgbClr val="5D666B"/>
                </a:solidFill>
                <a:latin typeface="Aptos Display"/>
                <a:ea typeface="Aptos Display"/>
                <a:cs typeface="Aptos Display"/>
              </a:defRPr>
            </a:lvl5pPr>
            <a:lvl6pPr algn="l">
              <a:defRPr sz="900">
                <a:solidFill>
                  <a:srgbClr val="5D666B"/>
                </a:solidFill>
                <a:latin typeface="Aptos Display"/>
                <a:ea typeface="Aptos Display"/>
                <a:cs typeface="Aptos Display"/>
              </a:defRPr>
            </a:lvl6pPr>
            <a:lvl7pPr algn="l">
              <a:defRPr sz="900">
                <a:solidFill>
                  <a:srgbClr val="5D666B"/>
                </a:solidFill>
                <a:latin typeface="Aptos Display"/>
                <a:ea typeface="Aptos Display"/>
                <a:cs typeface="Aptos Display"/>
              </a:defRPr>
            </a:lvl7pPr>
            <a:lvl8pPr algn="l">
              <a:defRPr sz="900">
                <a:solidFill>
                  <a:srgbClr val="5D666B"/>
                </a:solidFill>
                <a:latin typeface="Aptos Display"/>
                <a:ea typeface="Aptos Display"/>
                <a:cs typeface="Aptos Display"/>
              </a:defRPr>
            </a:lvl8pPr>
            <a:lvl9pPr algn="l">
              <a:defRPr sz="900">
                <a:solidFill>
                  <a:srgbClr val="5D666B"/>
                </a:solidFill>
                <a:latin typeface="Aptos Display"/>
                <a:ea typeface="Aptos Display"/>
                <a:cs typeface="Aptos Display"/>
              </a:defRPr>
            </a:lvl9pPr>
          </a:lstStyle>
          <a:p>
            <a:pPr marL="0" indent="0" algn="l">
              <a:lnSpc>
                <a:spcPct val="100000"/>
              </a:lnSpc>
              <a:buNone/>
              <a:defRPr sz="900">
                <a:solidFill>
                  <a:srgbClr val="5D666B"/>
                </a:solidFill>
                <a:latin typeface="Aptos Display"/>
                <a:ea typeface="Aptos Display"/>
                <a:cs typeface="Aptos Display"/>
              </a:defRPr>
            </a:pPr>
            <a:r>
              <a:rPr sz="900" dirty="0" err="1">
                <a:solidFill>
                  <a:srgbClr val="5D666B"/>
                </a:solidFill>
                <a:latin typeface="Aptos Display"/>
                <a:ea typeface="Aptos Display"/>
                <a:cs typeface="Aptos Display"/>
              </a:rPr>
              <a:t>ReliBond</a:t>
            </a:r>
            <a:r>
              <a:rPr lang="en-US" sz="900" dirty="0">
                <a:solidFill>
                  <a:srgbClr val="5D666B"/>
                </a:solidFill>
                <a:latin typeface="Aptos Display"/>
                <a:ea typeface="Aptos Display"/>
                <a:cs typeface="Aptos Display"/>
              </a:rPr>
              <a:t> </a:t>
            </a:r>
            <a:r>
              <a:rPr lang="en-US" sz="900" dirty="0" err="1">
                <a:solidFill>
                  <a:srgbClr val="5D666B"/>
                </a:solidFill>
                <a:latin typeface="Aptos Display"/>
                <a:ea typeface="Aptos Display"/>
                <a:cs typeface="Aptos Display"/>
              </a:rPr>
              <a:t>ApS</a:t>
            </a:r>
            <a:r>
              <a:rPr lang="en-US" sz="900" dirty="0">
                <a:solidFill>
                  <a:srgbClr val="5D666B"/>
                </a:solidFill>
                <a:latin typeface="Aptos Display"/>
                <a:ea typeface="Aptos Display"/>
                <a:cs typeface="Aptos Display"/>
              </a:rPr>
              <a:t>, Denmark</a:t>
            </a:r>
            <a:endParaRPr sz="900" dirty="0"/>
          </a:p>
        </p:txBody>
      </p:sp>
      <p:sp>
        <p:nvSpPr>
          <p:cNvPr id="46" name="Shape 24">
            <a:extLst>
              <a:ext uri="{FF2B5EF4-FFF2-40B4-BE49-F238E27FC236}">
                <a16:creationId xmlns:a16="http://schemas.microsoft.com/office/drawing/2014/main" id="{741B9529-EDF4-0277-9517-AD77B4EC7EFA}"/>
              </a:ext>
            </a:extLst>
          </p:cNvPr>
          <p:cNvSpPr>
            <a:spLocks noGrp="1"/>
          </p:cNvSpPr>
          <p:nvPr/>
        </p:nvSpPr>
        <p:spPr>
          <a:xfrm>
            <a:off x="288607" y="4886396"/>
            <a:ext cx="6426403" cy="0"/>
          </a:xfrm>
          <a:prstGeom prst="line">
            <a:avLst/>
          </a:prstGeom>
          <a:noFill/>
          <a:ln w="10795">
            <a:solidFill>
              <a:srgbClr val="DFE2E3"/>
            </a:solidFill>
            <a:prstDash val="solid"/>
          </a:ln>
        </p:spPr>
        <p:txBody>
          <a:bodyPr/>
          <a:lstStyle/>
          <a:p>
            <a:endParaRPr/>
          </a:p>
        </p:txBody>
      </p:sp>
      <p:sp>
        <p:nvSpPr>
          <p:cNvPr id="48" name="Text 25">
            <a:extLst>
              <a:ext uri="{FF2B5EF4-FFF2-40B4-BE49-F238E27FC236}">
                <a16:creationId xmlns:a16="http://schemas.microsoft.com/office/drawing/2014/main" id="{550D7A41-D8A4-84EE-5510-72BFA808AFF9}"/>
              </a:ext>
            </a:extLst>
          </p:cNvPr>
          <p:cNvSpPr>
            <a:spLocks noGrp="1"/>
          </p:cNvSpPr>
          <p:nvPr/>
        </p:nvSpPr>
        <p:spPr>
          <a:xfrm>
            <a:off x="288607" y="5055560"/>
            <a:ext cx="6426403" cy="201168"/>
          </a:xfrm>
          <a:prstGeom prst="rect">
            <a:avLst/>
          </a:prstGeom>
          <a:noFill/>
        </p:spPr>
        <p:txBody>
          <a:bodyPr wrap="square" lIns="0" tIns="0" rIns="0" bIns="0" anchor="t"/>
          <a:lstStyle/>
          <a:p>
            <a:pPr marL="0" indent="0">
              <a:lnSpc>
                <a:spcPct val="100000"/>
              </a:lnSpc>
              <a:buNone/>
            </a:pPr>
            <a:r>
              <a:rPr sz="860" b="1" spc="120">
                <a:solidFill>
                  <a:srgbClr val="A30018"/>
                </a:solidFill>
                <a:latin typeface="Aptos Display"/>
                <a:ea typeface="Aptos Display"/>
                <a:cs typeface="Aptos Display"/>
              </a:rPr>
              <a:t>01  /  PROJECT BACKGROUND</a:t>
            </a:r>
            <a:endParaRPr sz="860"/>
          </a:p>
        </p:txBody>
      </p:sp>
      <p:sp>
        <p:nvSpPr>
          <p:cNvPr id="50" name="Text 26">
            <a:extLst>
              <a:ext uri="{FF2B5EF4-FFF2-40B4-BE49-F238E27FC236}">
                <a16:creationId xmlns:a16="http://schemas.microsoft.com/office/drawing/2014/main" id="{DF11FE43-43A1-EFCB-29F2-49F1913B15C4}"/>
              </a:ext>
            </a:extLst>
          </p:cNvPr>
          <p:cNvSpPr>
            <a:spLocks noGrp="1"/>
          </p:cNvSpPr>
          <p:nvPr/>
        </p:nvSpPr>
        <p:spPr>
          <a:xfrm>
            <a:off x="288608" y="5220176"/>
            <a:ext cx="6426422" cy="943881"/>
          </a:xfrm>
          <a:prstGeom prst="rect">
            <a:avLst/>
          </a:prstGeom>
          <a:noFill/>
        </p:spPr>
        <p:txBody>
          <a:bodyPr wrap="square" lIns="0" tIns="0" rIns="0" bIns="0" anchor="t">
            <a:noAutofit/>
          </a:bodyPr>
          <a:lstStyle>
            <a:defPPr algn="l">
              <a:defRPr sz="990">
                <a:solidFill>
                  <a:srgbClr val="5D666B"/>
                </a:solidFill>
                <a:latin typeface="Aptos"/>
                <a:ea typeface="Aptos"/>
                <a:cs typeface="Aptos"/>
              </a:defRPr>
            </a:defPPr>
            <a:lvl1pPr algn="l">
              <a:defRPr sz="990">
                <a:solidFill>
                  <a:srgbClr val="5D666B"/>
                </a:solidFill>
                <a:latin typeface="Aptos"/>
                <a:ea typeface="Aptos"/>
                <a:cs typeface="Aptos"/>
              </a:defRPr>
            </a:lvl1pPr>
            <a:lvl2pPr algn="l">
              <a:defRPr sz="990">
                <a:solidFill>
                  <a:srgbClr val="5D666B"/>
                </a:solidFill>
                <a:latin typeface="Aptos"/>
                <a:ea typeface="Aptos"/>
                <a:cs typeface="Aptos"/>
              </a:defRPr>
            </a:lvl2pPr>
            <a:lvl3pPr algn="l">
              <a:defRPr sz="990">
                <a:solidFill>
                  <a:srgbClr val="5D666B"/>
                </a:solidFill>
                <a:latin typeface="Aptos"/>
                <a:ea typeface="Aptos"/>
                <a:cs typeface="Aptos"/>
              </a:defRPr>
            </a:lvl3pPr>
            <a:lvl4pPr algn="l">
              <a:defRPr sz="990">
                <a:solidFill>
                  <a:srgbClr val="5D666B"/>
                </a:solidFill>
                <a:latin typeface="Aptos"/>
                <a:ea typeface="Aptos"/>
                <a:cs typeface="Aptos"/>
              </a:defRPr>
            </a:lvl4pPr>
            <a:lvl5pPr algn="l">
              <a:defRPr sz="990">
                <a:solidFill>
                  <a:srgbClr val="5D666B"/>
                </a:solidFill>
                <a:latin typeface="Aptos"/>
                <a:ea typeface="Aptos"/>
                <a:cs typeface="Aptos"/>
              </a:defRPr>
            </a:lvl5pPr>
            <a:lvl6pPr algn="l">
              <a:defRPr sz="990">
                <a:solidFill>
                  <a:srgbClr val="5D666B"/>
                </a:solidFill>
                <a:latin typeface="Aptos"/>
                <a:ea typeface="Aptos"/>
                <a:cs typeface="Aptos"/>
              </a:defRPr>
            </a:lvl6pPr>
            <a:lvl7pPr algn="l">
              <a:defRPr sz="990">
                <a:solidFill>
                  <a:srgbClr val="5D666B"/>
                </a:solidFill>
                <a:latin typeface="Aptos"/>
                <a:ea typeface="Aptos"/>
                <a:cs typeface="Aptos"/>
              </a:defRPr>
            </a:lvl7pPr>
            <a:lvl8pPr algn="l">
              <a:defRPr sz="990">
                <a:solidFill>
                  <a:srgbClr val="5D666B"/>
                </a:solidFill>
                <a:latin typeface="Aptos"/>
                <a:ea typeface="Aptos"/>
                <a:cs typeface="Aptos"/>
              </a:defRPr>
            </a:lvl8pPr>
            <a:lvl9pPr algn="l">
              <a:defRPr sz="990">
                <a:solidFill>
                  <a:srgbClr val="5D666B"/>
                </a:solidFill>
                <a:latin typeface="Aptos"/>
                <a:ea typeface="Aptos"/>
                <a:cs typeface="Aptos"/>
              </a:defRPr>
            </a:lvl9pPr>
          </a:lstStyle>
          <a:p>
            <a:pPr marL="0" indent="0" algn="just">
              <a:lnSpc>
                <a:spcPct val="104000"/>
              </a:lnSpc>
              <a:buNone/>
              <a:defRPr sz="990">
                <a:solidFill>
                  <a:srgbClr val="5D666B"/>
                </a:solidFill>
                <a:latin typeface="Aptos"/>
                <a:ea typeface="Aptos"/>
                <a:cs typeface="Aptos"/>
              </a:defRPr>
            </a:pPr>
            <a:r>
              <a:rPr lang="en-US" dirty="0">
                <a:solidFill>
                  <a:srgbClr val="5D666B"/>
                </a:solidFill>
                <a:latin typeface="Aptos"/>
                <a:ea typeface="Aptos"/>
                <a:cs typeface="Aptos"/>
              </a:rPr>
              <a:t>High-voltage cables transmit electricity in underground power networks, subsea links and connections to offshore wind farms. Since cables are manufactured and installed in sections, their conductors must be joined to maintain reliable electrical and mechanical continuity. Welding can create these connections, but its heat input can damage nearby insulation and complicate on-site installation. Cold spraying offers a way to form metallic contact layers without melting the powder.  </a:t>
            </a:r>
            <a:r>
              <a:rPr lang="en-US" dirty="0" err="1">
                <a:solidFill>
                  <a:srgbClr val="5D666B"/>
                </a:solidFill>
                <a:latin typeface="Aptos"/>
                <a:ea typeface="Aptos"/>
                <a:cs typeface="Aptos"/>
              </a:rPr>
              <a:t>Relibond</a:t>
            </a:r>
            <a:r>
              <a:rPr lang="en-US" dirty="0">
                <a:solidFill>
                  <a:srgbClr val="5D666B"/>
                </a:solidFill>
                <a:latin typeface="Aptos"/>
                <a:ea typeface="Aptos"/>
                <a:cs typeface="Aptos"/>
              </a:rPr>
              <a:t> </a:t>
            </a:r>
            <a:r>
              <a:rPr lang="en-US" dirty="0" err="1">
                <a:solidFill>
                  <a:srgbClr val="5D666B"/>
                </a:solidFill>
                <a:latin typeface="Aptos"/>
                <a:ea typeface="Aptos"/>
                <a:cs typeface="Aptos"/>
              </a:rPr>
              <a:t>ApS</a:t>
            </a:r>
            <a:r>
              <a:rPr lang="en-US" dirty="0">
                <a:solidFill>
                  <a:srgbClr val="5D666B"/>
                </a:solidFill>
                <a:latin typeface="Aptos"/>
                <a:ea typeface="Aptos"/>
                <a:cs typeface="Aptos"/>
              </a:rPr>
              <a:t>, Denmark </a:t>
            </a:r>
            <a:r>
              <a:rPr dirty="0">
                <a:solidFill>
                  <a:srgbClr val="5D666B"/>
                </a:solidFill>
                <a:latin typeface="Aptos"/>
                <a:ea typeface="Aptos"/>
                <a:cs typeface="Aptos"/>
              </a:rPr>
              <a:t>develops cold-sprayed aluminum coatings for high-voltage cable joints. Alumina in the feedstock assists surface activation, but excessive retention and unstable powder delivery can limit coating quality</a:t>
            </a:r>
            <a:r>
              <a:rPr lang="en-US" dirty="0">
                <a:solidFill>
                  <a:srgbClr val="5D666B"/>
                </a:solidFill>
                <a:latin typeface="Aptos"/>
                <a:ea typeface="Aptos"/>
                <a:cs typeface="Aptos"/>
              </a:rPr>
              <a:t> </a:t>
            </a:r>
            <a:r>
              <a:rPr lang="en-US" dirty="0"/>
              <a:t>.</a:t>
            </a:r>
            <a:endParaRPr dirty="0"/>
          </a:p>
        </p:txBody>
      </p:sp>
      <p:sp>
        <p:nvSpPr>
          <p:cNvPr id="52" name="Text 27">
            <a:extLst>
              <a:ext uri="{FF2B5EF4-FFF2-40B4-BE49-F238E27FC236}">
                <a16:creationId xmlns:a16="http://schemas.microsoft.com/office/drawing/2014/main" id="{E1F4C334-2223-19ED-44AB-9671AA39A52B}"/>
              </a:ext>
            </a:extLst>
          </p:cNvPr>
          <p:cNvSpPr>
            <a:spLocks noGrp="1"/>
          </p:cNvSpPr>
          <p:nvPr/>
        </p:nvSpPr>
        <p:spPr>
          <a:xfrm>
            <a:off x="288608" y="6378928"/>
            <a:ext cx="6426422"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00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02  /  PROJECT AIM</a:t>
            </a:r>
            <a:endParaRPr sz="860" dirty="0"/>
          </a:p>
        </p:txBody>
      </p:sp>
      <p:sp>
        <p:nvSpPr>
          <p:cNvPr id="54" name="Text 28">
            <a:extLst>
              <a:ext uri="{FF2B5EF4-FFF2-40B4-BE49-F238E27FC236}">
                <a16:creationId xmlns:a16="http://schemas.microsoft.com/office/drawing/2014/main" id="{3B32DA2F-B6E5-BD0C-B0E2-8DB758B29FE0}"/>
              </a:ext>
            </a:extLst>
          </p:cNvPr>
          <p:cNvSpPr>
            <a:spLocks noGrp="1"/>
          </p:cNvSpPr>
          <p:nvPr/>
        </p:nvSpPr>
        <p:spPr>
          <a:xfrm>
            <a:off x="288608" y="6594871"/>
            <a:ext cx="6426422" cy="647700"/>
          </a:xfrm>
          <a:prstGeom prst="rect">
            <a:avLst/>
          </a:prstGeom>
          <a:noFill/>
        </p:spPr>
        <p:txBody>
          <a:bodyPr wrap="square" lIns="0" tIns="0" rIns="0" bIns="0" anchor="t">
            <a:noAutofit/>
          </a:bodyPr>
          <a:lstStyle>
            <a:defPPr algn="l">
              <a:defRPr sz="1000">
                <a:solidFill>
                  <a:srgbClr val="5D666B"/>
                </a:solidFill>
                <a:latin typeface="Aptos"/>
                <a:ea typeface="Aptos"/>
                <a:cs typeface="Aptos"/>
              </a:defRPr>
            </a:defPPr>
            <a:lvl1pPr algn="l">
              <a:defRPr sz="1000">
                <a:solidFill>
                  <a:srgbClr val="5D666B"/>
                </a:solidFill>
                <a:latin typeface="Aptos"/>
                <a:ea typeface="Aptos"/>
                <a:cs typeface="Aptos"/>
              </a:defRPr>
            </a:lvl1pPr>
            <a:lvl2pPr algn="l">
              <a:defRPr sz="1000">
                <a:solidFill>
                  <a:srgbClr val="5D666B"/>
                </a:solidFill>
                <a:latin typeface="Aptos"/>
                <a:ea typeface="Aptos"/>
                <a:cs typeface="Aptos"/>
              </a:defRPr>
            </a:lvl2pPr>
            <a:lvl3pPr algn="l">
              <a:defRPr sz="1000">
                <a:solidFill>
                  <a:srgbClr val="5D666B"/>
                </a:solidFill>
                <a:latin typeface="Aptos"/>
                <a:ea typeface="Aptos"/>
                <a:cs typeface="Aptos"/>
              </a:defRPr>
            </a:lvl3pPr>
            <a:lvl4pPr algn="l">
              <a:defRPr sz="1000">
                <a:solidFill>
                  <a:srgbClr val="5D666B"/>
                </a:solidFill>
                <a:latin typeface="Aptos"/>
                <a:ea typeface="Aptos"/>
                <a:cs typeface="Aptos"/>
              </a:defRPr>
            </a:lvl4pPr>
            <a:lvl5pPr algn="l">
              <a:defRPr sz="1000">
                <a:solidFill>
                  <a:srgbClr val="5D666B"/>
                </a:solidFill>
                <a:latin typeface="Aptos"/>
                <a:ea typeface="Aptos"/>
                <a:cs typeface="Aptos"/>
              </a:defRPr>
            </a:lvl5pPr>
            <a:lvl6pPr algn="l">
              <a:defRPr sz="1000">
                <a:solidFill>
                  <a:srgbClr val="5D666B"/>
                </a:solidFill>
                <a:latin typeface="Aptos"/>
                <a:ea typeface="Aptos"/>
                <a:cs typeface="Aptos"/>
              </a:defRPr>
            </a:lvl6pPr>
            <a:lvl7pPr algn="l">
              <a:defRPr sz="1000">
                <a:solidFill>
                  <a:srgbClr val="5D666B"/>
                </a:solidFill>
                <a:latin typeface="Aptos"/>
                <a:ea typeface="Aptos"/>
                <a:cs typeface="Aptos"/>
              </a:defRPr>
            </a:lvl7pPr>
            <a:lvl8pPr algn="l">
              <a:defRPr sz="1000">
                <a:solidFill>
                  <a:srgbClr val="5D666B"/>
                </a:solidFill>
                <a:latin typeface="Aptos"/>
                <a:ea typeface="Aptos"/>
                <a:cs typeface="Aptos"/>
              </a:defRPr>
            </a:lvl8pPr>
            <a:lvl9pPr algn="l">
              <a:defRPr sz="1000">
                <a:solidFill>
                  <a:srgbClr val="5D666B"/>
                </a:solidFill>
                <a:latin typeface="Aptos"/>
                <a:ea typeface="Aptos"/>
                <a:cs typeface="Aptos"/>
              </a:defRPr>
            </a:lvl9pPr>
          </a:lstStyle>
          <a:p>
            <a:pPr marL="0" indent="0" algn="just">
              <a:lnSpc>
                <a:spcPct val="103000"/>
              </a:lnSpc>
              <a:buNone/>
              <a:defRPr sz="1000">
                <a:solidFill>
                  <a:srgbClr val="5D666B"/>
                </a:solidFill>
                <a:latin typeface="Aptos"/>
                <a:ea typeface="Aptos"/>
                <a:cs typeface="Aptos"/>
              </a:defRPr>
            </a:pPr>
            <a:r>
              <a:rPr lang="en-US" sz="990" dirty="0">
                <a:solidFill>
                  <a:srgbClr val="5D666B"/>
                </a:solidFill>
                <a:latin typeface="Aptos"/>
                <a:ea typeface="Aptos"/>
                <a:cs typeface="Aptos"/>
              </a:rPr>
              <a:t>Establish how alumina content in the powder feedstock influences coating formation, microstructure and adhesion on aluminum conductors. Identify a suitable blend that combines reliable feeding and stable nozzle operation with strong bonding and low retained alumina. Support this recommendation through validated measurements of blend composition and homogeneity, together with repeat coating experiments.</a:t>
            </a:r>
            <a:endParaRPr sz="990" dirty="0"/>
          </a:p>
        </p:txBody>
      </p:sp>
      <p:sp>
        <p:nvSpPr>
          <p:cNvPr id="56" name="Text 29">
            <a:extLst>
              <a:ext uri="{FF2B5EF4-FFF2-40B4-BE49-F238E27FC236}">
                <a16:creationId xmlns:a16="http://schemas.microsoft.com/office/drawing/2014/main" id="{B6524C55-32C1-1701-39AF-30B8513D5859}"/>
              </a:ext>
            </a:extLst>
          </p:cNvPr>
          <p:cNvSpPr>
            <a:spLocks noGrp="1"/>
          </p:cNvSpPr>
          <p:nvPr/>
        </p:nvSpPr>
        <p:spPr>
          <a:xfrm>
            <a:off x="288608" y="7305675"/>
            <a:ext cx="6426422"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00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03  /  PROJECT ACTIVITIES</a:t>
            </a:r>
            <a:endParaRPr sz="860" dirty="0"/>
          </a:p>
        </p:txBody>
      </p:sp>
      <p:sp>
        <p:nvSpPr>
          <p:cNvPr id="58" name="Text 30">
            <a:extLst>
              <a:ext uri="{FF2B5EF4-FFF2-40B4-BE49-F238E27FC236}">
                <a16:creationId xmlns:a16="http://schemas.microsoft.com/office/drawing/2014/main" id="{E52291FE-67CB-49F0-597C-9F48EC893D25}"/>
              </a:ext>
            </a:extLst>
          </p:cNvPr>
          <p:cNvSpPr>
            <a:spLocks noGrp="1"/>
          </p:cNvSpPr>
          <p:nvPr/>
        </p:nvSpPr>
        <p:spPr>
          <a:xfrm>
            <a:off x="288608" y="7518400"/>
            <a:ext cx="6426422" cy="1112793"/>
          </a:xfrm>
          <a:prstGeom prst="rect">
            <a:avLst/>
          </a:prstGeom>
          <a:noFill/>
        </p:spPr>
        <p:txBody>
          <a:bodyPr wrap="square" lIns="0" tIns="0" rIns="0" bIns="0" anchor="t">
            <a:noAutofit/>
          </a:bodyPr>
          <a:lstStyle>
            <a:defPPr algn="l">
              <a:defRPr sz="975">
                <a:solidFill>
                  <a:srgbClr val="5D666B"/>
                </a:solidFill>
                <a:latin typeface="Aptos"/>
                <a:ea typeface="Aptos"/>
                <a:cs typeface="Aptos"/>
              </a:defRPr>
            </a:defPPr>
            <a:lvl1pPr algn="l">
              <a:defRPr sz="975">
                <a:solidFill>
                  <a:srgbClr val="5D666B"/>
                </a:solidFill>
                <a:latin typeface="Aptos"/>
                <a:ea typeface="Aptos"/>
                <a:cs typeface="Aptos"/>
              </a:defRPr>
            </a:lvl1pPr>
            <a:lvl2pPr algn="l">
              <a:defRPr sz="975">
                <a:solidFill>
                  <a:srgbClr val="5D666B"/>
                </a:solidFill>
                <a:latin typeface="Aptos"/>
                <a:ea typeface="Aptos"/>
                <a:cs typeface="Aptos"/>
              </a:defRPr>
            </a:lvl2pPr>
            <a:lvl3pPr algn="l">
              <a:defRPr sz="975">
                <a:solidFill>
                  <a:srgbClr val="5D666B"/>
                </a:solidFill>
                <a:latin typeface="Aptos"/>
                <a:ea typeface="Aptos"/>
                <a:cs typeface="Aptos"/>
              </a:defRPr>
            </a:lvl3pPr>
            <a:lvl4pPr algn="l">
              <a:defRPr sz="975">
                <a:solidFill>
                  <a:srgbClr val="5D666B"/>
                </a:solidFill>
                <a:latin typeface="Aptos"/>
                <a:ea typeface="Aptos"/>
                <a:cs typeface="Aptos"/>
              </a:defRPr>
            </a:lvl4pPr>
            <a:lvl5pPr algn="l">
              <a:defRPr sz="975">
                <a:solidFill>
                  <a:srgbClr val="5D666B"/>
                </a:solidFill>
                <a:latin typeface="Aptos"/>
                <a:ea typeface="Aptos"/>
                <a:cs typeface="Aptos"/>
              </a:defRPr>
            </a:lvl5pPr>
            <a:lvl6pPr algn="l">
              <a:defRPr sz="975">
                <a:solidFill>
                  <a:srgbClr val="5D666B"/>
                </a:solidFill>
                <a:latin typeface="Aptos"/>
                <a:ea typeface="Aptos"/>
                <a:cs typeface="Aptos"/>
              </a:defRPr>
            </a:lvl6pPr>
            <a:lvl7pPr algn="l">
              <a:defRPr sz="975">
                <a:solidFill>
                  <a:srgbClr val="5D666B"/>
                </a:solidFill>
                <a:latin typeface="Aptos"/>
                <a:ea typeface="Aptos"/>
                <a:cs typeface="Aptos"/>
              </a:defRPr>
            </a:lvl7pPr>
            <a:lvl8pPr algn="l">
              <a:defRPr sz="975">
                <a:solidFill>
                  <a:srgbClr val="5D666B"/>
                </a:solidFill>
                <a:latin typeface="Aptos"/>
                <a:ea typeface="Aptos"/>
                <a:cs typeface="Aptos"/>
              </a:defRPr>
            </a:lvl8pPr>
            <a:lvl9pPr algn="l">
              <a:defRPr sz="975">
                <a:solidFill>
                  <a:srgbClr val="5D666B"/>
                </a:solidFill>
                <a:latin typeface="Aptos"/>
                <a:ea typeface="Aptos"/>
                <a:cs typeface="Aptos"/>
              </a:defRPr>
            </a:lvl9pPr>
          </a:lstStyle>
          <a:p>
            <a:pPr marL="171450" indent="-171450" algn="just">
              <a:buFont typeface="Arial" panose="020B0604020202020204" pitchFamily="34" charset="0"/>
              <a:buChar char="•"/>
              <a:defRPr sz="975">
                <a:solidFill>
                  <a:srgbClr val="5D666B"/>
                </a:solidFill>
                <a:latin typeface="Aptos"/>
                <a:ea typeface="Aptos"/>
                <a:cs typeface="Aptos"/>
              </a:defRPr>
            </a:pPr>
            <a:r>
              <a:rPr lang="en-US" sz="990" dirty="0">
                <a:solidFill>
                  <a:srgbClr val="5D666B"/>
                </a:solidFill>
                <a:latin typeface="Aptos"/>
                <a:ea typeface="Aptos"/>
                <a:cs typeface="Aptos"/>
              </a:rPr>
              <a:t>Prepare </a:t>
            </a:r>
            <a:r>
              <a:rPr lang="en-US" sz="990" dirty="0" err="1">
                <a:solidFill>
                  <a:srgbClr val="5D666B"/>
                </a:solidFill>
                <a:latin typeface="Aptos"/>
                <a:ea typeface="Aptos"/>
                <a:cs typeface="Aptos"/>
              </a:rPr>
              <a:t>Al-Al₂O</a:t>
            </a:r>
            <a:r>
              <a:rPr lang="en-US" sz="990" dirty="0">
                <a:solidFill>
                  <a:srgbClr val="5D666B"/>
                </a:solidFill>
                <a:latin typeface="Aptos"/>
                <a:ea typeface="Aptos"/>
                <a:cs typeface="Aptos"/>
              </a:rPr>
              <a:t>₃ powder blends with varying alumina contents, with limited particle-size comparisons where feasible.</a:t>
            </a:r>
          </a:p>
          <a:p>
            <a:pPr marL="171450" indent="-171450" algn="just">
              <a:buFont typeface="Arial" panose="020B0604020202020204" pitchFamily="34" charset="0"/>
              <a:buChar char="•"/>
              <a:defRPr sz="975">
                <a:solidFill>
                  <a:srgbClr val="5D666B"/>
                </a:solidFill>
                <a:latin typeface="Aptos"/>
                <a:ea typeface="Aptos"/>
                <a:cs typeface="Aptos"/>
              </a:defRPr>
            </a:pPr>
            <a:r>
              <a:rPr lang="en-US" sz="990" dirty="0">
                <a:solidFill>
                  <a:srgbClr val="5D666B"/>
                </a:solidFill>
                <a:latin typeface="Aptos"/>
                <a:ea typeface="Aptos"/>
                <a:cs typeface="Aptos"/>
              </a:rPr>
              <a:t>Develop and validate a method to verify blend homogeneity and the powder composition delivered by the feeder.</a:t>
            </a:r>
          </a:p>
          <a:p>
            <a:pPr marL="171450" indent="-171450" algn="just">
              <a:buFont typeface="Arial" panose="020B0604020202020204" pitchFamily="34" charset="0"/>
              <a:buChar char="•"/>
              <a:defRPr sz="975">
                <a:solidFill>
                  <a:srgbClr val="5D666B"/>
                </a:solidFill>
                <a:latin typeface="Aptos"/>
                <a:ea typeface="Aptos"/>
                <a:cs typeface="Aptos"/>
              </a:defRPr>
            </a:pPr>
            <a:r>
              <a:rPr lang="en-US" sz="990" dirty="0">
                <a:solidFill>
                  <a:srgbClr val="5D666B"/>
                </a:solidFill>
                <a:latin typeface="Aptos"/>
                <a:ea typeface="Aptos"/>
                <a:cs typeface="Aptos"/>
              </a:rPr>
              <a:t>Produce coatings under controlled cold-spray conditions and evaluate deposition efficiency, coating build-up and nozzle operability.</a:t>
            </a:r>
          </a:p>
          <a:p>
            <a:pPr marL="171450" indent="-171450" algn="just">
              <a:buFont typeface="Arial" panose="020B0604020202020204" pitchFamily="34" charset="0"/>
              <a:buChar char="•"/>
              <a:defRPr sz="975">
                <a:solidFill>
                  <a:srgbClr val="5D666B"/>
                </a:solidFill>
                <a:latin typeface="Aptos"/>
                <a:ea typeface="Aptos"/>
                <a:cs typeface="Aptos"/>
              </a:defRPr>
            </a:pPr>
            <a:r>
              <a:rPr lang="en-US" sz="990" dirty="0">
                <a:solidFill>
                  <a:srgbClr val="5D666B"/>
                </a:solidFill>
                <a:latin typeface="Aptos"/>
                <a:ea typeface="Aptos"/>
                <a:cs typeface="Aptos"/>
              </a:rPr>
              <a:t>Use SEM/EDS, image analysis and pull-off testing to assess retained alumina, porosity and adhesion. Compare promising blends with the reference through repeat experiments.</a:t>
            </a:r>
          </a:p>
        </p:txBody>
      </p:sp>
      <p:sp>
        <p:nvSpPr>
          <p:cNvPr id="68" name="Text 35">
            <a:extLst>
              <a:ext uri="{FF2B5EF4-FFF2-40B4-BE49-F238E27FC236}">
                <a16:creationId xmlns:a16="http://schemas.microsoft.com/office/drawing/2014/main" id="{2F7D2E65-2E3D-DD1B-98AF-16E5BD6564A6}"/>
              </a:ext>
            </a:extLst>
          </p:cNvPr>
          <p:cNvSpPr>
            <a:spLocks noGrp="1"/>
          </p:cNvSpPr>
          <p:nvPr/>
        </p:nvSpPr>
        <p:spPr>
          <a:xfrm>
            <a:off x="288608" y="8733892"/>
            <a:ext cx="6426422" cy="221285"/>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00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04  /  PRACTICAL NOTES</a:t>
            </a:r>
            <a:endParaRPr sz="860" dirty="0"/>
          </a:p>
        </p:txBody>
      </p:sp>
      <p:sp>
        <p:nvSpPr>
          <p:cNvPr id="70" name="Text 36">
            <a:extLst>
              <a:ext uri="{FF2B5EF4-FFF2-40B4-BE49-F238E27FC236}">
                <a16:creationId xmlns:a16="http://schemas.microsoft.com/office/drawing/2014/main" id="{A368D0A1-E117-25EE-605D-20388D61C90D}"/>
              </a:ext>
            </a:extLst>
          </p:cNvPr>
          <p:cNvSpPr>
            <a:spLocks noGrp="1"/>
          </p:cNvSpPr>
          <p:nvPr/>
        </p:nvSpPr>
        <p:spPr>
          <a:xfrm>
            <a:off x="288608" y="8943975"/>
            <a:ext cx="6426422" cy="323850"/>
          </a:xfrm>
          <a:prstGeom prst="rect">
            <a:avLst/>
          </a:prstGeom>
          <a:noFill/>
        </p:spPr>
        <p:txBody>
          <a:bodyPr wrap="square" lIns="0" tIns="0" rIns="0" bIns="0" anchor="t">
            <a:noAutofit/>
          </a:bodyPr>
          <a:lstStyle>
            <a:defPPr algn="l">
              <a:defRPr sz="975">
                <a:solidFill>
                  <a:srgbClr val="5D666B"/>
                </a:solidFill>
                <a:latin typeface="Aptos"/>
                <a:ea typeface="Aptos"/>
                <a:cs typeface="Aptos"/>
              </a:defRPr>
            </a:defPPr>
            <a:lvl1pPr algn="l">
              <a:defRPr sz="975">
                <a:solidFill>
                  <a:srgbClr val="5D666B"/>
                </a:solidFill>
                <a:latin typeface="Aptos"/>
                <a:ea typeface="Aptos"/>
                <a:cs typeface="Aptos"/>
              </a:defRPr>
            </a:lvl1pPr>
            <a:lvl2pPr algn="l">
              <a:defRPr sz="975">
                <a:solidFill>
                  <a:srgbClr val="5D666B"/>
                </a:solidFill>
                <a:latin typeface="Aptos"/>
                <a:ea typeface="Aptos"/>
                <a:cs typeface="Aptos"/>
              </a:defRPr>
            </a:lvl2pPr>
            <a:lvl3pPr algn="l">
              <a:defRPr sz="975">
                <a:solidFill>
                  <a:srgbClr val="5D666B"/>
                </a:solidFill>
                <a:latin typeface="Aptos"/>
                <a:ea typeface="Aptos"/>
                <a:cs typeface="Aptos"/>
              </a:defRPr>
            </a:lvl3pPr>
            <a:lvl4pPr algn="l">
              <a:defRPr sz="975">
                <a:solidFill>
                  <a:srgbClr val="5D666B"/>
                </a:solidFill>
                <a:latin typeface="Aptos"/>
                <a:ea typeface="Aptos"/>
                <a:cs typeface="Aptos"/>
              </a:defRPr>
            </a:lvl4pPr>
            <a:lvl5pPr algn="l">
              <a:defRPr sz="975">
                <a:solidFill>
                  <a:srgbClr val="5D666B"/>
                </a:solidFill>
                <a:latin typeface="Aptos"/>
                <a:ea typeface="Aptos"/>
                <a:cs typeface="Aptos"/>
              </a:defRPr>
            </a:lvl5pPr>
            <a:lvl6pPr algn="l">
              <a:defRPr sz="975">
                <a:solidFill>
                  <a:srgbClr val="5D666B"/>
                </a:solidFill>
                <a:latin typeface="Aptos"/>
                <a:ea typeface="Aptos"/>
                <a:cs typeface="Aptos"/>
              </a:defRPr>
            </a:lvl6pPr>
            <a:lvl7pPr algn="l">
              <a:defRPr sz="975">
                <a:solidFill>
                  <a:srgbClr val="5D666B"/>
                </a:solidFill>
                <a:latin typeface="Aptos"/>
                <a:ea typeface="Aptos"/>
                <a:cs typeface="Aptos"/>
              </a:defRPr>
            </a:lvl7pPr>
            <a:lvl8pPr algn="l">
              <a:defRPr sz="975">
                <a:solidFill>
                  <a:srgbClr val="5D666B"/>
                </a:solidFill>
                <a:latin typeface="Aptos"/>
                <a:ea typeface="Aptos"/>
                <a:cs typeface="Aptos"/>
              </a:defRPr>
            </a:lvl8pPr>
            <a:lvl9pPr algn="l">
              <a:defRPr sz="975">
                <a:solidFill>
                  <a:srgbClr val="5D666B"/>
                </a:solidFill>
                <a:latin typeface="Aptos"/>
                <a:ea typeface="Aptos"/>
                <a:cs typeface="Aptos"/>
              </a:defRPr>
            </a:lvl9pPr>
          </a:lstStyle>
          <a:p>
            <a:pPr marL="0" indent="0" algn="just">
              <a:lnSpc>
                <a:spcPct val="102000"/>
              </a:lnSpc>
              <a:buNone/>
              <a:defRPr sz="975">
                <a:solidFill>
                  <a:srgbClr val="5D666B"/>
                </a:solidFill>
                <a:latin typeface="Aptos"/>
                <a:ea typeface="Aptos"/>
                <a:cs typeface="Aptos"/>
              </a:defRPr>
            </a:pPr>
            <a:r>
              <a:rPr lang="en-US" sz="975" dirty="0">
                <a:solidFill>
                  <a:srgbClr val="5D666B"/>
                </a:solidFill>
                <a:latin typeface="Aptos"/>
                <a:ea typeface="Aptos"/>
                <a:cs typeface="Aptos"/>
              </a:rPr>
              <a:t>Cold-spray experiments will take place at </a:t>
            </a:r>
            <a:r>
              <a:rPr lang="en-US" sz="975" dirty="0" err="1">
                <a:solidFill>
                  <a:srgbClr val="5D666B"/>
                </a:solidFill>
                <a:latin typeface="Aptos"/>
                <a:ea typeface="Aptos"/>
                <a:cs typeface="Aptos"/>
              </a:rPr>
              <a:t>ReliBond</a:t>
            </a:r>
            <a:r>
              <a:rPr lang="en-US" sz="975" dirty="0">
                <a:solidFill>
                  <a:srgbClr val="5D666B"/>
                </a:solidFill>
                <a:latin typeface="Aptos"/>
                <a:ea typeface="Aptos"/>
                <a:cs typeface="Aptos"/>
              </a:rPr>
              <a:t>, with microscopy, XRD and mechanical testing at DTU. Electrical testing is outside the scope of the proposed project. The experimental plan may be refined based on initial findings and powder availability.</a:t>
            </a:r>
            <a:endParaRPr sz="975" dirty="0"/>
          </a:p>
        </p:txBody>
      </p:sp>
      <p:sp>
        <p:nvSpPr>
          <p:cNvPr id="72" name="Shape 38">
            <a:extLst>
              <a:ext uri="{FF2B5EF4-FFF2-40B4-BE49-F238E27FC236}">
                <a16:creationId xmlns:a16="http://schemas.microsoft.com/office/drawing/2014/main" id="{081F88CA-2AEC-F488-1189-D6324DB0A884}"/>
              </a:ext>
            </a:extLst>
          </p:cNvPr>
          <p:cNvSpPr>
            <a:spLocks noGrp="1"/>
          </p:cNvSpPr>
          <p:nvPr/>
        </p:nvSpPr>
        <p:spPr>
          <a:xfrm>
            <a:off x="288607" y="9482018"/>
            <a:ext cx="6426403" cy="0"/>
          </a:xfrm>
          <a:prstGeom prst="line">
            <a:avLst/>
          </a:prstGeom>
          <a:noFill/>
          <a:ln w="10160">
            <a:solidFill>
              <a:srgbClr val="DFE2E3"/>
            </a:solidFill>
            <a:prstDash val="solid"/>
          </a:ln>
        </p:spPr>
        <p:txBody>
          <a:bodyPr/>
          <a:lstStyle/>
          <a:p>
            <a:endParaRPr/>
          </a:p>
        </p:txBody>
      </p:sp>
      <p:sp>
        <p:nvSpPr>
          <p:cNvPr id="74" name="Text 39">
            <a:extLst>
              <a:ext uri="{FF2B5EF4-FFF2-40B4-BE49-F238E27FC236}">
                <a16:creationId xmlns:a16="http://schemas.microsoft.com/office/drawing/2014/main" id="{7D6E5BF1-5B95-826E-7C58-11E988F22D64}"/>
              </a:ext>
            </a:extLst>
          </p:cNvPr>
          <p:cNvSpPr>
            <a:spLocks noGrp="1"/>
          </p:cNvSpPr>
          <p:nvPr/>
        </p:nvSpPr>
        <p:spPr>
          <a:xfrm>
            <a:off x="288607" y="9555170"/>
            <a:ext cx="4480560" cy="137160"/>
          </a:xfrm>
          <a:prstGeom prst="rect">
            <a:avLst/>
          </a:prstGeom>
          <a:noFill/>
        </p:spPr>
        <p:txBody>
          <a:bodyPr wrap="square" lIns="0" tIns="0" rIns="0" bIns="0" anchor="t"/>
          <a:lstStyle/>
          <a:p>
            <a:pPr marL="0" indent="0">
              <a:lnSpc>
                <a:spcPct val="100000"/>
              </a:lnSpc>
              <a:buNone/>
            </a:pPr>
            <a:r>
              <a:rPr sz="715" spc="60">
                <a:solidFill>
                  <a:srgbClr val="5D666B"/>
                </a:solidFill>
                <a:latin typeface="Aptos Display"/>
                <a:ea typeface="Aptos Display"/>
                <a:cs typeface="Aptos Display"/>
              </a:rPr>
              <a:t>DTU CONSTRUCT  /  MATERIALS AND SURFACE ENGINEERING</a:t>
            </a:r>
            <a:endParaRPr sz="715"/>
          </a:p>
        </p:txBody>
      </p:sp>
      <p:pic>
        <p:nvPicPr>
          <p:cNvPr id="75" name="Picture 74">
            <a:extLst>
              <a:ext uri="{FF2B5EF4-FFF2-40B4-BE49-F238E27FC236}">
                <a16:creationId xmlns:a16="http://schemas.microsoft.com/office/drawing/2014/main" id="{E437631B-8524-4856-8EB8-B175A93DDBD4}"/>
              </a:ext>
            </a:extLst>
          </p:cNvPr>
          <p:cNvPicPr>
            <a:picLocks noChangeAspect="1"/>
          </p:cNvPicPr>
          <p:nvPr/>
        </p:nvPicPr>
        <p:blipFill>
          <a:blip r:embed="rId4"/>
          <a:stretch/>
        </p:blipFill>
        <p:spPr>
          <a:xfrm>
            <a:off x="292229" y="2610115"/>
            <a:ext cx="4306824" cy="1539215"/>
          </a:xfrm>
          <a:prstGeom prst="rect">
            <a:avLst/>
          </a:prstGeom>
        </p:spPr>
      </p:pic>
      <p:sp>
        <p:nvSpPr>
          <p:cNvPr id="3" name="Text 19">
            <a:extLst>
              <a:ext uri="{FF2B5EF4-FFF2-40B4-BE49-F238E27FC236}">
                <a16:creationId xmlns:a16="http://schemas.microsoft.com/office/drawing/2014/main" id="{EECC8747-B6D1-85A0-E4FA-6FF19A932B91}"/>
              </a:ext>
            </a:extLst>
          </p:cNvPr>
          <p:cNvSpPr>
            <a:spLocks noGrp="1"/>
          </p:cNvSpPr>
          <p:nvPr/>
        </p:nvSpPr>
        <p:spPr>
          <a:xfrm>
            <a:off x="4795646" y="2989064"/>
            <a:ext cx="1901952" cy="297838"/>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marL="0" indent="0" algn="l">
              <a:lnSpc>
                <a:spcPct val="100000"/>
              </a:lnSpc>
              <a:buNone/>
              <a:defRPr sz="830">
                <a:solidFill>
                  <a:srgbClr val="5D666B"/>
                </a:solidFill>
                <a:latin typeface="Aptos"/>
                <a:ea typeface="Aptos"/>
                <a:cs typeface="Aptos"/>
              </a:defRPr>
            </a:pPr>
            <a:r>
              <a:rPr sz="830" dirty="0">
                <a:solidFill>
                  <a:srgbClr val="5D666B"/>
                </a:solidFill>
                <a:latin typeface="Aptos"/>
                <a:ea typeface="Aptos"/>
                <a:cs typeface="Aptos"/>
              </a:rPr>
              <a:t>DTU Construct</a:t>
            </a:r>
            <a:endParaRPr lang="en-US" sz="830" dirty="0">
              <a:solidFill>
                <a:srgbClr val="5D666B"/>
              </a:solidFill>
              <a:latin typeface="Aptos"/>
              <a:ea typeface="Aptos"/>
              <a:cs typeface="Aptos"/>
            </a:endParaRPr>
          </a:p>
          <a:p>
            <a:pPr marL="0" indent="0" algn="l">
              <a:lnSpc>
                <a:spcPct val="100000"/>
              </a:lnSpc>
              <a:buNone/>
              <a:defRPr sz="830">
                <a:solidFill>
                  <a:srgbClr val="5D666B"/>
                </a:solidFill>
                <a:latin typeface="Aptos"/>
                <a:ea typeface="Aptos"/>
                <a:cs typeface="Aptos"/>
              </a:defRPr>
            </a:pPr>
            <a:r>
              <a:rPr lang="da-DK" dirty="0"/>
              <a:t>majs@dtu.dk</a:t>
            </a:r>
            <a:endParaRPr sz="830" dirty="0"/>
          </a:p>
        </p:txBody>
      </p:sp>
      <p:sp>
        <p:nvSpPr>
          <p:cNvPr id="7" name="Text 17">
            <a:extLst>
              <a:ext uri="{FF2B5EF4-FFF2-40B4-BE49-F238E27FC236}">
                <a16:creationId xmlns:a16="http://schemas.microsoft.com/office/drawing/2014/main" id="{6F24F44F-8BD5-3354-0A7B-99C7071F63DC}"/>
              </a:ext>
            </a:extLst>
          </p:cNvPr>
          <p:cNvSpPr>
            <a:spLocks noGrp="1"/>
          </p:cNvSpPr>
          <p:nvPr/>
        </p:nvSpPr>
        <p:spPr>
          <a:xfrm>
            <a:off x="4790503" y="3294630"/>
            <a:ext cx="1901952" cy="2978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a:defRPr sz="950" b="1">
                <a:solidFill>
                  <a:srgbClr val="5D666B"/>
                </a:solidFill>
                <a:latin typeface="Aptos Display"/>
                <a:ea typeface="Aptos Display"/>
                <a:cs typeface="Aptos Display"/>
              </a:defRPr>
            </a:pPr>
            <a:r>
              <a:rPr lang="en-US" sz="950" b="1" dirty="0">
                <a:latin typeface="Aptos Display"/>
                <a:ea typeface="Aptos Display"/>
                <a:cs typeface="Aptos Display"/>
              </a:rPr>
              <a:t>Co-supervisors</a:t>
            </a:r>
          </a:p>
        </p:txBody>
      </p:sp>
      <p:sp>
        <p:nvSpPr>
          <p:cNvPr id="5" name="Text 3">
            <a:extLst>
              <a:ext uri="{FF2B5EF4-FFF2-40B4-BE49-F238E27FC236}">
                <a16:creationId xmlns:a16="http://schemas.microsoft.com/office/drawing/2014/main" id="{AAD6207D-4530-0E43-AAAD-1185C707CCDE}"/>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spTree>
    <p:extLst>
      <p:ext uri="{BB962C8B-B14F-4D97-AF65-F5344CB8AC3E}">
        <p14:creationId xmlns:p14="http://schemas.microsoft.com/office/powerpoint/2010/main" val="2236149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idx="12"/>
          </p:nvPr>
        </p:nvSpPr>
        <p:spPr>
          <a:xfrm>
            <a:off x="4989080" y="9329519"/>
            <a:ext cx="1543050" cy="527403"/>
          </a:xfrm>
        </p:spPr>
        <p:txBody>
          <a:bodyPr/>
          <a:lstStyle/>
          <a:p>
            <a:fld id="{F934066D-384D-4BE1-BDC2-82BCC33558DD}" type="slidenum">
              <a:rPr sz="800" b="1">
                <a:solidFill>
                  <a:srgbClr val="C00000"/>
                </a:solidFill>
                <a:latin typeface="+mj-lt"/>
                <a:ea typeface="+mj-lt"/>
                <a:cs typeface="+mj-lt"/>
              </a:rPr>
              <a:t>2</a:t>
            </a:fld>
            <a:endParaRPr sz="800" b="1">
              <a:solidFill>
                <a:srgbClr val="C00000"/>
              </a:solidFill>
              <a:latin typeface="+mj-lt"/>
              <a:ea typeface="+mj-lt"/>
              <a:cs typeface="+mj-lt"/>
            </a:endParaRPr>
          </a:p>
        </p:txBody>
      </p:sp>
      <p:sp>
        <p:nvSpPr>
          <p:cNvPr id="6" name="Shape 1">
            <a:extLst>
              <a:ext uri="{FF2B5EF4-FFF2-40B4-BE49-F238E27FC236}">
                <a16:creationId xmlns:a16="http://schemas.microsoft.com/office/drawing/2014/main" id="{89BF93BE-C274-0D15-669E-1FA3EF5814EB}"/>
              </a:ext>
            </a:extLst>
          </p:cNvPr>
          <p:cNvSpPr>
            <a:spLocks noGrp="1"/>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a:p>
        </p:txBody>
      </p:sp>
      <p:sp>
        <p:nvSpPr>
          <p:cNvPr id="8" name="Text 2">
            <a:extLst>
              <a:ext uri="{FF2B5EF4-FFF2-40B4-BE49-F238E27FC236}">
                <a16:creationId xmlns:a16="http://schemas.microsoft.com/office/drawing/2014/main" id="{5EAF69B7-3F7F-6E8A-4099-7209EA4CC33C}"/>
              </a:ext>
            </a:extLst>
          </p:cNvPr>
          <p:cNvSpPr>
            <a:spLocks noGrp="1"/>
          </p:cNvSpPr>
          <p:nvPr/>
        </p:nvSpPr>
        <p:spPr>
          <a:xfrm>
            <a:off x="444055" y="278582"/>
            <a:ext cx="5166360" cy="210312"/>
          </a:xfrm>
          <a:prstGeom prst="rect">
            <a:avLst/>
          </a:prstGeom>
          <a:noFill/>
        </p:spPr>
        <p:txBody>
          <a:bodyPr wrap="square" lIns="0" tIns="0" rIns="0" bIns="0" anchor="t"/>
          <a:lstStyle/>
          <a:p>
            <a:pPr marL="0" indent="0">
              <a:lnSpc>
                <a:spcPct val="100000"/>
              </a:lnSpc>
              <a:buNone/>
            </a:pPr>
            <a:r>
              <a:rPr sz="1100" b="1" spc="20">
                <a:solidFill>
                  <a:srgbClr val="22282D"/>
                </a:solidFill>
                <a:latin typeface="Aptos Display"/>
                <a:ea typeface="Aptos Display"/>
                <a:cs typeface="Aptos Display"/>
              </a:rPr>
              <a:t>MATERIALS AND SURFACE ENGINEERING</a:t>
            </a:r>
            <a:endParaRPr sz="1100"/>
          </a:p>
        </p:txBody>
      </p:sp>
      <p:pic>
        <p:nvPicPr>
          <p:cNvPr id="12" name="Image 0">
            <a:extLst>
              <a:ext uri="{FF2B5EF4-FFF2-40B4-BE49-F238E27FC236}">
                <a16:creationId xmlns:a16="http://schemas.microsoft.com/office/drawing/2014/main" id="{4173BC42-67AF-42BC-B450-89BF78A326F2}"/>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a:spLocks noGrp="1"/>
          </p:cNvSpPr>
          <p:nvPr/>
        </p:nvSpPr>
        <p:spPr>
          <a:xfrm>
            <a:off x="288607" y="936950"/>
            <a:ext cx="6426403" cy="0"/>
          </a:xfrm>
          <a:prstGeom prst="line">
            <a:avLst/>
          </a:prstGeom>
          <a:noFill/>
          <a:ln w="19050">
            <a:solidFill>
              <a:srgbClr val="A30018"/>
            </a:solidFill>
            <a:prstDash val="solid"/>
          </a:ln>
        </p:spPr>
        <p:txBody>
          <a:bodyPr/>
          <a:lstStyle/>
          <a:p>
            <a:endParaRPr/>
          </a:p>
        </p:txBody>
      </p:sp>
      <p:sp>
        <p:nvSpPr>
          <p:cNvPr id="16" name="Text 5">
            <a:extLst>
              <a:ext uri="{FF2B5EF4-FFF2-40B4-BE49-F238E27FC236}">
                <a16:creationId xmlns:a16="http://schemas.microsoft.com/office/drawing/2014/main" id="{F9F2F617-4FE4-3AFB-5BE6-447724F14CFF}"/>
              </a:ext>
            </a:extLst>
          </p:cNvPr>
          <p:cNvSpPr>
            <a:spLocks noGrp="1"/>
          </p:cNvSpPr>
          <p:nvPr/>
        </p:nvSpPr>
        <p:spPr>
          <a:xfrm>
            <a:off x="288607" y="1224986"/>
            <a:ext cx="6426403"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12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PROJECT LEVEL: MASTER OR BACHELOR</a:t>
            </a:r>
            <a:endParaRPr sz="860" dirty="0"/>
          </a:p>
        </p:txBody>
      </p:sp>
      <p:sp>
        <p:nvSpPr>
          <p:cNvPr id="18" name="Text 6">
            <a:extLst>
              <a:ext uri="{FF2B5EF4-FFF2-40B4-BE49-F238E27FC236}">
                <a16:creationId xmlns:a16="http://schemas.microsoft.com/office/drawing/2014/main" id="{6F0B72D1-F35C-ED87-929B-81DB04BC902C}"/>
              </a:ext>
            </a:extLst>
          </p:cNvPr>
          <p:cNvSpPr>
            <a:spLocks noGrp="1"/>
          </p:cNvSpPr>
          <p:nvPr/>
        </p:nvSpPr>
        <p:spPr>
          <a:xfrm>
            <a:off x="288607" y="1526738"/>
            <a:ext cx="6426403" cy="905256"/>
          </a:xfrm>
          <a:prstGeom prst="rect">
            <a:avLst/>
          </a:prstGeom>
          <a:noFill/>
        </p:spPr>
        <p:txBody>
          <a:bodyPr wrap="square" lIns="0" tIns="0" rIns="0" bIns="0" anchor="t">
            <a:noAutofit/>
          </a:bodyPr>
          <a:lstStyle>
            <a:defPPr algn="l">
              <a:defRPr sz="2000" b="1">
                <a:solidFill>
                  <a:srgbClr val="22282D"/>
                </a:solidFill>
                <a:latin typeface="Aptos Display"/>
                <a:ea typeface="Aptos Display"/>
                <a:cs typeface="Aptos Display"/>
              </a:defRPr>
            </a:defPPr>
            <a:lvl1pPr algn="l">
              <a:defRPr sz="2000" b="1">
                <a:solidFill>
                  <a:srgbClr val="22282D"/>
                </a:solidFill>
                <a:latin typeface="Aptos Display"/>
                <a:ea typeface="Aptos Display"/>
                <a:cs typeface="Aptos Display"/>
              </a:defRPr>
            </a:lvl1pPr>
            <a:lvl2pPr algn="l">
              <a:defRPr sz="2000" b="1">
                <a:solidFill>
                  <a:srgbClr val="22282D"/>
                </a:solidFill>
                <a:latin typeface="Aptos Display"/>
                <a:ea typeface="Aptos Display"/>
                <a:cs typeface="Aptos Display"/>
              </a:defRPr>
            </a:lvl2pPr>
            <a:lvl3pPr algn="l">
              <a:defRPr sz="2000" b="1">
                <a:solidFill>
                  <a:srgbClr val="22282D"/>
                </a:solidFill>
                <a:latin typeface="Aptos Display"/>
                <a:ea typeface="Aptos Display"/>
                <a:cs typeface="Aptos Display"/>
              </a:defRPr>
            </a:lvl3pPr>
            <a:lvl4pPr algn="l">
              <a:defRPr sz="2000" b="1">
                <a:solidFill>
                  <a:srgbClr val="22282D"/>
                </a:solidFill>
                <a:latin typeface="Aptos Display"/>
                <a:ea typeface="Aptos Display"/>
                <a:cs typeface="Aptos Display"/>
              </a:defRPr>
            </a:lvl4pPr>
            <a:lvl5pPr algn="l">
              <a:defRPr sz="2000" b="1">
                <a:solidFill>
                  <a:srgbClr val="22282D"/>
                </a:solidFill>
                <a:latin typeface="Aptos Display"/>
                <a:ea typeface="Aptos Display"/>
                <a:cs typeface="Aptos Display"/>
              </a:defRPr>
            </a:lvl5pPr>
            <a:lvl6pPr algn="l">
              <a:defRPr sz="2000" b="1">
                <a:solidFill>
                  <a:srgbClr val="22282D"/>
                </a:solidFill>
                <a:latin typeface="Aptos Display"/>
                <a:ea typeface="Aptos Display"/>
                <a:cs typeface="Aptos Display"/>
              </a:defRPr>
            </a:lvl6pPr>
            <a:lvl7pPr algn="l">
              <a:defRPr sz="2000" b="1">
                <a:solidFill>
                  <a:srgbClr val="22282D"/>
                </a:solidFill>
                <a:latin typeface="Aptos Display"/>
                <a:ea typeface="Aptos Display"/>
                <a:cs typeface="Aptos Display"/>
              </a:defRPr>
            </a:lvl7pPr>
            <a:lvl8pPr algn="l">
              <a:defRPr sz="2000" b="1">
                <a:solidFill>
                  <a:srgbClr val="22282D"/>
                </a:solidFill>
                <a:latin typeface="Aptos Display"/>
                <a:ea typeface="Aptos Display"/>
                <a:cs typeface="Aptos Display"/>
              </a:defRPr>
            </a:lvl8pPr>
            <a:lvl9pPr algn="l">
              <a:defRPr sz="2000" b="1">
                <a:solidFill>
                  <a:srgbClr val="22282D"/>
                </a:solidFill>
                <a:latin typeface="Aptos Display"/>
                <a:ea typeface="Aptos Display"/>
                <a:cs typeface="Aptos Display"/>
              </a:defRPr>
            </a:lvl9pPr>
          </a:lstStyle>
          <a:p>
            <a:pPr marL="0" indent="0" algn="l">
              <a:lnSpc>
                <a:spcPct val="112000"/>
              </a:lnSpc>
              <a:buNone/>
              <a:defRPr sz="2000" b="1">
                <a:solidFill>
                  <a:srgbClr val="22282D"/>
                </a:solidFill>
                <a:latin typeface="Aptos Display"/>
                <a:ea typeface="Aptos Display"/>
                <a:cs typeface="Aptos Display"/>
              </a:defRPr>
            </a:pPr>
            <a:r>
              <a:rPr sz="2000" b="1" dirty="0">
                <a:solidFill>
                  <a:srgbClr val="22282D"/>
                </a:solidFill>
                <a:latin typeface="Aptos Display"/>
                <a:ea typeface="Aptos Display"/>
                <a:cs typeface="Aptos Display"/>
              </a:rPr>
              <a:t>Protecting steels against</a:t>
            </a:r>
            <a:endParaRPr sz="2000" dirty="0"/>
          </a:p>
          <a:p>
            <a:pPr marL="0" indent="0" algn="l">
              <a:lnSpc>
                <a:spcPct val="112000"/>
              </a:lnSpc>
              <a:buNone/>
              <a:defRPr sz="2000" b="1">
                <a:solidFill>
                  <a:srgbClr val="22282D"/>
                </a:solidFill>
                <a:latin typeface="Aptos Display"/>
                <a:ea typeface="Aptos Display"/>
                <a:cs typeface="Aptos Display"/>
              </a:defRPr>
            </a:pPr>
            <a:r>
              <a:rPr sz="2000" b="1" dirty="0">
                <a:solidFill>
                  <a:srgbClr val="22282D"/>
                </a:solidFill>
                <a:latin typeface="Aptos Display"/>
                <a:ea typeface="Aptos Display"/>
                <a:cs typeface="Aptos Display"/>
              </a:rPr>
              <a:t>high-temperature ammonia corrosion</a:t>
            </a:r>
            <a:endParaRPr sz="2000" dirty="0"/>
          </a:p>
        </p:txBody>
      </p:sp>
      <p:sp>
        <p:nvSpPr>
          <p:cNvPr id="20" name="Shape 7">
            <a:extLst>
              <a:ext uri="{FF2B5EF4-FFF2-40B4-BE49-F238E27FC236}">
                <a16:creationId xmlns:a16="http://schemas.microsoft.com/office/drawing/2014/main" id="{BF93D45E-B774-456A-8A91-E3FB6CC60F32}"/>
              </a:ext>
            </a:extLst>
          </p:cNvPr>
          <p:cNvSpPr>
            <a:spLocks noGrp="1"/>
          </p:cNvSpPr>
          <p:nvPr/>
        </p:nvSpPr>
        <p:spPr>
          <a:xfrm>
            <a:off x="288607" y="2504384"/>
            <a:ext cx="4306824" cy="2107692"/>
          </a:xfrm>
          <a:prstGeom prst="rect">
            <a:avLst/>
          </a:prstGeom>
          <a:noFill/>
          <a:ln w="0">
            <a:noFill/>
            <a:prstDash val="solid"/>
          </a:ln>
        </p:spPr>
        <p:txBody>
          <a:bodyPr/>
          <a:lstStyle/>
          <a:p>
            <a:endParaRPr/>
          </a:p>
        </p:txBody>
      </p:sp>
      <p:sp>
        <p:nvSpPr>
          <p:cNvPr id="24" name="Text 13">
            <a:extLst>
              <a:ext uri="{FF2B5EF4-FFF2-40B4-BE49-F238E27FC236}">
                <a16:creationId xmlns:a16="http://schemas.microsoft.com/office/drawing/2014/main" id="{92D05183-68B0-0CD1-9862-417A2C8C76EA}"/>
              </a:ext>
            </a:extLst>
          </p:cNvPr>
          <p:cNvSpPr>
            <a:spLocks noGrp="1"/>
          </p:cNvSpPr>
          <p:nvPr/>
        </p:nvSpPr>
        <p:spPr>
          <a:xfrm>
            <a:off x="762767" y="4607581"/>
            <a:ext cx="3319262" cy="142110"/>
          </a:xfrm>
          <a:prstGeom prst="rect">
            <a:avLst/>
          </a:prstGeom>
          <a:noFill/>
        </p:spPr>
        <p:txBody>
          <a:bodyPr wrap="square" lIns="0" tIns="0" rIns="0" bIns="0" anchor="t">
            <a:noAutofit/>
          </a:bodyPr>
          <a:lstStyle>
            <a:defPPr algn="l">
              <a:defRPr sz="685" b="0">
                <a:solidFill>
                  <a:srgbClr val="5D666B"/>
                </a:solidFill>
                <a:latin typeface="Aptos"/>
                <a:ea typeface="Aptos"/>
                <a:cs typeface="Aptos"/>
              </a:defRPr>
            </a:defPPr>
            <a:lvl1pPr algn="l">
              <a:defRPr sz="685" b="0">
                <a:solidFill>
                  <a:srgbClr val="5D666B"/>
                </a:solidFill>
                <a:latin typeface="Aptos"/>
                <a:ea typeface="Aptos"/>
                <a:cs typeface="Aptos"/>
              </a:defRPr>
            </a:lvl1pPr>
            <a:lvl2pPr algn="l">
              <a:defRPr sz="685" b="0">
                <a:solidFill>
                  <a:srgbClr val="5D666B"/>
                </a:solidFill>
                <a:latin typeface="Aptos"/>
                <a:ea typeface="Aptos"/>
                <a:cs typeface="Aptos"/>
              </a:defRPr>
            </a:lvl2pPr>
            <a:lvl3pPr algn="l">
              <a:defRPr sz="685" b="0">
                <a:solidFill>
                  <a:srgbClr val="5D666B"/>
                </a:solidFill>
                <a:latin typeface="Aptos"/>
                <a:ea typeface="Aptos"/>
                <a:cs typeface="Aptos"/>
              </a:defRPr>
            </a:lvl3pPr>
            <a:lvl4pPr algn="l">
              <a:defRPr sz="685" b="0">
                <a:solidFill>
                  <a:srgbClr val="5D666B"/>
                </a:solidFill>
                <a:latin typeface="Aptos"/>
                <a:ea typeface="Aptos"/>
                <a:cs typeface="Aptos"/>
              </a:defRPr>
            </a:lvl4pPr>
            <a:lvl5pPr algn="l">
              <a:defRPr sz="685" b="0">
                <a:solidFill>
                  <a:srgbClr val="5D666B"/>
                </a:solidFill>
                <a:latin typeface="Aptos"/>
                <a:ea typeface="Aptos"/>
                <a:cs typeface="Aptos"/>
              </a:defRPr>
            </a:lvl5pPr>
            <a:lvl6pPr algn="l">
              <a:defRPr sz="685" b="0">
                <a:solidFill>
                  <a:srgbClr val="5D666B"/>
                </a:solidFill>
                <a:latin typeface="Aptos"/>
                <a:ea typeface="Aptos"/>
                <a:cs typeface="Aptos"/>
              </a:defRPr>
            </a:lvl6pPr>
            <a:lvl7pPr algn="l">
              <a:defRPr sz="685" b="0">
                <a:solidFill>
                  <a:srgbClr val="5D666B"/>
                </a:solidFill>
                <a:latin typeface="Aptos"/>
                <a:ea typeface="Aptos"/>
                <a:cs typeface="Aptos"/>
              </a:defRPr>
            </a:lvl7pPr>
            <a:lvl8pPr algn="l">
              <a:defRPr sz="685" b="0">
                <a:solidFill>
                  <a:srgbClr val="5D666B"/>
                </a:solidFill>
                <a:latin typeface="Aptos"/>
                <a:ea typeface="Aptos"/>
                <a:cs typeface="Aptos"/>
              </a:defRPr>
            </a:lvl8pPr>
            <a:lvl9pPr algn="l">
              <a:defRPr sz="685" b="0">
                <a:solidFill>
                  <a:srgbClr val="5D666B"/>
                </a:solidFill>
                <a:latin typeface="Aptos"/>
                <a:ea typeface="Aptos"/>
                <a:cs typeface="Aptos"/>
              </a:defRPr>
            </a:lvl9pPr>
          </a:lstStyle>
          <a:p>
            <a:pPr marL="0" indent="0" algn="ctr">
              <a:lnSpc>
                <a:spcPct val="112000"/>
              </a:lnSpc>
              <a:buNone/>
              <a:defRPr sz="685" b="0">
                <a:solidFill>
                  <a:srgbClr val="5D666B"/>
                </a:solidFill>
                <a:latin typeface="Aptos"/>
                <a:ea typeface="Aptos"/>
                <a:cs typeface="Aptos"/>
              </a:defRPr>
            </a:pPr>
            <a:r>
              <a:rPr lang="en-US" sz="685" b="0" spc="45" dirty="0">
                <a:solidFill>
                  <a:srgbClr val="5D666B"/>
                </a:solidFill>
                <a:latin typeface="Aptos"/>
                <a:ea typeface="Aptos"/>
                <a:cs typeface="Aptos"/>
              </a:rPr>
              <a:t>Cross-sectional BSE-SEM image showing localized substrate attack beneath a PVD coating after NH₃ exposure.</a:t>
            </a:r>
            <a:endParaRPr sz="685" dirty="0"/>
          </a:p>
        </p:txBody>
      </p:sp>
      <p:sp>
        <p:nvSpPr>
          <p:cNvPr id="26" name="Shape 14">
            <a:extLst>
              <a:ext uri="{FF2B5EF4-FFF2-40B4-BE49-F238E27FC236}">
                <a16:creationId xmlns:a16="http://schemas.microsoft.com/office/drawing/2014/main" id="{AA36B306-337C-04B4-9B92-70B043FEE96D}"/>
              </a:ext>
            </a:extLst>
          </p:cNvPr>
          <p:cNvSpPr>
            <a:spLocks noGrp="1"/>
          </p:cNvSpPr>
          <p:nvPr/>
        </p:nvSpPr>
        <p:spPr>
          <a:xfrm>
            <a:off x="4686871" y="2499812"/>
            <a:ext cx="0" cy="2112264"/>
          </a:xfrm>
          <a:prstGeom prst="line">
            <a:avLst/>
          </a:prstGeom>
          <a:noFill/>
          <a:ln w="12700">
            <a:solidFill>
              <a:srgbClr val="DFE2E3"/>
            </a:solidFill>
            <a:prstDash val="solid"/>
          </a:ln>
        </p:spPr>
        <p:txBody>
          <a:bodyPr/>
          <a:lstStyle/>
          <a:p>
            <a:endParaRPr/>
          </a:p>
        </p:txBody>
      </p:sp>
      <p:sp>
        <p:nvSpPr>
          <p:cNvPr id="28" name="Text 15">
            <a:extLst>
              <a:ext uri="{FF2B5EF4-FFF2-40B4-BE49-F238E27FC236}">
                <a16:creationId xmlns:a16="http://schemas.microsoft.com/office/drawing/2014/main" id="{DDA6AD76-253A-BDEE-D80F-CF8C578343F2}"/>
              </a:ext>
            </a:extLst>
          </p:cNvPr>
          <p:cNvSpPr>
            <a:spLocks noGrp="1"/>
          </p:cNvSpPr>
          <p:nvPr/>
        </p:nvSpPr>
        <p:spPr>
          <a:xfrm>
            <a:off x="4805743" y="2536388"/>
            <a:ext cx="1901952" cy="201168"/>
          </a:xfrm>
          <a:prstGeom prst="rect">
            <a:avLst/>
          </a:prstGeom>
          <a:noFill/>
        </p:spPr>
        <p:txBody>
          <a:bodyPr wrap="square" lIns="0" tIns="0" rIns="0" bIns="0" anchor="t"/>
          <a:lstStyle/>
          <a:p>
            <a:pPr marL="0" indent="0">
              <a:lnSpc>
                <a:spcPct val="100000"/>
              </a:lnSpc>
              <a:buNone/>
            </a:pPr>
            <a:r>
              <a:rPr sz="860" b="1" spc="120">
                <a:solidFill>
                  <a:srgbClr val="5D666B"/>
                </a:solidFill>
                <a:latin typeface="Aptos Display"/>
                <a:ea typeface="Aptos Display"/>
                <a:cs typeface="Aptos Display"/>
              </a:rPr>
              <a:t>SUPERVISORS</a:t>
            </a:r>
            <a:endParaRPr sz="860"/>
          </a:p>
        </p:txBody>
      </p:sp>
      <p:sp>
        <p:nvSpPr>
          <p:cNvPr id="42" name="Text 22">
            <a:extLst>
              <a:ext uri="{FF2B5EF4-FFF2-40B4-BE49-F238E27FC236}">
                <a16:creationId xmlns:a16="http://schemas.microsoft.com/office/drawing/2014/main" id="{1DF1104B-1700-DC4D-5689-1F91FE7F43E6}"/>
              </a:ext>
            </a:extLst>
          </p:cNvPr>
          <p:cNvSpPr>
            <a:spLocks noGrp="1"/>
          </p:cNvSpPr>
          <p:nvPr/>
        </p:nvSpPr>
        <p:spPr>
          <a:xfrm>
            <a:off x="4805743" y="4328612"/>
            <a:ext cx="1901952" cy="201168"/>
          </a:xfrm>
          <a:prstGeom prst="rect">
            <a:avLst/>
          </a:prstGeom>
          <a:noFill/>
        </p:spPr>
        <p:txBody>
          <a:bodyPr wrap="square" lIns="0" tIns="0" rIns="0" bIns="0" anchor="t"/>
          <a:lstStyle/>
          <a:p>
            <a:pPr marL="0" indent="0">
              <a:lnSpc>
                <a:spcPct val="100000"/>
              </a:lnSpc>
              <a:buNone/>
            </a:pPr>
            <a:r>
              <a:rPr sz="860" b="1" spc="120">
                <a:solidFill>
                  <a:srgbClr val="5D666B"/>
                </a:solidFill>
                <a:latin typeface="Aptos Display"/>
                <a:ea typeface="Aptos Display"/>
                <a:cs typeface="Aptos Display"/>
              </a:rPr>
              <a:t>COLLABORATION</a:t>
            </a:r>
            <a:endParaRPr sz="860"/>
          </a:p>
        </p:txBody>
      </p:sp>
      <p:sp>
        <p:nvSpPr>
          <p:cNvPr id="44" name="Text 23">
            <a:extLst>
              <a:ext uri="{FF2B5EF4-FFF2-40B4-BE49-F238E27FC236}">
                <a16:creationId xmlns:a16="http://schemas.microsoft.com/office/drawing/2014/main" id="{EE6A2E6F-D0C1-1685-693D-44A5B2B1A9B8}"/>
              </a:ext>
            </a:extLst>
          </p:cNvPr>
          <p:cNvSpPr>
            <a:spLocks noGrp="1"/>
          </p:cNvSpPr>
          <p:nvPr/>
        </p:nvSpPr>
        <p:spPr>
          <a:xfrm>
            <a:off x="4805744" y="4520660"/>
            <a:ext cx="1901952" cy="323850"/>
          </a:xfrm>
          <a:prstGeom prst="rect">
            <a:avLst/>
          </a:prstGeom>
          <a:noFill/>
        </p:spPr>
        <p:txBody>
          <a:bodyPr wrap="square" lIns="0" tIns="0" rIns="0" bIns="0" anchor="t">
            <a:noAutofit/>
          </a:bodyPr>
          <a:lstStyle>
            <a:defPPr algn="l">
              <a:defRPr sz="900" b="0">
                <a:solidFill>
                  <a:srgbClr val="5D666B"/>
                </a:solidFill>
                <a:latin typeface="Aptos Display"/>
                <a:ea typeface="Aptos Display"/>
                <a:cs typeface="Aptos Display"/>
              </a:defRPr>
            </a:defPPr>
            <a:lvl1pPr algn="l">
              <a:defRPr sz="900" b="0">
                <a:solidFill>
                  <a:srgbClr val="5D666B"/>
                </a:solidFill>
                <a:latin typeface="Aptos Display"/>
                <a:ea typeface="Aptos Display"/>
                <a:cs typeface="Aptos Display"/>
              </a:defRPr>
            </a:lvl1pPr>
            <a:lvl2pPr algn="l">
              <a:defRPr sz="900" b="0">
                <a:solidFill>
                  <a:srgbClr val="5D666B"/>
                </a:solidFill>
                <a:latin typeface="Aptos Display"/>
                <a:ea typeface="Aptos Display"/>
                <a:cs typeface="Aptos Display"/>
              </a:defRPr>
            </a:lvl2pPr>
            <a:lvl3pPr algn="l">
              <a:defRPr sz="900" b="0">
                <a:solidFill>
                  <a:srgbClr val="5D666B"/>
                </a:solidFill>
                <a:latin typeface="Aptos Display"/>
                <a:ea typeface="Aptos Display"/>
                <a:cs typeface="Aptos Display"/>
              </a:defRPr>
            </a:lvl3pPr>
            <a:lvl4pPr algn="l">
              <a:defRPr sz="900" b="0">
                <a:solidFill>
                  <a:srgbClr val="5D666B"/>
                </a:solidFill>
                <a:latin typeface="Aptos Display"/>
                <a:ea typeface="Aptos Display"/>
                <a:cs typeface="Aptos Display"/>
              </a:defRPr>
            </a:lvl4pPr>
            <a:lvl5pPr algn="l">
              <a:defRPr sz="900" b="0">
                <a:solidFill>
                  <a:srgbClr val="5D666B"/>
                </a:solidFill>
                <a:latin typeface="Aptos Display"/>
                <a:ea typeface="Aptos Display"/>
                <a:cs typeface="Aptos Display"/>
              </a:defRPr>
            </a:lvl5pPr>
            <a:lvl6pPr algn="l">
              <a:defRPr sz="900" b="0">
                <a:solidFill>
                  <a:srgbClr val="5D666B"/>
                </a:solidFill>
                <a:latin typeface="Aptos Display"/>
                <a:ea typeface="Aptos Display"/>
                <a:cs typeface="Aptos Display"/>
              </a:defRPr>
            </a:lvl6pPr>
            <a:lvl7pPr algn="l">
              <a:defRPr sz="900" b="0">
                <a:solidFill>
                  <a:srgbClr val="5D666B"/>
                </a:solidFill>
                <a:latin typeface="Aptos Display"/>
                <a:ea typeface="Aptos Display"/>
                <a:cs typeface="Aptos Display"/>
              </a:defRPr>
            </a:lvl7pPr>
            <a:lvl8pPr algn="l">
              <a:defRPr sz="900" b="0">
                <a:solidFill>
                  <a:srgbClr val="5D666B"/>
                </a:solidFill>
                <a:latin typeface="Aptos Display"/>
                <a:ea typeface="Aptos Display"/>
                <a:cs typeface="Aptos Display"/>
              </a:defRPr>
            </a:lvl8pPr>
            <a:lvl9pPr algn="l">
              <a:defRPr sz="900" b="0">
                <a:solidFill>
                  <a:srgbClr val="5D666B"/>
                </a:solidFill>
                <a:latin typeface="Aptos Display"/>
                <a:ea typeface="Aptos Display"/>
                <a:cs typeface="Aptos Display"/>
              </a:defRPr>
            </a:lvl9pPr>
          </a:lstStyle>
          <a:p>
            <a:pPr marL="0" indent="0" algn="l">
              <a:lnSpc>
                <a:spcPct val="112000"/>
              </a:lnSpc>
              <a:buNone/>
              <a:defRPr sz="900" b="0">
                <a:solidFill>
                  <a:srgbClr val="5D666B"/>
                </a:solidFill>
                <a:latin typeface="Aptos Display"/>
                <a:ea typeface="Aptos Display"/>
                <a:cs typeface="Aptos Display"/>
              </a:defRPr>
            </a:pPr>
            <a:r>
              <a:rPr sz="900" b="0" dirty="0">
                <a:solidFill>
                  <a:srgbClr val="5D666B"/>
                </a:solidFill>
                <a:latin typeface="Aptos Display"/>
                <a:ea typeface="Aptos Display"/>
                <a:cs typeface="Aptos Display"/>
              </a:rPr>
              <a:t>Danish Technological</a:t>
            </a:r>
            <a:endParaRPr sz="900" dirty="0"/>
          </a:p>
          <a:p>
            <a:pPr marL="0" indent="0" algn="l">
              <a:lnSpc>
                <a:spcPct val="112000"/>
              </a:lnSpc>
              <a:buNone/>
              <a:defRPr sz="900" b="0">
                <a:solidFill>
                  <a:srgbClr val="5D666B"/>
                </a:solidFill>
                <a:latin typeface="Aptos Display"/>
                <a:ea typeface="Aptos Display"/>
                <a:cs typeface="Aptos Display"/>
              </a:defRPr>
            </a:pPr>
            <a:r>
              <a:rPr sz="900" b="0" dirty="0">
                <a:solidFill>
                  <a:srgbClr val="5D666B"/>
                </a:solidFill>
                <a:latin typeface="Aptos Display"/>
                <a:ea typeface="Aptos Display"/>
                <a:cs typeface="Aptos Display"/>
              </a:rPr>
              <a:t>Institute (DTI)</a:t>
            </a:r>
            <a:endParaRPr sz="900" dirty="0"/>
          </a:p>
        </p:txBody>
      </p:sp>
      <p:sp>
        <p:nvSpPr>
          <p:cNvPr id="46" name="Shape 24">
            <a:extLst>
              <a:ext uri="{FF2B5EF4-FFF2-40B4-BE49-F238E27FC236}">
                <a16:creationId xmlns:a16="http://schemas.microsoft.com/office/drawing/2014/main" id="{741B9529-EDF4-0277-9517-AD77B4EC7EFA}"/>
              </a:ext>
            </a:extLst>
          </p:cNvPr>
          <p:cNvSpPr>
            <a:spLocks noGrp="1"/>
          </p:cNvSpPr>
          <p:nvPr/>
        </p:nvSpPr>
        <p:spPr>
          <a:xfrm>
            <a:off x="288607" y="4886396"/>
            <a:ext cx="6426403" cy="0"/>
          </a:xfrm>
          <a:prstGeom prst="line">
            <a:avLst/>
          </a:prstGeom>
          <a:noFill/>
          <a:ln w="10795">
            <a:solidFill>
              <a:srgbClr val="DFE2E3"/>
            </a:solidFill>
            <a:prstDash val="solid"/>
          </a:ln>
        </p:spPr>
        <p:txBody>
          <a:bodyPr/>
          <a:lstStyle/>
          <a:p>
            <a:endParaRPr/>
          </a:p>
        </p:txBody>
      </p:sp>
      <p:sp>
        <p:nvSpPr>
          <p:cNvPr id="48" name="Text 25">
            <a:extLst>
              <a:ext uri="{FF2B5EF4-FFF2-40B4-BE49-F238E27FC236}">
                <a16:creationId xmlns:a16="http://schemas.microsoft.com/office/drawing/2014/main" id="{550D7A41-D8A4-84EE-5510-72BFA808AFF9}"/>
              </a:ext>
            </a:extLst>
          </p:cNvPr>
          <p:cNvSpPr>
            <a:spLocks noGrp="1"/>
          </p:cNvSpPr>
          <p:nvPr/>
        </p:nvSpPr>
        <p:spPr>
          <a:xfrm>
            <a:off x="288607" y="5055560"/>
            <a:ext cx="6426403" cy="201168"/>
          </a:xfrm>
          <a:prstGeom prst="rect">
            <a:avLst/>
          </a:prstGeom>
          <a:noFill/>
        </p:spPr>
        <p:txBody>
          <a:bodyPr wrap="square" lIns="0" tIns="0" rIns="0" bIns="0" anchor="t"/>
          <a:lstStyle/>
          <a:p>
            <a:pPr marL="0" indent="0">
              <a:lnSpc>
                <a:spcPct val="100000"/>
              </a:lnSpc>
              <a:buNone/>
            </a:pPr>
            <a:r>
              <a:rPr sz="860" b="1" spc="120">
                <a:solidFill>
                  <a:srgbClr val="A30018"/>
                </a:solidFill>
                <a:latin typeface="Aptos Display"/>
                <a:ea typeface="Aptos Display"/>
                <a:cs typeface="Aptos Display"/>
              </a:rPr>
              <a:t>01  /  PROJECT BACKGROUND</a:t>
            </a:r>
            <a:endParaRPr sz="860"/>
          </a:p>
        </p:txBody>
      </p:sp>
      <p:sp>
        <p:nvSpPr>
          <p:cNvPr id="50" name="Text 26">
            <a:extLst>
              <a:ext uri="{FF2B5EF4-FFF2-40B4-BE49-F238E27FC236}">
                <a16:creationId xmlns:a16="http://schemas.microsoft.com/office/drawing/2014/main" id="{DF11FE43-43A1-EFCB-29F2-49F1913B15C4}"/>
              </a:ext>
            </a:extLst>
          </p:cNvPr>
          <p:cNvSpPr>
            <a:spLocks noGrp="1"/>
          </p:cNvSpPr>
          <p:nvPr/>
        </p:nvSpPr>
        <p:spPr>
          <a:xfrm>
            <a:off x="288608" y="5288756"/>
            <a:ext cx="6426422" cy="781050"/>
          </a:xfrm>
          <a:prstGeom prst="rect">
            <a:avLst/>
          </a:prstGeom>
          <a:noFill/>
        </p:spPr>
        <p:txBody>
          <a:bodyPr wrap="square" lIns="0" tIns="0" rIns="0" bIns="0" anchor="t">
            <a:noAutofit/>
          </a:bodyPr>
          <a:lstStyle>
            <a:defPPr algn="l">
              <a:defRPr sz="990" b="0">
                <a:solidFill>
                  <a:srgbClr val="5D666B"/>
                </a:solidFill>
                <a:latin typeface="Aptos"/>
                <a:ea typeface="Aptos"/>
                <a:cs typeface="Aptos"/>
              </a:defRPr>
            </a:defPPr>
            <a:lvl1pPr algn="l">
              <a:defRPr sz="990" b="0">
                <a:solidFill>
                  <a:srgbClr val="5D666B"/>
                </a:solidFill>
                <a:latin typeface="Aptos"/>
                <a:ea typeface="Aptos"/>
                <a:cs typeface="Aptos"/>
              </a:defRPr>
            </a:lvl1pPr>
            <a:lvl2pPr algn="l">
              <a:defRPr sz="990" b="0">
                <a:solidFill>
                  <a:srgbClr val="5D666B"/>
                </a:solidFill>
                <a:latin typeface="Aptos"/>
                <a:ea typeface="Aptos"/>
                <a:cs typeface="Aptos"/>
              </a:defRPr>
            </a:lvl2pPr>
            <a:lvl3pPr algn="l">
              <a:defRPr sz="990" b="0">
                <a:solidFill>
                  <a:srgbClr val="5D666B"/>
                </a:solidFill>
                <a:latin typeface="Aptos"/>
                <a:ea typeface="Aptos"/>
                <a:cs typeface="Aptos"/>
              </a:defRPr>
            </a:lvl3pPr>
            <a:lvl4pPr algn="l">
              <a:defRPr sz="990" b="0">
                <a:solidFill>
                  <a:srgbClr val="5D666B"/>
                </a:solidFill>
                <a:latin typeface="Aptos"/>
                <a:ea typeface="Aptos"/>
                <a:cs typeface="Aptos"/>
              </a:defRPr>
            </a:lvl4pPr>
            <a:lvl5pPr algn="l">
              <a:defRPr sz="990" b="0">
                <a:solidFill>
                  <a:srgbClr val="5D666B"/>
                </a:solidFill>
                <a:latin typeface="Aptos"/>
                <a:ea typeface="Aptos"/>
                <a:cs typeface="Aptos"/>
              </a:defRPr>
            </a:lvl5pPr>
            <a:lvl6pPr algn="l">
              <a:defRPr sz="990" b="0">
                <a:solidFill>
                  <a:srgbClr val="5D666B"/>
                </a:solidFill>
                <a:latin typeface="Aptos"/>
                <a:ea typeface="Aptos"/>
                <a:cs typeface="Aptos"/>
              </a:defRPr>
            </a:lvl6pPr>
            <a:lvl7pPr algn="l">
              <a:defRPr sz="990" b="0">
                <a:solidFill>
                  <a:srgbClr val="5D666B"/>
                </a:solidFill>
                <a:latin typeface="Aptos"/>
                <a:ea typeface="Aptos"/>
                <a:cs typeface="Aptos"/>
              </a:defRPr>
            </a:lvl7pPr>
            <a:lvl8pPr algn="l">
              <a:defRPr sz="990" b="0">
                <a:solidFill>
                  <a:srgbClr val="5D666B"/>
                </a:solidFill>
                <a:latin typeface="Aptos"/>
                <a:ea typeface="Aptos"/>
                <a:cs typeface="Aptos"/>
              </a:defRPr>
            </a:lvl8pPr>
            <a:lvl9pPr algn="l">
              <a:defRPr sz="990" b="0">
                <a:solidFill>
                  <a:srgbClr val="5D666B"/>
                </a:solidFill>
                <a:latin typeface="Aptos"/>
                <a:ea typeface="Aptos"/>
                <a:cs typeface="Aptos"/>
              </a:defRPr>
            </a:lvl9pPr>
          </a:lstStyle>
          <a:p>
            <a:pPr marL="0" indent="0" algn="just">
              <a:lnSpc>
                <a:spcPct val="112000"/>
              </a:lnSpc>
              <a:buNone/>
              <a:defRPr sz="990" b="0">
                <a:solidFill>
                  <a:srgbClr val="5D666B"/>
                </a:solidFill>
                <a:latin typeface="Aptos"/>
                <a:ea typeface="Aptos"/>
                <a:cs typeface="Aptos"/>
              </a:defRPr>
            </a:pPr>
            <a:r>
              <a:rPr sz="990" b="0" dirty="0">
                <a:solidFill>
                  <a:srgbClr val="5D666B"/>
                </a:solidFill>
                <a:latin typeface="Aptos"/>
                <a:ea typeface="Aptos"/>
                <a:cs typeface="Aptos"/>
              </a:rPr>
              <a:t>Ammonia is a promising carbon-free fuel and hydrogen carrier, but hot ammonia can cause nitridation and embrittlement of steels used in heat exchangers, crackers and fuel systems. Magnetron-sputtered coatings offer a possible barrier, yet local defects may allow severe attack beneath the coating. In collaboration with the Danish Technological Institute (DTI), this project investigates coating protection and failure in stainless steels.</a:t>
            </a:r>
            <a:endParaRPr sz="990" dirty="0"/>
          </a:p>
        </p:txBody>
      </p:sp>
      <p:sp>
        <p:nvSpPr>
          <p:cNvPr id="52" name="Text 27">
            <a:extLst>
              <a:ext uri="{FF2B5EF4-FFF2-40B4-BE49-F238E27FC236}">
                <a16:creationId xmlns:a16="http://schemas.microsoft.com/office/drawing/2014/main" id="{E1F4C334-2223-19ED-44AB-9671AA39A52B}"/>
              </a:ext>
            </a:extLst>
          </p:cNvPr>
          <p:cNvSpPr>
            <a:spLocks noGrp="1"/>
          </p:cNvSpPr>
          <p:nvPr/>
        </p:nvSpPr>
        <p:spPr>
          <a:xfrm>
            <a:off x="288608" y="6286500"/>
            <a:ext cx="6426422"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12000"/>
              </a:lnSpc>
              <a:buNone/>
              <a:defRPr sz="860" b="1">
                <a:solidFill>
                  <a:srgbClr val="A30018"/>
                </a:solidFill>
                <a:latin typeface="Aptos Display"/>
                <a:ea typeface="Aptos Display"/>
                <a:cs typeface="Aptos Display"/>
              </a:defRPr>
            </a:pPr>
            <a:r>
              <a:rPr sz="860" b="1" spc="120">
                <a:solidFill>
                  <a:srgbClr val="A30018"/>
                </a:solidFill>
                <a:latin typeface="Aptos Display"/>
                <a:ea typeface="Aptos Display"/>
                <a:cs typeface="Aptos Display"/>
              </a:rPr>
              <a:t>02  /  PROJECT AIM</a:t>
            </a:r>
            <a:endParaRPr sz="860"/>
          </a:p>
        </p:txBody>
      </p:sp>
      <p:sp>
        <p:nvSpPr>
          <p:cNvPr id="54" name="Text 28">
            <a:extLst>
              <a:ext uri="{FF2B5EF4-FFF2-40B4-BE49-F238E27FC236}">
                <a16:creationId xmlns:a16="http://schemas.microsoft.com/office/drawing/2014/main" id="{3B32DA2F-B6E5-BD0C-B0E2-8DB758B29FE0}"/>
              </a:ext>
            </a:extLst>
          </p:cNvPr>
          <p:cNvSpPr>
            <a:spLocks noGrp="1"/>
          </p:cNvSpPr>
          <p:nvPr/>
        </p:nvSpPr>
        <p:spPr>
          <a:xfrm>
            <a:off x="288608" y="6524625"/>
            <a:ext cx="6426422" cy="590550"/>
          </a:xfrm>
          <a:prstGeom prst="rect">
            <a:avLst/>
          </a:prstGeom>
          <a:noFill/>
        </p:spPr>
        <p:txBody>
          <a:bodyPr wrap="square" lIns="0" tIns="0" rIns="0" bIns="0" anchor="t">
            <a:noAutofit/>
          </a:bodyPr>
          <a:lstStyle>
            <a:defPPr algn="l">
              <a:defRPr sz="1000" b="0">
                <a:solidFill>
                  <a:srgbClr val="5D666B"/>
                </a:solidFill>
                <a:latin typeface="Aptos"/>
                <a:ea typeface="Aptos"/>
                <a:cs typeface="Aptos"/>
              </a:defRPr>
            </a:defPPr>
            <a:lvl1pPr algn="l">
              <a:defRPr sz="1000" b="0">
                <a:solidFill>
                  <a:srgbClr val="5D666B"/>
                </a:solidFill>
                <a:latin typeface="Aptos"/>
                <a:ea typeface="Aptos"/>
                <a:cs typeface="Aptos"/>
              </a:defRPr>
            </a:lvl1pPr>
            <a:lvl2pPr algn="l">
              <a:defRPr sz="1000" b="0">
                <a:solidFill>
                  <a:srgbClr val="5D666B"/>
                </a:solidFill>
                <a:latin typeface="Aptos"/>
                <a:ea typeface="Aptos"/>
                <a:cs typeface="Aptos"/>
              </a:defRPr>
            </a:lvl2pPr>
            <a:lvl3pPr algn="l">
              <a:defRPr sz="1000" b="0">
                <a:solidFill>
                  <a:srgbClr val="5D666B"/>
                </a:solidFill>
                <a:latin typeface="Aptos"/>
                <a:ea typeface="Aptos"/>
                <a:cs typeface="Aptos"/>
              </a:defRPr>
            </a:lvl3pPr>
            <a:lvl4pPr algn="l">
              <a:defRPr sz="1000" b="0">
                <a:solidFill>
                  <a:srgbClr val="5D666B"/>
                </a:solidFill>
                <a:latin typeface="Aptos"/>
                <a:ea typeface="Aptos"/>
                <a:cs typeface="Aptos"/>
              </a:defRPr>
            </a:lvl4pPr>
            <a:lvl5pPr algn="l">
              <a:defRPr sz="1000" b="0">
                <a:solidFill>
                  <a:srgbClr val="5D666B"/>
                </a:solidFill>
                <a:latin typeface="Aptos"/>
                <a:ea typeface="Aptos"/>
                <a:cs typeface="Aptos"/>
              </a:defRPr>
            </a:lvl5pPr>
            <a:lvl6pPr algn="l">
              <a:defRPr sz="1000" b="0">
                <a:solidFill>
                  <a:srgbClr val="5D666B"/>
                </a:solidFill>
                <a:latin typeface="Aptos"/>
                <a:ea typeface="Aptos"/>
                <a:cs typeface="Aptos"/>
              </a:defRPr>
            </a:lvl6pPr>
            <a:lvl7pPr algn="l">
              <a:defRPr sz="1000" b="0">
                <a:solidFill>
                  <a:srgbClr val="5D666B"/>
                </a:solidFill>
                <a:latin typeface="Aptos"/>
                <a:ea typeface="Aptos"/>
                <a:cs typeface="Aptos"/>
              </a:defRPr>
            </a:lvl7pPr>
            <a:lvl8pPr algn="l">
              <a:defRPr sz="1000" b="0">
                <a:solidFill>
                  <a:srgbClr val="5D666B"/>
                </a:solidFill>
                <a:latin typeface="Aptos"/>
                <a:ea typeface="Aptos"/>
                <a:cs typeface="Aptos"/>
              </a:defRPr>
            </a:lvl8pPr>
            <a:lvl9pPr algn="l">
              <a:defRPr sz="1000" b="0">
                <a:solidFill>
                  <a:srgbClr val="5D666B"/>
                </a:solidFill>
                <a:latin typeface="Aptos"/>
                <a:ea typeface="Aptos"/>
                <a:cs typeface="Aptos"/>
              </a:defRPr>
            </a:lvl9pPr>
          </a:lstStyle>
          <a:p>
            <a:pPr marL="0" indent="0" algn="l">
              <a:lnSpc>
                <a:spcPct val="112000"/>
              </a:lnSpc>
              <a:buNone/>
              <a:defRPr sz="1000" b="0">
                <a:solidFill>
                  <a:srgbClr val="5D666B"/>
                </a:solidFill>
                <a:latin typeface="Aptos"/>
                <a:ea typeface="Aptos"/>
                <a:cs typeface="Aptos"/>
              </a:defRPr>
            </a:pPr>
            <a:r>
              <a:rPr sz="1000" b="0" dirty="0">
                <a:solidFill>
                  <a:srgbClr val="5D666B"/>
                </a:solidFill>
                <a:latin typeface="Aptos"/>
                <a:ea typeface="Aptos"/>
                <a:cs typeface="Aptos"/>
              </a:rPr>
              <a:t>Relate coating composition, thickness and defects to local ammonia attack, and identify promising protective systems under the tested conditions. Compare selected metallic and nitride coatings with uncoated references using specimens from existing and new exposure campaigns.</a:t>
            </a:r>
            <a:endParaRPr sz="1000" dirty="0"/>
          </a:p>
        </p:txBody>
      </p:sp>
      <p:sp>
        <p:nvSpPr>
          <p:cNvPr id="56" name="Text 29">
            <a:extLst>
              <a:ext uri="{FF2B5EF4-FFF2-40B4-BE49-F238E27FC236}">
                <a16:creationId xmlns:a16="http://schemas.microsoft.com/office/drawing/2014/main" id="{B6524C55-32C1-1701-39AF-30B8513D5859}"/>
              </a:ext>
            </a:extLst>
          </p:cNvPr>
          <p:cNvSpPr>
            <a:spLocks noGrp="1"/>
          </p:cNvSpPr>
          <p:nvPr/>
        </p:nvSpPr>
        <p:spPr>
          <a:xfrm>
            <a:off x="288608" y="7386542"/>
            <a:ext cx="6426422" cy="201168"/>
          </a:xfrm>
          <a:prstGeom prst="rect">
            <a:avLst/>
          </a:prstGeom>
          <a:noFill/>
        </p:spPr>
        <p:txBody>
          <a:bodyPr wrap="square" lIns="0" tIns="0" rIns="0" bIns="0" anchor="t">
            <a:noAutofit/>
          </a:bodyPr>
          <a:lstStyle>
            <a:defPPr algn="l">
              <a:defRPr sz="860" b="1">
                <a:solidFill>
                  <a:srgbClr val="A30018"/>
                </a:solidFill>
                <a:latin typeface="Aptos Display"/>
                <a:ea typeface="Aptos Display"/>
                <a:cs typeface="Aptos Display"/>
              </a:defRPr>
            </a:defPPr>
            <a:lvl1pPr algn="l">
              <a:defRPr sz="860" b="1">
                <a:solidFill>
                  <a:srgbClr val="A30018"/>
                </a:solidFill>
                <a:latin typeface="Aptos Display"/>
                <a:ea typeface="Aptos Display"/>
                <a:cs typeface="Aptos Display"/>
              </a:defRPr>
            </a:lvl1pPr>
            <a:lvl2pPr algn="l">
              <a:defRPr sz="860" b="1">
                <a:solidFill>
                  <a:srgbClr val="A30018"/>
                </a:solidFill>
                <a:latin typeface="Aptos Display"/>
                <a:ea typeface="Aptos Display"/>
                <a:cs typeface="Aptos Display"/>
              </a:defRPr>
            </a:lvl2pPr>
            <a:lvl3pPr algn="l">
              <a:defRPr sz="860" b="1">
                <a:solidFill>
                  <a:srgbClr val="A30018"/>
                </a:solidFill>
                <a:latin typeface="Aptos Display"/>
                <a:ea typeface="Aptos Display"/>
                <a:cs typeface="Aptos Display"/>
              </a:defRPr>
            </a:lvl3pPr>
            <a:lvl4pPr algn="l">
              <a:defRPr sz="860" b="1">
                <a:solidFill>
                  <a:srgbClr val="A30018"/>
                </a:solidFill>
                <a:latin typeface="Aptos Display"/>
                <a:ea typeface="Aptos Display"/>
                <a:cs typeface="Aptos Display"/>
              </a:defRPr>
            </a:lvl4pPr>
            <a:lvl5pPr algn="l">
              <a:defRPr sz="860" b="1">
                <a:solidFill>
                  <a:srgbClr val="A30018"/>
                </a:solidFill>
                <a:latin typeface="Aptos Display"/>
                <a:ea typeface="Aptos Display"/>
                <a:cs typeface="Aptos Display"/>
              </a:defRPr>
            </a:lvl5pPr>
            <a:lvl6pPr algn="l">
              <a:defRPr sz="860" b="1">
                <a:solidFill>
                  <a:srgbClr val="A30018"/>
                </a:solidFill>
                <a:latin typeface="Aptos Display"/>
                <a:ea typeface="Aptos Display"/>
                <a:cs typeface="Aptos Display"/>
              </a:defRPr>
            </a:lvl6pPr>
            <a:lvl7pPr algn="l">
              <a:defRPr sz="860" b="1">
                <a:solidFill>
                  <a:srgbClr val="A30018"/>
                </a:solidFill>
                <a:latin typeface="Aptos Display"/>
                <a:ea typeface="Aptos Display"/>
                <a:cs typeface="Aptos Display"/>
              </a:defRPr>
            </a:lvl7pPr>
            <a:lvl8pPr algn="l">
              <a:defRPr sz="860" b="1">
                <a:solidFill>
                  <a:srgbClr val="A30018"/>
                </a:solidFill>
                <a:latin typeface="Aptos Display"/>
                <a:ea typeface="Aptos Display"/>
                <a:cs typeface="Aptos Display"/>
              </a:defRPr>
            </a:lvl8pPr>
            <a:lvl9pPr algn="l">
              <a:defRPr sz="860" b="1">
                <a:solidFill>
                  <a:srgbClr val="A30018"/>
                </a:solidFill>
                <a:latin typeface="Aptos Display"/>
                <a:ea typeface="Aptos Display"/>
                <a:cs typeface="Aptos Display"/>
              </a:defRPr>
            </a:lvl9pPr>
          </a:lstStyle>
          <a:p>
            <a:pPr marL="0" indent="0" algn="l">
              <a:lnSpc>
                <a:spcPct val="112000"/>
              </a:lnSpc>
              <a:buNone/>
              <a:defRPr sz="860" b="1">
                <a:solidFill>
                  <a:srgbClr val="A30018"/>
                </a:solidFill>
                <a:latin typeface="Aptos Display"/>
                <a:ea typeface="Aptos Display"/>
                <a:cs typeface="Aptos Display"/>
              </a:defRPr>
            </a:pPr>
            <a:r>
              <a:rPr sz="860" b="1" spc="120" dirty="0">
                <a:solidFill>
                  <a:srgbClr val="A30018"/>
                </a:solidFill>
                <a:latin typeface="Aptos Display"/>
                <a:ea typeface="Aptos Display"/>
                <a:cs typeface="Aptos Display"/>
              </a:rPr>
              <a:t>03  /  PROJECT ACTIVITIES</a:t>
            </a:r>
            <a:endParaRPr sz="860" dirty="0"/>
          </a:p>
        </p:txBody>
      </p:sp>
      <p:sp>
        <p:nvSpPr>
          <p:cNvPr id="58" name="Text 30">
            <a:extLst>
              <a:ext uri="{FF2B5EF4-FFF2-40B4-BE49-F238E27FC236}">
                <a16:creationId xmlns:a16="http://schemas.microsoft.com/office/drawing/2014/main" id="{E52291FE-67CB-49F0-597C-9F48EC893D25}"/>
              </a:ext>
            </a:extLst>
          </p:cNvPr>
          <p:cNvSpPr>
            <a:spLocks noGrp="1"/>
          </p:cNvSpPr>
          <p:nvPr/>
        </p:nvSpPr>
        <p:spPr>
          <a:xfrm>
            <a:off x="306896" y="7608617"/>
            <a:ext cx="6398990" cy="323850"/>
          </a:xfrm>
          <a:prstGeom prst="rect">
            <a:avLst/>
          </a:prstGeom>
          <a:noFill/>
        </p:spPr>
        <p:txBody>
          <a:bodyPr wrap="square" lIns="0" tIns="0" rIns="0" bIns="0" anchor="t">
            <a:noAutofit/>
          </a:bodyPr>
          <a:lstStyle>
            <a:defPPr algn="l">
              <a:defRPr sz="975" b="0">
                <a:solidFill>
                  <a:srgbClr val="5D666B"/>
                </a:solidFill>
                <a:latin typeface="Aptos"/>
                <a:ea typeface="Aptos"/>
                <a:cs typeface="Aptos"/>
              </a:defRPr>
            </a:defPPr>
            <a:lvl1pPr algn="l">
              <a:defRPr sz="975" b="0">
                <a:solidFill>
                  <a:srgbClr val="5D666B"/>
                </a:solidFill>
                <a:latin typeface="Aptos"/>
                <a:ea typeface="Aptos"/>
                <a:cs typeface="Aptos"/>
              </a:defRPr>
            </a:lvl1pPr>
            <a:lvl2pPr algn="l">
              <a:defRPr sz="975" b="0">
                <a:solidFill>
                  <a:srgbClr val="5D666B"/>
                </a:solidFill>
                <a:latin typeface="Aptos"/>
                <a:ea typeface="Aptos"/>
                <a:cs typeface="Aptos"/>
              </a:defRPr>
            </a:lvl2pPr>
            <a:lvl3pPr algn="l">
              <a:defRPr sz="975" b="0">
                <a:solidFill>
                  <a:srgbClr val="5D666B"/>
                </a:solidFill>
                <a:latin typeface="Aptos"/>
                <a:ea typeface="Aptos"/>
                <a:cs typeface="Aptos"/>
              </a:defRPr>
            </a:lvl3pPr>
            <a:lvl4pPr algn="l">
              <a:defRPr sz="975" b="0">
                <a:solidFill>
                  <a:srgbClr val="5D666B"/>
                </a:solidFill>
                <a:latin typeface="Aptos"/>
                <a:ea typeface="Aptos"/>
                <a:cs typeface="Aptos"/>
              </a:defRPr>
            </a:lvl4pPr>
            <a:lvl5pPr algn="l">
              <a:defRPr sz="975" b="0">
                <a:solidFill>
                  <a:srgbClr val="5D666B"/>
                </a:solidFill>
                <a:latin typeface="Aptos"/>
                <a:ea typeface="Aptos"/>
                <a:cs typeface="Aptos"/>
              </a:defRPr>
            </a:lvl5pPr>
            <a:lvl6pPr algn="l">
              <a:defRPr sz="975" b="0">
                <a:solidFill>
                  <a:srgbClr val="5D666B"/>
                </a:solidFill>
                <a:latin typeface="Aptos"/>
                <a:ea typeface="Aptos"/>
                <a:cs typeface="Aptos"/>
              </a:defRPr>
            </a:lvl6pPr>
            <a:lvl7pPr algn="l">
              <a:defRPr sz="975" b="0">
                <a:solidFill>
                  <a:srgbClr val="5D666B"/>
                </a:solidFill>
                <a:latin typeface="Aptos"/>
                <a:ea typeface="Aptos"/>
                <a:cs typeface="Aptos"/>
              </a:defRPr>
            </a:lvl7pPr>
            <a:lvl8pPr algn="l">
              <a:defRPr sz="975" b="0">
                <a:solidFill>
                  <a:srgbClr val="5D666B"/>
                </a:solidFill>
                <a:latin typeface="Aptos"/>
                <a:ea typeface="Aptos"/>
                <a:cs typeface="Aptos"/>
              </a:defRPr>
            </a:lvl8pPr>
            <a:lvl9pPr algn="l">
              <a:defRPr sz="975" b="0">
                <a:solidFill>
                  <a:srgbClr val="5D666B"/>
                </a:solidFill>
                <a:latin typeface="Aptos"/>
                <a:ea typeface="Aptos"/>
                <a:cs typeface="Aptos"/>
              </a:defRPr>
            </a:lvl9pPr>
          </a:lstStyle>
          <a:p>
            <a:pPr marL="139700" indent="-139700" algn="l">
              <a:lnSpc>
                <a:spcPct val="112000"/>
              </a:lnSpc>
              <a:buSzPct val="100000"/>
              <a:buChar char="•"/>
              <a:defRPr sz="975" b="0">
                <a:solidFill>
                  <a:srgbClr val="5D666B"/>
                </a:solidFill>
                <a:latin typeface="Aptos"/>
                <a:ea typeface="Aptos"/>
                <a:cs typeface="Aptos"/>
              </a:defRPr>
            </a:pPr>
            <a:r>
              <a:rPr lang="en-US" sz="975" b="0" dirty="0">
                <a:solidFill>
                  <a:srgbClr val="5D666B"/>
                </a:solidFill>
                <a:latin typeface="Aptos"/>
                <a:ea typeface="Aptos"/>
                <a:cs typeface="Aptos"/>
              </a:rPr>
              <a:t>Perform selected exposure experiments in dry and wet ammonia at controlled temperatures and gas flows</a:t>
            </a:r>
          </a:p>
          <a:p>
            <a:pPr marL="139700" indent="-139700" algn="l">
              <a:lnSpc>
                <a:spcPct val="112000"/>
              </a:lnSpc>
              <a:buSzPct val="100000"/>
              <a:buChar char="•"/>
              <a:defRPr sz="975" b="0">
                <a:solidFill>
                  <a:srgbClr val="5D666B"/>
                </a:solidFill>
                <a:latin typeface="Aptos"/>
                <a:ea typeface="Aptos"/>
                <a:cs typeface="Aptos"/>
              </a:defRPr>
            </a:pPr>
            <a:r>
              <a:rPr sz="975" b="0" dirty="0">
                <a:solidFill>
                  <a:srgbClr val="5D666B"/>
                </a:solidFill>
                <a:latin typeface="Aptos"/>
                <a:ea typeface="Aptos"/>
                <a:cs typeface="Aptos"/>
              </a:rPr>
              <a:t>Examine coating surfaces and polished cross-sections using light optical microscopy and SEM/EDS.</a:t>
            </a:r>
            <a:endParaRPr lang="en-US" sz="975" b="0" dirty="0">
              <a:solidFill>
                <a:srgbClr val="5D666B"/>
              </a:solidFill>
              <a:latin typeface="Aptos"/>
              <a:ea typeface="Aptos"/>
              <a:cs typeface="Aptos"/>
            </a:endParaRPr>
          </a:p>
          <a:p>
            <a:pPr marL="139700" indent="-139700">
              <a:lnSpc>
                <a:spcPct val="112000"/>
              </a:lnSpc>
              <a:buSzPct val="100000"/>
              <a:buFontTx/>
              <a:buChar char="•"/>
              <a:defRPr sz="975" b="0">
                <a:solidFill>
                  <a:srgbClr val="5D666B"/>
                </a:solidFill>
                <a:latin typeface="Aptos"/>
                <a:ea typeface="Aptos"/>
                <a:cs typeface="Aptos"/>
              </a:defRPr>
            </a:pPr>
            <a:r>
              <a:rPr lang="en-US" dirty="0"/>
              <a:t>Use XRD to identify crystalline phases and changes associated with ammonia exposure.</a:t>
            </a:r>
          </a:p>
          <a:p>
            <a:pPr marL="139700" indent="-139700">
              <a:lnSpc>
                <a:spcPct val="112000"/>
              </a:lnSpc>
              <a:buSzPct val="100000"/>
              <a:buFontTx/>
              <a:buChar char="•"/>
              <a:defRPr sz="975" b="0">
                <a:solidFill>
                  <a:srgbClr val="5D666B"/>
                </a:solidFill>
                <a:latin typeface="Aptos"/>
                <a:ea typeface="Aptos"/>
                <a:cs typeface="Aptos"/>
              </a:defRPr>
            </a:pPr>
            <a:r>
              <a:rPr lang="en-US" dirty="0"/>
              <a:t>Quantify attack depth, affected fraction and coating damage, then relate these to mass change and coating structure.</a:t>
            </a:r>
          </a:p>
          <a:p>
            <a:pPr marL="139700" indent="-139700">
              <a:lnSpc>
                <a:spcPct val="112000"/>
              </a:lnSpc>
              <a:buSzPct val="100000"/>
              <a:buFontTx/>
              <a:buChar char="•"/>
              <a:defRPr sz="975" b="0">
                <a:solidFill>
                  <a:srgbClr val="5D666B"/>
                </a:solidFill>
                <a:latin typeface="Aptos"/>
                <a:ea typeface="Aptos"/>
                <a:cs typeface="Aptos"/>
              </a:defRPr>
            </a:pPr>
            <a:endParaRPr lang="en-US" dirty="0"/>
          </a:p>
          <a:p>
            <a:pPr marL="139700" indent="-139700" algn="l">
              <a:lnSpc>
                <a:spcPct val="112000"/>
              </a:lnSpc>
              <a:buSzPct val="100000"/>
              <a:buChar char="•"/>
              <a:defRPr sz="975" b="0">
                <a:solidFill>
                  <a:srgbClr val="5D666B"/>
                </a:solidFill>
                <a:latin typeface="Aptos"/>
                <a:ea typeface="Aptos"/>
                <a:cs typeface="Aptos"/>
              </a:defRPr>
            </a:pPr>
            <a:endParaRPr sz="975" dirty="0"/>
          </a:p>
        </p:txBody>
      </p:sp>
      <p:sp>
        <p:nvSpPr>
          <p:cNvPr id="68" name="Text 35">
            <a:extLst>
              <a:ext uri="{FF2B5EF4-FFF2-40B4-BE49-F238E27FC236}">
                <a16:creationId xmlns:a16="http://schemas.microsoft.com/office/drawing/2014/main" id="{2F7D2E65-2E3D-DD1B-98AF-16E5BD6564A6}"/>
              </a:ext>
            </a:extLst>
          </p:cNvPr>
          <p:cNvSpPr>
            <a:spLocks noGrp="1"/>
          </p:cNvSpPr>
          <p:nvPr/>
        </p:nvSpPr>
        <p:spPr>
          <a:xfrm>
            <a:off x="288607" y="8583620"/>
            <a:ext cx="6426403" cy="201168"/>
          </a:xfrm>
          <a:prstGeom prst="rect">
            <a:avLst/>
          </a:prstGeom>
          <a:noFill/>
        </p:spPr>
        <p:txBody>
          <a:bodyPr wrap="square" lIns="0" tIns="0" rIns="0" bIns="0" anchor="t"/>
          <a:lstStyle/>
          <a:p>
            <a:pPr marL="0" indent="0">
              <a:lnSpc>
                <a:spcPct val="100000"/>
              </a:lnSpc>
              <a:buNone/>
            </a:pPr>
            <a:r>
              <a:rPr sz="860" b="1" spc="120">
                <a:solidFill>
                  <a:srgbClr val="A30018"/>
                </a:solidFill>
                <a:latin typeface="Aptos Display"/>
                <a:ea typeface="Aptos Display"/>
                <a:cs typeface="Aptos Display"/>
              </a:rPr>
              <a:t>04  /  PRACTICAL NOTES</a:t>
            </a:r>
            <a:endParaRPr sz="860"/>
          </a:p>
        </p:txBody>
      </p:sp>
      <p:sp>
        <p:nvSpPr>
          <p:cNvPr id="70" name="Text 36">
            <a:extLst>
              <a:ext uri="{FF2B5EF4-FFF2-40B4-BE49-F238E27FC236}">
                <a16:creationId xmlns:a16="http://schemas.microsoft.com/office/drawing/2014/main" id="{A368D0A1-E117-25EE-605D-20388D61C90D}"/>
              </a:ext>
            </a:extLst>
          </p:cNvPr>
          <p:cNvSpPr>
            <a:spLocks noGrp="1"/>
          </p:cNvSpPr>
          <p:nvPr/>
        </p:nvSpPr>
        <p:spPr>
          <a:xfrm>
            <a:off x="288608" y="8825960"/>
            <a:ext cx="6426422" cy="533400"/>
          </a:xfrm>
          <a:prstGeom prst="rect">
            <a:avLst/>
          </a:prstGeom>
          <a:noFill/>
        </p:spPr>
        <p:txBody>
          <a:bodyPr wrap="square" lIns="0" tIns="0" rIns="0" bIns="0" anchor="t">
            <a:noAutofit/>
          </a:bodyPr>
          <a:lstStyle>
            <a:defPPr algn="l">
              <a:defRPr sz="975" b="0">
                <a:solidFill>
                  <a:srgbClr val="5D666B"/>
                </a:solidFill>
                <a:latin typeface="Aptos"/>
                <a:ea typeface="Aptos"/>
                <a:cs typeface="Aptos"/>
              </a:defRPr>
            </a:defPPr>
            <a:lvl1pPr algn="l">
              <a:defRPr sz="975" b="0">
                <a:solidFill>
                  <a:srgbClr val="5D666B"/>
                </a:solidFill>
                <a:latin typeface="Aptos"/>
                <a:ea typeface="Aptos"/>
                <a:cs typeface="Aptos"/>
              </a:defRPr>
            </a:lvl1pPr>
            <a:lvl2pPr algn="l">
              <a:defRPr sz="975" b="0">
                <a:solidFill>
                  <a:srgbClr val="5D666B"/>
                </a:solidFill>
                <a:latin typeface="Aptos"/>
                <a:ea typeface="Aptos"/>
                <a:cs typeface="Aptos"/>
              </a:defRPr>
            </a:lvl2pPr>
            <a:lvl3pPr algn="l">
              <a:defRPr sz="975" b="0">
                <a:solidFill>
                  <a:srgbClr val="5D666B"/>
                </a:solidFill>
                <a:latin typeface="Aptos"/>
                <a:ea typeface="Aptos"/>
                <a:cs typeface="Aptos"/>
              </a:defRPr>
            </a:lvl3pPr>
            <a:lvl4pPr algn="l">
              <a:defRPr sz="975" b="0">
                <a:solidFill>
                  <a:srgbClr val="5D666B"/>
                </a:solidFill>
                <a:latin typeface="Aptos"/>
                <a:ea typeface="Aptos"/>
                <a:cs typeface="Aptos"/>
              </a:defRPr>
            </a:lvl4pPr>
            <a:lvl5pPr algn="l">
              <a:defRPr sz="975" b="0">
                <a:solidFill>
                  <a:srgbClr val="5D666B"/>
                </a:solidFill>
                <a:latin typeface="Aptos"/>
                <a:ea typeface="Aptos"/>
                <a:cs typeface="Aptos"/>
              </a:defRPr>
            </a:lvl5pPr>
            <a:lvl6pPr algn="l">
              <a:defRPr sz="975" b="0">
                <a:solidFill>
                  <a:srgbClr val="5D666B"/>
                </a:solidFill>
                <a:latin typeface="Aptos"/>
                <a:ea typeface="Aptos"/>
                <a:cs typeface="Aptos"/>
              </a:defRPr>
            </a:lvl6pPr>
            <a:lvl7pPr algn="l">
              <a:defRPr sz="975" b="0">
                <a:solidFill>
                  <a:srgbClr val="5D666B"/>
                </a:solidFill>
                <a:latin typeface="Aptos"/>
                <a:ea typeface="Aptos"/>
                <a:cs typeface="Aptos"/>
              </a:defRPr>
            </a:lvl7pPr>
            <a:lvl8pPr algn="l">
              <a:defRPr sz="975" b="0">
                <a:solidFill>
                  <a:srgbClr val="5D666B"/>
                </a:solidFill>
                <a:latin typeface="Aptos"/>
                <a:ea typeface="Aptos"/>
                <a:cs typeface="Aptos"/>
              </a:defRPr>
            </a:lvl8pPr>
            <a:lvl9pPr algn="l">
              <a:defRPr sz="975" b="0">
                <a:solidFill>
                  <a:srgbClr val="5D666B"/>
                </a:solidFill>
                <a:latin typeface="Aptos"/>
                <a:ea typeface="Aptos"/>
                <a:cs typeface="Aptos"/>
              </a:defRPr>
            </a:lvl9pPr>
          </a:lstStyle>
          <a:p>
            <a:pPr marL="0" indent="0" algn="l">
              <a:lnSpc>
                <a:spcPct val="112000"/>
              </a:lnSpc>
              <a:buNone/>
              <a:defRPr sz="975" b="0">
                <a:solidFill>
                  <a:srgbClr val="5D666B"/>
                </a:solidFill>
                <a:latin typeface="Aptos"/>
                <a:ea typeface="Aptos"/>
                <a:cs typeface="Aptos"/>
              </a:defRPr>
            </a:pPr>
            <a:r>
              <a:rPr lang="en-US" sz="975" b="0" dirty="0">
                <a:solidFill>
                  <a:srgbClr val="5D666B"/>
                </a:solidFill>
                <a:latin typeface="Aptos"/>
                <a:ea typeface="Aptos"/>
                <a:cs typeface="Aptos"/>
              </a:rPr>
              <a:t>DT</a:t>
            </a:r>
            <a:r>
              <a:rPr lang="en-US" dirty="0"/>
              <a:t>I </a:t>
            </a:r>
            <a:r>
              <a:rPr lang="en-US" sz="975" b="0" dirty="0">
                <a:solidFill>
                  <a:srgbClr val="5D666B"/>
                </a:solidFill>
                <a:latin typeface="Aptos"/>
                <a:ea typeface="Aptos"/>
                <a:cs typeface="Aptos"/>
              </a:rPr>
              <a:t>will supply coated specimens. Exposure experiments and characterization will take place at DTU, with training in the relevant methods provided. The scope will adapt to specimen availability, initial findings and the project duration.</a:t>
            </a:r>
            <a:endParaRPr sz="975" dirty="0"/>
          </a:p>
        </p:txBody>
      </p:sp>
      <p:sp>
        <p:nvSpPr>
          <p:cNvPr id="72" name="Shape 38">
            <a:extLst>
              <a:ext uri="{FF2B5EF4-FFF2-40B4-BE49-F238E27FC236}">
                <a16:creationId xmlns:a16="http://schemas.microsoft.com/office/drawing/2014/main" id="{081F88CA-2AEC-F488-1189-D6324DB0A884}"/>
              </a:ext>
            </a:extLst>
          </p:cNvPr>
          <p:cNvSpPr>
            <a:spLocks noGrp="1"/>
          </p:cNvSpPr>
          <p:nvPr/>
        </p:nvSpPr>
        <p:spPr>
          <a:xfrm>
            <a:off x="288607" y="9482018"/>
            <a:ext cx="6426403" cy="0"/>
          </a:xfrm>
          <a:prstGeom prst="line">
            <a:avLst/>
          </a:prstGeom>
          <a:noFill/>
          <a:ln w="10160">
            <a:solidFill>
              <a:srgbClr val="DFE2E3"/>
            </a:solidFill>
            <a:prstDash val="solid"/>
          </a:ln>
        </p:spPr>
        <p:txBody>
          <a:bodyPr/>
          <a:lstStyle/>
          <a:p>
            <a:endParaRPr/>
          </a:p>
        </p:txBody>
      </p:sp>
      <p:sp>
        <p:nvSpPr>
          <p:cNvPr id="74" name="Text 39">
            <a:extLst>
              <a:ext uri="{FF2B5EF4-FFF2-40B4-BE49-F238E27FC236}">
                <a16:creationId xmlns:a16="http://schemas.microsoft.com/office/drawing/2014/main" id="{7D6E5BF1-5B95-826E-7C58-11E988F22D64}"/>
              </a:ext>
            </a:extLst>
          </p:cNvPr>
          <p:cNvSpPr>
            <a:spLocks noGrp="1"/>
          </p:cNvSpPr>
          <p:nvPr/>
        </p:nvSpPr>
        <p:spPr>
          <a:xfrm>
            <a:off x="288607" y="9555170"/>
            <a:ext cx="4480560" cy="137160"/>
          </a:xfrm>
          <a:prstGeom prst="rect">
            <a:avLst/>
          </a:prstGeom>
          <a:noFill/>
        </p:spPr>
        <p:txBody>
          <a:bodyPr wrap="square" lIns="0" tIns="0" rIns="0" bIns="0" anchor="t"/>
          <a:lstStyle/>
          <a:p>
            <a:pPr marL="0" indent="0">
              <a:lnSpc>
                <a:spcPct val="100000"/>
              </a:lnSpc>
              <a:buNone/>
            </a:pPr>
            <a:r>
              <a:rPr sz="715" spc="60">
                <a:solidFill>
                  <a:srgbClr val="5D666B"/>
                </a:solidFill>
                <a:latin typeface="Aptos Display"/>
                <a:ea typeface="Aptos Display"/>
                <a:cs typeface="Aptos Display"/>
              </a:rPr>
              <a:t>DTU CONSTRUCT  /  MATERIALS AND SURFACE ENGINEERING</a:t>
            </a:r>
            <a:endParaRPr sz="715"/>
          </a:p>
        </p:txBody>
      </p:sp>
      <p:sp>
        <p:nvSpPr>
          <p:cNvPr id="3" name="Text 17">
            <a:extLst>
              <a:ext uri="{FF2B5EF4-FFF2-40B4-BE49-F238E27FC236}">
                <a16:creationId xmlns:a16="http://schemas.microsoft.com/office/drawing/2014/main" id="{DFF6367F-A6CF-6AE2-F94D-26D102737C97}"/>
              </a:ext>
            </a:extLst>
          </p:cNvPr>
          <p:cNvSpPr>
            <a:spLocks noGrp="1"/>
          </p:cNvSpPr>
          <p:nvPr/>
        </p:nvSpPr>
        <p:spPr>
          <a:xfrm>
            <a:off x="4790503" y="2718005"/>
            <a:ext cx="1901952" cy="2978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a:defRPr sz="950" b="1">
                <a:solidFill>
                  <a:srgbClr val="5D666B"/>
                </a:solidFill>
                <a:latin typeface="Aptos Display"/>
                <a:ea typeface="Aptos Display"/>
                <a:cs typeface="Aptos Display"/>
              </a:defRPr>
            </a:pPr>
            <a:r>
              <a:rPr lang="en-US" sz="950" b="1" dirty="0">
                <a:latin typeface="Aptos Display"/>
                <a:ea typeface="Aptos Display"/>
                <a:cs typeface="Aptos Display"/>
              </a:rPr>
              <a:t>Lead Supervisor</a:t>
            </a:r>
          </a:p>
        </p:txBody>
      </p:sp>
      <p:sp>
        <p:nvSpPr>
          <p:cNvPr id="7" name="Text 18">
            <a:extLst>
              <a:ext uri="{FF2B5EF4-FFF2-40B4-BE49-F238E27FC236}">
                <a16:creationId xmlns:a16="http://schemas.microsoft.com/office/drawing/2014/main" id="{F5004F16-A57F-C489-4171-742D8EF31CAE}"/>
              </a:ext>
            </a:extLst>
          </p:cNvPr>
          <p:cNvSpPr>
            <a:spLocks noGrp="1"/>
          </p:cNvSpPr>
          <p:nvPr/>
        </p:nvSpPr>
        <p:spPr>
          <a:xfrm>
            <a:off x="4805744" y="3663739"/>
            <a:ext cx="688275" cy="201168"/>
          </a:xfrm>
          <a:prstGeom prst="rect">
            <a:avLst/>
          </a:prstGeom>
          <a:noFill/>
        </p:spPr>
        <p:txBody>
          <a:bodyPr wrap="square" lIns="0" tIns="0" rIns="0" bIns="0" anchor="t">
            <a:noAutofit/>
          </a:bodyPr>
          <a:lstStyle>
            <a:defPPr algn="l">
              <a:defRPr sz="950" b="1">
                <a:solidFill>
                  <a:srgbClr val="5D666B"/>
                </a:solidFill>
                <a:latin typeface="Aptos Display"/>
                <a:ea typeface="Aptos Display"/>
                <a:cs typeface="Aptos Display"/>
              </a:defRPr>
            </a:defPPr>
            <a:lvl1pPr algn="l">
              <a:defRPr sz="950" b="1">
                <a:solidFill>
                  <a:srgbClr val="5D666B"/>
                </a:solidFill>
                <a:latin typeface="Aptos Display"/>
                <a:ea typeface="Aptos Display"/>
                <a:cs typeface="Aptos Display"/>
              </a:defRPr>
            </a:lvl1pPr>
            <a:lvl2pPr algn="l">
              <a:defRPr sz="950" b="1">
                <a:solidFill>
                  <a:srgbClr val="5D666B"/>
                </a:solidFill>
                <a:latin typeface="Aptos Display"/>
                <a:ea typeface="Aptos Display"/>
                <a:cs typeface="Aptos Display"/>
              </a:defRPr>
            </a:lvl2pPr>
            <a:lvl3pPr algn="l">
              <a:defRPr sz="950" b="1">
                <a:solidFill>
                  <a:srgbClr val="5D666B"/>
                </a:solidFill>
                <a:latin typeface="Aptos Display"/>
                <a:ea typeface="Aptos Display"/>
                <a:cs typeface="Aptos Display"/>
              </a:defRPr>
            </a:lvl3pPr>
            <a:lvl4pPr algn="l">
              <a:defRPr sz="950" b="1">
                <a:solidFill>
                  <a:srgbClr val="5D666B"/>
                </a:solidFill>
                <a:latin typeface="Aptos Display"/>
                <a:ea typeface="Aptos Display"/>
                <a:cs typeface="Aptos Display"/>
              </a:defRPr>
            </a:lvl4pPr>
            <a:lvl5pPr algn="l">
              <a:defRPr sz="950" b="1">
                <a:solidFill>
                  <a:srgbClr val="5D666B"/>
                </a:solidFill>
                <a:latin typeface="Aptos Display"/>
                <a:ea typeface="Aptos Display"/>
                <a:cs typeface="Aptos Display"/>
              </a:defRPr>
            </a:lvl5pPr>
            <a:lvl6pPr algn="l">
              <a:defRPr sz="950" b="1">
                <a:solidFill>
                  <a:srgbClr val="5D666B"/>
                </a:solidFill>
                <a:latin typeface="Aptos Display"/>
                <a:ea typeface="Aptos Display"/>
                <a:cs typeface="Aptos Display"/>
              </a:defRPr>
            </a:lvl6pPr>
            <a:lvl7pPr algn="l">
              <a:defRPr sz="950" b="1">
                <a:solidFill>
                  <a:srgbClr val="5D666B"/>
                </a:solidFill>
                <a:latin typeface="Aptos Display"/>
                <a:ea typeface="Aptos Display"/>
                <a:cs typeface="Aptos Display"/>
              </a:defRPr>
            </a:lvl7pPr>
            <a:lvl8pPr algn="l">
              <a:defRPr sz="950" b="1">
                <a:solidFill>
                  <a:srgbClr val="5D666B"/>
                </a:solidFill>
                <a:latin typeface="Aptos Display"/>
                <a:ea typeface="Aptos Display"/>
                <a:cs typeface="Aptos Display"/>
              </a:defRPr>
            </a:lvl8pPr>
            <a:lvl9pPr algn="l">
              <a:defRPr sz="950" b="1">
                <a:solidFill>
                  <a:srgbClr val="5D666B"/>
                </a:solidFill>
                <a:latin typeface="Aptos Display"/>
                <a:ea typeface="Aptos Display"/>
                <a:cs typeface="Aptos Display"/>
              </a:defRPr>
            </a:lvl9pPr>
          </a:lstStyle>
          <a:p>
            <a:pPr marL="0" indent="0" algn="l">
              <a:lnSpc>
                <a:spcPct val="100000"/>
              </a:lnSpc>
              <a:buNone/>
              <a:defRPr sz="950" b="1">
                <a:solidFill>
                  <a:srgbClr val="5D666B"/>
                </a:solidFill>
                <a:latin typeface="Aptos Display"/>
                <a:ea typeface="Aptos Display"/>
                <a:cs typeface="Aptos Display"/>
              </a:defRPr>
            </a:pPr>
            <a:r>
              <a:rPr sz="950" b="1" dirty="0">
                <a:solidFill>
                  <a:srgbClr val="5D666B"/>
                </a:solidFill>
                <a:latin typeface="Aptos Display"/>
                <a:ea typeface="Aptos Display"/>
                <a:cs typeface="Aptos Display"/>
              </a:rPr>
              <a:t>Basit Ali</a:t>
            </a:r>
            <a:endParaRPr sz="950" dirty="0"/>
          </a:p>
        </p:txBody>
      </p:sp>
      <p:sp>
        <p:nvSpPr>
          <p:cNvPr id="11" name="Text 19">
            <a:extLst>
              <a:ext uri="{FF2B5EF4-FFF2-40B4-BE49-F238E27FC236}">
                <a16:creationId xmlns:a16="http://schemas.microsoft.com/office/drawing/2014/main" id="{DCBDC9C8-E23B-7551-E122-98F9B24094D3}"/>
              </a:ext>
            </a:extLst>
          </p:cNvPr>
          <p:cNvSpPr>
            <a:spLocks noGrp="1"/>
          </p:cNvSpPr>
          <p:nvPr/>
        </p:nvSpPr>
        <p:spPr>
          <a:xfrm>
            <a:off x="4805744" y="3836017"/>
            <a:ext cx="901632" cy="1622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marL="0" indent="0" algn="l">
              <a:lnSpc>
                <a:spcPct val="100000"/>
              </a:lnSpc>
              <a:buNone/>
              <a:defRPr sz="830">
                <a:solidFill>
                  <a:srgbClr val="5D666B"/>
                </a:solidFill>
                <a:latin typeface="Aptos"/>
                <a:ea typeface="Aptos"/>
                <a:cs typeface="Aptos"/>
              </a:defRPr>
            </a:pPr>
            <a:r>
              <a:rPr sz="830" dirty="0">
                <a:solidFill>
                  <a:srgbClr val="5D666B"/>
                </a:solidFill>
                <a:latin typeface="Aptos"/>
                <a:ea typeface="Aptos"/>
                <a:cs typeface="Aptos"/>
              </a:rPr>
              <a:t>DTU Construct</a:t>
            </a:r>
            <a:endParaRPr lang="en-US" sz="830" dirty="0">
              <a:solidFill>
                <a:srgbClr val="5D666B"/>
              </a:solidFill>
              <a:latin typeface="Aptos"/>
              <a:ea typeface="Aptos"/>
              <a:cs typeface="Aptos"/>
            </a:endParaRPr>
          </a:p>
          <a:p>
            <a:pPr marL="0" indent="0" algn="l">
              <a:lnSpc>
                <a:spcPct val="100000"/>
              </a:lnSpc>
              <a:buNone/>
              <a:defRPr sz="830">
                <a:solidFill>
                  <a:srgbClr val="5D666B"/>
                </a:solidFill>
                <a:latin typeface="Aptos"/>
                <a:ea typeface="Aptos"/>
                <a:cs typeface="Aptos"/>
              </a:defRPr>
            </a:pPr>
            <a:r>
              <a:rPr lang="da-DK" dirty="0"/>
              <a:t>baali@dtu.dk</a:t>
            </a:r>
            <a:endParaRPr sz="830" dirty="0"/>
          </a:p>
        </p:txBody>
      </p:sp>
      <p:sp>
        <p:nvSpPr>
          <p:cNvPr id="15" name="Text 19">
            <a:extLst>
              <a:ext uri="{FF2B5EF4-FFF2-40B4-BE49-F238E27FC236}">
                <a16:creationId xmlns:a16="http://schemas.microsoft.com/office/drawing/2014/main" id="{3985AB42-AB4F-C7D3-703F-7BC908EBFDB8}"/>
              </a:ext>
            </a:extLst>
          </p:cNvPr>
          <p:cNvSpPr>
            <a:spLocks noGrp="1"/>
          </p:cNvSpPr>
          <p:nvPr/>
        </p:nvSpPr>
        <p:spPr>
          <a:xfrm>
            <a:off x="4795646" y="3135821"/>
            <a:ext cx="1901952" cy="297838"/>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marL="0" indent="0" algn="l">
              <a:lnSpc>
                <a:spcPct val="100000"/>
              </a:lnSpc>
              <a:buNone/>
              <a:defRPr sz="830">
                <a:solidFill>
                  <a:srgbClr val="5D666B"/>
                </a:solidFill>
                <a:latin typeface="Aptos"/>
                <a:ea typeface="Aptos"/>
                <a:cs typeface="Aptos"/>
              </a:defRPr>
            </a:pPr>
            <a:r>
              <a:rPr sz="830" dirty="0">
                <a:solidFill>
                  <a:srgbClr val="5D666B"/>
                </a:solidFill>
                <a:latin typeface="Aptos"/>
                <a:ea typeface="Aptos"/>
                <a:cs typeface="Aptos"/>
              </a:rPr>
              <a:t>DTU Construct</a:t>
            </a:r>
            <a:endParaRPr lang="en-US" sz="830" dirty="0">
              <a:solidFill>
                <a:srgbClr val="5D666B"/>
              </a:solidFill>
              <a:latin typeface="Aptos"/>
              <a:ea typeface="Aptos"/>
              <a:cs typeface="Aptos"/>
            </a:endParaRPr>
          </a:p>
          <a:p>
            <a:pPr marL="0" indent="0" algn="l">
              <a:lnSpc>
                <a:spcPct val="100000"/>
              </a:lnSpc>
              <a:buNone/>
              <a:defRPr sz="830">
                <a:solidFill>
                  <a:srgbClr val="5D666B"/>
                </a:solidFill>
                <a:latin typeface="Aptos"/>
                <a:ea typeface="Aptos"/>
                <a:cs typeface="Aptos"/>
              </a:defRPr>
            </a:pPr>
            <a:r>
              <a:rPr lang="da-DK" dirty="0"/>
              <a:t>majs@dtu.dk</a:t>
            </a:r>
            <a:endParaRPr sz="830" dirty="0"/>
          </a:p>
        </p:txBody>
      </p:sp>
      <p:sp>
        <p:nvSpPr>
          <p:cNvPr id="19" name="Text 16">
            <a:extLst>
              <a:ext uri="{FF2B5EF4-FFF2-40B4-BE49-F238E27FC236}">
                <a16:creationId xmlns:a16="http://schemas.microsoft.com/office/drawing/2014/main" id="{E5F21F80-4C6E-D154-CE18-E1E8762EF073}"/>
              </a:ext>
            </a:extLst>
          </p:cNvPr>
          <p:cNvSpPr>
            <a:spLocks noGrp="1"/>
          </p:cNvSpPr>
          <p:nvPr/>
        </p:nvSpPr>
        <p:spPr>
          <a:xfrm>
            <a:off x="4790503" y="2955761"/>
            <a:ext cx="1901952" cy="201168"/>
          </a:xfrm>
          <a:prstGeom prst="rect">
            <a:avLst/>
          </a:prstGeom>
          <a:noFill/>
        </p:spPr>
        <p:txBody>
          <a:bodyPr wrap="square" lIns="0" tIns="0" rIns="0" bIns="0" anchor="t">
            <a:noAutofit/>
          </a:bodyPr>
          <a:lstStyle>
            <a:defPPr algn="l">
              <a:defRPr sz="950" b="1">
                <a:solidFill>
                  <a:srgbClr val="5D666B"/>
                </a:solidFill>
                <a:latin typeface="Aptos Display"/>
                <a:ea typeface="Aptos Display"/>
                <a:cs typeface="Aptos Display"/>
              </a:defRPr>
            </a:defPPr>
            <a:lvl1pPr algn="l">
              <a:defRPr sz="950" b="1">
                <a:solidFill>
                  <a:srgbClr val="5D666B"/>
                </a:solidFill>
                <a:latin typeface="Aptos Display"/>
                <a:ea typeface="Aptos Display"/>
                <a:cs typeface="Aptos Display"/>
              </a:defRPr>
            </a:lvl1pPr>
            <a:lvl2pPr algn="l">
              <a:defRPr sz="950" b="1">
                <a:solidFill>
                  <a:srgbClr val="5D666B"/>
                </a:solidFill>
                <a:latin typeface="Aptos Display"/>
                <a:ea typeface="Aptos Display"/>
                <a:cs typeface="Aptos Display"/>
              </a:defRPr>
            </a:lvl2pPr>
            <a:lvl3pPr algn="l">
              <a:defRPr sz="950" b="1">
                <a:solidFill>
                  <a:srgbClr val="5D666B"/>
                </a:solidFill>
                <a:latin typeface="Aptos Display"/>
                <a:ea typeface="Aptos Display"/>
                <a:cs typeface="Aptos Display"/>
              </a:defRPr>
            </a:lvl3pPr>
            <a:lvl4pPr algn="l">
              <a:defRPr sz="950" b="1">
                <a:solidFill>
                  <a:srgbClr val="5D666B"/>
                </a:solidFill>
                <a:latin typeface="Aptos Display"/>
                <a:ea typeface="Aptos Display"/>
                <a:cs typeface="Aptos Display"/>
              </a:defRPr>
            </a:lvl4pPr>
            <a:lvl5pPr algn="l">
              <a:defRPr sz="950" b="1">
                <a:solidFill>
                  <a:srgbClr val="5D666B"/>
                </a:solidFill>
                <a:latin typeface="Aptos Display"/>
                <a:ea typeface="Aptos Display"/>
                <a:cs typeface="Aptos Display"/>
              </a:defRPr>
            </a:lvl5pPr>
            <a:lvl6pPr algn="l">
              <a:defRPr sz="950" b="1">
                <a:solidFill>
                  <a:srgbClr val="5D666B"/>
                </a:solidFill>
                <a:latin typeface="Aptos Display"/>
                <a:ea typeface="Aptos Display"/>
                <a:cs typeface="Aptos Display"/>
              </a:defRPr>
            </a:lvl6pPr>
            <a:lvl7pPr algn="l">
              <a:defRPr sz="950" b="1">
                <a:solidFill>
                  <a:srgbClr val="5D666B"/>
                </a:solidFill>
                <a:latin typeface="Aptos Display"/>
                <a:ea typeface="Aptos Display"/>
                <a:cs typeface="Aptos Display"/>
              </a:defRPr>
            </a:lvl7pPr>
            <a:lvl8pPr algn="l">
              <a:defRPr sz="950" b="1">
                <a:solidFill>
                  <a:srgbClr val="5D666B"/>
                </a:solidFill>
                <a:latin typeface="Aptos Display"/>
                <a:ea typeface="Aptos Display"/>
                <a:cs typeface="Aptos Display"/>
              </a:defRPr>
            </a:lvl8pPr>
            <a:lvl9pPr algn="l">
              <a:defRPr sz="950" b="1">
                <a:solidFill>
                  <a:srgbClr val="5D666B"/>
                </a:solidFill>
                <a:latin typeface="Aptos Display"/>
                <a:ea typeface="Aptos Display"/>
                <a:cs typeface="Aptos Display"/>
              </a:defRPr>
            </a:lvl9pPr>
          </a:lstStyle>
          <a:p>
            <a:pPr marL="0" indent="0" algn="l">
              <a:lnSpc>
                <a:spcPct val="100000"/>
              </a:lnSpc>
              <a:buNone/>
              <a:defRPr sz="950" b="1">
                <a:solidFill>
                  <a:srgbClr val="5D666B"/>
                </a:solidFill>
                <a:latin typeface="Aptos Display"/>
                <a:ea typeface="Aptos Display"/>
                <a:cs typeface="Aptos Display"/>
              </a:defRPr>
            </a:pPr>
            <a:r>
              <a:rPr sz="950" b="1" dirty="0">
                <a:solidFill>
                  <a:srgbClr val="5D666B"/>
                </a:solidFill>
                <a:latin typeface="Aptos Display"/>
                <a:ea typeface="Aptos Display"/>
                <a:cs typeface="Aptos Display"/>
              </a:rPr>
              <a:t>Marcel A.J. Somers</a:t>
            </a:r>
            <a:endParaRPr sz="950" dirty="0"/>
          </a:p>
        </p:txBody>
      </p:sp>
      <p:sp>
        <p:nvSpPr>
          <p:cNvPr id="22" name="Text 17">
            <a:extLst>
              <a:ext uri="{FF2B5EF4-FFF2-40B4-BE49-F238E27FC236}">
                <a16:creationId xmlns:a16="http://schemas.microsoft.com/office/drawing/2014/main" id="{126FBD77-74B0-EBBF-D6B9-43C3656FB1CA}"/>
              </a:ext>
            </a:extLst>
          </p:cNvPr>
          <p:cNvSpPr>
            <a:spLocks noGrp="1"/>
          </p:cNvSpPr>
          <p:nvPr/>
        </p:nvSpPr>
        <p:spPr>
          <a:xfrm>
            <a:off x="4790503" y="3440680"/>
            <a:ext cx="865633" cy="297839"/>
          </a:xfrm>
          <a:prstGeom prst="rect">
            <a:avLst/>
          </a:prstGeom>
          <a:noFill/>
        </p:spPr>
        <p:txBody>
          <a:bodyPr wrap="square" lIns="0" tIns="0" rIns="0" bIns="0" anchor="t">
            <a:noAutofit/>
          </a:bodyPr>
          <a:lstStyle>
            <a:defPPr algn="l">
              <a:defRPr sz="830">
                <a:solidFill>
                  <a:srgbClr val="5D666B"/>
                </a:solidFill>
                <a:latin typeface="Aptos"/>
                <a:ea typeface="Aptos"/>
                <a:cs typeface="Aptos"/>
              </a:defRPr>
            </a:defPPr>
            <a:lvl1pPr algn="l">
              <a:defRPr sz="830">
                <a:solidFill>
                  <a:srgbClr val="5D666B"/>
                </a:solidFill>
                <a:latin typeface="Aptos"/>
                <a:ea typeface="Aptos"/>
                <a:cs typeface="Aptos"/>
              </a:defRPr>
            </a:lvl1pPr>
            <a:lvl2pPr algn="l">
              <a:defRPr sz="830">
                <a:solidFill>
                  <a:srgbClr val="5D666B"/>
                </a:solidFill>
                <a:latin typeface="Aptos"/>
                <a:ea typeface="Aptos"/>
                <a:cs typeface="Aptos"/>
              </a:defRPr>
            </a:lvl2pPr>
            <a:lvl3pPr algn="l">
              <a:defRPr sz="830">
                <a:solidFill>
                  <a:srgbClr val="5D666B"/>
                </a:solidFill>
                <a:latin typeface="Aptos"/>
                <a:ea typeface="Aptos"/>
                <a:cs typeface="Aptos"/>
              </a:defRPr>
            </a:lvl3pPr>
            <a:lvl4pPr algn="l">
              <a:defRPr sz="830">
                <a:solidFill>
                  <a:srgbClr val="5D666B"/>
                </a:solidFill>
                <a:latin typeface="Aptos"/>
                <a:ea typeface="Aptos"/>
                <a:cs typeface="Aptos"/>
              </a:defRPr>
            </a:lvl4pPr>
            <a:lvl5pPr algn="l">
              <a:defRPr sz="830">
                <a:solidFill>
                  <a:srgbClr val="5D666B"/>
                </a:solidFill>
                <a:latin typeface="Aptos"/>
                <a:ea typeface="Aptos"/>
                <a:cs typeface="Aptos"/>
              </a:defRPr>
            </a:lvl5pPr>
            <a:lvl6pPr algn="l">
              <a:defRPr sz="830">
                <a:solidFill>
                  <a:srgbClr val="5D666B"/>
                </a:solidFill>
                <a:latin typeface="Aptos"/>
                <a:ea typeface="Aptos"/>
                <a:cs typeface="Aptos"/>
              </a:defRPr>
            </a:lvl6pPr>
            <a:lvl7pPr algn="l">
              <a:defRPr sz="830">
                <a:solidFill>
                  <a:srgbClr val="5D666B"/>
                </a:solidFill>
                <a:latin typeface="Aptos"/>
                <a:ea typeface="Aptos"/>
                <a:cs typeface="Aptos"/>
              </a:defRPr>
            </a:lvl7pPr>
            <a:lvl8pPr algn="l">
              <a:defRPr sz="830">
                <a:solidFill>
                  <a:srgbClr val="5D666B"/>
                </a:solidFill>
                <a:latin typeface="Aptos"/>
                <a:ea typeface="Aptos"/>
                <a:cs typeface="Aptos"/>
              </a:defRPr>
            </a:lvl8pPr>
            <a:lvl9pPr algn="l">
              <a:defRPr sz="830">
                <a:solidFill>
                  <a:srgbClr val="5D666B"/>
                </a:solidFill>
                <a:latin typeface="Aptos"/>
                <a:ea typeface="Aptos"/>
                <a:cs typeface="Aptos"/>
              </a:defRPr>
            </a:lvl9pPr>
          </a:lstStyle>
          <a:p>
            <a:pPr>
              <a:defRPr sz="950" b="1">
                <a:solidFill>
                  <a:srgbClr val="5D666B"/>
                </a:solidFill>
                <a:latin typeface="Aptos Display"/>
                <a:ea typeface="Aptos Display"/>
                <a:cs typeface="Aptos Display"/>
              </a:defRPr>
            </a:pPr>
            <a:r>
              <a:rPr lang="en-US" sz="950" b="1" dirty="0">
                <a:latin typeface="Aptos Display"/>
                <a:ea typeface="Aptos Display"/>
                <a:cs typeface="Aptos Display"/>
              </a:rPr>
              <a:t>Co-supervisor</a:t>
            </a:r>
          </a:p>
        </p:txBody>
      </p:sp>
      <p:grpSp>
        <p:nvGrpSpPr>
          <p:cNvPr id="45" name="Group 44">
            <a:extLst>
              <a:ext uri="{FF2B5EF4-FFF2-40B4-BE49-F238E27FC236}">
                <a16:creationId xmlns:a16="http://schemas.microsoft.com/office/drawing/2014/main" id="{79012182-4445-6F81-98C6-1E687D684687}"/>
              </a:ext>
            </a:extLst>
          </p:cNvPr>
          <p:cNvGrpSpPr/>
          <p:nvPr/>
        </p:nvGrpSpPr>
        <p:grpSpPr>
          <a:xfrm>
            <a:off x="1030488" y="2425816"/>
            <a:ext cx="2813920" cy="2107692"/>
            <a:chOff x="1030488" y="2489316"/>
            <a:chExt cx="2813920" cy="2107692"/>
          </a:xfrm>
        </p:grpSpPr>
        <p:grpSp>
          <p:nvGrpSpPr>
            <p:cNvPr id="38" name="Group 37">
              <a:extLst>
                <a:ext uri="{FF2B5EF4-FFF2-40B4-BE49-F238E27FC236}">
                  <a16:creationId xmlns:a16="http://schemas.microsoft.com/office/drawing/2014/main" id="{02E8482B-599E-B0A4-DB3D-AEC4A413BC87}"/>
                </a:ext>
              </a:extLst>
            </p:cNvPr>
            <p:cNvGrpSpPr/>
            <p:nvPr/>
          </p:nvGrpSpPr>
          <p:grpSpPr>
            <a:xfrm>
              <a:off x="1030488" y="2489316"/>
              <a:ext cx="2813920" cy="2107692"/>
              <a:chOff x="1035060" y="2504408"/>
              <a:chExt cx="2813920" cy="2107692"/>
            </a:xfrm>
          </p:grpSpPr>
          <p:pic>
            <p:nvPicPr>
              <p:cNvPr id="75" name="Picture 74">
                <a:extLst>
                  <a:ext uri="{FF2B5EF4-FFF2-40B4-BE49-F238E27FC236}">
                    <a16:creationId xmlns:a16="http://schemas.microsoft.com/office/drawing/2014/main" id="{BA915A46-8DBA-4D29-8D60-69E62D55B83A}"/>
                  </a:ext>
                </a:extLst>
              </p:cNvPr>
              <p:cNvPicPr>
                <a:picLocks noChangeAspect="1"/>
              </p:cNvPicPr>
              <p:nvPr/>
            </p:nvPicPr>
            <p:blipFill>
              <a:blip r:embed="rId4"/>
              <a:stretch/>
            </p:blipFill>
            <p:spPr>
              <a:xfrm>
                <a:off x="1035060" y="2504408"/>
                <a:ext cx="2813920" cy="2107692"/>
              </a:xfrm>
              <a:prstGeom prst="rect">
                <a:avLst/>
              </a:prstGeom>
            </p:spPr>
          </p:pic>
          <p:sp>
            <p:nvSpPr>
              <p:cNvPr id="35" name="Rectangle 34">
                <a:extLst>
                  <a:ext uri="{FF2B5EF4-FFF2-40B4-BE49-F238E27FC236}">
                    <a16:creationId xmlns:a16="http://schemas.microsoft.com/office/drawing/2014/main" id="{B1B1A12B-643A-9FDF-6C4E-083E9E216756}"/>
                  </a:ext>
                </a:extLst>
              </p:cNvPr>
              <p:cNvSpPr/>
              <p:nvPr/>
            </p:nvSpPr>
            <p:spPr>
              <a:xfrm>
                <a:off x="2290763" y="4411550"/>
                <a:ext cx="652462" cy="86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64B0D61-42FD-A547-C67B-941DC4C10ABB}"/>
                  </a:ext>
                </a:extLst>
              </p:cNvPr>
              <p:cNvSpPr/>
              <p:nvPr/>
            </p:nvSpPr>
            <p:spPr>
              <a:xfrm>
                <a:off x="2999743" y="4434564"/>
                <a:ext cx="529269" cy="1569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E9282BBF-D269-B8BF-F666-4FAA6DCDA571}"/>
                </a:ext>
              </a:extLst>
            </p:cNvPr>
            <p:cNvSpPr txBox="1"/>
            <p:nvPr/>
          </p:nvSpPr>
          <p:spPr>
            <a:xfrm>
              <a:off x="1047497" y="3794423"/>
              <a:ext cx="1271502" cy="338554"/>
            </a:xfrm>
            <a:prstGeom prst="rect">
              <a:avLst/>
            </a:prstGeom>
            <a:noFill/>
          </p:spPr>
          <p:txBody>
            <a:bodyPr wrap="none" rtlCol="0">
              <a:spAutoFit/>
            </a:bodyPr>
            <a:lstStyle/>
            <a:p>
              <a:pPr algn="ctr"/>
              <a:r>
                <a:rPr lang="en-US" sz="800" dirty="0">
                  <a:solidFill>
                    <a:srgbClr val="FF0000"/>
                  </a:solidFill>
                </a:rPr>
                <a:t>Localized nitrided region</a:t>
              </a:r>
            </a:p>
            <a:p>
              <a:pPr algn="ctr"/>
              <a:r>
                <a:rPr lang="en-US" sz="800" dirty="0">
                  <a:solidFill>
                    <a:srgbClr val="FF0000"/>
                  </a:solidFill>
                </a:rPr>
                <a:t>due to ammonia attack</a:t>
              </a:r>
            </a:p>
          </p:txBody>
        </p:sp>
        <p:cxnSp>
          <p:nvCxnSpPr>
            <p:cNvPr id="27" name="Straight Arrow Connector 26">
              <a:extLst>
                <a:ext uri="{FF2B5EF4-FFF2-40B4-BE49-F238E27FC236}">
                  <a16:creationId xmlns:a16="http://schemas.microsoft.com/office/drawing/2014/main" id="{9485A0DD-34C1-BEA1-94BB-09503BFD91B8}"/>
                </a:ext>
              </a:extLst>
            </p:cNvPr>
            <p:cNvCxnSpPr>
              <a:cxnSpLocks/>
              <a:stCxn id="23" idx="0"/>
            </p:cNvCxnSpPr>
            <p:nvPr/>
          </p:nvCxnSpPr>
          <p:spPr>
            <a:xfrm flipV="1">
              <a:off x="1683248" y="3574994"/>
              <a:ext cx="74115" cy="219429"/>
            </a:xfrm>
            <a:prstGeom prst="straightConnector1">
              <a:avLst/>
            </a:prstGeom>
            <a:ln w="12700">
              <a:solidFill>
                <a:srgbClr val="C00000"/>
              </a:solidFill>
              <a:headEnd w="med" len="sm"/>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7EAA836B-A7A3-BFC4-76BE-754118AD32BE}"/>
                </a:ext>
              </a:extLst>
            </p:cNvPr>
            <p:cNvSpPr txBox="1"/>
            <p:nvPr/>
          </p:nvSpPr>
          <p:spPr>
            <a:xfrm>
              <a:off x="2528887" y="4075116"/>
              <a:ext cx="1029449" cy="215444"/>
            </a:xfrm>
            <a:prstGeom prst="rect">
              <a:avLst/>
            </a:prstGeom>
            <a:noFill/>
          </p:spPr>
          <p:txBody>
            <a:bodyPr wrap="none" rtlCol="0">
              <a:spAutoFit/>
            </a:bodyPr>
            <a:lstStyle/>
            <a:p>
              <a:r>
                <a:rPr lang="en-US" sz="800" dirty="0">
                  <a:solidFill>
                    <a:srgbClr val="FF0000"/>
                  </a:solidFill>
                </a:rPr>
                <a:t>310 stainless steel</a:t>
              </a:r>
            </a:p>
          </p:txBody>
        </p:sp>
        <p:cxnSp>
          <p:nvCxnSpPr>
            <p:cNvPr id="33" name="Straight Arrow Connector 32">
              <a:extLst>
                <a:ext uri="{FF2B5EF4-FFF2-40B4-BE49-F238E27FC236}">
                  <a16:creationId xmlns:a16="http://schemas.microsoft.com/office/drawing/2014/main" id="{13AA41C5-6C6B-E528-E3BB-B4C233DF02F5}"/>
                </a:ext>
              </a:extLst>
            </p:cNvPr>
            <p:cNvCxnSpPr>
              <a:cxnSpLocks/>
            </p:cNvCxnSpPr>
            <p:nvPr/>
          </p:nvCxnSpPr>
          <p:spPr>
            <a:xfrm flipH="1">
              <a:off x="2685495" y="2849862"/>
              <a:ext cx="57705" cy="206483"/>
            </a:xfrm>
            <a:prstGeom prst="straightConnector1">
              <a:avLst/>
            </a:prstGeom>
            <a:ln w="12700">
              <a:solidFill>
                <a:srgbClr val="C00000"/>
              </a:solidFill>
              <a:headEnd w="med" len="sm"/>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33ED2C14-B171-FEC2-26D1-8ADB89AD327B}"/>
                </a:ext>
              </a:extLst>
            </p:cNvPr>
            <p:cNvSpPr txBox="1"/>
            <p:nvPr/>
          </p:nvSpPr>
          <p:spPr>
            <a:xfrm>
              <a:off x="2250473" y="2527274"/>
              <a:ext cx="1128835" cy="338554"/>
            </a:xfrm>
            <a:prstGeom prst="rect">
              <a:avLst/>
            </a:prstGeom>
            <a:noFill/>
          </p:spPr>
          <p:txBody>
            <a:bodyPr wrap="none" rtlCol="0">
              <a:spAutoFit/>
            </a:bodyPr>
            <a:lstStyle/>
            <a:p>
              <a:pPr algn="ctr"/>
              <a:r>
                <a:rPr lang="en-US" sz="800" dirty="0">
                  <a:solidFill>
                    <a:srgbClr val="FF0000"/>
                  </a:solidFill>
                </a:rPr>
                <a:t>Magnetron-sputtered</a:t>
              </a:r>
            </a:p>
            <a:p>
              <a:pPr algn="ctr"/>
              <a:r>
                <a:rPr lang="en-US" sz="800" dirty="0" err="1">
                  <a:solidFill>
                    <a:srgbClr val="FF0000"/>
                  </a:solidFill>
                </a:rPr>
                <a:t>TiAlSiN</a:t>
              </a:r>
              <a:r>
                <a:rPr lang="en-US" sz="800" dirty="0">
                  <a:solidFill>
                    <a:srgbClr val="FF0000"/>
                  </a:solidFill>
                </a:rPr>
                <a:t> coating</a:t>
              </a:r>
            </a:p>
          </p:txBody>
        </p:sp>
      </p:grpSp>
      <p:sp>
        <p:nvSpPr>
          <p:cNvPr id="5" name="Text 3">
            <a:extLst>
              <a:ext uri="{FF2B5EF4-FFF2-40B4-BE49-F238E27FC236}">
                <a16:creationId xmlns:a16="http://schemas.microsoft.com/office/drawing/2014/main" id="{219CAD14-AB0D-49F1-27A0-190CE0F99C09}"/>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spTree>
    <p:extLst>
      <p:ext uri="{BB962C8B-B14F-4D97-AF65-F5344CB8AC3E}">
        <p14:creationId xmlns:p14="http://schemas.microsoft.com/office/powerpoint/2010/main" val="620557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3</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3"/>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288607" y="1224986"/>
            <a:ext cx="6426403" cy="201168"/>
          </a:xfrm>
          <a:prstGeom prst="rect">
            <a:avLst/>
          </a:prstGeom>
          <a:noFill/>
          <a:ln/>
        </p:spPr>
        <p:txBody>
          <a:bodyPr wrap="square" lIns="0" tIns="0" rIns="0" bIns="0" rtlCol="0" anchor="t"/>
          <a:lstStyle/>
          <a:p>
            <a:pPr>
              <a:lnSpc>
                <a:spcPct val="112000"/>
              </a:lnSpc>
              <a:defRPr sz="860" b="1">
                <a:solidFill>
                  <a:srgbClr val="A30018"/>
                </a:solidFill>
                <a:latin typeface="Aptos Display"/>
                <a:ea typeface="Aptos Display"/>
                <a:cs typeface="Aptos Display"/>
              </a:defRPr>
            </a:pPr>
            <a:r>
              <a:rPr lang="en-US" sz="860" b="1" spc="120" dirty="0">
                <a:solidFill>
                  <a:srgbClr val="A30018"/>
                </a:solidFill>
                <a:latin typeface="Aptos Display"/>
                <a:ea typeface="Aptos Display"/>
                <a:cs typeface="Aptos Display"/>
              </a:rPr>
              <a:t>PROJECT LEVEL: MASTER OR BACHELOR</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288607" y="1526738"/>
            <a:ext cx="6426403" cy="905256"/>
          </a:xfrm>
          <a:prstGeom prst="rect">
            <a:avLst/>
          </a:prstGeom>
          <a:noFill/>
          <a:ln/>
        </p:spPr>
        <p:txBody>
          <a:bodyPr wrap="square" lIns="0" tIns="0" rIns="0" bIns="0" rtlCol="0" anchor="t"/>
          <a:lstStyle/>
          <a:p>
            <a:r>
              <a:rPr lang="en-GB" b="1" dirty="0"/>
              <a:t>Aluminium diffusion layers for mitigation of nitridation corrosion in ammonia cracking equipment</a:t>
            </a:r>
            <a:endParaRPr lang="en-US" dirty="0"/>
          </a:p>
        </p:txBody>
      </p:sp>
      <p:sp>
        <p:nvSpPr>
          <p:cNvPr id="20" name="Shape 7">
            <a:extLst>
              <a:ext uri="{FF2B5EF4-FFF2-40B4-BE49-F238E27FC236}">
                <a16:creationId xmlns:a16="http://schemas.microsoft.com/office/drawing/2014/main" id="{BF93D45E-B774-456A-8A91-E3FB6CC60F32}"/>
              </a:ext>
            </a:extLst>
          </p:cNvPr>
          <p:cNvSpPr/>
          <p:nvPr/>
        </p:nvSpPr>
        <p:spPr>
          <a:xfrm>
            <a:off x="288607" y="2504384"/>
            <a:ext cx="4306824" cy="2107692"/>
          </a:xfrm>
          <a:prstGeom prst="rect">
            <a:avLst/>
          </a:prstGeom>
          <a:solidFill>
            <a:srgbClr val="F5F6F5"/>
          </a:solidFill>
          <a:ln w="7620">
            <a:solidFill>
              <a:srgbClr val="DFE2E3"/>
            </a:solidFill>
            <a:prstDash val="solid"/>
          </a:ln>
        </p:spPr>
        <p:txBody>
          <a:bodyPr/>
          <a:lstStyle/>
          <a:p>
            <a:endParaRPr lang="LID4096" dirty="0"/>
          </a:p>
        </p:txBody>
      </p:sp>
      <p:sp>
        <p:nvSpPr>
          <p:cNvPr id="22" name="Text 11">
            <a:extLst>
              <a:ext uri="{FF2B5EF4-FFF2-40B4-BE49-F238E27FC236}">
                <a16:creationId xmlns:a16="http://schemas.microsoft.com/office/drawing/2014/main" id="{28E803EE-B073-082C-48D2-01CCF1FA4A4E}"/>
              </a:ext>
            </a:extLst>
          </p:cNvPr>
          <p:cNvSpPr/>
          <p:nvPr/>
        </p:nvSpPr>
        <p:spPr>
          <a:xfrm>
            <a:off x="471487" y="3505652"/>
            <a:ext cx="3941064" cy="256032"/>
          </a:xfrm>
          <a:prstGeom prst="rect">
            <a:avLst/>
          </a:prstGeom>
          <a:noFill/>
          <a:ln/>
        </p:spPr>
        <p:txBody>
          <a:bodyPr wrap="square" lIns="0" tIns="0" rIns="0" bIns="0" rtlCol="0" anchor="t"/>
          <a:lstStyle/>
          <a:p>
            <a:pPr marL="0" indent="0" algn="ctr">
              <a:lnSpc>
                <a:spcPct val="100000"/>
              </a:lnSpc>
              <a:buNone/>
            </a:pPr>
            <a:r>
              <a:rPr lang="en-US" sz="1040" b="1" kern="0" spc="60" dirty="0">
                <a:solidFill>
                  <a:srgbClr val="5D666B"/>
                </a:solidFill>
                <a:latin typeface="Aptos Display" pitchFamily="34" charset="0"/>
                <a:ea typeface="Aptos Display" pitchFamily="34" charset="-122"/>
                <a:cs typeface="Aptos Display" pitchFamily="34" charset="-120"/>
              </a:rPr>
              <a:t>[INSERT PROJECT IMAGE]</a:t>
            </a:r>
            <a:endParaRPr lang="en-US" sz="1040" dirty="0"/>
          </a:p>
        </p:txBody>
      </p:sp>
      <p:sp>
        <p:nvSpPr>
          <p:cNvPr id="24" name="Text 13">
            <a:extLst>
              <a:ext uri="{FF2B5EF4-FFF2-40B4-BE49-F238E27FC236}">
                <a16:creationId xmlns:a16="http://schemas.microsoft.com/office/drawing/2014/main" id="{92D05183-68B0-0CD1-9862-417A2C8C76EA}"/>
              </a:ext>
            </a:extLst>
          </p:cNvPr>
          <p:cNvSpPr/>
          <p:nvPr/>
        </p:nvSpPr>
        <p:spPr>
          <a:xfrm>
            <a:off x="288607" y="4644080"/>
            <a:ext cx="4297680" cy="128016"/>
          </a:xfrm>
          <a:prstGeom prst="rect">
            <a:avLst/>
          </a:prstGeom>
          <a:noFill/>
          <a:ln/>
        </p:spPr>
        <p:txBody>
          <a:bodyPr wrap="square" lIns="0" tIns="0" rIns="0" bIns="0" rtlCol="0" anchor="t"/>
          <a:lstStyle/>
          <a:p>
            <a:pPr marL="0" indent="0">
              <a:lnSpc>
                <a:spcPct val="100000"/>
              </a:lnSpc>
              <a:buNone/>
            </a:pPr>
            <a:r>
              <a:rPr lang="da-DK" sz="685" dirty="0" err="1"/>
              <a:t>Schematic</a:t>
            </a:r>
            <a:r>
              <a:rPr lang="da-DK" sz="685" dirty="0"/>
              <a:t> </a:t>
            </a:r>
            <a:r>
              <a:rPr lang="da-DK" sz="685" dirty="0" err="1"/>
              <a:t>nitridation</a:t>
            </a:r>
            <a:r>
              <a:rPr lang="da-DK" sz="685" dirty="0"/>
              <a:t> of a cast Fe-</a:t>
            </a:r>
            <a:r>
              <a:rPr lang="da-DK" sz="685" dirty="0" err="1"/>
              <a:t>Cr</a:t>
            </a:r>
            <a:r>
              <a:rPr lang="da-DK" sz="685" dirty="0"/>
              <a:t>-Al </a:t>
            </a:r>
            <a:r>
              <a:rPr lang="da-DK" sz="685" dirty="0" err="1"/>
              <a:t>alloy</a:t>
            </a:r>
            <a:r>
              <a:rPr lang="da-DK" sz="685" dirty="0"/>
              <a:t> (from Aymans, et al. Materials &amp; </a:t>
            </a:r>
            <a:r>
              <a:rPr lang="da-DK" sz="685" dirty="0" err="1"/>
              <a:t>Corrosion</a:t>
            </a:r>
            <a:r>
              <a:rPr lang="da-DK" sz="685" dirty="0"/>
              <a:t>, 2026) </a:t>
            </a:r>
            <a:endParaRPr lang="en-US" sz="685" dirty="0"/>
          </a:p>
        </p:txBody>
      </p:sp>
      <p:sp>
        <p:nvSpPr>
          <p:cNvPr id="26" name="Shape 14">
            <a:extLst>
              <a:ext uri="{FF2B5EF4-FFF2-40B4-BE49-F238E27FC236}">
                <a16:creationId xmlns:a16="http://schemas.microsoft.com/office/drawing/2014/main" id="{AA36B306-337C-04B4-9B92-70B043FEE96D}"/>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47A99FCE-4503-0221-BA93-784430A6BB52}"/>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Marcel A.J. Somers</a:t>
            </a:r>
            <a:endParaRPr lang="en-US" sz="950" dirty="0"/>
          </a:p>
        </p:txBody>
      </p:sp>
      <p:sp>
        <p:nvSpPr>
          <p:cNvPr id="32" name="Text 17">
            <a:extLst>
              <a:ext uri="{FF2B5EF4-FFF2-40B4-BE49-F238E27FC236}">
                <a16:creationId xmlns:a16="http://schemas.microsoft.com/office/drawing/2014/main" id="{975C2CB1-0286-2F6B-9B19-5CBCCDBC47F2}"/>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majs@dtu.dk</a:t>
            </a:r>
            <a:endParaRPr lang="en-US" sz="830" dirty="0"/>
          </a:p>
        </p:txBody>
      </p:sp>
      <p:sp>
        <p:nvSpPr>
          <p:cNvPr id="34" name="Text 18">
            <a:extLst>
              <a:ext uri="{FF2B5EF4-FFF2-40B4-BE49-F238E27FC236}">
                <a16:creationId xmlns:a16="http://schemas.microsoft.com/office/drawing/2014/main" id="{8E706A9F-BDF4-6E34-2BC8-528A2E4C7162}"/>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Basit Ali</a:t>
            </a:r>
            <a:endParaRPr lang="en-US" sz="950" dirty="0"/>
          </a:p>
        </p:txBody>
      </p:sp>
      <p:sp>
        <p:nvSpPr>
          <p:cNvPr id="36" name="Text 19">
            <a:extLst>
              <a:ext uri="{FF2B5EF4-FFF2-40B4-BE49-F238E27FC236}">
                <a16:creationId xmlns:a16="http://schemas.microsoft.com/office/drawing/2014/main" id="{279E3988-0483-A929-2165-3D05E003F6C6}"/>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err="1">
                <a:solidFill>
                  <a:srgbClr val="A30018"/>
                </a:solidFill>
                <a:latin typeface="Aptos" pitchFamily="34" charset="0"/>
                <a:ea typeface="Aptos" pitchFamily="34" charset="-122"/>
                <a:cs typeface="Aptos" pitchFamily="34" charset="-120"/>
              </a:rPr>
              <a:t>baali@dtu.d</a:t>
            </a:r>
            <a:endParaRPr lang="en-US" sz="830" dirty="0"/>
          </a:p>
        </p:txBody>
      </p:sp>
      <p:sp>
        <p:nvSpPr>
          <p:cNvPr id="38" name="Text 20">
            <a:extLst>
              <a:ext uri="{FF2B5EF4-FFF2-40B4-BE49-F238E27FC236}">
                <a16:creationId xmlns:a16="http://schemas.microsoft.com/office/drawing/2014/main" id="{A5E5AC3B-9018-8067-D6FD-F9121BA39AC6}"/>
              </a:ext>
            </a:extLst>
          </p:cNvPr>
          <p:cNvSpPr/>
          <p:nvPr/>
        </p:nvSpPr>
        <p:spPr>
          <a:xfrm>
            <a:off x="4805743" y="3798260"/>
            <a:ext cx="1901952" cy="201168"/>
          </a:xfrm>
          <a:prstGeom prst="rect">
            <a:avLst/>
          </a:prstGeom>
          <a:noFill/>
          <a:ln/>
        </p:spPr>
        <p:txBody>
          <a:bodyPr wrap="square" lIns="0" tIns="0" rIns="0" bIns="0" rtlCol="0" anchor="t"/>
          <a:lstStyle/>
          <a:p>
            <a:pPr marL="0" indent="0">
              <a:lnSpc>
                <a:spcPct val="100000"/>
              </a:lnSpc>
              <a:buNone/>
            </a:pPr>
            <a:endParaRPr lang="en-US" sz="950" dirty="0"/>
          </a:p>
        </p:txBody>
      </p:sp>
      <p:sp>
        <p:nvSpPr>
          <p:cNvPr id="40" name="Text 21">
            <a:extLst>
              <a:ext uri="{FF2B5EF4-FFF2-40B4-BE49-F238E27FC236}">
                <a16:creationId xmlns:a16="http://schemas.microsoft.com/office/drawing/2014/main" id="{92D5B7D3-1F85-AAC8-9480-C346534FA12A}"/>
              </a:ext>
            </a:extLst>
          </p:cNvPr>
          <p:cNvSpPr/>
          <p:nvPr/>
        </p:nvSpPr>
        <p:spPr>
          <a:xfrm>
            <a:off x="4805743" y="4008572"/>
            <a:ext cx="1901952" cy="164592"/>
          </a:xfrm>
          <a:prstGeom prst="rect">
            <a:avLst/>
          </a:prstGeom>
          <a:noFill/>
          <a:ln/>
        </p:spPr>
        <p:txBody>
          <a:bodyPr wrap="square" lIns="0" tIns="0" rIns="0" bIns="0" rtlCol="0" anchor="t"/>
          <a:lstStyle/>
          <a:p>
            <a:pPr marL="0" indent="0">
              <a:lnSpc>
                <a:spcPct val="100000"/>
              </a:lnSpc>
              <a:buNone/>
            </a:pPr>
            <a:endParaRPr lang="en-US" sz="830" dirty="0"/>
          </a:p>
        </p:txBody>
      </p:sp>
      <p:sp>
        <p:nvSpPr>
          <p:cNvPr id="42" name="Text 22">
            <a:extLst>
              <a:ext uri="{FF2B5EF4-FFF2-40B4-BE49-F238E27FC236}">
                <a16:creationId xmlns:a16="http://schemas.microsoft.com/office/drawing/2014/main" id="{1DF1104B-1700-DC4D-5689-1F91FE7F43E6}"/>
              </a:ext>
            </a:extLst>
          </p:cNvPr>
          <p:cNvSpPr/>
          <p:nvPr/>
        </p:nvSpPr>
        <p:spPr>
          <a:xfrm>
            <a:off x="4803914" y="4032194"/>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4" name="Text 23">
            <a:extLst>
              <a:ext uri="{FF2B5EF4-FFF2-40B4-BE49-F238E27FC236}">
                <a16:creationId xmlns:a16="http://schemas.microsoft.com/office/drawing/2014/main" id="{EE6A2E6F-D0C1-1685-693D-44A5B2B1A9B8}"/>
              </a:ext>
            </a:extLst>
          </p:cNvPr>
          <p:cNvSpPr/>
          <p:nvPr/>
        </p:nvSpPr>
        <p:spPr>
          <a:xfrm>
            <a:off x="4813058" y="4237933"/>
            <a:ext cx="1901952" cy="182880"/>
          </a:xfrm>
          <a:prstGeom prst="rect">
            <a:avLst/>
          </a:prstGeom>
          <a:noFill/>
          <a:ln/>
        </p:spPr>
        <p:txBody>
          <a:bodyPr wrap="square" lIns="0" tIns="0" rIns="0" bIns="0" rtlCol="0" anchor="t"/>
          <a:lstStyle/>
          <a:p>
            <a:pPr marL="0" indent="0">
              <a:lnSpc>
                <a:spcPct val="100000"/>
              </a:lnSpc>
              <a:buNone/>
            </a:pPr>
            <a:r>
              <a:rPr lang="da-DK" sz="900" dirty="0"/>
              <a:t>Materials &amp; </a:t>
            </a:r>
            <a:r>
              <a:rPr lang="da-DK" sz="900" dirty="0" err="1"/>
              <a:t>Corrosion-KnowHow</a:t>
            </a:r>
            <a:r>
              <a:rPr lang="da-DK" sz="900" dirty="0"/>
              <a:t> (NL)</a:t>
            </a:r>
          </a:p>
          <a:p>
            <a:pPr marL="0" indent="0">
              <a:lnSpc>
                <a:spcPct val="100000"/>
              </a:lnSpc>
              <a:buNone/>
            </a:pPr>
            <a:r>
              <a:rPr lang="da-DK" sz="900" dirty="0" err="1"/>
              <a:t>Chromin</a:t>
            </a:r>
            <a:r>
              <a:rPr lang="da-DK" sz="900" dirty="0"/>
              <a:t> Maastricht (NL)</a:t>
            </a:r>
            <a:endParaRPr lang="en-US" sz="900" dirty="0"/>
          </a:p>
        </p:txBody>
      </p:sp>
      <p:sp>
        <p:nvSpPr>
          <p:cNvPr id="46" name="Shape 24">
            <a:extLst>
              <a:ext uri="{FF2B5EF4-FFF2-40B4-BE49-F238E27FC236}">
                <a16:creationId xmlns:a16="http://schemas.microsoft.com/office/drawing/2014/main" id="{741B9529-EDF4-0277-9517-AD77B4EC7EFA}"/>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288607" y="505556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288607" y="5288731"/>
            <a:ext cx="6426403" cy="758953"/>
          </a:xfrm>
          <a:prstGeom prst="rect">
            <a:avLst/>
          </a:prstGeom>
          <a:noFill/>
          <a:ln/>
        </p:spPr>
        <p:txBody>
          <a:bodyPr wrap="square" lIns="0" tIns="0" rIns="0" bIns="0" rtlCol="0" anchor="t"/>
          <a:lstStyle/>
          <a:p>
            <a:r>
              <a:rPr lang="en-GB" sz="1050" dirty="0"/>
              <a:t>At elevated temperatures, ammonia dissociates at metallic surfaces and provides a high nitrogen activity at the metal surface, potentially resulting in nitridation corrosion. The project investigates the suitability of an aluminium diffusion layer against nitridation under conditions relevant to the ammonia heating section of an ammonia cracking installation.</a:t>
            </a:r>
            <a:endParaRPr lang="en-US" sz="1050" dirty="0"/>
          </a:p>
        </p:txBody>
      </p:sp>
      <p:sp>
        <p:nvSpPr>
          <p:cNvPr id="52" name="Text 27">
            <a:extLst>
              <a:ext uri="{FF2B5EF4-FFF2-40B4-BE49-F238E27FC236}">
                <a16:creationId xmlns:a16="http://schemas.microsoft.com/office/drawing/2014/main" id="{E1F4C334-2223-19ED-44AB-9671AA39A52B}"/>
              </a:ext>
            </a:extLst>
          </p:cNvPr>
          <p:cNvSpPr/>
          <p:nvPr/>
        </p:nvSpPr>
        <p:spPr>
          <a:xfrm>
            <a:off x="288607" y="6134552"/>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288607" y="6367724"/>
            <a:ext cx="6426403" cy="438912"/>
          </a:xfrm>
          <a:prstGeom prst="rect">
            <a:avLst/>
          </a:prstGeom>
          <a:noFill/>
          <a:ln/>
        </p:spPr>
        <p:txBody>
          <a:bodyPr wrap="square" lIns="0" tIns="0" rIns="0" bIns="0" rtlCol="0" anchor="t"/>
          <a:lstStyle/>
          <a:p>
            <a:r>
              <a:rPr lang="en-GB" sz="1000" dirty="0"/>
              <a:t>The main objective of the project is to experimentally determine the effectiveness of an aluminium diffusion layer in preventing or minimizing nitridation of selected engineering materials exposed to ammonia-containing environments at approximately 250–550 °C. The investigation should provide a technical basis for assessing whether aluminium diffusion treatment is a feasible mitigation for components in the heating section of the ammonia cracking service.</a:t>
            </a:r>
            <a:endParaRPr lang="en-US" sz="1000" dirty="0"/>
          </a:p>
          <a:p>
            <a:pPr>
              <a:lnSpc>
                <a:spcPct val="100000"/>
              </a:lnSpc>
            </a:pPr>
            <a:endParaRPr lang="en-US" sz="1000" dirty="0"/>
          </a:p>
          <a:p>
            <a:pPr marL="0" indent="0">
              <a:lnSpc>
                <a:spcPct val="103000"/>
              </a:lnSpc>
              <a:buNone/>
            </a:pPr>
            <a:endParaRPr lang="en-US" sz="1000" dirty="0"/>
          </a:p>
        </p:txBody>
      </p:sp>
      <p:sp>
        <p:nvSpPr>
          <p:cNvPr id="56" name="Text 29">
            <a:extLst>
              <a:ext uri="{FF2B5EF4-FFF2-40B4-BE49-F238E27FC236}">
                <a16:creationId xmlns:a16="http://schemas.microsoft.com/office/drawing/2014/main" id="{B6524C55-32C1-1701-39AF-30B8513D5859}"/>
              </a:ext>
            </a:extLst>
          </p:cNvPr>
          <p:cNvSpPr/>
          <p:nvPr/>
        </p:nvSpPr>
        <p:spPr>
          <a:xfrm>
            <a:off x="288607" y="7099434"/>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06895" y="7338417"/>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exposure of industrially provided coated and uncoated materials to ammonia in thermobalance and stationary furnace</a:t>
            </a:r>
            <a:endParaRPr lang="en-US" sz="975" dirty="0"/>
          </a:p>
        </p:txBody>
      </p:sp>
      <p:sp>
        <p:nvSpPr>
          <p:cNvPr id="60" name="Text 31">
            <a:extLst>
              <a:ext uri="{FF2B5EF4-FFF2-40B4-BE49-F238E27FC236}">
                <a16:creationId xmlns:a16="http://schemas.microsoft.com/office/drawing/2014/main" id="{21731E05-B059-A90E-C87B-2E6FFD0794F0}"/>
              </a:ext>
            </a:extLst>
          </p:cNvPr>
          <p:cNvSpPr/>
          <p:nvPr/>
        </p:nvSpPr>
        <p:spPr>
          <a:xfrm>
            <a:off x="302322" y="7624238"/>
            <a:ext cx="6398971" cy="219456"/>
          </a:xfrm>
          <a:prstGeom prst="rect">
            <a:avLst/>
          </a:prstGeom>
          <a:noFill/>
          <a:ln/>
        </p:spPr>
        <p:txBody>
          <a:bodyPr wrap="square" lIns="0" tIns="0" rIns="0" bIns="0" rtlCol="0" anchor="t"/>
          <a:lstStyle/>
          <a:p>
            <a:pPr marL="139700" indent="-139700">
              <a:lnSpc>
                <a:spcPct val="106000"/>
              </a:lnSpc>
              <a:buSzPct val="100000"/>
              <a:buChar char="•"/>
            </a:pPr>
            <a:r>
              <a:rPr lang="en-US" sz="975" dirty="0">
                <a:solidFill>
                  <a:srgbClr val="5D666B"/>
                </a:solidFill>
                <a:latin typeface="Aptos" pitchFamily="34" charset="0"/>
                <a:ea typeface="Aptos" pitchFamily="34" charset="-122"/>
                <a:cs typeface="Aptos" pitchFamily="34" charset="-120"/>
              </a:rPr>
              <a:t>characterization of the resulting microstructure with microscopy, diffraction and spectroscopy techniques</a:t>
            </a:r>
          </a:p>
          <a:p>
            <a:pPr marL="139700" indent="-139700">
              <a:lnSpc>
                <a:spcPct val="106000"/>
              </a:lnSpc>
              <a:buSzPct val="100000"/>
              <a:buChar char="•"/>
            </a:pPr>
            <a:r>
              <a:rPr lang="en-US" sz="975" dirty="0">
                <a:solidFill>
                  <a:srgbClr val="5D666B"/>
                </a:solidFill>
                <a:latin typeface="Aptos" pitchFamily="34" charset="0"/>
              </a:rPr>
              <a:t>assessment of </a:t>
            </a:r>
            <a:r>
              <a:rPr lang="en-US" sz="975" dirty="0" err="1">
                <a:solidFill>
                  <a:srgbClr val="5D666B"/>
                </a:solidFill>
                <a:latin typeface="Aptos" pitchFamily="34" charset="0"/>
              </a:rPr>
              <a:t>effectictiveness</a:t>
            </a:r>
            <a:r>
              <a:rPr lang="en-US" sz="975" dirty="0">
                <a:solidFill>
                  <a:srgbClr val="5D666B"/>
                </a:solidFill>
                <a:latin typeface="Aptos" pitchFamily="34" charset="0"/>
              </a:rPr>
              <a:t> of alumina coatings and potential limitations </a:t>
            </a:r>
            <a:endParaRPr lang="en-US" sz="975" dirty="0"/>
          </a:p>
        </p:txBody>
      </p:sp>
      <p:sp>
        <p:nvSpPr>
          <p:cNvPr id="62" name="Text 32">
            <a:extLst>
              <a:ext uri="{FF2B5EF4-FFF2-40B4-BE49-F238E27FC236}">
                <a16:creationId xmlns:a16="http://schemas.microsoft.com/office/drawing/2014/main" id="{11812E9B-5850-E1D8-90D9-FAD3FEC017D7}"/>
              </a:ext>
            </a:extLst>
          </p:cNvPr>
          <p:cNvSpPr/>
          <p:nvPr/>
        </p:nvSpPr>
        <p:spPr>
          <a:xfrm>
            <a:off x="308724" y="7741562"/>
            <a:ext cx="6398971" cy="219456"/>
          </a:xfrm>
          <a:prstGeom prst="rect">
            <a:avLst/>
          </a:prstGeom>
          <a:noFill/>
          <a:ln/>
        </p:spPr>
        <p:txBody>
          <a:bodyPr wrap="square" lIns="0" tIns="0" rIns="0" bIns="0" rtlCol="0" anchor="t"/>
          <a:lstStyle/>
          <a:p>
            <a:pPr marL="139700" indent="-139700">
              <a:lnSpc>
                <a:spcPct val="106000"/>
              </a:lnSpc>
              <a:buSzPct val="100000"/>
              <a:buChar char="•"/>
            </a:pPr>
            <a:endParaRPr lang="en-US" sz="975" dirty="0"/>
          </a:p>
        </p:txBody>
      </p:sp>
      <p:sp>
        <p:nvSpPr>
          <p:cNvPr id="68" name="Text 35">
            <a:extLst>
              <a:ext uri="{FF2B5EF4-FFF2-40B4-BE49-F238E27FC236}">
                <a16:creationId xmlns:a16="http://schemas.microsoft.com/office/drawing/2014/main" id="{2F7D2E65-2E3D-DD1B-98AF-16E5BD6564A6}"/>
              </a:ext>
            </a:extLst>
          </p:cNvPr>
          <p:cNvSpPr/>
          <p:nvPr/>
        </p:nvSpPr>
        <p:spPr>
          <a:xfrm>
            <a:off x="288607" y="8091725"/>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288607" y="8308086"/>
            <a:ext cx="6426403" cy="438912"/>
          </a:xfrm>
          <a:prstGeom prst="rect">
            <a:avLst/>
          </a:prstGeom>
          <a:noFill/>
          <a:ln/>
        </p:spPr>
        <p:txBody>
          <a:bodyPr wrap="square" lIns="0" tIns="0" rIns="0" bIns="0" rtlCol="0" anchor="t"/>
          <a:lstStyle/>
          <a:p>
            <a:pPr marL="0" indent="0">
              <a:lnSpc>
                <a:spcPct val="102000"/>
              </a:lnSpc>
              <a:buNone/>
            </a:pPr>
            <a:r>
              <a:rPr lang="da-DK" sz="975" dirty="0" err="1"/>
              <a:t>You</a:t>
            </a:r>
            <a:r>
              <a:rPr lang="da-DK" sz="975" dirty="0"/>
              <a:t> </a:t>
            </a:r>
            <a:r>
              <a:rPr lang="da-DK" sz="975" dirty="0" err="1"/>
              <a:t>will</a:t>
            </a:r>
            <a:r>
              <a:rPr lang="da-DK" sz="975" dirty="0"/>
              <a:t> </a:t>
            </a:r>
            <a:r>
              <a:rPr lang="da-DK" sz="975" dirty="0" err="1"/>
              <a:t>be</a:t>
            </a:r>
            <a:r>
              <a:rPr lang="da-DK" sz="975" dirty="0"/>
              <a:t> </a:t>
            </a:r>
            <a:r>
              <a:rPr lang="da-DK" sz="975" dirty="0" err="1"/>
              <a:t>involved</a:t>
            </a:r>
            <a:r>
              <a:rPr lang="da-DK" sz="975" dirty="0"/>
              <a:t> in the </a:t>
            </a:r>
            <a:r>
              <a:rPr lang="da-DK" sz="975" dirty="0" err="1"/>
              <a:t>exposure</a:t>
            </a:r>
            <a:r>
              <a:rPr lang="da-DK" sz="975" dirty="0"/>
              <a:t> and </a:t>
            </a:r>
            <a:r>
              <a:rPr lang="da-DK" sz="975" dirty="0" err="1"/>
              <a:t>characterization</a:t>
            </a:r>
            <a:r>
              <a:rPr lang="da-DK" sz="975" dirty="0"/>
              <a:t> with LOM, SEM, XRD and EDS of </a:t>
            </a:r>
            <a:r>
              <a:rPr lang="da-DK" sz="975" dirty="0" err="1"/>
              <a:t>several</a:t>
            </a:r>
            <a:r>
              <a:rPr lang="da-DK" sz="975" dirty="0"/>
              <a:t> </a:t>
            </a:r>
            <a:r>
              <a:rPr lang="da-DK" sz="975" dirty="0" err="1"/>
              <a:t>alloys</a:t>
            </a:r>
            <a:r>
              <a:rPr lang="da-DK" sz="975" dirty="0"/>
              <a:t> for </a:t>
            </a:r>
            <a:r>
              <a:rPr lang="da-DK" sz="975" dirty="0" err="1"/>
              <a:t>relatively</a:t>
            </a:r>
            <a:r>
              <a:rPr lang="da-DK" sz="975" dirty="0"/>
              <a:t> low T </a:t>
            </a:r>
            <a:r>
              <a:rPr lang="da-DK" sz="975" dirty="0" err="1"/>
              <a:t>nitridiation</a:t>
            </a:r>
            <a:r>
              <a:rPr lang="da-DK" sz="975" dirty="0"/>
              <a:t> </a:t>
            </a:r>
            <a:r>
              <a:rPr lang="da-DK" sz="975" dirty="0" err="1"/>
              <a:t>effects</a:t>
            </a:r>
            <a:r>
              <a:rPr lang="da-DK" sz="975" dirty="0"/>
              <a:t> and </a:t>
            </a:r>
            <a:r>
              <a:rPr lang="da-DK" sz="975" dirty="0" err="1"/>
              <a:t>determine</a:t>
            </a:r>
            <a:r>
              <a:rPr lang="da-DK" sz="975" dirty="0"/>
              <a:t> in </a:t>
            </a:r>
            <a:r>
              <a:rPr lang="da-DK" sz="975" dirty="0" err="1"/>
              <a:t>which</a:t>
            </a:r>
            <a:r>
              <a:rPr lang="da-DK" sz="975" dirty="0"/>
              <a:t> </a:t>
            </a:r>
            <a:r>
              <a:rPr lang="da-DK" sz="975" dirty="0" err="1"/>
              <a:t>temperature</a:t>
            </a:r>
            <a:r>
              <a:rPr lang="da-DK" sz="975" dirty="0"/>
              <a:t> ranges </a:t>
            </a:r>
            <a:r>
              <a:rPr lang="da-DK" sz="975" dirty="0" err="1"/>
              <a:t>these</a:t>
            </a:r>
            <a:r>
              <a:rPr lang="da-DK" sz="975" dirty="0"/>
              <a:t> </a:t>
            </a:r>
            <a:r>
              <a:rPr lang="da-DK" sz="975" dirty="0" err="1"/>
              <a:t>alloys</a:t>
            </a:r>
            <a:r>
              <a:rPr lang="da-DK" sz="975" dirty="0"/>
              <a:t> </a:t>
            </a:r>
            <a:r>
              <a:rPr lang="da-DK" sz="975" dirty="0" err="1"/>
              <a:t>are</a:t>
            </a:r>
            <a:r>
              <a:rPr lang="da-DK" sz="975" dirty="0"/>
              <a:t> </a:t>
            </a:r>
            <a:r>
              <a:rPr lang="da-DK" sz="975" dirty="0" err="1"/>
              <a:t>safe</a:t>
            </a:r>
            <a:r>
              <a:rPr lang="da-DK" sz="975" dirty="0"/>
              <a:t> to </a:t>
            </a:r>
            <a:r>
              <a:rPr lang="da-DK" sz="975" dirty="0" err="1"/>
              <a:t>use</a:t>
            </a:r>
            <a:r>
              <a:rPr lang="da-DK" sz="975" dirty="0"/>
              <a:t>. </a:t>
            </a: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15" name="Grafik 273408448">
            <a:extLst>
              <a:ext uri="{FF2B5EF4-FFF2-40B4-BE49-F238E27FC236}">
                <a16:creationId xmlns:a16="http://schemas.microsoft.com/office/drawing/2014/main" id="{E9376A20-26F0-FA97-D35B-DAE28C1949C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4055" y="2573915"/>
            <a:ext cx="4054878" cy="1827324"/>
          </a:xfrm>
          <a:prstGeom prst="rect">
            <a:avLst/>
          </a:prstGeom>
          <a:noFill/>
        </p:spPr>
      </p:pic>
    </p:spTree>
    <p:extLst>
      <p:ext uri="{BB962C8B-B14F-4D97-AF65-F5344CB8AC3E}">
        <p14:creationId xmlns:p14="http://schemas.microsoft.com/office/powerpoint/2010/main" val="7751336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TotalTime>
  <Words>1040</Words>
  <Application>Microsoft Office PowerPoint</Application>
  <DocSecurity>0</DocSecurity>
  <PresentationFormat>A4 Paper (210x297 mm)</PresentationFormat>
  <Paragraphs>95</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Masoud Hasany</cp:lastModifiedBy>
  <cp:revision>5</cp:revision>
  <dcterms:created xsi:type="dcterms:W3CDTF">2026-10-22T10:52:14Z</dcterms:created>
  <dcterms:modified xsi:type="dcterms:W3CDTF">2026-10-27T08:50:17Z</dcterms:modified>
</cp:coreProperties>
</file>